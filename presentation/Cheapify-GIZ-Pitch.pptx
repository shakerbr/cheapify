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58" r:id="rId8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y="6858000" cx="12192000"/>
  <p:notesSz cx="6858000" cy="9144000"/>
  <p:embeddedFontLst>
    <p:embeddedFont>
      <p:font typeface="Comfortaa"/>
      <p:regular r:id="rId9"/>
      <p:bold r:id="rId10"/>
    </p:embeddedFont>
    <p:embeddedFont>
      <p:font typeface="Inter"/>
      <p:regular r:id="rId30"/>
      <p:bold r:id="rId31"/>
    </p:embeddedFont>
    <p:embeddedFont>
      <p:font typeface="IBM Plex Sans Arabic"/>
      <p:regular r:id="rId32"/>
      <p:bold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font" Target="fonts/Comfortaa-regular.fntdata"/><Relationship Id="rId10" Type="http://schemas.openxmlformats.org/officeDocument/2006/relationships/font" Target="fonts/Comfortaa-bold.fntdata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font" Target="fonts/Inter-regular.fntdata"/><Relationship Id="rId31" Type="http://schemas.openxmlformats.org/officeDocument/2006/relationships/font" Target="fonts/Inter-bold.fntdata"/><Relationship Id="rId32" Type="http://schemas.openxmlformats.org/officeDocument/2006/relationships/font" Target="fonts/IBMPlexSansArabic-regular.fntdata"/><Relationship Id="rId33" Type="http://schemas.openxmlformats.org/officeDocument/2006/relationships/font" Target="fonts/IBMPlexSansArabic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Time: ~9s</a:t>
            </a:r>
          </a:p>
          <a:p>
            <a:r>
              <a:t>Good morning. I'm Shakir Bashar — and I'm here to show you a problem every online shopper in Kurdistan and Iraq faces.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Time: ~26s</a:t>
            </a:r>
          </a:p>
          <a:p>
            <a:r>
              <a:t>Online in Iraq, you can't know the real price before you buy. [click] This is one power bank — the Anker 25,000, 165 watt — on Miswag's search screen. Same search, same screen, same model. [click] One seller lists it at 100,000 dinars… [click] and right beside it, another lists it at 200,000. [click] That's twice the price for the exact same power bank.</a:t>
            </a:r>
          </a:p>
          <a:p/>
          <a:p>
            <a:r>
              <a:t>Key numbers:</a:t>
            </a:r>
          </a:p>
          <a:p>
            <a:r>
              <a:t>100,000 vs 200,000 IQD — Price evidence screenshots (Sep–Oct 2026)</a:t>
            </a:r>
          </a:p>
          <a:p>
            <a:r>
              <a:t>2× the price (+100,000 IQD) — Price evidence screenshots (Sep–Oct 2026)</a:t>
            </a:r>
          </a:p>
          <a:p>
            <a:r>
              <a:t>90,000 – 200,000 IQD (+122%) — Price evidence screenshots (Sep–Oct 2026)</a:t>
            </a:r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Time: ~4s</a:t>
            </a:r>
          </a:p>
          <a:p>
            <a:r>
              <a:t>Cheapify — the bright side of choosing. Thank you.</a:t>
            </a:r>
          </a:p>
        </p:txBody>
      </p:sp>
      <p:sp>
        <p:nvSpPr>
          <p:cNvPr id="102" name="Google Shape;10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~30s</a:t>
            </a:r>
          </a:p>
          <a:p>
            <a:r>
              <a:t>And it's the whole market. [click] Apps list the same item twice, at two prices. [click] Instagram pages hide the price — buyers have to message just to ask. [click] And a marketplace sells a vacuum as a 35 percent discount — while Instagram has it for 95,000. [click] In our survey, 97 percent of 179 shoppers see this — and 55 percent of merchants say answering 'price?' messages is their top headache.</a:t>
            </a:r>
          </a:p>
          <a:p/>
          <a:p>
            <a:r>
              <a:t>Key numbers:</a:t>
            </a:r>
          </a:p>
          <a:p>
            <a:r>
              <a:t>60,000 vs 70,000 IQD — Price evidence screenshots (Sep–Oct 2026)</a:t>
            </a:r>
          </a:p>
          <a:p>
            <a:r>
              <a:t>95,000 vs 133,250 IQD — Price evidence screenshots (Sep–Oct 2026)</a:t>
            </a:r>
          </a:p>
          <a:p>
            <a:r>
              <a:t>97% — Cheapify market survey, n=199 (Sep–Oct 2026)</a:t>
            </a:r>
          </a:p>
          <a:p>
            <a:r>
              <a:t>55% — Cheapify market survey, n=199 (Sep–Oct 2026)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~38s</a:t>
            </a:r>
          </a:p>
          <a:p>
            <a:r>
              <a:t>That's why I'm building Cheapify — the bright side of choosing. [click] Cheapify puts every seller's real price for the same product on one page. [click] Today, one product is scattered across pages and apps. [click] On Cheapify, every seller sits side by side, showing the doorstep total — item plus delivery. [click] Our Best Value badge goes to the lowest doorstep total, fastest delivery and best rating — ranking can't be bought. You order in seconds, pay cash or card at the door, and the store is paid automatically 48 hours later.</a:t>
            </a:r>
          </a:p>
          <a:p/>
          <a:p>
            <a:r>
              <a:t>Key numbers:</a:t>
            </a:r>
          </a:p>
          <a:p>
            <a:r>
              <a:t>Doorstep total — Fast Delivery (Duhok) courier quote, Oct 2026</a:t>
            </a:r>
          </a:p>
          <a:p>
            <a:r>
              <a:t>3,000 IQD — Fast Delivery (Duhok) courier quote, Oct 2026</a:t>
            </a:r>
          </a:p>
          <a:p>
            <a:r>
              <a:t>3 ranking rules — Cheapify go-to-market plan</a:t>
            </a:r>
          </a:p>
          <a:p>
            <a:r>
              <a:t>48 hours — Cheapify financial model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~20s</a:t>
            </a:r>
          </a:p>
          <a:p>
            <a:r>
              <a:t>For shoppers: [click] every price side by side, an order in thirty seconds, and cash on delivery — or card. For merchants: [click] real orders instead of 'price?' messages, a free dashboard for stock and payouts, and a fair fee — about 3.8 percent on a typical order.</a:t>
            </a:r>
          </a:p>
          <a:p/>
          <a:p>
            <a:r>
              <a:t>Key numbers:</a:t>
            </a:r>
          </a:p>
          <a:p>
            <a:r>
              <a:t>≈ 3.8% — Cheapify financial model</a:t>
            </a:r>
          </a:p>
          <a:p>
            <a:r>
              <a:t>30 seconds — Cheapify go-to-market plan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~25s</a:t>
            </a:r>
          </a:p>
          <a:p>
            <a:r>
              <a:t>We launch in Duhok city, Semel and Zakho. Iraq has 46.1 million people; [click] Duhok governorate has 1.6 million; [click] our launch area has 1.06 million — roughly 890,000 online, spending about 30 million dollars a year online. [click] We only need about 390 regular shoppers — around 585 orders a month, or 0.4 percent of that market — to break even.</a:t>
            </a:r>
          </a:p>
          <a:p/>
          <a:p>
            <a:r>
              <a:t>Key numbers:</a:t>
            </a:r>
          </a:p>
          <a:p>
            <a:r>
              <a:t>46.1M · 1.60M · 1.06M — 2024 national census, Iraqi Ministry of Planning</a:t>
            </a:r>
          </a:p>
          <a:p>
            <a:r>
              <a:t>39.6M · $1.32B — DataReportal, Digital 2026: Iraq</a:t>
            </a:r>
          </a:p>
          <a:p>
            <a:r>
              <a:t>≈ 0.89M · ≈ $30M — 2024 national census, Iraqi Ministry of Planning</a:t>
            </a:r>
          </a:p>
          <a:p>
            <a:r>
              <a:t>~390 regular shoppers — Cheapify financial model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~22s</a:t>
            </a:r>
          </a:p>
          <a:p>
            <a:r>
              <a:t>Who are those 390 shoppers? Time-poor professionals, household budget buyers, and students and deal hunters — 97 percent of surveyed shoppers notice big price gaps, and 88 percent would use Cheapify. [click] On the supply side, Duhok's social-media shops: 85 percent sell on Instagram or Facebook, and 75 percent want to try Cheapify.</a:t>
            </a:r>
          </a:p>
          <a:p/>
          <a:p>
            <a:r>
              <a:t>Key numbers:</a:t>
            </a:r>
          </a:p>
          <a:p>
            <a:r>
              <a:t>97% — Cheapify market survey, n=199 (Sep–Oct 2026)</a:t>
            </a:r>
          </a:p>
          <a:p>
            <a:r>
              <a:t>23–38 · 26–48 · 18–24 — Cheapify go-to-market plan</a:t>
            </a:r>
          </a:p>
          <a:p>
            <a:r>
              <a:t>85% · 75% — Cheapify market survey, n=199 (Sep–Oct 2026)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~27s</a:t>
            </a:r>
          </a:p>
          <a:p>
            <a:r>
              <a:t>We earn only when an order is delivered. Our fee is 5 percent on the first 10,000 dinars, 3 percent up to 100,000, and 1.5 percent above — so on a typical 25,000-dinar order, our share is 950 fee plus 500 delivery margin: 1,450 dinars. [click] After 335 in variable costs — messages, logins, returns and re-deliveries — [click] we keep 1,115 dinars per delivered order.</a:t>
            </a:r>
          </a:p>
          <a:p/>
          <a:p>
            <a:r>
              <a:t>Key numbers:</a:t>
            </a:r>
          </a:p>
          <a:p>
            <a:r>
              <a:t>5% · 3% · 1.5% — Cheapify financial model</a:t>
            </a:r>
          </a:p>
          <a:p>
            <a:r>
              <a:t>1,450 IQD — Cheapify financial model</a:t>
            </a:r>
          </a:p>
          <a:p>
            <a:r>
              <a:t>−335 IQD — Cheapify financial model</a:t>
            </a:r>
          </a:p>
          <a:p>
            <a:r>
              <a:t>1,115 IQD — Cheapify financial model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~21s</a:t>
            </a:r>
          </a:p>
          <a:p>
            <a:r>
              <a:t>Look at today's options. [click] On Instagram, prices are often hidden. Miswag, iBazzar and Elryan show prices — but the same product shows up in multiple listings, and Elryan sells only its own stock. [click] Only Cheapify puts every seller of a product on one page — and compares them for you.</a:t>
            </a:r>
          </a:p>
          <a:p/>
          <a:p>
            <a:r>
              <a:t>Key numbers:</a:t>
            </a:r>
          </a:p>
          <a:p>
            <a:r>
              <a:t>4 platforms — Price evidence screenshots (Sep–Oct 2026)</a:t>
            </a:r>
          </a:p>
          <a:p>
            <a:r>
              <a:t>4 criteria — Price evidence screenshots (Sep–Oct 2026)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~33s</a:t>
            </a:r>
          </a:p>
          <a:p>
            <a:r>
              <a:t>We grow on two sides. [click] Stores: I sign the first 20 in person, with 0 percent in month one, free ads, and their 1,500 to 50,000 followers. [click] Shoppers: 2,200 dollars in targeted ads, short videos, campus deals at three universities, and referrals starting from 52 on our waitlist. [click] That drives the flywheel: more stores, lower prices, more shoppers, more orders — [click] starting in Duhok, Semel and Zakho, then Erbil, Mosul and Sulaymaniyah, then all of Iraq.</a:t>
            </a:r>
          </a:p>
          <a:p/>
          <a:p>
            <a:r>
              <a:t>Key numbers:</a:t>
            </a:r>
          </a:p>
          <a:p>
            <a:r>
              <a:t>20 stores — Cheapify go-to-market plan</a:t>
            </a:r>
          </a:p>
          <a:p>
            <a:r>
              <a:t>0% in month 1 — Cheapify go-to-market plan</a:t>
            </a:r>
          </a:p>
          <a:p>
            <a:r>
              <a:t>1.5k–50k — Cheapify go-to-market plan</a:t>
            </a:r>
          </a:p>
          <a:p>
            <a:r>
              <a:t>$2,200 · 3 universities · 52 waitlist — Cheapify market survey, n=199 (Sep–Oct 2026)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~30s</a:t>
            </a:r>
          </a:p>
          <a:p>
            <a:r>
              <a:t>Our monthly costs are 435 dollars, so we break even at 585 orders a month — about 390 regular shoppers. [click] On our planned pace, the lowest point is minus 2,180 dollars in month three, we reach monthly break-even in month four, and all losses are recovered by month eight. [click] In the fast case: month three and month six. [click] Even at half speed, we're profitable every month from month seven.</a:t>
            </a:r>
          </a:p>
          <a:p/>
          <a:p>
            <a:r>
              <a:t>Key numbers:</a:t>
            </a:r>
          </a:p>
          <a:p>
            <a:r>
              <a:t>$435 / month — Cheapify financial model</a:t>
            </a:r>
          </a:p>
          <a:p>
            <a:r>
              <a:t>585 orders / month ≈ 390 shoppers — Cheapify financial model</a:t>
            </a:r>
          </a:p>
          <a:p>
            <a:r>
              <a:t>−$2,180 · Month 4 · Month 8 — Cheapify financial model</a:t>
            </a:r>
          </a:p>
          <a:p>
            <a:r>
              <a:t>Month 3 · Month 6 — Cheapify financial model</a:t>
            </a:r>
          </a:p>
          <a:p>
            <a:r>
              <a:t>Month 7 — Cheapify financial model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~31s</a:t>
            </a:r>
          </a:p>
          <a:p>
            <a:r>
              <a:t>We ask for 5,480 dollars, computed line by line with zero idle cash. [click] In month zero, 100 runs our pilot by hand, [click] and 1,000 registers the company. [click] In month one, 840 launches 20 founding stores with a free first month. [click] Across months one to six, 1,340 covers monthly losses even in the slow case, [click] and 2,200 powers our growth push. [click] Less still launches — [click] and I build the platform myself for zero salary.</a:t>
            </a:r>
          </a:p>
          <a:p/>
          <a:p>
            <a:r>
              <a:t>Key numbers:</a:t>
            </a:r>
          </a:p>
          <a:p>
            <a:r>
              <a:t>$5,480 (≈ 8.2M IQD) — Cheapify financial model</a:t>
            </a:r>
          </a:p>
          <a:p>
            <a:r>
              <a:t>$100 · $1,000 · $840 · $1,340 · $2,200 — Cheapify financial model</a:t>
            </a:r>
          </a:p>
          <a:p>
            <a:r>
              <a:t>$3,280 · $2,710 — Cheapify financial model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 — show only when asked.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4.png"/><Relationship Id="rId8" Type="http://schemas.openxmlformats.org/officeDocument/2006/relationships/image" Target="../media/image2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footer-facebook.svg"/><Relationship Id="rId14" Type="http://schemas.openxmlformats.org/officeDocument/2006/relationships/image" Target="../media/footer-instagram.svg"/><Relationship Id="rId15" Type="http://schemas.openxmlformats.org/officeDocument/2006/relationships/image" Target="../media/footer-linkedin.svg"/><Relationship Id="rId16" Type="http://schemas.openxmlformats.org/officeDocument/2006/relationships/image" Target="../media/footer-mail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4.png"/><Relationship Id="rId8" Type="http://schemas.openxmlformats.org/officeDocument/2006/relationships/image" Target="../media/image2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5.png"/><Relationship Id="rId14" Type="http://schemas.openxmlformats.org/officeDocument/2006/relationships/image" Target="../media/footer-facebook.svg"/><Relationship Id="rId15" Type="http://schemas.openxmlformats.org/officeDocument/2006/relationships/image" Target="../media/footer-instagram.svg"/><Relationship Id="rId16" Type="http://schemas.openxmlformats.org/officeDocument/2006/relationships/image" Target="../media/footer-linkedin.svg"/><Relationship Id="rId17" Type="http://schemas.openxmlformats.org/officeDocument/2006/relationships/image" Target="../media/footer-mail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18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24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15.png"/><Relationship Id="rId8" Type="http://schemas.openxmlformats.org/officeDocument/2006/relationships/image" Target="../media/image39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33.png"/><Relationship Id="rId10" Type="http://schemas.openxmlformats.org/officeDocument/2006/relationships/image" Target="../media/image43.png"/><Relationship Id="rId11" Type="http://schemas.openxmlformats.org/officeDocument/2006/relationships/image" Target="../media/image32.png"/><Relationship Id="rId12" Type="http://schemas.openxmlformats.org/officeDocument/2006/relationships/image" Target="../media/image34.png"/><Relationship Id="rId1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23900" y="5848350"/>
            <a:ext cx="10744200" cy="514350"/>
          </a:xfrm>
          <a:prstGeom prst="roundRect">
            <a:avLst>
              <a:gd fmla="val 25925" name="adj"/>
            </a:avLst>
          </a:prstGeom>
          <a:solidFill>
            <a:srgbClr val="0105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1686154" y="6010351"/>
            <a:ext cx="11049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capa.auk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5510174" y="6010351"/>
            <a:ext cx="1181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 AUK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9439351" y="6010351"/>
            <a:ext cx="2107406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capa@auk.edu.krd</a:t>
            </a:r>
            <a:endParaRPr/>
          </a:p>
        </p:txBody>
      </p:sp>
      <p:pic>
        <p:nvPicPr>
          <p:cNvPr id="92" name="Google Shape;92;p13" title="Center_for_Academic_and_Professional_Advancement.png"/>
          <p:cNvPicPr preferRelativeResize="1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168128" y="1097280"/>
            <a:ext cx="1609344" cy="490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title="german cooperation deutsche zusammenarbeit.png"/>
          <p:cNvPicPr preferRelativeResize="1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29768" y="365760"/>
            <a:ext cx="2377440" cy="1331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Picture 93" descr="footer-facebook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7105" y="5995721"/>
            <a:ext cx="219456" cy="219456"/>
          </a:xfrm>
          <a:prstGeom prst="rect">
            <a:avLst/>
          </a:prstGeom>
        </p:spPr>
      </p:pic>
      <p:pic>
        <p:nvPicPr>
          <p:cNvPr id="95" name="Picture 94" descr="footer-instagram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357884" y="5995721"/>
            <a:ext cx="219456" cy="219456"/>
          </a:xfrm>
          <a:prstGeom prst="rect">
            <a:avLst/>
          </a:prstGeom>
        </p:spPr>
      </p:pic>
      <p:pic>
        <p:nvPicPr>
          <p:cNvPr id="96" name="Picture 95" descr="footer-linkedin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193792" y="5995721"/>
            <a:ext cx="219456" cy="219456"/>
          </a:xfrm>
          <a:prstGeom prst="rect">
            <a:avLst/>
          </a:prstGeom>
        </p:spPr>
      </p:pic>
      <p:pic>
        <p:nvPicPr>
          <p:cNvPr id="97" name="Picture 96" descr="footer-mail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15654" y="5995721"/>
            <a:ext cx="219456" cy="219456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0" y="2578608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800" b="1" lang="en-US">
                <a:solidFill>
                  <a:srgbClr val="101820"/>
                </a:solidFill>
                <a:latin typeface="Comfortaa"/>
                <a:cs typeface="Comfortaa"/>
              </a:rPr>
              <a:t>Youth Entrepreneurship Program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0" y="3346704"/>
            <a:ext cx="12191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 lang="en-US">
                <a:solidFill>
                  <a:srgbClr val="298FC2"/>
                </a:solidFill>
                <a:latin typeface="Comfortaa"/>
                <a:cs typeface="Comfortaa"/>
              </a:rPr>
              <a:t>One product, ten prices.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98568" y="4005072"/>
            <a:ext cx="219456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0" y="4279392"/>
            <a:ext cx="1219169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 lang="en-US">
                <a:solidFill>
                  <a:srgbClr val="101820"/>
                </a:solidFill>
                <a:latin typeface="Inter"/>
                <a:cs typeface="Inter"/>
              </a:rPr>
              <a:t>Shakir Bashar · Founder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0" y="4681728"/>
            <a:ext cx="12191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50" b="0" lang="en-US">
                <a:solidFill>
                  <a:srgbClr val="5A6672"/>
                </a:solidFill>
                <a:latin typeface="Inter"/>
                <a:cs typeface="Inter"/>
              </a:rPr>
              <a:t>4 November 2026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6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3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 animBg="1"/>
      <p:bldP spid="99" grpId="0" animBg="1"/>
      <p:bldP spid="100" grpId="0" animBg="1"/>
      <p:bldP spid="101" grpId="0" animBg="1"/>
      <p:bldP spid="10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200" b="1" lang="en-US">
                <a:solidFill>
                  <a:srgbClr val="101820"/>
                </a:solidFill>
                <a:latin typeface="Comfortaa"/>
                <a:cs typeface="Comfortaa"/>
              </a:rPr>
              <a:t>Online in Iraq, you can't know the real price before you buy.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Miswag app, 20 Oct 2026. Seller names blurred.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722376" y="2359152"/>
            <a:ext cx="6492240" cy="3931920"/>
            <a:chOff x="722376" y="2359152"/>
            <a:chExt cx="6492240" cy="3931920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2359152"/>
              <a:ext cx="6492240" cy="3931920"/>
            </a:xfrm>
            <a:prstGeom prst="roundRect">
              <a:avLst>
                <a:gd name="adj" fmla="val 325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868680" y="2468880"/>
              <a:ext cx="6199632" cy="3364992"/>
            </a:xfrm>
            <a:prstGeom prst="roundRect">
              <a:avLst>
                <a:gd name="adj" fmla="val 2717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7" name="Picture 106" descr="ev-miswag-anker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56816" y="2542032"/>
              <a:ext cx="4023360" cy="3218688"/>
            </a:xfrm>
            <a:prstGeom prst="rect">
              <a:avLst/>
            </a:prstGeom>
          </p:spPr>
        </p:pic>
        <p:sp>
          <p:nvSpPr>
            <p:cNvPr id="108" name="TextBox 107"/>
            <p:cNvSpPr txBox="1"/>
            <p:nvPr/>
          </p:nvSpPr>
          <p:spPr>
            <a:xfrm>
              <a:off x="868680" y="5888736"/>
              <a:ext cx="6199632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Same search. Same screen. Same model.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7498080" y="2395728"/>
            <a:ext cx="3968496" cy="566928"/>
            <a:chOff x="7498080" y="2395728"/>
            <a:chExt cx="3968496" cy="566928"/>
          </a:xfrm>
        </p:grpSpPr>
        <p:sp>
          <p:nvSpPr>
            <p:cNvPr id="110" name="TextBox 109"/>
            <p:cNvSpPr txBox="1"/>
            <p:nvPr/>
          </p:nvSpPr>
          <p:spPr>
            <a:xfrm>
              <a:off x="7498080" y="2395728"/>
              <a:ext cx="3968496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Anker 25,000 mAh · 165 W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7498080" y="2706624"/>
              <a:ext cx="3968496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0" lang="en-US">
                  <a:solidFill>
                    <a:srgbClr val="5A6672"/>
                  </a:solidFill>
                  <a:latin typeface="Inter"/>
                  <a:cs typeface="Inter"/>
                </a:rPr>
                <a:t>Miswag search grid</a:t>
              </a:r>
            </a:p>
          </p:txBody>
        </p:sp>
      </p:grpSp>
      <p:grpSp>
        <p:nvGrpSpPr>
          <p:cNvPr id="112" name="Group 112"/>
          <p:cNvGrpSpPr/>
          <p:nvPr/>
        </p:nvGrpSpPr>
        <p:grpSpPr>
          <a:xfrm>
            <a:off x="2068576" y="4941147"/>
            <a:ext cx="782320" cy="230971"/>
            <a:chOff x="2068576" y="4941147"/>
            <a:chExt cx="782320" cy="230971"/>
          </a:xfrm>
        </p:grpSpPr>
        <p:sp>
          <p:nvSpPr>
            <p:cNvPr id="113" name="Rounded Rectangle 112"/>
            <p:cNvSpPr/>
            <p:nvPr/>
          </p:nvSpPr>
          <p:spPr>
            <a:xfrm>
              <a:off x="2068576" y="4941147"/>
              <a:ext cx="782320" cy="230971"/>
            </a:xfrm>
            <a:prstGeom prst="roundRect">
              <a:avLst>
                <a:gd name="adj" fmla="val 23753"/>
              </a:avLst>
            </a:prstGeom>
            <a:noFill/>
            <a:ln w="31750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4013200" y="4941147"/>
            <a:ext cx="793496" cy="230971"/>
            <a:chOff x="4013200" y="4941147"/>
            <a:chExt cx="793496" cy="230971"/>
          </a:xfrm>
        </p:grpSpPr>
        <p:sp>
          <p:nvSpPr>
            <p:cNvPr id="115" name="Rounded Rectangle 114"/>
            <p:cNvSpPr/>
            <p:nvPr/>
          </p:nvSpPr>
          <p:spPr>
            <a:xfrm>
              <a:off x="4013200" y="4941147"/>
              <a:ext cx="793496" cy="230971"/>
            </a:xfrm>
            <a:prstGeom prst="roundRect">
              <a:avLst>
                <a:gd name="adj" fmla="val 23753"/>
              </a:avLst>
            </a:prstGeom>
            <a:noFill/>
            <a:ln w="31750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7498080" y="3127248"/>
            <a:ext cx="3968496" cy="621792"/>
            <a:chOff x="7498080" y="3127248"/>
            <a:chExt cx="3968496" cy="621792"/>
          </a:xfrm>
        </p:grpSpPr>
        <p:sp>
          <p:nvSpPr>
            <p:cNvPr id="117" name="Rounded Rectangle 116"/>
            <p:cNvSpPr/>
            <p:nvPr/>
          </p:nvSpPr>
          <p:spPr>
            <a:xfrm>
              <a:off x="7498080" y="3127248"/>
              <a:ext cx="3968496" cy="621792"/>
            </a:xfrm>
            <a:prstGeom prst="roundRect">
              <a:avLst>
                <a:gd name="adj" fmla="val 20588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7680960" y="3127248"/>
              <a:ext cx="1645920" cy="62179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Seller 1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235440" y="3127248"/>
              <a:ext cx="2048256" cy="62179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2000" b="1" lang="en-US">
                  <a:solidFill>
                    <a:srgbClr val="101820"/>
                  </a:solidFill>
                  <a:latin typeface="Comfortaa"/>
                  <a:cs typeface="Comfortaa"/>
                </a:rPr>
                <a:t>100,000 IQD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7498080" y="3858768"/>
            <a:ext cx="3968496" cy="621792"/>
            <a:chOff x="7498080" y="3858768"/>
            <a:chExt cx="3968496" cy="621792"/>
          </a:xfrm>
        </p:grpSpPr>
        <p:sp>
          <p:nvSpPr>
            <p:cNvPr id="121" name="Rounded Rectangle 120"/>
            <p:cNvSpPr/>
            <p:nvPr/>
          </p:nvSpPr>
          <p:spPr>
            <a:xfrm>
              <a:off x="7498080" y="3858768"/>
              <a:ext cx="3968496" cy="621792"/>
            </a:xfrm>
            <a:prstGeom prst="roundRect">
              <a:avLst>
                <a:gd name="adj" fmla="val 20588"/>
              </a:avLst>
            </a:prstGeom>
            <a:solidFill>
              <a:srgbClr val="F4F6F8"/>
            </a:solidFill>
            <a:ln w="12700">
              <a:solidFill>
                <a:srgbClr val="D22730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7680960" y="3858768"/>
              <a:ext cx="1645920" cy="62179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Seller 2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9235440" y="3858768"/>
              <a:ext cx="2048256" cy="62179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2000" b="1" lang="en-US">
                  <a:solidFill>
                    <a:srgbClr val="D22730"/>
                  </a:solidFill>
                  <a:latin typeface="Comfortaa"/>
                  <a:cs typeface="Comfortaa"/>
                </a:rPr>
                <a:t>200,000 IQD</a:t>
              </a:r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2850896" y="4928616"/>
            <a:ext cx="1162304" cy="256032"/>
            <a:chOff x="2850896" y="4928616"/>
            <a:chExt cx="1162304" cy="256032"/>
          </a:xfrm>
        </p:grpSpPr>
        <p:cxnSp>
          <p:nvCxnSpPr>
            <p:cNvPr id="125" name="Connector 124"/>
            <p:cNvCxnSpPr/>
            <p:nvPr/>
          </p:nvCxnSpPr>
          <p:spPr>
            <a:xfrm>
              <a:off x="2850896" y="5056632"/>
              <a:ext cx="1162304" cy="0"/>
            </a:xfrm>
            <a:prstGeom prst="line">
              <a:avLst/>
            </a:prstGeom>
            <a:ln w="31750">
              <a:solidFill>
                <a:srgbClr val="D22730"/>
              </a:solidFill>
            </a:ln>
            <a:effectLst/>
          </p:spPr>
        </p:cxnSp>
        <p:sp>
          <p:nvSpPr>
            <p:cNvPr id="126" name="Rounded Rectangle 125"/>
            <p:cNvSpPr/>
            <p:nvPr/>
          </p:nvSpPr>
          <p:spPr>
            <a:xfrm>
              <a:off x="3121152" y="4928616"/>
              <a:ext cx="621792" cy="256032"/>
            </a:xfrm>
            <a:prstGeom prst="roundRect">
              <a:avLst>
                <a:gd name="adj" fmla="val 50000"/>
              </a:avLst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3121152" y="4928616"/>
              <a:ext cx="621792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1" lang="en-US">
                  <a:solidFill>
                    <a:srgbClr val="FFFFFF"/>
                  </a:solidFill>
                  <a:latin typeface="Inter"/>
                  <a:cs typeface="Inter"/>
                </a:rPr>
                <a:t>2×</a:t>
              </a:r>
            </a:p>
          </p:txBody>
        </p:sp>
      </p:grpSp>
      <p:grpSp>
        <p:nvGrpSpPr>
          <p:cNvPr id="128" name="Group 128"/>
          <p:cNvGrpSpPr/>
          <p:nvPr/>
        </p:nvGrpSpPr>
        <p:grpSpPr>
          <a:xfrm>
            <a:off x="7498080" y="4663440"/>
            <a:ext cx="3968496" cy="1627632"/>
            <a:chOff x="7498080" y="4663440"/>
            <a:chExt cx="3968496" cy="1627632"/>
          </a:xfrm>
        </p:grpSpPr>
        <p:sp>
          <p:nvSpPr>
            <p:cNvPr id="129" name="Rounded Rectangle 128"/>
            <p:cNvSpPr/>
            <p:nvPr/>
          </p:nvSpPr>
          <p:spPr>
            <a:xfrm>
              <a:off x="7498080" y="4663440"/>
              <a:ext cx="3968496" cy="1627632"/>
            </a:xfrm>
            <a:prstGeom prst="roundRect">
              <a:avLst>
                <a:gd name="adj" fmla="val 7865"/>
              </a:avLst>
            </a:prstGeom>
            <a:solidFill>
              <a:srgbClr val="FFFFFF"/>
            </a:solidFill>
            <a:ln w="25400">
              <a:solidFill>
                <a:srgbClr val="D22730"/>
              </a:solidFill>
            </a:ln>
            <a:effectLst>
              <a:outerShdw blurRad="304800" dist="101600" dir="5400000" algn="t" rotWithShape="0">
                <a:srgbClr val="101820">
                  <a:alpha val="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7635240" y="4773168"/>
              <a:ext cx="3694176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3800" b="1" lang="en-US">
                  <a:solidFill>
                    <a:srgbClr val="D22730"/>
                  </a:solidFill>
                  <a:latin typeface="Comfortaa"/>
                  <a:cs typeface="Comfortaa"/>
                </a:rPr>
                <a:t>2× the price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7635240" y="5449824"/>
              <a:ext cx="3694176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same power bank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7635240" y="5815584"/>
              <a:ext cx="3694176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50" b="0" lang="en-US">
                  <a:solidFill>
                    <a:srgbClr val="5A6672"/>
                  </a:solidFill>
                  <a:latin typeface="Inter"/>
                  <a:cs typeface="Inter"/>
                </a:rPr>
                <a:t>+100,000 IQD on the same screen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3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3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3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/>
          <p:nvPr/>
        </p:nvSpPr>
        <p:spPr>
          <a:xfrm>
            <a:off x="723900" y="5848350"/>
            <a:ext cx="10744200" cy="514350"/>
          </a:xfrm>
          <a:prstGeom prst="roundRect">
            <a:avLst>
              <a:gd fmla="val 25925" name="adj"/>
            </a:avLst>
          </a:prstGeom>
          <a:solidFill>
            <a:srgbClr val="0105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 txBox="1"/>
          <p:nvPr/>
        </p:nvSpPr>
        <p:spPr>
          <a:xfrm>
            <a:off x="1686154" y="6010351"/>
            <a:ext cx="11049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capa.auk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5510174" y="6010351"/>
            <a:ext cx="1181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 AUK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9439351" y="6010351"/>
            <a:ext cx="2107406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capa@auk.edu.krd</a:t>
            </a:r>
            <a:endParaRPr/>
          </a:p>
        </p:txBody>
      </p:sp>
      <p:pic>
        <p:nvPicPr>
          <p:cNvPr id="112" name="Google Shape;112;p15" title="Center_for_Academic_and_Professional_Advancement.png"/>
          <p:cNvPicPr preferRelativeResize="1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168128" y="1097280"/>
            <a:ext cx="1609344" cy="490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title="german cooperation deutsche zusammenarbeit.png"/>
          <p:cNvPicPr preferRelativeResize="1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29768" y="365760"/>
            <a:ext cx="2377440" cy="1331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Picture 113" descr="footer-facebook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7105" y="5995721"/>
            <a:ext cx="219456" cy="219456"/>
          </a:xfrm>
          <a:prstGeom prst="rect">
            <a:avLst/>
          </a:prstGeom>
        </p:spPr>
      </p:pic>
      <p:pic>
        <p:nvPicPr>
          <p:cNvPr id="115" name="Picture 114" descr="footer-instagram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57884" y="5995721"/>
            <a:ext cx="219456" cy="219456"/>
          </a:xfrm>
          <a:prstGeom prst="rect">
            <a:avLst/>
          </a:prstGeom>
        </p:spPr>
      </p:pic>
      <p:pic>
        <p:nvPicPr>
          <p:cNvPr id="116" name="Picture 115" descr="footer-linkedin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93792" y="5995721"/>
            <a:ext cx="219456" cy="219456"/>
          </a:xfrm>
          <a:prstGeom prst="rect">
            <a:avLst/>
          </a:prstGeom>
        </p:spPr>
      </p:pic>
      <p:pic>
        <p:nvPicPr>
          <p:cNvPr id="117" name="Picture 116" descr="footer-mail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115654" y="5995721"/>
            <a:ext cx="219456" cy="219456"/>
          </a:xfrm>
          <a:prstGeom prst="rect">
            <a:avLst/>
          </a:prstGeom>
        </p:spPr>
      </p:pic>
      <p:pic>
        <p:nvPicPr>
          <p:cNvPr id="118" name="Picture 117" descr="cheapify-log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70068" y="1783080"/>
            <a:ext cx="1051560" cy="1352006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0" y="324612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800" b="1" lang="en-US">
                <a:solidFill>
                  <a:srgbClr val="101820"/>
                </a:solidFill>
                <a:latin typeface="Comfortaa"/>
                <a:cs typeface="Comfortaa"/>
              </a:rPr>
              <a:t>Thank you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0" y="4041648"/>
            <a:ext cx="121916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lang="en-US">
                <a:solidFill>
                  <a:srgbClr val="298FC2"/>
                </a:solidFill>
                <a:latin typeface="Comfortaa"/>
                <a:cs typeface="Comfortaa"/>
              </a:rPr>
              <a:t>The bright side of choosing.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0" y="4681728"/>
            <a:ext cx="121916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1" lang="en-US">
                <a:solidFill>
                  <a:srgbClr val="298FC2"/>
                </a:solidFill>
                <a:latin typeface="Inter"/>
                <a:cs typeface="Inter"/>
              </a:rPr>
              <a:t>getcheapify.com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0" y="50292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50" b="0" lang="en-US">
                <a:solidFill>
                  <a:srgbClr val="5A6672"/>
                </a:solidFill>
                <a:latin typeface="Inter"/>
                <a:cs typeface="Inter"/>
              </a:rPr>
              <a:t>Shakir Bashar · Founder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69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0" animBg="1"/>
      <p:bldP spid="120" grpId="0" animBg="1"/>
      <p:bldP spid="121" grpId="0" animBg="1"/>
      <p:bldP spid="12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Problem · evidence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And it's the whole market.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Screenshots Sep–Oct 2026 (seller names blurred) · Cheapify market survey, n=199 (179 shoppers, 20 merchants), Sep–Oct 2026.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722376" y="2340864"/>
            <a:ext cx="3383280" cy="3127248"/>
            <a:chOff x="722376" y="2340864"/>
            <a:chExt cx="3383280" cy="3127248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2340864"/>
              <a:ext cx="3383280" cy="3127248"/>
            </a:xfrm>
            <a:prstGeom prst="roundRect">
              <a:avLst>
                <a:gd name="adj" fmla="val 4093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859536" y="2468880"/>
              <a:ext cx="3108960" cy="2212848"/>
            </a:xfrm>
            <a:prstGeom prst="roundRect">
              <a:avLst>
                <a:gd name="adj" fmla="val 4132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7" name="Picture 106" descr="ev-ibazzar-xiaomi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84648" y="2542032"/>
              <a:ext cx="1458737" cy="2066544"/>
            </a:xfrm>
            <a:prstGeom prst="rect">
              <a:avLst/>
            </a:prstGeom>
          </p:spPr>
        </p:pic>
        <p:sp>
          <p:nvSpPr>
            <p:cNvPr id="108" name="TextBox 107"/>
            <p:cNvSpPr txBox="1"/>
            <p:nvPr/>
          </p:nvSpPr>
          <p:spPr>
            <a:xfrm>
              <a:off x="859536" y="4754880"/>
              <a:ext cx="310896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Same item, listed twice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859536" y="5084064"/>
              <a:ext cx="31089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60,000 vs 70,000 IQD</a:t>
              </a:r>
            </a:p>
          </p:txBody>
        </p:sp>
      </p:grpSp>
      <p:grpSp>
        <p:nvGrpSpPr>
          <p:cNvPr id="110" name="Group 110"/>
          <p:cNvGrpSpPr/>
          <p:nvPr/>
        </p:nvGrpSpPr>
        <p:grpSpPr>
          <a:xfrm>
            <a:off x="1741376" y="3392962"/>
            <a:ext cx="998154" cy="1127819"/>
            <a:chOff x="1741376" y="3392962"/>
            <a:chExt cx="998154" cy="1127819"/>
          </a:xfrm>
        </p:grpSpPr>
        <p:sp>
          <p:nvSpPr>
            <p:cNvPr id="111" name="Rounded Rectangle 110"/>
            <p:cNvSpPr/>
            <p:nvPr/>
          </p:nvSpPr>
          <p:spPr>
            <a:xfrm>
              <a:off x="2442380" y="3392962"/>
              <a:ext cx="297150" cy="78340"/>
            </a:xfrm>
            <a:prstGeom prst="roundRect">
              <a:avLst>
                <a:gd name="adj" fmla="val 50000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741376" y="4441091"/>
              <a:ext cx="303904" cy="79690"/>
            </a:xfrm>
            <a:prstGeom prst="roundRect">
              <a:avLst>
                <a:gd name="adj" fmla="val 50000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4402836" y="2340864"/>
            <a:ext cx="3383280" cy="3127248"/>
            <a:chOff x="4402836" y="2340864"/>
            <a:chExt cx="3383280" cy="3127248"/>
          </a:xfrm>
        </p:grpSpPr>
        <p:sp>
          <p:nvSpPr>
            <p:cNvPr id="114" name="Rounded Rectangle 113"/>
            <p:cNvSpPr/>
            <p:nvPr/>
          </p:nvSpPr>
          <p:spPr>
            <a:xfrm>
              <a:off x="4402836" y="2340864"/>
              <a:ext cx="3383280" cy="3127248"/>
            </a:xfrm>
            <a:prstGeom prst="roundRect">
              <a:avLst>
                <a:gd name="adj" fmla="val 4093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Rounded Rectangle 114"/>
            <p:cNvSpPr/>
            <p:nvPr/>
          </p:nvSpPr>
          <p:spPr>
            <a:xfrm>
              <a:off x="4539996" y="2468880"/>
              <a:ext cx="3108960" cy="2212848"/>
            </a:xfrm>
            <a:prstGeom prst="roundRect">
              <a:avLst>
                <a:gd name="adj" fmla="val 4132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6" name="Picture 115" descr="ev-instagram-noprice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6413" y="2542032"/>
              <a:ext cx="2096126" cy="2066544"/>
            </a:xfrm>
            <a:prstGeom prst="rect">
              <a:avLst/>
            </a:prstGeom>
          </p:spPr>
        </p:pic>
        <p:sp>
          <p:nvSpPr>
            <p:cNvPr id="117" name="TextBox 116"/>
            <p:cNvSpPr txBox="1"/>
            <p:nvPr/>
          </p:nvSpPr>
          <p:spPr>
            <a:xfrm>
              <a:off x="4539996" y="4754880"/>
              <a:ext cx="310896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No price — just 'DM us'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4539996" y="5084064"/>
              <a:ext cx="31089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Buyer asks: “How much?”</a:t>
              </a:r>
            </a:p>
          </p:txBody>
        </p:sp>
      </p:grpSp>
      <p:grpSp>
        <p:nvGrpSpPr>
          <p:cNvPr id="119" name="Group 119"/>
          <p:cNvGrpSpPr/>
          <p:nvPr/>
        </p:nvGrpSpPr>
        <p:grpSpPr>
          <a:xfrm>
            <a:off x="5291524" y="4456438"/>
            <a:ext cx="363441" cy="126782"/>
            <a:chOff x="5291524" y="4456438"/>
            <a:chExt cx="363441" cy="126782"/>
          </a:xfrm>
        </p:grpSpPr>
        <p:sp>
          <p:nvSpPr>
            <p:cNvPr id="120" name="Rounded Rectangle 119"/>
            <p:cNvSpPr/>
            <p:nvPr/>
          </p:nvSpPr>
          <p:spPr>
            <a:xfrm>
              <a:off x="5291524" y="4456438"/>
              <a:ext cx="363441" cy="126782"/>
            </a:xfrm>
            <a:prstGeom prst="roundRect">
              <a:avLst>
                <a:gd name="adj" fmla="val 43274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8083296" y="2340864"/>
            <a:ext cx="3383280" cy="3127248"/>
            <a:chOff x="8083296" y="2340864"/>
            <a:chExt cx="3383280" cy="3127248"/>
          </a:xfrm>
        </p:grpSpPr>
        <p:sp>
          <p:nvSpPr>
            <p:cNvPr id="122" name="Rounded Rectangle 121"/>
            <p:cNvSpPr/>
            <p:nvPr/>
          </p:nvSpPr>
          <p:spPr>
            <a:xfrm>
              <a:off x="8083296" y="2340864"/>
              <a:ext cx="3383280" cy="3127248"/>
            </a:xfrm>
            <a:prstGeom prst="roundRect">
              <a:avLst>
                <a:gd name="adj" fmla="val 4093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8220456" y="2468880"/>
              <a:ext cx="3108960" cy="2212848"/>
            </a:xfrm>
            <a:prstGeom prst="roundRect">
              <a:avLst>
                <a:gd name="adj" fmla="val 4132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4" name="Picture 123" descr="ev-vacuum-fakedeal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93608" y="2703649"/>
              <a:ext cx="2962656" cy="1743310"/>
            </a:xfrm>
            <a:prstGeom prst="rect">
              <a:avLst/>
            </a:prstGeom>
          </p:spPr>
        </p:pic>
        <p:sp>
          <p:nvSpPr>
            <p:cNvPr id="125" name="TextBox 124"/>
            <p:cNvSpPr txBox="1"/>
            <p:nvPr/>
          </p:nvSpPr>
          <p:spPr>
            <a:xfrm>
              <a:off x="8220456" y="4754880"/>
              <a:ext cx="310896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A fake 35% discount</a:t>
              </a: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8220456" y="5084064"/>
              <a:ext cx="31089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95,000 IG vs 133,250 “deal”</a:t>
              </a:r>
            </a:p>
          </p:txBody>
        </p:sp>
      </p:grpSp>
      <p:grpSp>
        <p:nvGrpSpPr>
          <p:cNvPr id="127" name="Group 127"/>
          <p:cNvGrpSpPr/>
          <p:nvPr/>
        </p:nvGrpSpPr>
        <p:grpSpPr>
          <a:xfrm>
            <a:off x="9538829" y="3111176"/>
            <a:ext cx="1701263" cy="1319611"/>
            <a:chOff x="9538829" y="3111176"/>
            <a:chExt cx="1701263" cy="1319611"/>
          </a:xfrm>
        </p:grpSpPr>
        <p:sp>
          <p:nvSpPr>
            <p:cNvPr id="128" name="Rounded Rectangle 127"/>
            <p:cNvSpPr/>
            <p:nvPr/>
          </p:nvSpPr>
          <p:spPr>
            <a:xfrm>
              <a:off x="9538829" y="3111176"/>
              <a:ext cx="342840" cy="310497"/>
            </a:xfrm>
            <a:prstGeom prst="roundRect">
              <a:avLst>
                <a:gd name="adj" fmla="val 17669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10121010" y="4235109"/>
              <a:ext cx="1119082" cy="195678"/>
            </a:xfrm>
            <a:prstGeom prst="roundRect">
              <a:avLst>
                <a:gd name="adj" fmla="val 28037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Group 130"/>
          <p:cNvGrpSpPr/>
          <p:nvPr/>
        </p:nvGrpSpPr>
        <p:grpSpPr>
          <a:xfrm>
            <a:off x="722376" y="5614416"/>
            <a:ext cx="10744200" cy="676656"/>
            <a:chOff x="722376" y="5614416"/>
            <a:chExt cx="10744200" cy="676656"/>
          </a:xfrm>
        </p:grpSpPr>
        <p:sp>
          <p:nvSpPr>
            <p:cNvPr id="131" name="Rounded Rectangle 130"/>
            <p:cNvSpPr/>
            <p:nvPr/>
          </p:nvSpPr>
          <p:spPr>
            <a:xfrm>
              <a:off x="722376" y="5614416"/>
              <a:ext cx="10744200" cy="676656"/>
            </a:xfrm>
            <a:prstGeom prst="roundRect">
              <a:avLst>
                <a:gd name="adj" fmla="val 18918"/>
              </a:avLst>
            </a:prstGeom>
            <a:solidFill>
              <a:srgbClr val="E5F2F8"/>
            </a:solidFill>
            <a:ln w="15875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1005840" y="5614416"/>
              <a:ext cx="1417320" cy="6766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3200" b="1" lang="en-US">
                  <a:solidFill>
                    <a:srgbClr val="298FC2"/>
                  </a:solidFill>
                  <a:latin typeface="Comfortaa"/>
                  <a:cs typeface="Comfortaa"/>
                </a:rPr>
                <a:t>97%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2514600" y="5614416"/>
              <a:ext cx="8686800" cy="6766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of 179 shoppers we surveyed see this.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3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Solution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950" b="1" lang="en-US">
                <a:solidFill>
                  <a:srgbClr val="101820"/>
                </a:solidFill>
                <a:latin typeface="Comfortaa"/>
                <a:cs typeface="Comfortaa"/>
              </a:rPr>
              <a:t>Cheapify puts every seller's real price for the same product on one page.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Illustration — store names and prices are examples.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5501488" y="1874520"/>
            <a:ext cx="1188720" cy="1528354"/>
            <a:chOff x="5501488" y="1874520"/>
            <a:chExt cx="1188720" cy="1528354"/>
          </a:xfrm>
        </p:grpSpPr>
        <p:pic>
          <p:nvPicPr>
            <p:cNvPr id="105" name="Picture 104" descr="cheapify-log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01488" y="1874520"/>
              <a:ext cx="1188720" cy="1528354"/>
            </a:xfrm>
            <a:prstGeom prst="rect">
              <a:avLst/>
            </a:prstGeom>
          </p:spPr>
        </p:pic>
      </p:grpSp>
      <p:grpSp>
        <p:nvGrpSpPr>
          <p:cNvPr id="106" name="Group 106"/>
          <p:cNvGrpSpPr/>
          <p:nvPr/>
        </p:nvGrpSpPr>
        <p:grpSpPr>
          <a:xfrm>
            <a:off x="0" y="3520440"/>
            <a:ext cx="12191695" cy="822960"/>
            <a:chOff x="0" y="3520440"/>
            <a:chExt cx="12191695" cy="822960"/>
          </a:xfrm>
        </p:grpSpPr>
        <p:sp>
          <p:nvSpPr>
            <p:cNvPr id="107" name="TextBox 106"/>
            <p:cNvSpPr txBox="1"/>
            <p:nvPr/>
          </p:nvSpPr>
          <p:spPr>
            <a:xfrm>
              <a:off x="0" y="3520440"/>
              <a:ext cx="12191695" cy="8229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5400" b="1" lang="en-US">
                  <a:solidFill>
                    <a:srgbClr val="101820"/>
                  </a:solidFill>
                  <a:latin typeface="Comfortaa"/>
                  <a:cs typeface="Comfortaa"/>
                </a:rPr>
                <a:t>Cheapify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0" y="4370832"/>
            <a:ext cx="12191695" cy="438912"/>
            <a:chOff x="0" y="4370832"/>
            <a:chExt cx="12191695" cy="438912"/>
          </a:xfrm>
        </p:grpSpPr>
        <p:sp>
          <p:nvSpPr>
            <p:cNvPr id="109" name="TextBox 108"/>
            <p:cNvSpPr txBox="1"/>
            <p:nvPr/>
          </p:nvSpPr>
          <p:spPr>
            <a:xfrm>
              <a:off x="0" y="4370832"/>
              <a:ext cx="12191695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200" b="0" lang="en-US">
                  <a:solidFill>
                    <a:srgbClr val="298FC2"/>
                  </a:solidFill>
                  <a:latin typeface="Comfortaa"/>
                  <a:cs typeface="Comfortaa"/>
                </a:rPr>
                <a:t>The bright side of choosing.</a:t>
              </a:r>
            </a:p>
          </p:txBody>
        </p:sp>
      </p:grpSp>
      <p:grpSp>
        <p:nvGrpSpPr>
          <p:cNvPr id="110" name="Group 110"/>
          <p:cNvGrpSpPr/>
          <p:nvPr/>
        </p:nvGrpSpPr>
        <p:grpSpPr>
          <a:xfrm>
            <a:off x="914400" y="2697480"/>
            <a:ext cx="1965960" cy="868680"/>
            <a:chOff x="914400" y="2697480"/>
            <a:chExt cx="1965960" cy="868680"/>
          </a:xfrm>
        </p:grpSpPr>
        <p:sp>
          <p:nvSpPr>
            <p:cNvPr id="111" name="Rounded Rectangle 110"/>
            <p:cNvSpPr/>
            <p:nvPr/>
          </p:nvSpPr>
          <p:spPr>
            <a:xfrm>
              <a:off x="914400" y="269748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1051560" y="278892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51560" y="297180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1051560" y="317296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</a:p>
          </p:txBody>
        </p:sp>
      </p:grpSp>
      <p:grpSp>
        <p:nvGrpSpPr>
          <p:cNvPr id="115" name="Group 115"/>
          <p:cNvGrpSpPr/>
          <p:nvPr/>
        </p:nvGrpSpPr>
        <p:grpSpPr>
          <a:xfrm>
            <a:off x="3749040" y="3063240"/>
            <a:ext cx="1965960" cy="868680"/>
            <a:chOff x="3749040" y="3063240"/>
            <a:chExt cx="1965960" cy="868680"/>
          </a:xfrm>
        </p:grpSpPr>
        <p:sp>
          <p:nvSpPr>
            <p:cNvPr id="116" name="Rounded Rectangle 115"/>
            <p:cNvSpPr/>
            <p:nvPr/>
          </p:nvSpPr>
          <p:spPr>
            <a:xfrm>
              <a:off x="3749040" y="30632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3886200" y="31546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3886200" y="33375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3886200" y="35387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200,000 IQD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6949440" y="2606040"/>
            <a:ext cx="1965960" cy="868680"/>
            <a:chOff x="6949440" y="2606040"/>
            <a:chExt cx="1965960" cy="868680"/>
          </a:xfrm>
        </p:grpSpPr>
        <p:sp>
          <p:nvSpPr>
            <p:cNvPr id="121" name="Rounded Rectangle 120"/>
            <p:cNvSpPr/>
            <p:nvPr/>
          </p:nvSpPr>
          <p:spPr>
            <a:xfrm>
              <a:off x="6949440" y="26060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7086600" y="26974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iBazzar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7086600" y="28803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7086600" y="30815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134,000 IQD</a:t>
              </a:r>
            </a:p>
          </p:txBody>
        </p:sp>
      </p:grpSp>
      <p:grpSp>
        <p:nvGrpSpPr>
          <p:cNvPr id="125" name="Group 125"/>
          <p:cNvGrpSpPr/>
          <p:nvPr/>
        </p:nvGrpSpPr>
        <p:grpSpPr>
          <a:xfrm>
            <a:off x="9326880" y="3291840"/>
            <a:ext cx="1965960" cy="868680"/>
            <a:chOff x="9326880" y="3291840"/>
            <a:chExt cx="1965960" cy="868680"/>
          </a:xfrm>
        </p:grpSpPr>
        <p:sp>
          <p:nvSpPr>
            <p:cNvPr id="126" name="Rounded Rectangle 125"/>
            <p:cNvSpPr/>
            <p:nvPr/>
          </p:nvSpPr>
          <p:spPr>
            <a:xfrm>
              <a:off x="9326880" y="32918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9464040" y="33832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9464040" y="35661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9464040" y="37673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D22730"/>
                  </a:solidFill>
                  <a:latin typeface="Inter"/>
                  <a:cs typeface="Inter"/>
                </a:rPr>
                <a:t>Price? DM us</a:t>
              </a:r>
            </a:p>
          </p:txBody>
        </p:sp>
      </p:grpSp>
      <p:grpSp>
        <p:nvGrpSpPr>
          <p:cNvPr id="130" name="Group 130"/>
          <p:cNvGrpSpPr/>
          <p:nvPr/>
        </p:nvGrpSpPr>
        <p:grpSpPr>
          <a:xfrm>
            <a:off x="2011680" y="4846320"/>
            <a:ext cx="1965960" cy="868680"/>
            <a:chOff x="2011680" y="4846320"/>
            <a:chExt cx="1965960" cy="868680"/>
          </a:xfrm>
        </p:grpSpPr>
        <p:sp>
          <p:nvSpPr>
            <p:cNvPr id="131" name="Rounded Rectangle 130"/>
            <p:cNvSpPr/>
            <p:nvPr/>
          </p:nvSpPr>
          <p:spPr>
            <a:xfrm>
              <a:off x="2011680" y="484632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2148840" y="493776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2148840" y="512064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2148840" y="532180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100,000 IQD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5486400" y="5120640"/>
            <a:ext cx="1965960" cy="868680"/>
            <a:chOff x="5486400" y="5120640"/>
            <a:chExt cx="1965960" cy="868680"/>
          </a:xfrm>
        </p:grpSpPr>
        <p:sp>
          <p:nvSpPr>
            <p:cNvPr id="136" name="Rounded Rectangle 135"/>
            <p:cNvSpPr/>
            <p:nvPr/>
          </p:nvSpPr>
          <p:spPr>
            <a:xfrm>
              <a:off x="5486400" y="51206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5623560" y="52120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5623560" y="53949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5623560" y="55961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99,000 IQD</a:t>
              </a:r>
            </a:p>
          </p:txBody>
        </p:sp>
      </p:grpSp>
      <p:grpSp>
        <p:nvGrpSpPr>
          <p:cNvPr id="140" name="Group 140"/>
          <p:cNvGrpSpPr/>
          <p:nvPr/>
        </p:nvGrpSpPr>
        <p:grpSpPr>
          <a:xfrm>
            <a:off x="8503920" y="4754880"/>
            <a:ext cx="1965960" cy="868680"/>
            <a:chOff x="8503920" y="4754880"/>
            <a:chExt cx="1965960" cy="868680"/>
          </a:xfrm>
        </p:grpSpPr>
        <p:sp>
          <p:nvSpPr>
            <p:cNvPr id="141" name="Rounded Rectangle 140"/>
            <p:cNvSpPr/>
            <p:nvPr/>
          </p:nvSpPr>
          <p:spPr>
            <a:xfrm>
              <a:off x="8503920" y="475488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8641080" y="484632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8641080" y="502920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8641080" y="523036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121,000 IQD</a:t>
              </a:r>
            </a:p>
          </p:txBody>
        </p:sp>
      </p:grpSp>
      <p:grpSp>
        <p:nvGrpSpPr>
          <p:cNvPr id="145" name="Group 145"/>
          <p:cNvGrpSpPr/>
          <p:nvPr/>
        </p:nvGrpSpPr>
        <p:grpSpPr>
          <a:xfrm>
            <a:off x="722376" y="2450592"/>
            <a:ext cx="7635240" cy="3822192"/>
            <a:chOff x="722376" y="2450592"/>
            <a:chExt cx="7635240" cy="3822192"/>
          </a:xfrm>
        </p:grpSpPr>
        <p:sp>
          <p:nvSpPr>
            <p:cNvPr id="146" name="Rounded Rectangle 145"/>
            <p:cNvSpPr/>
            <p:nvPr/>
          </p:nvSpPr>
          <p:spPr>
            <a:xfrm>
              <a:off x="722376" y="2450592"/>
              <a:ext cx="7635240" cy="3822192"/>
            </a:xfrm>
            <a:prstGeom prst="roundRect">
              <a:avLst>
                <a:gd name="adj" fmla="val 3349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304800" dist="101600" dir="5400000" algn="t" rotWithShape="0">
                <a:srgbClr val="101820">
                  <a:alpha val="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7" name="Picture 146" descr="product-anker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41568" y="2670048"/>
              <a:ext cx="625823" cy="868680"/>
            </a:xfrm>
            <a:prstGeom prst="rect">
              <a:avLst/>
            </a:prstGeom>
          </p:spPr>
        </p:pic>
        <p:sp>
          <p:nvSpPr>
            <p:cNvPr id="148" name="TextBox 147"/>
            <p:cNvSpPr txBox="1"/>
            <p:nvPr/>
          </p:nvSpPr>
          <p:spPr>
            <a:xfrm>
              <a:off x="2331720" y="2670048"/>
              <a:ext cx="576072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700" b="1" lang="en-US">
                  <a:solidFill>
                    <a:srgbClr val="101820"/>
                  </a:solidFill>
                  <a:latin typeface="Inter"/>
                  <a:cs typeface="Inter"/>
                </a:rPr>
                <a:t>Anker Power Bank 25,000 mAh · 165 W</a:t>
              </a:r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2331720" y="3054096"/>
              <a:ext cx="57607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One page · every verified seller</a:t>
              </a:r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960120" y="3621024"/>
              <a:ext cx="169164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Seller</a:t>
              </a:r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2743200" y="3621024"/>
              <a:ext cx="100584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Item</a:t>
              </a:r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3840480" y="3621024"/>
              <a:ext cx="96012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Delivery</a:t>
              </a: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4892040" y="3621024"/>
              <a:ext cx="132588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6400800" y="3621024"/>
              <a:ext cx="86868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Arrives</a:t>
              </a:r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868680" y="3913632"/>
            <a:ext cx="7342632" cy="493776"/>
            <a:chOff x="868680" y="3913632"/>
            <a:chExt cx="7342632" cy="493776"/>
          </a:xfrm>
        </p:grpSpPr>
        <p:sp>
          <p:nvSpPr>
            <p:cNvPr id="156" name="Rounded Rectangle 155"/>
            <p:cNvSpPr/>
            <p:nvPr/>
          </p:nvSpPr>
          <p:spPr>
            <a:xfrm>
              <a:off x="868680" y="3913632"/>
              <a:ext cx="7342632" cy="493776"/>
            </a:xfrm>
            <a:prstGeom prst="roundRect">
              <a:avLst>
                <a:gd name="adj" fmla="val 14814"/>
              </a:avLst>
            </a:prstGeom>
            <a:solidFill>
              <a:srgbClr val="EDF5F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7" name="Group 157"/>
          <p:cNvGrpSpPr/>
          <p:nvPr/>
        </p:nvGrpSpPr>
        <p:grpSpPr>
          <a:xfrm>
            <a:off x="960120" y="3913632"/>
            <a:ext cx="7132320" cy="493776"/>
            <a:chOff x="960120" y="3913632"/>
            <a:chExt cx="7132320" cy="493776"/>
          </a:xfrm>
        </p:grpSpPr>
        <p:cxnSp>
          <p:nvCxnSpPr>
            <p:cNvPr id="158" name="Connector 157"/>
            <p:cNvCxnSpPr/>
            <p:nvPr/>
          </p:nvCxnSpPr>
          <p:spPr>
            <a:xfrm>
              <a:off x="960120" y="4407408"/>
              <a:ext cx="713232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59" name="TextBox 158"/>
            <p:cNvSpPr txBox="1"/>
            <p:nvPr/>
          </p:nvSpPr>
          <p:spPr>
            <a:xfrm>
              <a:off x="960120" y="3913632"/>
              <a:ext cx="16916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A · Duhok</a:t>
              </a:r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2743200" y="3913632"/>
              <a:ext cx="10058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92,000</a:t>
              </a:r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3840480" y="3913632"/>
              <a:ext cx="96012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4892040" y="3913632"/>
              <a:ext cx="13258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6400800" y="3913632"/>
              <a:ext cx="8686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</a:p>
          </p:txBody>
        </p:sp>
      </p:grpSp>
      <p:grpSp>
        <p:nvGrpSpPr>
          <p:cNvPr id="164" name="Group 164"/>
          <p:cNvGrpSpPr/>
          <p:nvPr/>
        </p:nvGrpSpPr>
        <p:grpSpPr>
          <a:xfrm>
            <a:off x="960120" y="4425696"/>
            <a:ext cx="7132320" cy="493776"/>
            <a:chOff x="960120" y="4425696"/>
            <a:chExt cx="7132320" cy="493776"/>
          </a:xfrm>
        </p:grpSpPr>
        <p:cxnSp>
          <p:nvCxnSpPr>
            <p:cNvPr id="165" name="Connector 164"/>
            <p:cNvCxnSpPr/>
            <p:nvPr/>
          </p:nvCxnSpPr>
          <p:spPr>
            <a:xfrm>
              <a:off x="960120" y="4919472"/>
              <a:ext cx="713232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66" name="TextBox 165"/>
            <p:cNvSpPr txBox="1"/>
            <p:nvPr/>
          </p:nvSpPr>
          <p:spPr>
            <a:xfrm>
              <a:off x="960120" y="4425696"/>
              <a:ext cx="16916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D · Erbil</a:t>
              </a:r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2743200" y="4425696"/>
              <a:ext cx="10058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91,000</a:t>
              </a:r>
            </a:p>
          </p:txBody>
        </p:sp>
        <p:sp>
          <p:nvSpPr>
            <p:cNvPr id="168" name="TextBox 167"/>
            <p:cNvSpPr txBox="1"/>
            <p:nvPr/>
          </p:nvSpPr>
          <p:spPr>
            <a:xfrm>
              <a:off x="3840480" y="4425696"/>
              <a:ext cx="96012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+5,000</a:t>
              </a:r>
            </a:p>
          </p:txBody>
        </p:sp>
        <p:sp>
          <p:nvSpPr>
            <p:cNvPr id="169" name="TextBox 168"/>
            <p:cNvSpPr txBox="1"/>
            <p:nvPr/>
          </p:nvSpPr>
          <p:spPr>
            <a:xfrm>
              <a:off x="4892040" y="4425696"/>
              <a:ext cx="13258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96,000 IQD</a:t>
              </a:r>
            </a:p>
          </p:txBody>
        </p:sp>
        <p:sp>
          <p:nvSpPr>
            <p:cNvPr id="170" name="TextBox 169"/>
            <p:cNvSpPr txBox="1"/>
            <p:nvPr/>
          </p:nvSpPr>
          <p:spPr>
            <a:xfrm>
              <a:off x="6400800" y="4425696"/>
              <a:ext cx="8686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1–2 days</a:t>
              </a:r>
            </a:p>
          </p:txBody>
        </p:sp>
      </p:grpSp>
      <p:grpSp>
        <p:nvGrpSpPr>
          <p:cNvPr id="171" name="Group 171"/>
          <p:cNvGrpSpPr/>
          <p:nvPr/>
        </p:nvGrpSpPr>
        <p:grpSpPr>
          <a:xfrm>
            <a:off x="960120" y="4937760"/>
            <a:ext cx="7132320" cy="493776"/>
            <a:chOff x="960120" y="4937760"/>
            <a:chExt cx="7132320" cy="493776"/>
          </a:xfrm>
        </p:grpSpPr>
        <p:cxnSp>
          <p:nvCxnSpPr>
            <p:cNvPr id="172" name="Connector 171"/>
            <p:cNvCxnSpPr/>
            <p:nvPr/>
          </p:nvCxnSpPr>
          <p:spPr>
            <a:xfrm>
              <a:off x="960120" y="5431536"/>
              <a:ext cx="713232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73" name="TextBox 172"/>
            <p:cNvSpPr txBox="1"/>
            <p:nvPr/>
          </p:nvSpPr>
          <p:spPr>
            <a:xfrm>
              <a:off x="960120" y="4937760"/>
              <a:ext cx="16916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B · Duhok</a:t>
              </a:r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2743200" y="4937760"/>
              <a:ext cx="10058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99,000</a:t>
              </a: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3840480" y="4937760"/>
              <a:ext cx="96012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</a:p>
          </p:txBody>
        </p:sp>
        <p:sp>
          <p:nvSpPr>
            <p:cNvPr id="176" name="TextBox 175"/>
            <p:cNvSpPr txBox="1"/>
            <p:nvPr/>
          </p:nvSpPr>
          <p:spPr>
            <a:xfrm>
              <a:off x="4892040" y="4937760"/>
              <a:ext cx="13258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102,000 IQD</a:t>
              </a:r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6400800" y="4937760"/>
              <a:ext cx="8686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</a:p>
          </p:txBody>
        </p:sp>
      </p:grpSp>
      <p:grpSp>
        <p:nvGrpSpPr>
          <p:cNvPr id="178" name="Group 178"/>
          <p:cNvGrpSpPr/>
          <p:nvPr/>
        </p:nvGrpSpPr>
        <p:grpSpPr>
          <a:xfrm>
            <a:off x="960120" y="5449824"/>
            <a:ext cx="7132320" cy="493776"/>
            <a:chOff x="960120" y="5449824"/>
            <a:chExt cx="7132320" cy="493776"/>
          </a:xfrm>
        </p:grpSpPr>
        <p:cxnSp>
          <p:nvCxnSpPr>
            <p:cNvPr id="179" name="Connector 178"/>
            <p:cNvCxnSpPr/>
            <p:nvPr/>
          </p:nvCxnSpPr>
          <p:spPr>
            <a:xfrm>
              <a:off x="960120" y="5943600"/>
              <a:ext cx="713232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80" name="TextBox 179"/>
            <p:cNvSpPr txBox="1"/>
            <p:nvPr/>
          </p:nvSpPr>
          <p:spPr>
            <a:xfrm>
              <a:off x="960120" y="5449824"/>
              <a:ext cx="16916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C · Duhok</a:t>
              </a:r>
            </a:p>
          </p:txBody>
        </p:sp>
        <p:sp>
          <p:nvSpPr>
            <p:cNvPr id="181" name="TextBox 180"/>
            <p:cNvSpPr txBox="1"/>
            <p:nvPr/>
          </p:nvSpPr>
          <p:spPr>
            <a:xfrm>
              <a:off x="2743200" y="5449824"/>
              <a:ext cx="100584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121,000</a:t>
              </a:r>
            </a:p>
          </p:txBody>
        </p:sp>
        <p:sp>
          <p:nvSpPr>
            <p:cNvPr id="182" name="TextBox 181"/>
            <p:cNvSpPr txBox="1"/>
            <p:nvPr/>
          </p:nvSpPr>
          <p:spPr>
            <a:xfrm>
              <a:off x="3840480" y="5449824"/>
              <a:ext cx="96012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4892040" y="5449824"/>
              <a:ext cx="13258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124,000 IQD</a:t>
              </a:r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6400800" y="5449824"/>
              <a:ext cx="868680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</a:p>
          </p:txBody>
        </p:sp>
      </p:grpSp>
      <p:grpSp>
        <p:nvGrpSpPr>
          <p:cNvPr id="185" name="Group 185"/>
          <p:cNvGrpSpPr/>
          <p:nvPr/>
        </p:nvGrpSpPr>
        <p:grpSpPr>
          <a:xfrm>
            <a:off x="7059168" y="3977640"/>
            <a:ext cx="1115568" cy="365760"/>
            <a:chOff x="7059168" y="3977640"/>
            <a:chExt cx="1115568" cy="365760"/>
          </a:xfrm>
        </p:grpSpPr>
        <p:sp>
          <p:nvSpPr>
            <p:cNvPr id="186" name="Rounded Rectangle 185"/>
            <p:cNvSpPr/>
            <p:nvPr/>
          </p:nvSpPr>
          <p:spPr>
            <a:xfrm>
              <a:off x="7059168" y="3977640"/>
              <a:ext cx="1115568" cy="365760"/>
            </a:xfrm>
            <a:prstGeom prst="roundRect">
              <a:avLst>
                <a:gd name="adj" fmla="val 50000"/>
              </a:avLst>
            </a:prstGeom>
            <a:solidFill>
              <a:srgbClr val="22884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87" name="Picture 186" descr="sparkle_FFFFFF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50608" y="4069080"/>
              <a:ext cx="182880" cy="182880"/>
            </a:xfrm>
            <a:prstGeom prst="rect">
              <a:avLst/>
            </a:prstGeom>
          </p:spPr>
        </p:pic>
        <p:sp>
          <p:nvSpPr>
            <p:cNvPr id="188" name="TextBox 187"/>
            <p:cNvSpPr txBox="1"/>
            <p:nvPr/>
          </p:nvSpPr>
          <p:spPr>
            <a:xfrm>
              <a:off x="7360920" y="3977640"/>
              <a:ext cx="77724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50" b="1" lang="en-US">
                  <a:solidFill>
                    <a:srgbClr val="FFFFFF"/>
                  </a:solidFill>
                  <a:latin typeface="Inter"/>
                  <a:cs typeface="Inter"/>
                </a:rPr>
                <a:t>BEST VALUE</a:t>
              </a:r>
            </a:p>
          </p:txBody>
        </p:sp>
      </p:grpSp>
      <p:grpSp>
        <p:nvGrpSpPr>
          <p:cNvPr id="189" name="Group 189"/>
          <p:cNvGrpSpPr/>
          <p:nvPr/>
        </p:nvGrpSpPr>
        <p:grpSpPr>
          <a:xfrm>
            <a:off x="8595360" y="2450592"/>
            <a:ext cx="2871216" cy="3822192"/>
            <a:chOff x="8595360" y="2450592"/>
            <a:chExt cx="2871216" cy="3822192"/>
          </a:xfrm>
        </p:grpSpPr>
        <p:sp>
          <p:nvSpPr>
            <p:cNvPr id="190" name="Rounded Rectangle 189"/>
            <p:cNvSpPr/>
            <p:nvPr/>
          </p:nvSpPr>
          <p:spPr>
            <a:xfrm>
              <a:off x="8595360" y="2450592"/>
              <a:ext cx="2871216" cy="3822192"/>
            </a:xfrm>
            <a:prstGeom prst="roundRect">
              <a:avLst>
                <a:gd name="adj" fmla="val 4458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8823960" y="2651760"/>
              <a:ext cx="2414016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Best Value rules</a:t>
              </a:r>
            </a:p>
          </p:txBody>
        </p:sp>
      </p:grpSp>
      <p:grpSp>
        <p:nvGrpSpPr>
          <p:cNvPr id="192" name="Group 192"/>
          <p:cNvGrpSpPr/>
          <p:nvPr/>
        </p:nvGrpSpPr>
        <p:grpSpPr>
          <a:xfrm>
            <a:off x="8778240" y="3182112"/>
            <a:ext cx="2596896" cy="457200"/>
            <a:chOff x="8778240" y="3182112"/>
            <a:chExt cx="2596896" cy="457200"/>
          </a:xfrm>
        </p:grpSpPr>
        <p:sp>
          <p:nvSpPr>
            <p:cNvPr id="193" name="Oval 192"/>
            <p:cNvSpPr/>
            <p:nvPr/>
          </p:nvSpPr>
          <p:spPr>
            <a:xfrm>
              <a:off x="8778240" y="3182112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4" name="Picture 193" descr="banknote_298FC2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887968" y="3291840"/>
              <a:ext cx="237744" cy="237744"/>
            </a:xfrm>
            <a:prstGeom prst="rect">
              <a:avLst/>
            </a:prstGeom>
          </p:spPr>
        </p:pic>
        <p:sp>
          <p:nvSpPr>
            <p:cNvPr id="195" name="TextBox 194"/>
            <p:cNvSpPr txBox="1"/>
            <p:nvPr/>
          </p:nvSpPr>
          <p:spPr>
            <a:xfrm>
              <a:off x="9326880" y="3182112"/>
              <a:ext cx="2048256" cy="457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1. Lowest doorstep total</a:t>
              </a:r>
            </a:p>
          </p:txBody>
        </p:sp>
      </p:grpSp>
      <p:grpSp>
        <p:nvGrpSpPr>
          <p:cNvPr id="196" name="Group 196"/>
          <p:cNvGrpSpPr/>
          <p:nvPr/>
        </p:nvGrpSpPr>
        <p:grpSpPr>
          <a:xfrm>
            <a:off x="8778240" y="3895344"/>
            <a:ext cx="2596896" cy="457200"/>
            <a:chOff x="8778240" y="3895344"/>
            <a:chExt cx="2596896" cy="457200"/>
          </a:xfrm>
        </p:grpSpPr>
        <p:sp>
          <p:nvSpPr>
            <p:cNvPr id="197" name="Oval 196"/>
            <p:cNvSpPr/>
            <p:nvPr/>
          </p:nvSpPr>
          <p:spPr>
            <a:xfrm>
              <a:off x="8778240" y="3895344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8" name="Picture 197" descr="truck_298FC2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87968" y="4005072"/>
              <a:ext cx="237744" cy="237744"/>
            </a:xfrm>
            <a:prstGeom prst="rect">
              <a:avLst/>
            </a:prstGeom>
          </p:spPr>
        </p:pic>
        <p:sp>
          <p:nvSpPr>
            <p:cNvPr id="199" name="TextBox 198"/>
            <p:cNvSpPr txBox="1"/>
            <p:nvPr/>
          </p:nvSpPr>
          <p:spPr>
            <a:xfrm>
              <a:off x="9326880" y="3895344"/>
              <a:ext cx="2048256" cy="457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2. Fastest delivery</a:t>
              </a:r>
            </a:p>
          </p:txBody>
        </p:sp>
      </p:grpSp>
      <p:grpSp>
        <p:nvGrpSpPr>
          <p:cNvPr id="200" name="Group 200"/>
          <p:cNvGrpSpPr/>
          <p:nvPr/>
        </p:nvGrpSpPr>
        <p:grpSpPr>
          <a:xfrm>
            <a:off x="8778240" y="4608576"/>
            <a:ext cx="2596896" cy="457200"/>
            <a:chOff x="8778240" y="4608576"/>
            <a:chExt cx="2596896" cy="457200"/>
          </a:xfrm>
        </p:grpSpPr>
        <p:sp>
          <p:nvSpPr>
            <p:cNvPr id="201" name="Oval 200"/>
            <p:cNvSpPr/>
            <p:nvPr/>
          </p:nvSpPr>
          <p:spPr>
            <a:xfrm>
              <a:off x="8778240" y="4608576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2" name="Picture 201" descr="sparkle_298FC2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887968" y="4718304"/>
              <a:ext cx="237744" cy="237744"/>
            </a:xfrm>
            <a:prstGeom prst="rect">
              <a:avLst/>
            </a:prstGeom>
          </p:spPr>
        </p:pic>
        <p:sp>
          <p:nvSpPr>
            <p:cNvPr id="203" name="TextBox 202"/>
            <p:cNvSpPr txBox="1"/>
            <p:nvPr/>
          </p:nvSpPr>
          <p:spPr>
            <a:xfrm>
              <a:off x="9326880" y="4608576"/>
              <a:ext cx="2048256" cy="457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3. Best seller rating</a:t>
              </a:r>
            </a:p>
          </p:txBody>
        </p:sp>
      </p:grpSp>
      <p:grpSp>
        <p:nvGrpSpPr>
          <p:cNvPr id="204" name="Group 204"/>
          <p:cNvGrpSpPr/>
          <p:nvPr/>
        </p:nvGrpSpPr>
        <p:grpSpPr>
          <a:xfrm>
            <a:off x="8823960" y="5468112"/>
            <a:ext cx="2414016" cy="566928"/>
            <a:chOff x="8823960" y="5468112"/>
            <a:chExt cx="2414016" cy="566928"/>
          </a:xfrm>
        </p:grpSpPr>
        <p:sp>
          <p:nvSpPr>
            <p:cNvPr id="205" name="Rounded Rectangle 204"/>
            <p:cNvSpPr/>
            <p:nvPr/>
          </p:nvSpPr>
          <p:spPr>
            <a:xfrm>
              <a:off x="8823960" y="5468112"/>
              <a:ext cx="2414016" cy="566928"/>
            </a:xfrm>
            <a:prstGeom prst="roundRect">
              <a:avLst>
                <a:gd name="adj" fmla="val 19354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6" name="TextBox 205"/>
            <p:cNvSpPr txBox="1"/>
            <p:nvPr/>
          </p:nvSpPr>
          <p:spPr>
            <a:xfrm>
              <a:off x="8823960" y="5468112"/>
              <a:ext cx="2414016" cy="56692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50" b="1" lang="en-US">
                  <a:solidFill>
                    <a:srgbClr val="298FC2"/>
                  </a:solidFill>
                  <a:latin typeface="Inter"/>
                  <a:cs typeface="Inter"/>
                </a:rPr>
                <a:t>Ranking can't be bought.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2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5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2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2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2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2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2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2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5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5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25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3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3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8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2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2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2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2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300"/>
                            </p:stCondLst>
                            <p:childTnLst>
                              <p:par>
                                <p:cTn id="1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8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28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8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760"/>
                            </p:stCondLst>
                            <p:childTnLst>
                              <p:par>
                                <p:cTn id="125" presetID="53" presetClass="entr" presetSubtype="16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3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3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animBg="1"/>
      <p:bldP spid="101" grpId="0" animBg="1"/>
      <p:bldP spid="102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Value proposition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Shoppers save. Merchants sell.</a:t>
            </a:r>
          </a:p>
        </p:txBody>
      </p:sp>
      <p:grpSp>
        <p:nvGrpSpPr>
          <p:cNvPr id="103" name="Group 103"/>
          <p:cNvGrpSpPr/>
          <p:nvPr/>
        </p:nvGrpSpPr>
        <p:grpSpPr>
          <a:xfrm>
            <a:off x="6094476" y="2560320"/>
            <a:ext cx="0" cy="3703320"/>
            <a:chOff x="6094476" y="2560320"/>
            <a:chExt cx="0" cy="3703320"/>
          </a:xfrm>
        </p:grpSpPr>
        <p:cxnSp>
          <p:nvCxnSpPr>
            <p:cNvPr id="104" name="Connector 103"/>
            <p:cNvCxnSpPr/>
            <p:nvPr/>
          </p:nvCxnSpPr>
          <p:spPr>
            <a:xfrm>
              <a:off x="6094476" y="2560320"/>
              <a:ext cx="0" cy="370332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</p:grpSp>
      <p:grpSp>
        <p:nvGrpSpPr>
          <p:cNvPr id="105" name="Group 105"/>
          <p:cNvGrpSpPr/>
          <p:nvPr/>
        </p:nvGrpSpPr>
        <p:grpSpPr>
          <a:xfrm>
            <a:off x="868680" y="2542032"/>
            <a:ext cx="4800600" cy="502920"/>
            <a:chOff x="868680" y="2542032"/>
            <a:chExt cx="4800600" cy="502920"/>
          </a:xfrm>
        </p:grpSpPr>
        <p:sp>
          <p:nvSpPr>
            <p:cNvPr id="106" name="Oval 105"/>
            <p:cNvSpPr/>
            <p:nvPr/>
          </p:nvSpPr>
          <p:spPr>
            <a:xfrm>
              <a:off x="868680" y="2542032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7" name="Picture 106" descr="shopping-bag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2980" y="2656332"/>
              <a:ext cx="274320" cy="274320"/>
            </a:xfrm>
            <a:prstGeom prst="rect">
              <a:avLst/>
            </a:prstGeom>
          </p:spPr>
        </p:pic>
        <p:sp>
          <p:nvSpPr>
            <p:cNvPr id="108" name="TextBox 107"/>
            <p:cNvSpPr txBox="1"/>
            <p:nvPr/>
          </p:nvSpPr>
          <p:spPr>
            <a:xfrm>
              <a:off x="1554480" y="2542032"/>
              <a:ext cx="411480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000" b="1" lang="en-US">
                  <a:solidFill>
                    <a:srgbClr val="101820"/>
                  </a:solidFill>
                  <a:latin typeface="Inter"/>
                  <a:cs typeface="Inter"/>
                </a:rPr>
                <a:t>For shoppers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868680" y="3364992"/>
            <a:ext cx="5166360" cy="585216"/>
            <a:chOff x="868680" y="3364992"/>
            <a:chExt cx="5166360" cy="585216"/>
          </a:xfrm>
        </p:grpSpPr>
        <p:sp>
          <p:nvSpPr>
            <p:cNvPr id="110" name="Oval 109"/>
            <p:cNvSpPr/>
            <p:nvPr/>
          </p:nvSpPr>
          <p:spPr>
            <a:xfrm>
              <a:off x="868680" y="33832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1" name="Picture 110" descr="eye_298FC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2980" y="3497580"/>
              <a:ext cx="274320" cy="274320"/>
            </a:xfrm>
            <a:prstGeom prst="rect">
              <a:avLst/>
            </a:prstGeom>
          </p:spPr>
        </p:pic>
        <p:sp>
          <p:nvSpPr>
            <p:cNvPr id="112" name="TextBox 111"/>
            <p:cNvSpPr txBox="1"/>
            <p:nvPr/>
          </p:nvSpPr>
          <p:spPr>
            <a:xfrm>
              <a:off x="1554480" y="33649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Every price, side by side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554480" y="36941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No more checking ten pages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868680" y="4279392"/>
            <a:ext cx="5166360" cy="585216"/>
            <a:chOff x="868680" y="4279392"/>
            <a:chExt cx="5166360" cy="585216"/>
          </a:xfrm>
        </p:grpSpPr>
        <p:sp>
          <p:nvSpPr>
            <p:cNvPr id="115" name="Oval 114"/>
            <p:cNvSpPr/>
            <p:nvPr/>
          </p:nvSpPr>
          <p:spPr>
            <a:xfrm>
              <a:off x="868680" y="42976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6" name="Picture 115" descr="message-circle-off_298FC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2980" y="4411980"/>
              <a:ext cx="274320" cy="274320"/>
            </a:xfrm>
            <a:prstGeom prst="rect">
              <a:avLst/>
            </a:prstGeom>
          </p:spPr>
        </p:pic>
        <p:sp>
          <p:nvSpPr>
            <p:cNvPr id="117" name="TextBox 116"/>
            <p:cNvSpPr txBox="1"/>
            <p:nvPr/>
          </p:nvSpPr>
          <p:spPr>
            <a:xfrm>
              <a:off x="1554480" y="42793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Order in 30 seconds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1554480" y="46085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No “price?” DMs, no waiting</a:t>
              </a:r>
            </a:p>
          </p:txBody>
        </p:sp>
      </p:grpSp>
      <p:grpSp>
        <p:nvGrpSpPr>
          <p:cNvPr id="119" name="Group 119"/>
          <p:cNvGrpSpPr/>
          <p:nvPr/>
        </p:nvGrpSpPr>
        <p:grpSpPr>
          <a:xfrm>
            <a:off x="868680" y="5193792"/>
            <a:ext cx="5166360" cy="585216"/>
            <a:chOff x="868680" y="5193792"/>
            <a:chExt cx="5166360" cy="585216"/>
          </a:xfrm>
        </p:grpSpPr>
        <p:sp>
          <p:nvSpPr>
            <p:cNvPr id="120" name="Oval 119"/>
            <p:cNvSpPr/>
            <p:nvPr/>
          </p:nvSpPr>
          <p:spPr>
            <a:xfrm>
              <a:off x="868680" y="52120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1" name="Picture 120" descr="banknote_298FC2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82980" y="5326380"/>
              <a:ext cx="274320" cy="274320"/>
            </a:xfrm>
            <a:prstGeom prst="rect">
              <a:avLst/>
            </a:prstGeom>
          </p:spPr>
        </p:pic>
        <p:sp>
          <p:nvSpPr>
            <p:cNvPr id="122" name="TextBox 121"/>
            <p:cNvSpPr txBox="1"/>
            <p:nvPr/>
          </p:nvSpPr>
          <p:spPr>
            <a:xfrm>
              <a:off x="1554480" y="51937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Cash on delivery or card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1554480" y="55229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Doorstep total shown upfront</a:t>
              </a:r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6446520" y="2542032"/>
            <a:ext cx="4800600" cy="502920"/>
            <a:chOff x="6446520" y="2542032"/>
            <a:chExt cx="4800600" cy="502920"/>
          </a:xfrm>
        </p:grpSpPr>
        <p:sp>
          <p:nvSpPr>
            <p:cNvPr id="125" name="Oval 124"/>
            <p:cNvSpPr/>
            <p:nvPr/>
          </p:nvSpPr>
          <p:spPr>
            <a:xfrm>
              <a:off x="6446520" y="2542032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6" name="Picture 125" descr="store_298FC2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560820" y="2656332"/>
              <a:ext cx="274320" cy="274320"/>
            </a:xfrm>
            <a:prstGeom prst="rect">
              <a:avLst/>
            </a:prstGeom>
          </p:spPr>
        </p:pic>
        <p:sp>
          <p:nvSpPr>
            <p:cNvPr id="127" name="TextBox 126"/>
            <p:cNvSpPr txBox="1"/>
            <p:nvPr/>
          </p:nvSpPr>
          <p:spPr>
            <a:xfrm>
              <a:off x="7132320" y="2542032"/>
              <a:ext cx="411480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000" b="1" lang="en-US">
                  <a:solidFill>
                    <a:srgbClr val="101820"/>
                  </a:solidFill>
                  <a:latin typeface="Inter"/>
                  <a:cs typeface="Inter"/>
                </a:rPr>
                <a:t>For merchants</a:t>
              </a:r>
            </a:p>
          </p:txBody>
        </p:sp>
      </p:grpSp>
      <p:grpSp>
        <p:nvGrpSpPr>
          <p:cNvPr id="128" name="Group 128"/>
          <p:cNvGrpSpPr/>
          <p:nvPr/>
        </p:nvGrpSpPr>
        <p:grpSpPr>
          <a:xfrm>
            <a:off x="6446520" y="3364992"/>
            <a:ext cx="5166360" cy="585216"/>
            <a:chOff x="6446520" y="3364992"/>
            <a:chExt cx="5166360" cy="585216"/>
          </a:xfrm>
        </p:grpSpPr>
        <p:sp>
          <p:nvSpPr>
            <p:cNvPr id="129" name="Oval 128"/>
            <p:cNvSpPr/>
            <p:nvPr/>
          </p:nvSpPr>
          <p:spPr>
            <a:xfrm>
              <a:off x="6446520" y="33832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0" name="Picture 129" descr="package-check_298FC2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60820" y="3497580"/>
              <a:ext cx="274320" cy="274320"/>
            </a:xfrm>
            <a:prstGeom prst="rect">
              <a:avLst/>
            </a:prstGeom>
          </p:spPr>
        </p:pic>
        <p:sp>
          <p:nvSpPr>
            <p:cNvPr id="131" name="TextBox 130"/>
            <p:cNvSpPr txBox="1"/>
            <p:nvPr/>
          </p:nvSpPr>
          <p:spPr>
            <a:xfrm>
              <a:off x="7132320" y="33649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Orders, not interrogations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7132320" y="36941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Ready orders with address and variant</a:t>
              </a:r>
            </a:p>
          </p:txBody>
        </p:sp>
      </p:grpSp>
      <p:grpSp>
        <p:nvGrpSpPr>
          <p:cNvPr id="133" name="Group 133"/>
          <p:cNvGrpSpPr/>
          <p:nvPr/>
        </p:nvGrpSpPr>
        <p:grpSpPr>
          <a:xfrm>
            <a:off x="6446520" y="4279392"/>
            <a:ext cx="5166360" cy="585216"/>
            <a:chOff x="6446520" y="4279392"/>
            <a:chExt cx="5166360" cy="585216"/>
          </a:xfrm>
        </p:grpSpPr>
        <p:sp>
          <p:nvSpPr>
            <p:cNvPr id="134" name="Oval 133"/>
            <p:cNvSpPr/>
            <p:nvPr/>
          </p:nvSpPr>
          <p:spPr>
            <a:xfrm>
              <a:off x="6446520" y="42976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5" name="Picture 134" descr="layout-dashboard_298FC2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560820" y="4411980"/>
              <a:ext cx="274320" cy="274320"/>
            </a:xfrm>
            <a:prstGeom prst="rect">
              <a:avLst/>
            </a:prstGeom>
          </p:spPr>
        </p:pic>
        <p:sp>
          <p:nvSpPr>
            <p:cNvPr id="136" name="TextBox 135"/>
            <p:cNvSpPr txBox="1"/>
            <p:nvPr/>
          </p:nvSpPr>
          <p:spPr>
            <a:xfrm>
              <a:off x="7132320" y="42793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Free dashboard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7132320" y="46085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Stock, orders and payouts in one place</a:t>
              </a:r>
            </a:p>
          </p:txBody>
        </p:sp>
      </p:grpSp>
      <p:grpSp>
        <p:nvGrpSpPr>
          <p:cNvPr id="138" name="Group 138"/>
          <p:cNvGrpSpPr/>
          <p:nvPr/>
        </p:nvGrpSpPr>
        <p:grpSpPr>
          <a:xfrm>
            <a:off x="6446520" y="5193792"/>
            <a:ext cx="5166360" cy="585216"/>
            <a:chOff x="6446520" y="5193792"/>
            <a:chExt cx="5166360" cy="585216"/>
          </a:xfrm>
        </p:grpSpPr>
        <p:sp>
          <p:nvSpPr>
            <p:cNvPr id="139" name="Oval 138"/>
            <p:cNvSpPr/>
            <p:nvPr/>
          </p:nvSpPr>
          <p:spPr>
            <a:xfrm>
              <a:off x="6446520" y="52120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0" name="Picture 139" descr="percent_298FC2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60820" y="5326380"/>
              <a:ext cx="274320" cy="274320"/>
            </a:xfrm>
            <a:prstGeom prst="rect">
              <a:avLst/>
            </a:prstGeom>
          </p:spPr>
        </p:pic>
        <p:sp>
          <p:nvSpPr>
            <p:cNvPr id="141" name="TextBox 140"/>
            <p:cNvSpPr txBox="1"/>
            <p:nvPr/>
          </p:nvSpPr>
          <p:spPr>
            <a:xfrm>
              <a:off x="7132320" y="51937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Fair, low fee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7132320" y="55229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About 3.8% on a typical 25,000 IQD order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8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8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8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8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8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Target market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Duhok first: about 1 million people.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Population: 2024 national census (Ministry of Planning). Internet: DataReportal 2026. E-commerce: ECDB 2025. Duhok online figures (≈) = Iraq rate × population share.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845820" y="2674620"/>
            <a:ext cx="2606040" cy="2606040"/>
            <a:chOff x="845820" y="2674620"/>
            <a:chExt cx="2606040" cy="2606040"/>
          </a:xfrm>
        </p:grpSpPr>
        <p:sp>
          <p:nvSpPr>
            <p:cNvPr id="105" name="Oval 104"/>
            <p:cNvSpPr/>
            <p:nvPr/>
          </p:nvSpPr>
          <p:spPr>
            <a:xfrm>
              <a:off x="845820" y="2674620"/>
              <a:ext cx="2606040" cy="2606040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37260" y="3374136"/>
              <a:ext cx="242316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50" b="1" lang="en-US">
                  <a:solidFill>
                    <a:srgbClr val="101820"/>
                  </a:solidFill>
                  <a:latin typeface="Inter"/>
                  <a:cs typeface="Inter"/>
                </a:rPr>
                <a:t>Iraq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37260" y="3685032"/>
              <a:ext cx="2423160" cy="5852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3200" b="1" lang="en-US">
                  <a:solidFill>
                    <a:srgbClr val="101820"/>
                  </a:solidFill>
                  <a:latin typeface="Comfortaa"/>
                  <a:cs typeface="Comfortaa"/>
                </a:rPr>
                <a:t>46.1M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937260" y="4288536"/>
              <a:ext cx="24231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people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4297680" y="2971800"/>
            <a:ext cx="2011680" cy="2011680"/>
            <a:chOff x="4297680" y="2971800"/>
            <a:chExt cx="2011680" cy="2011680"/>
          </a:xfrm>
        </p:grpSpPr>
        <p:sp>
          <p:nvSpPr>
            <p:cNvPr id="110" name="Oval 109"/>
            <p:cNvSpPr/>
            <p:nvPr/>
          </p:nvSpPr>
          <p:spPr>
            <a:xfrm>
              <a:off x="4297680" y="2971800"/>
              <a:ext cx="2011680" cy="201168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389120" y="3374136"/>
              <a:ext cx="182880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1" lang="en-US">
                  <a:solidFill>
                    <a:srgbClr val="101820"/>
                  </a:solidFill>
                  <a:latin typeface="Inter"/>
                  <a:cs typeface="Inter"/>
                </a:rPr>
                <a:t>Duhok governorate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389120" y="3685032"/>
              <a:ext cx="1828800" cy="5852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800" b="1" lang="en-US">
                  <a:solidFill>
                    <a:srgbClr val="101820"/>
                  </a:solidFill>
                  <a:latin typeface="Comfortaa"/>
                  <a:cs typeface="Comfortaa"/>
                </a:rPr>
                <a:t>1.60M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389120" y="4288536"/>
              <a:ext cx="18288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people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7063740" y="3131820"/>
            <a:ext cx="1691640" cy="1691640"/>
            <a:chOff x="7063740" y="3131820"/>
            <a:chExt cx="1691640" cy="1691640"/>
          </a:xfrm>
        </p:grpSpPr>
        <p:sp>
          <p:nvSpPr>
            <p:cNvPr id="115" name="Oval 114"/>
            <p:cNvSpPr/>
            <p:nvPr/>
          </p:nvSpPr>
          <p:spPr>
            <a:xfrm>
              <a:off x="7063740" y="3131820"/>
              <a:ext cx="1691640" cy="1691640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7155180" y="3374136"/>
              <a:ext cx="150876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1" lang="en-US">
                  <a:solidFill>
                    <a:srgbClr val="FFFFFF"/>
                  </a:solidFill>
                  <a:latin typeface="Inter"/>
                  <a:cs typeface="Inter"/>
                </a:rPr>
                <a:t>Launch area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7155180" y="3685032"/>
              <a:ext cx="1508760" cy="5852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500" b="1" lang="en-US">
                  <a:solidFill>
                    <a:srgbClr val="FFFFFF"/>
                  </a:solidFill>
                  <a:latin typeface="Comfortaa"/>
                  <a:cs typeface="Comfortaa"/>
                </a:rPr>
                <a:t>1.06M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7155180" y="4288536"/>
              <a:ext cx="15087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lang="en-US">
                  <a:solidFill>
                    <a:srgbClr val="FFFFFF"/>
                  </a:solidFill>
                  <a:latin typeface="Inter"/>
                  <a:cs typeface="Inter"/>
                </a:rPr>
                <a:t>people</a:t>
              </a:r>
            </a:p>
          </p:txBody>
        </p:sp>
      </p:grpSp>
      <p:grpSp>
        <p:nvGrpSpPr>
          <p:cNvPr id="119" name="Group 119"/>
          <p:cNvGrpSpPr/>
          <p:nvPr/>
        </p:nvGrpSpPr>
        <p:grpSpPr>
          <a:xfrm>
            <a:off x="777240" y="5440680"/>
            <a:ext cx="2743200" cy="237744"/>
            <a:chOff x="777240" y="5440680"/>
            <a:chExt cx="2743200" cy="237744"/>
          </a:xfrm>
        </p:grpSpPr>
        <p:sp>
          <p:nvSpPr>
            <p:cNvPr id="120" name="TextBox 119"/>
            <p:cNvSpPr txBox="1"/>
            <p:nvPr/>
          </p:nvSpPr>
          <p:spPr>
            <a:xfrm>
              <a:off x="777240" y="5440680"/>
              <a:ext cx="27432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39.6M online · $1.32B a year</a:t>
              </a:r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3931920" y="5440680"/>
            <a:ext cx="2743200" cy="237744"/>
            <a:chOff x="3931920" y="5440680"/>
            <a:chExt cx="2743200" cy="237744"/>
          </a:xfrm>
        </p:grpSpPr>
        <p:sp>
          <p:nvSpPr>
            <p:cNvPr id="122" name="TextBox 121"/>
            <p:cNvSpPr txBox="1"/>
            <p:nvPr/>
          </p:nvSpPr>
          <p:spPr>
            <a:xfrm>
              <a:off x="3931920" y="5440680"/>
              <a:ext cx="27432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≈ 1.34M online · ≈ $46M a year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6537960" y="5440680"/>
            <a:ext cx="2743200" cy="237744"/>
            <a:chOff x="6537960" y="5440680"/>
            <a:chExt cx="2743200" cy="237744"/>
          </a:xfrm>
        </p:grpSpPr>
        <p:sp>
          <p:nvSpPr>
            <p:cNvPr id="124" name="TextBox 123"/>
            <p:cNvSpPr txBox="1"/>
            <p:nvPr/>
          </p:nvSpPr>
          <p:spPr>
            <a:xfrm>
              <a:off x="6537960" y="5440680"/>
              <a:ext cx="27432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Duhok · Semel · Zakho</a:t>
              </a:r>
            </a:p>
          </p:txBody>
        </p:sp>
      </p:grpSp>
      <p:grpSp>
        <p:nvGrpSpPr>
          <p:cNvPr id="125" name="Group 125"/>
          <p:cNvGrpSpPr/>
          <p:nvPr/>
        </p:nvGrpSpPr>
        <p:grpSpPr>
          <a:xfrm>
            <a:off x="2271588" y="2680415"/>
            <a:ext cx="3126685" cy="2594450"/>
            <a:chOff x="2271588" y="2680415"/>
            <a:chExt cx="3126685" cy="2594450"/>
          </a:xfrm>
        </p:grpSpPr>
        <p:cxnSp>
          <p:nvCxnSpPr>
            <p:cNvPr id="126" name="Connector 125"/>
            <p:cNvCxnSpPr/>
            <p:nvPr/>
          </p:nvCxnSpPr>
          <p:spPr>
            <a:xfrm>
              <a:off x="2271588" y="2680415"/>
              <a:ext cx="3126685" cy="295858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  <p:cxnSp>
          <p:nvCxnSpPr>
            <p:cNvPr id="127" name="Connector 126"/>
            <p:cNvCxnSpPr/>
            <p:nvPr/>
          </p:nvCxnSpPr>
          <p:spPr>
            <a:xfrm flipV="1">
              <a:off x="2271588" y="4979007"/>
              <a:ext cx="3126685" cy="295858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</p:grpSp>
      <p:grpSp>
        <p:nvGrpSpPr>
          <p:cNvPr id="128" name="Group 128"/>
          <p:cNvGrpSpPr/>
          <p:nvPr/>
        </p:nvGrpSpPr>
        <p:grpSpPr>
          <a:xfrm>
            <a:off x="5365282" y="2973698"/>
            <a:ext cx="2596214" cy="2007884"/>
            <a:chOff x="5365282" y="2973698"/>
            <a:chExt cx="2596214" cy="2007884"/>
          </a:xfrm>
        </p:grpSpPr>
        <p:cxnSp>
          <p:nvCxnSpPr>
            <p:cNvPr id="129" name="Connector 128"/>
            <p:cNvCxnSpPr/>
            <p:nvPr/>
          </p:nvCxnSpPr>
          <p:spPr>
            <a:xfrm>
              <a:off x="5365282" y="2973698"/>
              <a:ext cx="2596214" cy="159718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  <p:cxnSp>
          <p:nvCxnSpPr>
            <p:cNvPr id="130" name="Connector 129"/>
            <p:cNvCxnSpPr/>
            <p:nvPr/>
          </p:nvCxnSpPr>
          <p:spPr>
            <a:xfrm flipV="1">
              <a:off x="5365282" y="4821864"/>
              <a:ext cx="2596214" cy="159718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</p:grpSp>
      <p:grpSp>
        <p:nvGrpSpPr>
          <p:cNvPr id="131" name="Group 131"/>
          <p:cNvGrpSpPr/>
          <p:nvPr/>
        </p:nvGrpSpPr>
        <p:grpSpPr>
          <a:xfrm>
            <a:off x="9006840" y="2432304"/>
            <a:ext cx="2423160" cy="557784"/>
            <a:chOff x="9006840" y="2432304"/>
            <a:chExt cx="2423160" cy="557784"/>
          </a:xfrm>
        </p:grpSpPr>
        <p:pic>
          <p:nvPicPr>
            <p:cNvPr id="132" name="Picture 131" descr="wifi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06840" y="2523744"/>
              <a:ext cx="365760" cy="365760"/>
            </a:xfrm>
            <a:prstGeom prst="rect">
              <a:avLst/>
            </a:prstGeom>
          </p:spPr>
        </p:pic>
        <p:sp>
          <p:nvSpPr>
            <p:cNvPr id="133" name="TextBox 132"/>
            <p:cNvSpPr txBox="1"/>
            <p:nvPr/>
          </p:nvSpPr>
          <p:spPr>
            <a:xfrm>
              <a:off x="9509760" y="2432304"/>
              <a:ext cx="192024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100" b="1" lang="en-US">
                  <a:solidFill>
                    <a:srgbClr val="101820"/>
                  </a:solidFill>
                  <a:latin typeface="Comfortaa"/>
                  <a:cs typeface="Comfortaa"/>
                </a:rPr>
                <a:t>≈ 0.89M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9509760" y="2788920"/>
              <a:ext cx="19202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online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9006840" y="3209544"/>
            <a:ext cx="2423160" cy="557784"/>
            <a:chOff x="9006840" y="3209544"/>
            <a:chExt cx="2423160" cy="557784"/>
          </a:xfrm>
        </p:grpSpPr>
        <p:pic>
          <p:nvPicPr>
            <p:cNvPr id="136" name="Picture 135" descr="shopping-cart_298FC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06840" y="3300984"/>
              <a:ext cx="365760" cy="365760"/>
            </a:xfrm>
            <a:prstGeom prst="rect">
              <a:avLst/>
            </a:prstGeom>
          </p:spPr>
        </p:pic>
        <p:sp>
          <p:nvSpPr>
            <p:cNvPr id="137" name="TextBox 136"/>
            <p:cNvSpPr txBox="1"/>
            <p:nvPr/>
          </p:nvSpPr>
          <p:spPr>
            <a:xfrm>
              <a:off x="9509760" y="3209544"/>
              <a:ext cx="192024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100" b="1" lang="en-US">
                  <a:solidFill>
                    <a:srgbClr val="101820"/>
                  </a:solidFill>
                  <a:latin typeface="Comfortaa"/>
                  <a:cs typeface="Comfortaa"/>
                </a:rPr>
                <a:t>≈ $30M</a:t>
              </a: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9509760" y="3566160"/>
              <a:ext cx="19202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a year online</a:t>
              </a:r>
            </a:p>
          </p:txBody>
        </p:sp>
      </p:grpSp>
      <p:grpSp>
        <p:nvGrpSpPr>
          <p:cNvPr id="139" name="Group 139"/>
          <p:cNvGrpSpPr/>
          <p:nvPr/>
        </p:nvGrpSpPr>
        <p:grpSpPr>
          <a:xfrm>
            <a:off x="9006840" y="4069080"/>
            <a:ext cx="2459736" cy="2011680"/>
            <a:chOff x="9006840" y="4069080"/>
            <a:chExt cx="2459736" cy="2011680"/>
          </a:xfrm>
        </p:grpSpPr>
        <p:sp>
          <p:nvSpPr>
            <p:cNvPr id="140" name="Rounded Rectangle 139"/>
            <p:cNvSpPr/>
            <p:nvPr/>
          </p:nvSpPr>
          <p:spPr>
            <a:xfrm>
              <a:off x="9006840" y="4069080"/>
              <a:ext cx="2459736" cy="2011680"/>
            </a:xfrm>
            <a:prstGeom prst="roundRect">
              <a:avLst>
                <a:gd name="adj" fmla="val 6363"/>
              </a:avLst>
            </a:prstGeom>
            <a:solidFill>
              <a:srgbClr val="E5F2F8"/>
            </a:solidFill>
            <a:ln w="19050">
              <a:solidFill>
                <a:srgbClr val="298FC2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9144000" y="4187952"/>
              <a:ext cx="2185416" cy="51206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3400" b="1" lang="en-US">
                  <a:solidFill>
                    <a:srgbClr val="298FC2"/>
                  </a:solidFill>
                  <a:latin typeface="Comfortaa"/>
                  <a:cs typeface="Comfortaa"/>
                </a:rPr>
                <a:t>~390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9144000" y="4718304"/>
              <a:ext cx="2185416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50" b="1" lang="en-US">
                  <a:solidFill>
                    <a:srgbClr val="101820"/>
                  </a:solidFill>
                  <a:latin typeface="Inter"/>
                  <a:cs typeface="Inter"/>
                </a:rPr>
                <a:t>regular shoppers</a:t>
              </a:r>
            </a:p>
            <a:p>
              <a:pPr algn="ctr"/>
              <a:r>
                <a:rPr sz="1350" b="1" lang="en-US">
                  <a:solidFill>
                    <a:srgbClr val="101820"/>
                  </a:solidFill>
                  <a:latin typeface="Inter"/>
                  <a:cs typeface="Inter"/>
                </a:rPr>
                <a:t>to break even</a:t>
              </a:r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9144000" y="5266944"/>
              <a:ext cx="2185416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≈ 585 orders a month</a:t>
              </a:r>
            </a:p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0.4% of launch-area online shopping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3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3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8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8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3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Target customers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200" b="1" lang="en-US">
                <a:solidFill>
                  <a:srgbClr val="101820"/>
                </a:solidFill>
                <a:latin typeface="Comfortaa"/>
                <a:cs typeface="Comfortaa"/>
              </a:rPr>
              <a:t>Budget-conscious shoppers who already compare prices.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Age groups are our targeting plan — the survey did not ask age. Survey n=199 (179 shoppers, 20 merchants), Sep–Oct 2026.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722376" y="2359152"/>
            <a:ext cx="5166360" cy="3858768"/>
            <a:chOff x="722376" y="2359152"/>
            <a:chExt cx="5166360" cy="3858768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2359152"/>
              <a:ext cx="5166360" cy="3858768"/>
            </a:xfrm>
            <a:prstGeom prst="roundRect">
              <a:avLst>
                <a:gd name="adj" fmla="val 3317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Oval 105"/>
            <p:cNvSpPr/>
            <p:nvPr/>
          </p:nvSpPr>
          <p:spPr>
            <a:xfrm>
              <a:off x="932688" y="2487168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7" name="Picture 106" descr="shopping-bag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4128" y="2578608"/>
              <a:ext cx="219456" cy="219456"/>
            </a:xfrm>
            <a:prstGeom prst="rect">
              <a:avLst/>
            </a:prstGeom>
          </p:spPr>
        </p:pic>
        <p:sp>
          <p:nvSpPr>
            <p:cNvPr id="108" name="TextBox 107"/>
            <p:cNvSpPr txBox="1"/>
            <p:nvPr/>
          </p:nvSpPr>
          <p:spPr>
            <a:xfrm>
              <a:off x="1426464" y="2523744"/>
              <a:ext cx="201168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700" b="1" lang="en-US">
                  <a:solidFill>
                    <a:srgbClr val="101820"/>
                  </a:solidFill>
                  <a:latin typeface="Inter"/>
                  <a:cs typeface="Inter"/>
                </a:rPr>
                <a:t>Shoppers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4498848" y="2578608"/>
              <a:ext cx="1170432" cy="219456"/>
            </a:xfrm>
            <a:prstGeom prst="roundRect">
              <a:avLst>
                <a:gd name="adj" fmla="val 50000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4498848" y="2578608"/>
              <a:ext cx="1170432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targeting plan</a:t>
              </a:r>
            </a:p>
          </p:txBody>
        </p:sp>
        <p:cxnSp>
          <p:nvCxnSpPr>
            <p:cNvPr id="111" name="Connector 110"/>
            <p:cNvCxnSpPr/>
            <p:nvPr/>
          </p:nvCxnSpPr>
          <p:spPr>
            <a:xfrm>
              <a:off x="941832" y="5084064"/>
              <a:ext cx="4727448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</p:grpSp>
      <p:grpSp>
        <p:nvGrpSpPr>
          <p:cNvPr id="112" name="Group 112"/>
          <p:cNvGrpSpPr/>
          <p:nvPr/>
        </p:nvGrpSpPr>
        <p:grpSpPr>
          <a:xfrm>
            <a:off x="941832" y="3017520"/>
            <a:ext cx="4727448" cy="566928"/>
            <a:chOff x="941832" y="3017520"/>
            <a:chExt cx="4727448" cy="566928"/>
          </a:xfrm>
        </p:grpSpPr>
        <p:sp>
          <p:nvSpPr>
            <p:cNvPr id="113" name="Rounded Rectangle 112"/>
            <p:cNvSpPr/>
            <p:nvPr/>
          </p:nvSpPr>
          <p:spPr>
            <a:xfrm>
              <a:off x="941832" y="3017520"/>
              <a:ext cx="4727448" cy="566928"/>
            </a:xfrm>
            <a:prstGeom prst="roundRect">
              <a:avLst>
                <a:gd name="adj" fmla="val 16129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1078992" y="3099816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5" name="Picture 114" descr="briefcase_298FC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70432" y="3191256"/>
              <a:ext cx="219456" cy="219456"/>
            </a:xfrm>
            <a:prstGeom prst="rect">
              <a:avLst/>
            </a:prstGeom>
          </p:spPr>
        </p:pic>
        <p:sp>
          <p:nvSpPr>
            <p:cNvPr id="116" name="TextBox 115"/>
            <p:cNvSpPr txBox="1"/>
            <p:nvPr/>
          </p:nvSpPr>
          <p:spPr>
            <a:xfrm>
              <a:off x="1591056" y="3072384"/>
              <a:ext cx="3017520" cy="2377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Time-poor professionals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1591056" y="3310128"/>
              <a:ext cx="3017520" cy="2011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Chargers, perfume, gadgets</a:t>
              </a:r>
            </a:p>
          </p:txBody>
        </p:sp>
        <p:sp>
          <p:nvSpPr>
            <p:cNvPr id="118" name="Rounded Rectangle 117"/>
            <p:cNvSpPr/>
            <p:nvPr/>
          </p:nvSpPr>
          <p:spPr>
            <a:xfrm>
              <a:off x="4773168" y="3182112"/>
              <a:ext cx="7315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4773168" y="3182112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23–38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941832" y="3675888"/>
            <a:ext cx="4727448" cy="566928"/>
            <a:chOff x="941832" y="3675888"/>
            <a:chExt cx="4727448" cy="566928"/>
          </a:xfrm>
        </p:grpSpPr>
        <p:sp>
          <p:nvSpPr>
            <p:cNvPr id="121" name="Rounded Rectangle 120"/>
            <p:cNvSpPr/>
            <p:nvPr/>
          </p:nvSpPr>
          <p:spPr>
            <a:xfrm>
              <a:off x="941832" y="3675888"/>
              <a:ext cx="4727448" cy="566928"/>
            </a:xfrm>
            <a:prstGeom prst="roundRect">
              <a:avLst>
                <a:gd name="adj" fmla="val 16129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1078992" y="3758184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3" name="Picture 122" descr="shopping-basket_298FC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70432" y="3849624"/>
              <a:ext cx="219456" cy="219456"/>
            </a:xfrm>
            <a:prstGeom prst="rect">
              <a:avLst/>
            </a:prstGeom>
          </p:spPr>
        </p:pic>
        <p:sp>
          <p:nvSpPr>
            <p:cNvPr id="124" name="TextBox 123"/>
            <p:cNvSpPr txBox="1"/>
            <p:nvPr/>
          </p:nvSpPr>
          <p:spPr>
            <a:xfrm>
              <a:off x="1591056" y="3730752"/>
              <a:ext cx="3017520" cy="2377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Household budget buyers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1591056" y="3968496"/>
              <a:ext cx="3017520" cy="2011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Kitchen, home, personal care</a:t>
              </a:r>
            </a:p>
          </p:txBody>
        </p:sp>
        <p:sp>
          <p:nvSpPr>
            <p:cNvPr id="126" name="Rounded Rectangle 125"/>
            <p:cNvSpPr/>
            <p:nvPr/>
          </p:nvSpPr>
          <p:spPr>
            <a:xfrm>
              <a:off x="4773168" y="3840480"/>
              <a:ext cx="7315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4773168" y="3840480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26–48</a:t>
              </a:r>
            </a:p>
          </p:txBody>
        </p:sp>
      </p:grpSp>
      <p:grpSp>
        <p:nvGrpSpPr>
          <p:cNvPr id="128" name="Group 128"/>
          <p:cNvGrpSpPr/>
          <p:nvPr/>
        </p:nvGrpSpPr>
        <p:grpSpPr>
          <a:xfrm>
            <a:off x="941832" y="4334256"/>
            <a:ext cx="4727448" cy="566928"/>
            <a:chOff x="941832" y="4334256"/>
            <a:chExt cx="4727448" cy="566928"/>
          </a:xfrm>
        </p:grpSpPr>
        <p:sp>
          <p:nvSpPr>
            <p:cNvPr id="129" name="Rounded Rectangle 128"/>
            <p:cNvSpPr/>
            <p:nvPr/>
          </p:nvSpPr>
          <p:spPr>
            <a:xfrm>
              <a:off x="941832" y="4334256"/>
              <a:ext cx="4727448" cy="566928"/>
            </a:xfrm>
            <a:prstGeom prst="roundRect">
              <a:avLst>
                <a:gd name="adj" fmla="val 16129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Oval 129"/>
            <p:cNvSpPr/>
            <p:nvPr/>
          </p:nvSpPr>
          <p:spPr>
            <a:xfrm>
              <a:off x="1078992" y="4416552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1" name="Picture 130" descr="graduation-cap_298FC2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70432" y="4507992"/>
              <a:ext cx="219456" cy="219456"/>
            </a:xfrm>
            <a:prstGeom prst="rect">
              <a:avLst/>
            </a:prstGeom>
          </p:spPr>
        </p:pic>
        <p:sp>
          <p:nvSpPr>
            <p:cNvPr id="132" name="TextBox 131"/>
            <p:cNvSpPr txBox="1"/>
            <p:nvPr/>
          </p:nvSpPr>
          <p:spPr>
            <a:xfrm>
              <a:off x="1591056" y="4389120"/>
              <a:ext cx="3017520" cy="2377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Students &amp; deal hunters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1591056" y="4626864"/>
              <a:ext cx="3017520" cy="2011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Cables, earbuds, gaming</a:t>
              </a:r>
            </a:p>
          </p:txBody>
        </p:sp>
        <p:sp>
          <p:nvSpPr>
            <p:cNvPr id="134" name="Rounded Rectangle 133"/>
            <p:cNvSpPr/>
            <p:nvPr/>
          </p:nvSpPr>
          <p:spPr>
            <a:xfrm>
              <a:off x="4773168" y="4498848"/>
              <a:ext cx="7315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4773168" y="4498848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18–24</a:t>
              </a:r>
            </a:p>
          </p:txBody>
        </p:sp>
      </p:grpSp>
      <p:grpSp>
        <p:nvGrpSpPr>
          <p:cNvPr id="136" name="Group 136"/>
          <p:cNvGrpSpPr/>
          <p:nvPr/>
        </p:nvGrpSpPr>
        <p:grpSpPr>
          <a:xfrm>
            <a:off x="1005840" y="5230368"/>
            <a:ext cx="4590288" cy="841248"/>
            <a:chOff x="1005840" y="5230368"/>
            <a:chExt cx="4590288" cy="841248"/>
          </a:xfrm>
        </p:grpSpPr>
        <p:sp>
          <p:nvSpPr>
            <p:cNvPr id="137" name="Donut 136"/>
            <p:cNvSpPr/>
            <p:nvPr/>
          </p:nvSpPr>
          <p:spPr>
            <a:xfrm>
              <a:off x="1005840" y="5230368"/>
              <a:ext cx="841248" cy="841248"/>
            </a:xfrm>
            <a:prstGeom prst="donut">
              <a:avLst>
                <a:gd name="adj" fmla="val 11956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Block Arc 137"/>
            <p:cNvSpPr/>
            <p:nvPr/>
          </p:nvSpPr>
          <p:spPr>
            <a:xfrm>
              <a:off x="1005840" y="5230368"/>
              <a:ext cx="841248" cy="841248"/>
            </a:xfrm>
            <a:prstGeom prst="blockArc">
              <a:avLst>
                <a:gd name="adj1" fmla="val 16200000"/>
                <a:gd name="adj2" fmla="val 15552000"/>
                <a:gd name="adj3" fmla="val 11956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1005840" y="5449824"/>
              <a:ext cx="841248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50" b="1" lang="en-US">
                  <a:solidFill>
                    <a:srgbClr val="101820"/>
                  </a:solidFill>
                  <a:latin typeface="Comfortaa"/>
                  <a:cs typeface="Comfortaa"/>
                </a:rPr>
                <a:t>97%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2029968" y="5376672"/>
              <a:ext cx="3566160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50" b="1" lang="en-US">
                  <a:solidFill>
                    <a:srgbClr val="101820"/>
                  </a:solidFill>
                  <a:latin typeface="Inter"/>
                  <a:cs typeface="Inter"/>
                </a:rPr>
                <a:t>notice big price gaps on the same item</a:t>
              </a:r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2029968" y="5669280"/>
              <a:ext cx="356616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179 surveyed shoppers</a:t>
              </a:r>
            </a:p>
          </p:txBody>
        </p:sp>
      </p:grpSp>
      <p:grpSp>
        <p:nvGrpSpPr>
          <p:cNvPr id="142" name="Group 142"/>
          <p:cNvGrpSpPr/>
          <p:nvPr/>
        </p:nvGrpSpPr>
        <p:grpSpPr>
          <a:xfrm>
            <a:off x="6300216" y="2359152"/>
            <a:ext cx="5166360" cy="3858768"/>
            <a:chOff x="6300216" y="2359152"/>
            <a:chExt cx="5166360" cy="3858768"/>
          </a:xfrm>
        </p:grpSpPr>
        <p:sp>
          <p:nvSpPr>
            <p:cNvPr id="143" name="Rounded Rectangle 142"/>
            <p:cNvSpPr/>
            <p:nvPr/>
          </p:nvSpPr>
          <p:spPr>
            <a:xfrm>
              <a:off x="6300216" y="2359152"/>
              <a:ext cx="5166360" cy="3858768"/>
            </a:xfrm>
            <a:prstGeom prst="roundRect">
              <a:avLst>
                <a:gd name="adj" fmla="val 3317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Oval 143"/>
            <p:cNvSpPr/>
            <p:nvPr/>
          </p:nvSpPr>
          <p:spPr>
            <a:xfrm>
              <a:off x="6510528" y="2487168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5" name="Picture 144" descr="store_298FC2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601968" y="2578608"/>
              <a:ext cx="219456" cy="219456"/>
            </a:xfrm>
            <a:prstGeom prst="rect">
              <a:avLst/>
            </a:prstGeom>
          </p:spPr>
        </p:pic>
        <p:sp>
          <p:nvSpPr>
            <p:cNvPr id="146" name="TextBox 145"/>
            <p:cNvSpPr txBox="1"/>
            <p:nvPr/>
          </p:nvSpPr>
          <p:spPr>
            <a:xfrm>
              <a:off x="7004304" y="2523744"/>
              <a:ext cx="201168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700" b="1" lang="en-US">
                  <a:solidFill>
                    <a:srgbClr val="101820"/>
                  </a:solidFill>
                  <a:latin typeface="Inter"/>
                  <a:cs typeface="Inter"/>
                </a:rPr>
                <a:t>Merchants</a:t>
              </a:r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9747504" y="2578608"/>
              <a:ext cx="1499616" cy="219456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9747504" y="2578608"/>
              <a:ext cx="1499616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298FC2"/>
                  </a:solidFill>
                  <a:latin typeface="Inter"/>
                  <a:cs typeface="Inter"/>
                </a:rPr>
                <a:t>Duhok social shops</a:t>
              </a:r>
            </a:p>
          </p:txBody>
        </p:sp>
        <p:cxnSp>
          <p:nvCxnSpPr>
            <p:cNvPr id="149" name="Connector 148"/>
            <p:cNvCxnSpPr/>
            <p:nvPr/>
          </p:nvCxnSpPr>
          <p:spPr>
            <a:xfrm>
              <a:off x="6519672" y="5084064"/>
              <a:ext cx="4727448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</p:grpSp>
      <p:grpSp>
        <p:nvGrpSpPr>
          <p:cNvPr id="150" name="Group 150"/>
          <p:cNvGrpSpPr/>
          <p:nvPr/>
        </p:nvGrpSpPr>
        <p:grpSpPr>
          <a:xfrm>
            <a:off x="6519672" y="3017520"/>
            <a:ext cx="4727448" cy="566928"/>
            <a:chOff x="6519672" y="3017520"/>
            <a:chExt cx="4727448" cy="566928"/>
          </a:xfrm>
        </p:grpSpPr>
        <p:sp>
          <p:nvSpPr>
            <p:cNvPr id="151" name="Rounded Rectangle 150"/>
            <p:cNvSpPr/>
            <p:nvPr/>
          </p:nvSpPr>
          <p:spPr>
            <a:xfrm>
              <a:off x="6519672" y="3017520"/>
              <a:ext cx="4727448" cy="566928"/>
            </a:xfrm>
            <a:prstGeom prst="roundRect">
              <a:avLst>
                <a:gd name="adj" fmla="val 16129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151"/>
            <p:cNvSpPr/>
            <p:nvPr/>
          </p:nvSpPr>
          <p:spPr>
            <a:xfrm>
              <a:off x="6656832" y="3099816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53" name="Picture 152" descr="megaphone_298FC2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48272" y="3191256"/>
              <a:ext cx="219456" cy="219456"/>
            </a:xfrm>
            <a:prstGeom prst="rect">
              <a:avLst/>
            </a:prstGeom>
          </p:spPr>
        </p:pic>
        <p:sp>
          <p:nvSpPr>
            <p:cNvPr id="154" name="TextBox 153"/>
            <p:cNvSpPr txBox="1"/>
            <p:nvPr/>
          </p:nvSpPr>
          <p:spPr>
            <a:xfrm>
              <a:off x="7168896" y="3072384"/>
              <a:ext cx="2514600" cy="2377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Social-commerce sellers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7168896" y="3310128"/>
              <a:ext cx="2514600" cy="2011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Sell via DMs with digital photos ready</a:t>
              </a:r>
            </a:p>
          </p:txBody>
        </p:sp>
        <p:sp>
          <p:nvSpPr>
            <p:cNvPr id="156" name="Rounded Rectangle 155"/>
            <p:cNvSpPr/>
            <p:nvPr/>
          </p:nvSpPr>
          <p:spPr>
            <a:xfrm>
              <a:off x="9710928" y="3182112"/>
              <a:ext cx="1389888" cy="237744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9710928" y="3182112"/>
              <a:ext cx="138988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1" lang="en-US">
                  <a:solidFill>
                    <a:srgbClr val="298FC2"/>
                  </a:solidFill>
                  <a:latin typeface="Inter"/>
                  <a:cs typeface="Inter"/>
                </a:rPr>
                <a:t>IG · FB · TikTok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6519672" y="3675888"/>
            <a:ext cx="4727448" cy="566928"/>
            <a:chOff x="6519672" y="3675888"/>
            <a:chExt cx="4727448" cy="566928"/>
          </a:xfrm>
        </p:grpSpPr>
        <p:sp>
          <p:nvSpPr>
            <p:cNvPr id="159" name="Rounded Rectangle 158"/>
            <p:cNvSpPr/>
            <p:nvPr/>
          </p:nvSpPr>
          <p:spPr>
            <a:xfrm>
              <a:off x="6519672" y="3675888"/>
              <a:ext cx="4727448" cy="566928"/>
            </a:xfrm>
            <a:prstGeom prst="roundRect">
              <a:avLst>
                <a:gd name="adj" fmla="val 16129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Oval 159"/>
            <p:cNvSpPr/>
            <p:nvPr/>
          </p:nvSpPr>
          <p:spPr>
            <a:xfrm>
              <a:off x="6656832" y="3758184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61" name="Picture 160" descr="users_298FC2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748272" y="3849624"/>
              <a:ext cx="219456" cy="219456"/>
            </a:xfrm>
            <a:prstGeom prst="rect">
              <a:avLst/>
            </a:prstGeom>
          </p:spPr>
        </p:pic>
        <p:sp>
          <p:nvSpPr>
            <p:cNvPr id="162" name="TextBox 161"/>
            <p:cNvSpPr txBox="1"/>
            <p:nvPr/>
          </p:nvSpPr>
          <p:spPr>
            <a:xfrm>
              <a:off x="7168896" y="3730752"/>
              <a:ext cx="2514600" cy="2377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1,500 – 50,000 followers</a:t>
              </a: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7168896" y="3968496"/>
              <a:ext cx="2514600" cy="2011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Active local audience per page</a:t>
              </a:r>
            </a:p>
          </p:txBody>
        </p:sp>
        <p:sp>
          <p:nvSpPr>
            <p:cNvPr id="164" name="Rounded Rectangle 163"/>
            <p:cNvSpPr/>
            <p:nvPr/>
          </p:nvSpPr>
          <p:spPr>
            <a:xfrm>
              <a:off x="9710928" y="3840480"/>
              <a:ext cx="1389888" cy="237744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5" name="TextBox 164"/>
            <p:cNvSpPr txBox="1"/>
            <p:nvPr/>
          </p:nvSpPr>
          <p:spPr>
            <a:xfrm>
              <a:off x="9710928" y="3840480"/>
              <a:ext cx="138988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1" lang="en-US">
                  <a:solidFill>
                    <a:srgbClr val="298FC2"/>
                  </a:solidFill>
                  <a:latin typeface="Inter"/>
                  <a:cs typeface="Inter"/>
                </a:rPr>
                <a:t>20–150 products</a:t>
              </a:r>
            </a:p>
          </p:txBody>
        </p:sp>
      </p:grpSp>
      <p:grpSp>
        <p:nvGrpSpPr>
          <p:cNvPr id="166" name="Group 166"/>
          <p:cNvGrpSpPr/>
          <p:nvPr/>
        </p:nvGrpSpPr>
        <p:grpSpPr>
          <a:xfrm>
            <a:off x="6519672" y="4334256"/>
            <a:ext cx="4727448" cy="566928"/>
            <a:chOff x="6519672" y="4334256"/>
            <a:chExt cx="4727448" cy="566928"/>
          </a:xfrm>
        </p:grpSpPr>
        <p:sp>
          <p:nvSpPr>
            <p:cNvPr id="167" name="Rounded Rectangle 166"/>
            <p:cNvSpPr/>
            <p:nvPr/>
          </p:nvSpPr>
          <p:spPr>
            <a:xfrm>
              <a:off x="6519672" y="4334256"/>
              <a:ext cx="4727448" cy="566928"/>
            </a:xfrm>
            <a:prstGeom prst="roundRect">
              <a:avLst>
                <a:gd name="adj" fmla="val 16129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Oval 167"/>
            <p:cNvSpPr/>
            <p:nvPr/>
          </p:nvSpPr>
          <p:spPr>
            <a:xfrm>
              <a:off x="6656832" y="4416552"/>
              <a:ext cx="402336" cy="402336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69" name="Picture 168" descr="handshake_298FC2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748272" y="4507992"/>
              <a:ext cx="219456" cy="219456"/>
            </a:xfrm>
            <a:prstGeom prst="rect">
              <a:avLst/>
            </a:prstGeom>
          </p:spPr>
        </p:pic>
        <p:sp>
          <p:nvSpPr>
            <p:cNvPr id="170" name="TextBox 169"/>
            <p:cNvSpPr txBox="1"/>
            <p:nvPr/>
          </p:nvSpPr>
          <p:spPr>
            <a:xfrm>
              <a:off x="7168896" y="4389120"/>
              <a:ext cx="2514600" cy="23774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20 founding stores at launch</a:t>
              </a:r>
            </a:p>
          </p:txBody>
        </p:sp>
        <p:sp>
          <p:nvSpPr>
            <p:cNvPr id="171" name="TextBox 170"/>
            <p:cNvSpPr txBox="1"/>
            <p:nvPr/>
          </p:nvSpPr>
          <p:spPr>
            <a:xfrm>
              <a:off x="7168896" y="4626864"/>
              <a:ext cx="2514600" cy="2011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Signed in person · 0% fee in month 1</a:t>
              </a:r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9710928" y="4498848"/>
              <a:ext cx="1389888" cy="237744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9710928" y="4498848"/>
              <a:ext cx="138988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1" lang="en-US">
                  <a:solidFill>
                    <a:srgbClr val="298FC2"/>
                  </a:solidFill>
                  <a:latin typeface="Inter"/>
                  <a:cs typeface="Inter"/>
                </a:rPr>
                <a:t>~8 leads ready</a:t>
              </a:r>
            </a:p>
          </p:txBody>
        </p:sp>
      </p:grpSp>
      <p:grpSp>
        <p:nvGrpSpPr>
          <p:cNvPr id="174" name="Group 174"/>
          <p:cNvGrpSpPr/>
          <p:nvPr/>
        </p:nvGrpSpPr>
        <p:grpSpPr>
          <a:xfrm>
            <a:off x="6565392" y="5230368"/>
            <a:ext cx="2322576" cy="841248"/>
            <a:chOff x="6565392" y="5230368"/>
            <a:chExt cx="2322576" cy="841248"/>
          </a:xfrm>
        </p:grpSpPr>
        <p:sp>
          <p:nvSpPr>
            <p:cNvPr id="175" name="Donut 174"/>
            <p:cNvSpPr/>
            <p:nvPr/>
          </p:nvSpPr>
          <p:spPr>
            <a:xfrm>
              <a:off x="6565392" y="5230368"/>
              <a:ext cx="841248" cy="841248"/>
            </a:xfrm>
            <a:prstGeom prst="donut">
              <a:avLst>
                <a:gd name="adj" fmla="val 11956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Block Arc 175"/>
            <p:cNvSpPr/>
            <p:nvPr/>
          </p:nvSpPr>
          <p:spPr>
            <a:xfrm>
              <a:off x="6565392" y="5230368"/>
              <a:ext cx="841248" cy="841248"/>
            </a:xfrm>
            <a:prstGeom prst="blockArc">
              <a:avLst>
                <a:gd name="adj1" fmla="val 16200000"/>
                <a:gd name="adj2" fmla="val 12960000"/>
                <a:gd name="adj3" fmla="val 11956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6565392" y="5449824"/>
              <a:ext cx="841248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50" b="1" lang="en-US">
                  <a:solidFill>
                    <a:srgbClr val="101820"/>
                  </a:solidFill>
                  <a:latin typeface="Comfortaa"/>
                  <a:cs typeface="Comfortaa"/>
                </a:rPr>
                <a:t>85%</a:t>
              </a:r>
            </a:p>
          </p:txBody>
        </p:sp>
        <p:sp>
          <p:nvSpPr>
            <p:cNvPr id="178" name="TextBox 177"/>
            <p:cNvSpPr txBox="1"/>
            <p:nvPr/>
          </p:nvSpPr>
          <p:spPr>
            <a:xfrm>
              <a:off x="7534656" y="5376672"/>
              <a:ext cx="1353312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sell on IG / FB</a:t>
              </a:r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7534656" y="5669280"/>
              <a:ext cx="1353312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20 surveyed shops</a:t>
              </a:r>
            </a:p>
          </p:txBody>
        </p:sp>
      </p:grpSp>
      <p:grpSp>
        <p:nvGrpSpPr>
          <p:cNvPr id="180" name="Group 180"/>
          <p:cNvGrpSpPr/>
          <p:nvPr/>
        </p:nvGrpSpPr>
        <p:grpSpPr>
          <a:xfrm>
            <a:off x="9052560" y="5230368"/>
            <a:ext cx="2322576" cy="841248"/>
            <a:chOff x="9052560" y="5230368"/>
            <a:chExt cx="2322576" cy="841248"/>
          </a:xfrm>
        </p:grpSpPr>
        <p:sp>
          <p:nvSpPr>
            <p:cNvPr id="181" name="Donut 180"/>
            <p:cNvSpPr/>
            <p:nvPr/>
          </p:nvSpPr>
          <p:spPr>
            <a:xfrm>
              <a:off x="9052560" y="5230368"/>
              <a:ext cx="841248" cy="841248"/>
            </a:xfrm>
            <a:prstGeom prst="donut">
              <a:avLst>
                <a:gd name="adj" fmla="val 11956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Block Arc 181"/>
            <p:cNvSpPr/>
            <p:nvPr/>
          </p:nvSpPr>
          <p:spPr>
            <a:xfrm>
              <a:off x="9052560" y="5230368"/>
              <a:ext cx="841248" cy="841248"/>
            </a:xfrm>
            <a:prstGeom prst="blockArc">
              <a:avLst>
                <a:gd name="adj1" fmla="val 16200000"/>
                <a:gd name="adj2" fmla="val 10800000"/>
                <a:gd name="adj3" fmla="val 11956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9052560" y="5449824"/>
              <a:ext cx="841248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50" b="1" lang="en-US">
                  <a:solidFill>
                    <a:srgbClr val="101820"/>
                  </a:solidFill>
                  <a:latin typeface="Comfortaa"/>
                  <a:cs typeface="Comfortaa"/>
                </a:rPr>
                <a:t>75%</a:t>
              </a:r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10021824" y="5376672"/>
              <a:ext cx="1353312" cy="27432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want to try</a:t>
              </a:r>
            </a:p>
          </p:txBody>
        </p:sp>
        <p:sp>
          <p:nvSpPr>
            <p:cNvPr id="185" name="TextBox 184"/>
            <p:cNvSpPr txBox="1"/>
            <p:nvPr/>
          </p:nvSpPr>
          <p:spPr>
            <a:xfrm>
              <a:off x="10021824" y="5669280"/>
              <a:ext cx="1353312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Cheapify at launch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8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8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6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8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8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8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60"/>
                            </p:stCondLst>
                            <p:childTnLst>
                              <p:par>
                                <p:cTn id="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8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8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8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28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28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28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Business model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We earn only when an order is delivered.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Example: 25,000 IQD item, cash on delivery, Duhok city; courier rate 2,500 IQD quoted by Fast Delivery (Duhok). Delivery margin applies once the courier contract is signed.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722376" y="2359152"/>
            <a:ext cx="5120640" cy="3931920"/>
            <a:chOff x="722376" y="2359152"/>
            <a:chExt cx="5120640" cy="3931920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2359152"/>
              <a:ext cx="5120640" cy="3931920"/>
            </a:xfrm>
            <a:prstGeom prst="roundRect">
              <a:avLst>
                <a:gd name="adj" fmla="val 325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1005840" y="2523744"/>
              <a:ext cx="45720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Our fee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005840" y="2834640"/>
              <a:ext cx="45720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Lighter as prices rise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950976" y="3191256"/>
            <a:ext cx="1536192" cy="2404872"/>
            <a:chOff x="950976" y="3191256"/>
            <a:chExt cx="1536192" cy="2404872"/>
          </a:xfrm>
        </p:grpSpPr>
        <p:sp>
          <p:nvSpPr>
            <p:cNvPr id="109" name="Rounded Rectangle 108"/>
            <p:cNvSpPr/>
            <p:nvPr/>
          </p:nvSpPr>
          <p:spPr>
            <a:xfrm>
              <a:off x="1115568" y="3575304"/>
              <a:ext cx="1207008" cy="1691640"/>
            </a:xfrm>
            <a:prstGeom prst="roundRect">
              <a:avLst>
                <a:gd name="adj" fmla="val 4545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987552" y="3191256"/>
              <a:ext cx="146304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400" b="1" lang="en-US">
                  <a:solidFill>
                    <a:srgbClr val="298FC2"/>
                  </a:solidFill>
                  <a:latin typeface="Comfortaa"/>
                  <a:cs typeface="Comfortaa"/>
                </a:rPr>
                <a:t>5%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950976" y="5340096"/>
              <a:ext cx="1536192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1" lang="en-US">
                  <a:solidFill>
                    <a:srgbClr val="5A6672"/>
                  </a:solidFill>
                  <a:latin typeface="Inter"/>
                  <a:cs typeface="Inter"/>
                </a:rPr>
                <a:t>first 10,000 IQD</a:t>
              </a:r>
            </a:p>
          </p:txBody>
        </p:sp>
      </p:grpSp>
      <p:grpSp>
        <p:nvGrpSpPr>
          <p:cNvPr id="112" name="Group 112"/>
          <p:cNvGrpSpPr/>
          <p:nvPr/>
        </p:nvGrpSpPr>
        <p:grpSpPr>
          <a:xfrm>
            <a:off x="2523744" y="3803904"/>
            <a:ext cx="1536192" cy="1792224"/>
            <a:chOff x="2523744" y="3803904"/>
            <a:chExt cx="1536192" cy="1792224"/>
          </a:xfrm>
        </p:grpSpPr>
        <p:sp>
          <p:nvSpPr>
            <p:cNvPr id="113" name="Rounded Rectangle 112"/>
            <p:cNvSpPr/>
            <p:nvPr/>
          </p:nvSpPr>
          <p:spPr>
            <a:xfrm>
              <a:off x="2688336" y="4187952"/>
              <a:ext cx="1207008" cy="1078992"/>
            </a:xfrm>
            <a:prstGeom prst="roundRect">
              <a:avLst>
                <a:gd name="adj" fmla="val 5084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2560320" y="3803904"/>
              <a:ext cx="146304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400" b="1" lang="en-US">
                  <a:solidFill>
                    <a:srgbClr val="298FC2"/>
                  </a:solidFill>
                  <a:latin typeface="Comfortaa"/>
                  <a:cs typeface="Comfortaa"/>
                </a:rPr>
                <a:t>3%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2523744" y="5340096"/>
              <a:ext cx="1536192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1" lang="en-US">
                  <a:solidFill>
                    <a:srgbClr val="5A6672"/>
                  </a:solidFill>
                  <a:latin typeface="Inter"/>
                  <a:cs typeface="Inter"/>
                </a:rPr>
                <a:t>10,001 – 100,000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4096512" y="4315968"/>
            <a:ext cx="1536192" cy="1280160"/>
            <a:chOff x="4096512" y="4315968"/>
            <a:chExt cx="1536192" cy="1280160"/>
          </a:xfrm>
        </p:grpSpPr>
        <p:sp>
          <p:nvSpPr>
            <p:cNvPr id="117" name="Rounded Rectangle 116"/>
            <p:cNvSpPr/>
            <p:nvPr/>
          </p:nvSpPr>
          <p:spPr>
            <a:xfrm>
              <a:off x="4261104" y="4700016"/>
              <a:ext cx="1207008" cy="566928"/>
            </a:xfrm>
            <a:prstGeom prst="roundRect">
              <a:avLst>
                <a:gd name="adj" fmla="val 9677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4133088" y="4315968"/>
              <a:ext cx="146304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400" b="1" lang="en-US">
                  <a:solidFill>
                    <a:srgbClr val="298FC2"/>
                  </a:solidFill>
                  <a:latin typeface="Comfortaa"/>
                  <a:cs typeface="Comfortaa"/>
                </a:rPr>
                <a:t>1.5%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4096512" y="5340096"/>
              <a:ext cx="1536192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1" lang="en-US">
                  <a:solidFill>
                    <a:srgbClr val="5A6672"/>
                  </a:solidFill>
                  <a:latin typeface="Inter"/>
                  <a:cs typeface="Inter"/>
                </a:rPr>
                <a:t>above 100,000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932688" y="5669280"/>
            <a:ext cx="4700016" cy="438912"/>
            <a:chOff x="932688" y="5669280"/>
            <a:chExt cx="4700016" cy="438912"/>
          </a:xfrm>
        </p:grpSpPr>
        <p:sp>
          <p:nvSpPr>
            <p:cNvPr id="121" name="Rounded Rectangle 120"/>
            <p:cNvSpPr/>
            <p:nvPr/>
          </p:nvSpPr>
          <p:spPr>
            <a:xfrm>
              <a:off x="932688" y="5669280"/>
              <a:ext cx="4700016" cy="438912"/>
            </a:xfrm>
            <a:prstGeom prst="roundRect">
              <a:avLst>
                <a:gd name="adj" fmla="val 20833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932688" y="5669280"/>
              <a:ext cx="4700016" cy="43891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100" b="1" lang="en-US">
                  <a:solidFill>
                    <a:srgbClr val="101820"/>
                  </a:solidFill>
                  <a:latin typeface="Inter"/>
                  <a:cs typeface="Inter"/>
                </a:rPr>
                <a:t>Typical 25,000 IQD order → 950 IQD fee + 500 delivery margin.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6117336" y="2359152"/>
            <a:ext cx="5349240" cy="3931920"/>
            <a:chOff x="6117336" y="2359152"/>
            <a:chExt cx="5349240" cy="3931920"/>
          </a:xfrm>
        </p:grpSpPr>
        <p:sp>
          <p:nvSpPr>
            <p:cNvPr id="124" name="Rounded Rectangle 123"/>
            <p:cNvSpPr/>
            <p:nvPr/>
          </p:nvSpPr>
          <p:spPr>
            <a:xfrm>
              <a:off x="6117336" y="2359152"/>
              <a:ext cx="5349240" cy="3931920"/>
            </a:xfrm>
            <a:prstGeom prst="roundRect">
              <a:avLst>
                <a:gd name="adj" fmla="val 325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6400800" y="2523744"/>
              <a:ext cx="475488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Per order</a:t>
              </a: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6400800" y="2834640"/>
              <a:ext cx="475488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From our 1,450 IQD share to net profit</a:t>
              </a:r>
            </a:p>
          </p:txBody>
        </p:sp>
      </p:grpSp>
      <p:grpSp>
        <p:nvGrpSpPr>
          <p:cNvPr id="127" name="Group 127"/>
          <p:cNvGrpSpPr/>
          <p:nvPr/>
        </p:nvGrpSpPr>
        <p:grpSpPr>
          <a:xfrm>
            <a:off x="6236208" y="3410712"/>
            <a:ext cx="822960" cy="2551176"/>
            <a:chOff x="6236208" y="3410712"/>
            <a:chExt cx="822960" cy="2551176"/>
          </a:xfrm>
        </p:grpSpPr>
        <p:sp>
          <p:nvSpPr>
            <p:cNvPr id="128" name="Rectangle 127"/>
            <p:cNvSpPr/>
            <p:nvPr/>
          </p:nvSpPr>
          <p:spPr>
            <a:xfrm>
              <a:off x="6364224" y="3685032"/>
              <a:ext cx="566928" cy="1965960"/>
            </a:xfrm>
            <a:prstGeom prst="rect">
              <a:avLst/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6236208" y="3410712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1" lang="en-US">
                  <a:solidFill>
                    <a:srgbClr val="101820"/>
                  </a:solidFill>
                  <a:latin typeface="Inter"/>
                  <a:cs typeface="Inter"/>
                </a:rPr>
                <a:t>1,450</a:t>
              </a:r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6236208" y="5724144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Our share</a:t>
              </a:r>
            </a:p>
          </p:txBody>
        </p:sp>
      </p:grpSp>
      <p:grpSp>
        <p:nvGrpSpPr>
          <p:cNvPr id="131" name="Group 131"/>
          <p:cNvGrpSpPr/>
          <p:nvPr/>
        </p:nvGrpSpPr>
        <p:grpSpPr>
          <a:xfrm>
            <a:off x="6931152" y="3410712"/>
            <a:ext cx="932688" cy="2551176"/>
            <a:chOff x="6931152" y="3410712"/>
            <a:chExt cx="932688" cy="2551176"/>
          </a:xfrm>
        </p:grpSpPr>
        <p:cxnSp>
          <p:nvCxnSpPr>
            <p:cNvPr id="132" name="Connector 131"/>
            <p:cNvCxnSpPr/>
            <p:nvPr/>
          </p:nvCxnSpPr>
          <p:spPr>
            <a:xfrm>
              <a:off x="6931152" y="3685032"/>
              <a:ext cx="237744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33" name="Rectangle 132"/>
            <p:cNvSpPr/>
            <p:nvPr/>
          </p:nvSpPr>
          <p:spPr>
            <a:xfrm>
              <a:off x="7168896" y="3685032"/>
              <a:ext cx="566928" cy="122025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7040880" y="3410712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1" lang="en-US">
                  <a:solidFill>
                    <a:srgbClr val="D22730"/>
                  </a:solidFill>
                  <a:latin typeface="Inter"/>
                  <a:cs typeface="Inter"/>
                </a:rPr>
                <a:t>−90</a:t>
              </a:r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7040880" y="5724144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Messages</a:t>
              </a:r>
            </a:p>
          </p:txBody>
        </p:sp>
      </p:grpSp>
      <p:grpSp>
        <p:nvGrpSpPr>
          <p:cNvPr id="136" name="Group 136"/>
          <p:cNvGrpSpPr/>
          <p:nvPr/>
        </p:nvGrpSpPr>
        <p:grpSpPr>
          <a:xfrm>
            <a:off x="7735824" y="3532737"/>
            <a:ext cx="932688" cy="2429151"/>
            <a:chOff x="7735824" y="3532737"/>
            <a:chExt cx="932688" cy="2429151"/>
          </a:xfrm>
        </p:grpSpPr>
        <p:cxnSp>
          <p:nvCxnSpPr>
            <p:cNvPr id="137" name="Connector 136"/>
            <p:cNvCxnSpPr/>
            <p:nvPr/>
          </p:nvCxnSpPr>
          <p:spPr>
            <a:xfrm>
              <a:off x="7735824" y="3807057"/>
              <a:ext cx="237744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38" name="Rectangle 137"/>
            <p:cNvSpPr/>
            <p:nvPr/>
          </p:nvSpPr>
          <p:spPr>
            <a:xfrm>
              <a:off x="7973568" y="3807057"/>
              <a:ext cx="566928" cy="64008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7845552" y="3532737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1" lang="en-US">
                  <a:solidFill>
                    <a:srgbClr val="D22730"/>
                  </a:solidFill>
                  <a:latin typeface="Inter"/>
                  <a:cs typeface="Inter"/>
                </a:rPr>
                <a:t>−25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845552" y="5724144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Logins</a:t>
              </a:r>
            </a:p>
          </p:txBody>
        </p:sp>
      </p:grpSp>
      <p:grpSp>
        <p:nvGrpSpPr>
          <p:cNvPr id="141" name="Group 141"/>
          <p:cNvGrpSpPr/>
          <p:nvPr/>
        </p:nvGrpSpPr>
        <p:grpSpPr>
          <a:xfrm>
            <a:off x="8540496" y="3566633"/>
            <a:ext cx="932688" cy="2395255"/>
            <a:chOff x="8540496" y="3566633"/>
            <a:chExt cx="932688" cy="2395255"/>
          </a:xfrm>
        </p:grpSpPr>
        <p:cxnSp>
          <p:nvCxnSpPr>
            <p:cNvPr id="142" name="Connector 141"/>
            <p:cNvCxnSpPr/>
            <p:nvPr/>
          </p:nvCxnSpPr>
          <p:spPr>
            <a:xfrm>
              <a:off x="8540496" y="3871065"/>
              <a:ext cx="237744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43" name="Rectangle 142"/>
            <p:cNvSpPr/>
            <p:nvPr/>
          </p:nvSpPr>
          <p:spPr>
            <a:xfrm>
              <a:off x="8778240" y="3840953"/>
              <a:ext cx="566928" cy="64008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8650224" y="3566633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1" lang="en-US">
                  <a:solidFill>
                    <a:srgbClr val="D22730"/>
                  </a:solidFill>
                  <a:latin typeface="Inter"/>
                  <a:cs typeface="Inter"/>
                </a:rPr>
                <a:t>−20</a:t>
              </a:r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8650224" y="5724144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Returns</a:t>
              </a:r>
            </a:p>
          </p:txBody>
        </p:sp>
      </p:grpSp>
      <p:grpSp>
        <p:nvGrpSpPr>
          <p:cNvPr id="146" name="Group 146"/>
          <p:cNvGrpSpPr/>
          <p:nvPr/>
        </p:nvGrpSpPr>
        <p:grpSpPr>
          <a:xfrm>
            <a:off x="9345168" y="3593750"/>
            <a:ext cx="932688" cy="2368138"/>
            <a:chOff x="9345168" y="3593750"/>
            <a:chExt cx="932688" cy="2368138"/>
          </a:xfrm>
        </p:grpSpPr>
        <p:cxnSp>
          <p:nvCxnSpPr>
            <p:cNvPr id="147" name="Connector 146"/>
            <p:cNvCxnSpPr/>
            <p:nvPr/>
          </p:nvCxnSpPr>
          <p:spPr>
            <a:xfrm>
              <a:off x="9345168" y="3904961"/>
              <a:ext cx="237744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48" name="Rectangle 147"/>
            <p:cNvSpPr/>
            <p:nvPr/>
          </p:nvSpPr>
          <p:spPr>
            <a:xfrm>
              <a:off x="9582912" y="3868070"/>
              <a:ext cx="566928" cy="271167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9454896" y="3593750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50" b="1" lang="en-US">
                  <a:solidFill>
                    <a:srgbClr val="D22730"/>
                  </a:solidFill>
                  <a:latin typeface="Inter"/>
                  <a:cs typeface="Inter"/>
                </a:rPr>
                <a:t>−200</a:t>
              </a:r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9454896" y="5724144"/>
              <a:ext cx="8229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Re-delivery</a:t>
              </a:r>
            </a:p>
          </p:txBody>
        </p:sp>
      </p:grpSp>
      <p:grpSp>
        <p:nvGrpSpPr>
          <p:cNvPr id="151" name="Group 151"/>
          <p:cNvGrpSpPr/>
          <p:nvPr/>
        </p:nvGrpSpPr>
        <p:grpSpPr>
          <a:xfrm>
            <a:off x="10122408" y="3736901"/>
            <a:ext cx="1188720" cy="2224987"/>
            <a:chOff x="10122408" y="3736901"/>
            <a:chExt cx="1188720" cy="2224987"/>
          </a:xfrm>
        </p:grpSpPr>
        <p:cxnSp>
          <p:nvCxnSpPr>
            <p:cNvPr id="152" name="Connector 151"/>
            <p:cNvCxnSpPr/>
            <p:nvPr/>
          </p:nvCxnSpPr>
          <p:spPr>
            <a:xfrm>
              <a:off x="10149840" y="4139237"/>
              <a:ext cx="237744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53" name="Rectangle 152"/>
            <p:cNvSpPr/>
            <p:nvPr/>
          </p:nvSpPr>
          <p:spPr>
            <a:xfrm>
              <a:off x="10387584" y="4139237"/>
              <a:ext cx="658368" cy="1511755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10122408" y="3736901"/>
              <a:ext cx="118872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700" b="1" lang="en-US">
                  <a:solidFill>
                    <a:srgbClr val="298FC2"/>
                  </a:solidFill>
                  <a:latin typeface="Comfortaa"/>
                  <a:cs typeface="Comfortaa"/>
                </a:rPr>
                <a:t>1,115 IQD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10259568" y="5724144"/>
              <a:ext cx="9144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1" lang="en-US">
                  <a:solidFill>
                    <a:srgbClr val="298FC2"/>
                  </a:solidFill>
                  <a:latin typeface="Inter"/>
                  <a:cs typeface="Inter"/>
                </a:rPr>
                <a:t>Kept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8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8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8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8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8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8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8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8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28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6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4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4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4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4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4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3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Competitor analysis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Nobody else puts every seller on one page.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Based on in-app screenshots (Sep–Oct 2026) and public platform information.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722376" y="2578608"/>
            <a:ext cx="9244584" cy="3438144"/>
            <a:chOff x="722376" y="2578608"/>
            <a:chExt cx="9244584" cy="3438144"/>
          </a:xfrm>
        </p:grpSpPr>
        <p:sp>
          <p:nvSpPr>
            <p:cNvPr id="105" name="TextBox 104"/>
            <p:cNvSpPr txBox="1"/>
            <p:nvPr/>
          </p:nvSpPr>
          <p:spPr>
            <a:xfrm>
              <a:off x="722376" y="3383280"/>
              <a:ext cx="3200400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Prices shown upfront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22376" y="4041648"/>
              <a:ext cx="3200400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One page per product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722376" y="4700016"/>
              <a:ext cx="3200400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Every seller compared on that page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22376" y="5358384"/>
              <a:ext cx="3200400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Third-party sellers can join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11480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Instagram / Facebook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557784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704088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iBazzar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850392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Elryan</a:t>
              </a:r>
            </a:p>
          </p:txBody>
        </p:sp>
        <p:cxnSp>
          <p:nvCxnSpPr>
            <p:cNvPr id="113" name="Connector 112"/>
            <p:cNvCxnSpPr/>
            <p:nvPr/>
          </p:nvCxnSpPr>
          <p:spPr>
            <a:xfrm>
              <a:off x="722376" y="4041648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4" name="Connector 113"/>
            <p:cNvCxnSpPr/>
            <p:nvPr/>
          </p:nvCxnSpPr>
          <p:spPr>
            <a:xfrm>
              <a:off x="722376" y="4700016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5" name="Connector 114"/>
            <p:cNvCxnSpPr/>
            <p:nvPr/>
          </p:nvCxnSpPr>
          <p:spPr>
            <a:xfrm>
              <a:off x="722376" y="5358384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6" name="Connector 115"/>
            <p:cNvCxnSpPr/>
            <p:nvPr/>
          </p:nvCxnSpPr>
          <p:spPr>
            <a:xfrm>
              <a:off x="722376" y="3355848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7" name="Connector 116"/>
            <p:cNvCxnSpPr/>
            <p:nvPr/>
          </p:nvCxnSpPr>
          <p:spPr>
            <a:xfrm>
              <a:off x="722376" y="6016752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</p:grpSp>
      <p:grpSp>
        <p:nvGrpSpPr>
          <p:cNvPr id="118" name="Group 118"/>
          <p:cNvGrpSpPr/>
          <p:nvPr/>
        </p:nvGrpSpPr>
        <p:grpSpPr>
          <a:xfrm>
            <a:off x="4681728" y="3547872"/>
            <a:ext cx="329184" cy="2304288"/>
            <a:chOff x="4681728" y="3547872"/>
            <a:chExt cx="329184" cy="2304288"/>
          </a:xfrm>
        </p:grpSpPr>
        <p:pic>
          <p:nvPicPr>
            <p:cNvPr id="119" name="Picture 118" descr="contrast_5A667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1728" y="3547872"/>
              <a:ext cx="329184" cy="329184"/>
            </a:xfrm>
            <a:prstGeom prst="rect">
              <a:avLst/>
            </a:prstGeom>
          </p:spPr>
        </p:pic>
        <p:pic>
          <p:nvPicPr>
            <p:cNvPr id="120" name="Picture 119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81728" y="4206240"/>
              <a:ext cx="329184" cy="329184"/>
            </a:xfrm>
            <a:prstGeom prst="rect">
              <a:avLst/>
            </a:prstGeom>
          </p:spPr>
        </p:pic>
        <p:pic>
          <p:nvPicPr>
            <p:cNvPr id="121" name="Picture 120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81728" y="4864608"/>
              <a:ext cx="329184" cy="329184"/>
            </a:xfrm>
            <a:prstGeom prst="rect">
              <a:avLst/>
            </a:prstGeom>
          </p:spPr>
        </p:pic>
        <p:pic>
          <p:nvPicPr>
            <p:cNvPr id="122" name="Picture 121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8172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123" name="Group 123"/>
          <p:cNvGrpSpPr/>
          <p:nvPr/>
        </p:nvGrpSpPr>
        <p:grpSpPr>
          <a:xfrm>
            <a:off x="6144768" y="3547872"/>
            <a:ext cx="329184" cy="2304288"/>
            <a:chOff x="6144768" y="3547872"/>
            <a:chExt cx="329184" cy="2304288"/>
          </a:xfrm>
        </p:grpSpPr>
        <p:pic>
          <p:nvPicPr>
            <p:cNvPr id="124" name="Picture 123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44768" y="3547872"/>
              <a:ext cx="329184" cy="329184"/>
            </a:xfrm>
            <a:prstGeom prst="rect">
              <a:avLst/>
            </a:prstGeom>
          </p:spPr>
        </p:pic>
        <p:pic>
          <p:nvPicPr>
            <p:cNvPr id="125" name="Picture 124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44768" y="4206240"/>
              <a:ext cx="329184" cy="329184"/>
            </a:xfrm>
            <a:prstGeom prst="rect">
              <a:avLst/>
            </a:prstGeom>
          </p:spPr>
        </p:pic>
        <p:pic>
          <p:nvPicPr>
            <p:cNvPr id="126" name="Picture 125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44768" y="4864608"/>
              <a:ext cx="329184" cy="329184"/>
            </a:xfrm>
            <a:prstGeom prst="rect">
              <a:avLst/>
            </a:prstGeom>
          </p:spPr>
        </p:pic>
        <p:pic>
          <p:nvPicPr>
            <p:cNvPr id="127" name="Picture 126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4476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128" name="Group 128"/>
          <p:cNvGrpSpPr/>
          <p:nvPr/>
        </p:nvGrpSpPr>
        <p:grpSpPr>
          <a:xfrm>
            <a:off x="7607808" y="3547872"/>
            <a:ext cx="329184" cy="2304288"/>
            <a:chOff x="7607808" y="3547872"/>
            <a:chExt cx="329184" cy="2304288"/>
          </a:xfrm>
        </p:grpSpPr>
        <p:pic>
          <p:nvPicPr>
            <p:cNvPr id="129" name="Picture 128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07808" y="3547872"/>
              <a:ext cx="329184" cy="329184"/>
            </a:xfrm>
            <a:prstGeom prst="rect">
              <a:avLst/>
            </a:prstGeom>
          </p:spPr>
        </p:pic>
        <p:pic>
          <p:nvPicPr>
            <p:cNvPr id="130" name="Picture 129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07808" y="4206240"/>
              <a:ext cx="329184" cy="329184"/>
            </a:xfrm>
            <a:prstGeom prst="rect">
              <a:avLst/>
            </a:prstGeom>
          </p:spPr>
        </p:pic>
        <p:pic>
          <p:nvPicPr>
            <p:cNvPr id="131" name="Picture 130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07808" y="4864608"/>
              <a:ext cx="329184" cy="329184"/>
            </a:xfrm>
            <a:prstGeom prst="rect">
              <a:avLst/>
            </a:prstGeom>
          </p:spPr>
        </p:pic>
        <p:pic>
          <p:nvPicPr>
            <p:cNvPr id="132" name="Picture 131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0780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133" name="Group 133"/>
          <p:cNvGrpSpPr/>
          <p:nvPr/>
        </p:nvGrpSpPr>
        <p:grpSpPr>
          <a:xfrm>
            <a:off x="9070848" y="3547872"/>
            <a:ext cx="329184" cy="2304288"/>
            <a:chOff x="9070848" y="3547872"/>
            <a:chExt cx="329184" cy="2304288"/>
          </a:xfrm>
        </p:grpSpPr>
        <p:pic>
          <p:nvPicPr>
            <p:cNvPr id="134" name="Picture 133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70848" y="3547872"/>
              <a:ext cx="329184" cy="329184"/>
            </a:xfrm>
            <a:prstGeom prst="rect">
              <a:avLst/>
            </a:prstGeom>
          </p:spPr>
        </p:pic>
        <p:pic>
          <p:nvPicPr>
            <p:cNvPr id="135" name="Picture 134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70848" y="4206240"/>
              <a:ext cx="329184" cy="329184"/>
            </a:xfrm>
            <a:prstGeom prst="rect">
              <a:avLst/>
            </a:prstGeom>
          </p:spPr>
        </p:pic>
        <p:pic>
          <p:nvPicPr>
            <p:cNvPr id="136" name="Picture 135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70848" y="4864608"/>
              <a:ext cx="329184" cy="329184"/>
            </a:xfrm>
            <a:prstGeom prst="rect">
              <a:avLst/>
            </a:prstGeom>
          </p:spPr>
        </p:pic>
        <p:pic>
          <p:nvPicPr>
            <p:cNvPr id="137" name="Picture 136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7084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138" name="Group 138"/>
          <p:cNvGrpSpPr/>
          <p:nvPr/>
        </p:nvGrpSpPr>
        <p:grpSpPr>
          <a:xfrm>
            <a:off x="9966960" y="2441448"/>
            <a:ext cx="1463040" cy="3648456"/>
            <a:chOff x="9966960" y="2441448"/>
            <a:chExt cx="1463040" cy="3648456"/>
          </a:xfrm>
        </p:grpSpPr>
        <p:sp>
          <p:nvSpPr>
            <p:cNvPr id="139" name="Rounded Rectangle 138"/>
            <p:cNvSpPr/>
            <p:nvPr/>
          </p:nvSpPr>
          <p:spPr>
            <a:xfrm>
              <a:off x="9966960" y="2441448"/>
              <a:ext cx="1463040" cy="3648456"/>
            </a:xfrm>
            <a:prstGeom prst="roundRect">
              <a:avLst>
                <a:gd name="adj" fmla="val 8750"/>
              </a:avLst>
            </a:prstGeom>
            <a:solidFill>
              <a:srgbClr val="E5F2F8"/>
            </a:solidFill>
            <a:ln w="1905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0" name="Picture 139" descr="cheapify-logo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506456" y="2596896"/>
              <a:ext cx="384048" cy="493776"/>
            </a:xfrm>
            <a:prstGeom prst="rect">
              <a:avLst/>
            </a:prstGeom>
          </p:spPr>
        </p:pic>
        <p:sp>
          <p:nvSpPr>
            <p:cNvPr id="141" name="TextBox 140"/>
            <p:cNvSpPr txBox="1"/>
            <p:nvPr/>
          </p:nvSpPr>
          <p:spPr>
            <a:xfrm>
              <a:off x="10012680" y="3108960"/>
              <a:ext cx="13716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298FC2"/>
                  </a:solidFill>
                  <a:latin typeface="Comfortaa"/>
                  <a:cs typeface="Comfortaa"/>
                </a:rPr>
                <a:t>Cheapify</a:t>
              </a:r>
            </a:p>
          </p:txBody>
        </p:sp>
      </p:grpSp>
      <p:grpSp>
        <p:nvGrpSpPr>
          <p:cNvPr id="142" name="Group 142"/>
          <p:cNvGrpSpPr/>
          <p:nvPr/>
        </p:nvGrpSpPr>
        <p:grpSpPr>
          <a:xfrm>
            <a:off x="10533888" y="3547872"/>
            <a:ext cx="329184" cy="329184"/>
            <a:chOff x="10533888" y="3547872"/>
            <a:chExt cx="329184" cy="329184"/>
          </a:xfrm>
        </p:grpSpPr>
        <p:pic>
          <p:nvPicPr>
            <p:cNvPr id="143" name="Picture 142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3547872"/>
              <a:ext cx="329184" cy="329184"/>
            </a:xfrm>
            <a:prstGeom prst="rect">
              <a:avLst/>
            </a:prstGeom>
          </p:spPr>
        </p:pic>
      </p:grpSp>
      <p:grpSp>
        <p:nvGrpSpPr>
          <p:cNvPr id="144" name="Group 144"/>
          <p:cNvGrpSpPr/>
          <p:nvPr/>
        </p:nvGrpSpPr>
        <p:grpSpPr>
          <a:xfrm>
            <a:off x="10533888" y="4206240"/>
            <a:ext cx="329184" cy="329184"/>
            <a:chOff x="10533888" y="4206240"/>
            <a:chExt cx="329184" cy="329184"/>
          </a:xfrm>
        </p:grpSpPr>
        <p:pic>
          <p:nvPicPr>
            <p:cNvPr id="145" name="Picture 144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4206240"/>
              <a:ext cx="329184" cy="329184"/>
            </a:xfrm>
            <a:prstGeom prst="rect">
              <a:avLst/>
            </a:prstGeom>
          </p:spPr>
        </p:pic>
      </p:grpSp>
      <p:grpSp>
        <p:nvGrpSpPr>
          <p:cNvPr id="146" name="Group 146"/>
          <p:cNvGrpSpPr/>
          <p:nvPr/>
        </p:nvGrpSpPr>
        <p:grpSpPr>
          <a:xfrm>
            <a:off x="10533888" y="4864608"/>
            <a:ext cx="329184" cy="329184"/>
            <a:chOff x="10533888" y="4864608"/>
            <a:chExt cx="329184" cy="329184"/>
          </a:xfrm>
        </p:grpSpPr>
        <p:pic>
          <p:nvPicPr>
            <p:cNvPr id="147" name="Picture 146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4864608"/>
              <a:ext cx="329184" cy="329184"/>
            </a:xfrm>
            <a:prstGeom prst="rect">
              <a:avLst/>
            </a:prstGeom>
          </p:spPr>
        </p:pic>
      </p:grpSp>
      <p:grpSp>
        <p:nvGrpSpPr>
          <p:cNvPr id="148" name="Group 148"/>
          <p:cNvGrpSpPr/>
          <p:nvPr/>
        </p:nvGrpSpPr>
        <p:grpSpPr>
          <a:xfrm>
            <a:off x="10533888" y="5522976"/>
            <a:ext cx="329184" cy="329184"/>
            <a:chOff x="10533888" y="5522976"/>
            <a:chExt cx="329184" cy="329184"/>
          </a:xfrm>
        </p:grpSpPr>
        <p:pic>
          <p:nvPicPr>
            <p:cNvPr id="149" name="Picture 148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150" name="Group 150"/>
          <p:cNvGrpSpPr/>
          <p:nvPr/>
        </p:nvGrpSpPr>
        <p:grpSpPr>
          <a:xfrm>
            <a:off x="722376" y="6144768"/>
            <a:ext cx="3291840" cy="237744"/>
            <a:chOff x="722376" y="6144768"/>
            <a:chExt cx="3291840" cy="237744"/>
          </a:xfrm>
        </p:grpSpPr>
        <p:pic>
          <p:nvPicPr>
            <p:cNvPr id="151" name="Picture 150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376" y="6163056"/>
              <a:ext cx="201168" cy="201168"/>
            </a:xfrm>
            <a:prstGeom prst="rect">
              <a:avLst/>
            </a:prstGeom>
          </p:spPr>
        </p:pic>
        <p:sp>
          <p:nvSpPr>
            <p:cNvPr id="152" name="TextBox 151"/>
            <p:cNvSpPr txBox="1"/>
            <p:nvPr/>
          </p:nvSpPr>
          <p:spPr>
            <a:xfrm>
              <a:off x="996696" y="6144768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yes</a:t>
              </a:r>
            </a:p>
          </p:txBody>
        </p:sp>
        <p:pic>
          <p:nvPicPr>
            <p:cNvPr id="153" name="Picture 152" descr="contrast_5A667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65376" y="6163056"/>
              <a:ext cx="201168" cy="201168"/>
            </a:xfrm>
            <a:prstGeom prst="rect">
              <a:avLst/>
            </a:prstGeom>
          </p:spPr>
        </p:pic>
        <p:sp>
          <p:nvSpPr>
            <p:cNvPr id="154" name="TextBox 153"/>
            <p:cNvSpPr txBox="1"/>
            <p:nvPr/>
          </p:nvSpPr>
          <p:spPr>
            <a:xfrm>
              <a:off x="2139696" y="6144768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partly</a:t>
              </a:r>
            </a:p>
          </p:txBody>
        </p:sp>
        <p:pic>
          <p:nvPicPr>
            <p:cNvPr id="155" name="Picture 154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08376" y="6163056"/>
              <a:ext cx="201168" cy="201168"/>
            </a:xfrm>
            <a:prstGeom prst="rect">
              <a:avLst/>
            </a:prstGeom>
          </p:spPr>
        </p:pic>
        <p:sp>
          <p:nvSpPr>
            <p:cNvPr id="156" name="TextBox 155"/>
            <p:cNvSpPr txBox="1"/>
            <p:nvPr/>
          </p:nvSpPr>
          <p:spPr>
            <a:xfrm>
              <a:off x="3282696" y="6144768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no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2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2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2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3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22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2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22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22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2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22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22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2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22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2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2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2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Growth strategy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We grow on two sides: stores and shoppers.</a:t>
            </a:r>
          </a:p>
        </p:txBody>
      </p:sp>
      <p:grpSp>
        <p:nvGrpSpPr>
          <p:cNvPr id="103" name="Group 103"/>
          <p:cNvGrpSpPr/>
          <p:nvPr/>
        </p:nvGrpSpPr>
        <p:grpSpPr>
          <a:xfrm>
            <a:off x="5001768" y="2907792"/>
            <a:ext cx="2194560" cy="2194560"/>
            <a:chOff x="5001768" y="2907792"/>
            <a:chExt cx="2194560" cy="2194560"/>
          </a:xfrm>
        </p:grpSpPr>
        <p:sp>
          <p:nvSpPr>
            <p:cNvPr id="104" name="Oval 103"/>
            <p:cNvSpPr/>
            <p:nvPr/>
          </p:nvSpPr>
          <p:spPr>
            <a:xfrm>
              <a:off x="5001768" y="2907792"/>
              <a:ext cx="2194560" cy="2194560"/>
            </a:xfrm>
            <a:prstGeom prst="ellipse">
              <a:avLst/>
            </a:prstGeom>
            <a:noFill/>
            <a:ln w="3175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5" name="Picture 104" descr="cheapify-log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3016" y="3675888"/>
              <a:ext cx="512064" cy="658368"/>
            </a:xfrm>
            <a:prstGeom prst="rect">
              <a:avLst/>
            </a:prstGeom>
          </p:spPr>
        </p:pic>
      </p:grpSp>
      <p:grpSp>
        <p:nvGrpSpPr>
          <p:cNvPr id="106" name="Group 106"/>
          <p:cNvGrpSpPr/>
          <p:nvPr/>
        </p:nvGrpSpPr>
        <p:grpSpPr>
          <a:xfrm>
            <a:off x="5349240" y="2697480"/>
            <a:ext cx="1499616" cy="420624"/>
            <a:chOff x="5349240" y="2697480"/>
            <a:chExt cx="1499616" cy="420624"/>
          </a:xfrm>
        </p:grpSpPr>
        <p:sp>
          <p:nvSpPr>
            <p:cNvPr id="107" name="Rounded Rectangle 106"/>
            <p:cNvSpPr/>
            <p:nvPr/>
          </p:nvSpPr>
          <p:spPr>
            <a:xfrm>
              <a:off x="5349240" y="2697480"/>
              <a:ext cx="1499616" cy="420624"/>
            </a:xfrm>
            <a:prstGeom prst="roundRect">
              <a:avLst>
                <a:gd name="adj" fmla="val 30434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349240" y="2697480"/>
              <a:ext cx="1499616" cy="42062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Lower prices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6446520" y="3794760"/>
            <a:ext cx="1499616" cy="420624"/>
            <a:chOff x="6446520" y="3794760"/>
            <a:chExt cx="1499616" cy="420624"/>
          </a:xfrm>
        </p:grpSpPr>
        <p:sp>
          <p:nvSpPr>
            <p:cNvPr id="110" name="Rounded Rectangle 109"/>
            <p:cNvSpPr/>
            <p:nvPr/>
          </p:nvSpPr>
          <p:spPr>
            <a:xfrm>
              <a:off x="6446520" y="3794760"/>
              <a:ext cx="1499616" cy="420624"/>
            </a:xfrm>
            <a:prstGeom prst="roundRect">
              <a:avLst>
                <a:gd name="adj" fmla="val 30434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6446520" y="3794760"/>
              <a:ext cx="1499616" cy="42062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More shoppers</a:t>
              </a:r>
            </a:p>
          </p:txBody>
        </p:sp>
      </p:grpSp>
      <p:grpSp>
        <p:nvGrpSpPr>
          <p:cNvPr id="112" name="Group 112"/>
          <p:cNvGrpSpPr/>
          <p:nvPr/>
        </p:nvGrpSpPr>
        <p:grpSpPr>
          <a:xfrm>
            <a:off x="5349240" y="4892040"/>
            <a:ext cx="1499616" cy="420624"/>
            <a:chOff x="5349240" y="4892040"/>
            <a:chExt cx="1499616" cy="420624"/>
          </a:xfrm>
        </p:grpSpPr>
        <p:sp>
          <p:nvSpPr>
            <p:cNvPr id="113" name="Rounded Rectangle 112"/>
            <p:cNvSpPr/>
            <p:nvPr/>
          </p:nvSpPr>
          <p:spPr>
            <a:xfrm>
              <a:off x="5349240" y="4892040"/>
              <a:ext cx="1499616" cy="420624"/>
            </a:xfrm>
            <a:prstGeom prst="roundRect">
              <a:avLst>
                <a:gd name="adj" fmla="val 30434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5349240" y="4892040"/>
              <a:ext cx="1499616" cy="42062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More orders</a:t>
              </a:r>
            </a:p>
          </p:txBody>
        </p:sp>
      </p:grpSp>
      <p:grpSp>
        <p:nvGrpSpPr>
          <p:cNvPr id="115" name="Group 115"/>
          <p:cNvGrpSpPr/>
          <p:nvPr/>
        </p:nvGrpSpPr>
        <p:grpSpPr>
          <a:xfrm>
            <a:off x="4251960" y="3794760"/>
            <a:ext cx="1499616" cy="420624"/>
            <a:chOff x="4251960" y="3794760"/>
            <a:chExt cx="1499616" cy="420624"/>
          </a:xfrm>
        </p:grpSpPr>
        <p:sp>
          <p:nvSpPr>
            <p:cNvPr id="116" name="Rounded Rectangle 115"/>
            <p:cNvSpPr/>
            <p:nvPr/>
          </p:nvSpPr>
          <p:spPr>
            <a:xfrm>
              <a:off x="4251960" y="3794760"/>
              <a:ext cx="1499616" cy="420624"/>
            </a:xfrm>
            <a:prstGeom prst="roundRect">
              <a:avLst>
                <a:gd name="adj" fmla="val 30434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4251960" y="3794760"/>
              <a:ext cx="1499616" cy="42062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More stores</a:t>
              </a:r>
            </a:p>
          </p:txBody>
        </p:sp>
      </p:grpSp>
      <p:grpSp>
        <p:nvGrpSpPr>
          <p:cNvPr id="118" name="Group 118"/>
          <p:cNvGrpSpPr/>
          <p:nvPr/>
        </p:nvGrpSpPr>
        <p:grpSpPr>
          <a:xfrm>
            <a:off x="6783502" y="3110306"/>
            <a:ext cx="182880" cy="237744"/>
            <a:chOff x="6783502" y="3110306"/>
            <a:chExt cx="182880" cy="237744"/>
          </a:xfrm>
        </p:grpSpPr>
        <p:sp>
          <p:nvSpPr>
            <p:cNvPr id="119" name="Chevron 118"/>
            <p:cNvSpPr/>
            <p:nvPr/>
          </p:nvSpPr>
          <p:spPr>
            <a:xfrm rot="2700000">
              <a:off x="6783502" y="3110306"/>
              <a:ext cx="182880" cy="237744"/>
            </a:xfrm>
            <a:prstGeom prst="chevron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6783502" y="4662094"/>
            <a:ext cx="182880" cy="237744"/>
            <a:chOff x="6783502" y="4662094"/>
            <a:chExt cx="182880" cy="237744"/>
          </a:xfrm>
        </p:grpSpPr>
        <p:sp>
          <p:nvSpPr>
            <p:cNvPr id="121" name="Chevron 120"/>
            <p:cNvSpPr/>
            <p:nvPr/>
          </p:nvSpPr>
          <p:spPr>
            <a:xfrm rot="8100000">
              <a:off x="6783502" y="4662094"/>
              <a:ext cx="182880" cy="237744"/>
            </a:xfrm>
            <a:prstGeom prst="chevron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" name="Group 122"/>
          <p:cNvGrpSpPr/>
          <p:nvPr/>
        </p:nvGrpSpPr>
        <p:grpSpPr>
          <a:xfrm>
            <a:off x="5231714" y="4662094"/>
            <a:ext cx="182880" cy="237744"/>
            <a:chOff x="5231714" y="4662094"/>
            <a:chExt cx="182880" cy="237744"/>
          </a:xfrm>
        </p:grpSpPr>
        <p:sp>
          <p:nvSpPr>
            <p:cNvPr id="123" name="Chevron 122"/>
            <p:cNvSpPr/>
            <p:nvPr/>
          </p:nvSpPr>
          <p:spPr>
            <a:xfrm rot="13500000">
              <a:off x="5231714" y="4662094"/>
              <a:ext cx="182880" cy="237744"/>
            </a:xfrm>
            <a:prstGeom prst="chevron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5231714" y="3110306"/>
            <a:ext cx="182880" cy="237744"/>
            <a:chOff x="5231714" y="3110306"/>
            <a:chExt cx="182880" cy="237744"/>
          </a:xfrm>
        </p:grpSpPr>
        <p:sp>
          <p:nvSpPr>
            <p:cNvPr id="125" name="Chevron 124"/>
            <p:cNvSpPr/>
            <p:nvPr/>
          </p:nvSpPr>
          <p:spPr>
            <a:xfrm rot="18900000">
              <a:off x="5231714" y="3110306"/>
              <a:ext cx="182880" cy="237744"/>
            </a:xfrm>
            <a:prstGeom prst="chevron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722376" y="2359152"/>
            <a:ext cx="3017520" cy="310896"/>
            <a:chOff x="722376" y="2359152"/>
            <a:chExt cx="3017520" cy="310896"/>
          </a:xfrm>
        </p:grpSpPr>
        <p:sp>
          <p:nvSpPr>
            <p:cNvPr id="127" name="TextBox 126"/>
            <p:cNvSpPr txBox="1"/>
            <p:nvPr/>
          </p:nvSpPr>
          <p:spPr>
            <a:xfrm>
              <a:off x="722376" y="2359152"/>
              <a:ext cx="301752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298FC2"/>
                  </a:solidFill>
                  <a:latin typeface="Inter"/>
                  <a:cs typeface="Inter"/>
                </a:rPr>
                <a:t>Stores</a:t>
              </a:r>
            </a:p>
          </p:txBody>
        </p:sp>
      </p:grpSp>
      <p:grpSp>
        <p:nvGrpSpPr>
          <p:cNvPr id="128" name="Group 128"/>
          <p:cNvGrpSpPr/>
          <p:nvPr/>
        </p:nvGrpSpPr>
        <p:grpSpPr>
          <a:xfrm>
            <a:off x="722376" y="2779776"/>
            <a:ext cx="3063240" cy="438912"/>
            <a:chOff x="722376" y="2779776"/>
            <a:chExt cx="3063240" cy="438912"/>
          </a:xfrm>
        </p:grpSpPr>
        <p:sp>
          <p:nvSpPr>
            <p:cNvPr id="129" name="Oval 128"/>
            <p:cNvSpPr/>
            <p:nvPr/>
          </p:nvSpPr>
          <p:spPr>
            <a:xfrm>
              <a:off x="722376" y="277977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0" name="Picture 129" descr="handshake_298FC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2960" y="2880360"/>
              <a:ext cx="237744" cy="237744"/>
            </a:xfrm>
            <a:prstGeom prst="rect">
              <a:avLst/>
            </a:prstGeom>
          </p:spPr>
        </p:pic>
        <p:sp>
          <p:nvSpPr>
            <p:cNvPr id="131" name="TextBox 130"/>
            <p:cNvSpPr txBox="1"/>
            <p:nvPr/>
          </p:nvSpPr>
          <p:spPr>
            <a:xfrm>
              <a:off x="1271016" y="277977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Signed in person · 20 stores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722376" y="3419856"/>
            <a:ext cx="3063240" cy="438912"/>
            <a:chOff x="722376" y="3419856"/>
            <a:chExt cx="3063240" cy="438912"/>
          </a:xfrm>
        </p:grpSpPr>
        <p:sp>
          <p:nvSpPr>
            <p:cNvPr id="133" name="Oval 132"/>
            <p:cNvSpPr/>
            <p:nvPr/>
          </p:nvSpPr>
          <p:spPr>
            <a:xfrm>
              <a:off x="722376" y="341985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4" name="Picture 133" descr="gift_298FC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2960" y="3520440"/>
              <a:ext cx="237744" cy="237744"/>
            </a:xfrm>
            <a:prstGeom prst="rect">
              <a:avLst/>
            </a:prstGeom>
          </p:spPr>
        </p:pic>
        <p:sp>
          <p:nvSpPr>
            <p:cNvPr id="135" name="TextBox 134"/>
            <p:cNvSpPr txBox="1"/>
            <p:nvPr/>
          </p:nvSpPr>
          <p:spPr>
            <a:xfrm>
              <a:off x="1271016" y="341985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0% in month 1</a:t>
              </a:r>
            </a:p>
          </p:txBody>
        </p:sp>
      </p:grpSp>
      <p:grpSp>
        <p:nvGrpSpPr>
          <p:cNvPr id="136" name="Group 136"/>
          <p:cNvGrpSpPr/>
          <p:nvPr/>
        </p:nvGrpSpPr>
        <p:grpSpPr>
          <a:xfrm>
            <a:off x="722376" y="4059936"/>
            <a:ext cx="3063240" cy="438912"/>
            <a:chOff x="722376" y="4059936"/>
            <a:chExt cx="3063240" cy="438912"/>
          </a:xfrm>
        </p:grpSpPr>
        <p:sp>
          <p:nvSpPr>
            <p:cNvPr id="137" name="Oval 136"/>
            <p:cNvSpPr/>
            <p:nvPr/>
          </p:nvSpPr>
          <p:spPr>
            <a:xfrm>
              <a:off x="722376" y="405993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8" name="Picture 137" descr="rocket_298FC2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2960" y="4160520"/>
              <a:ext cx="237744" cy="237744"/>
            </a:xfrm>
            <a:prstGeom prst="rect">
              <a:avLst/>
            </a:prstGeom>
          </p:spPr>
        </p:pic>
        <p:sp>
          <p:nvSpPr>
            <p:cNvPr id="139" name="TextBox 138"/>
            <p:cNvSpPr txBox="1"/>
            <p:nvPr/>
          </p:nvSpPr>
          <p:spPr>
            <a:xfrm>
              <a:off x="1271016" y="405993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Free ads</a:t>
              </a:r>
            </a:p>
          </p:txBody>
        </p:sp>
      </p:grpSp>
      <p:grpSp>
        <p:nvGrpSpPr>
          <p:cNvPr id="140" name="Group 140"/>
          <p:cNvGrpSpPr/>
          <p:nvPr/>
        </p:nvGrpSpPr>
        <p:grpSpPr>
          <a:xfrm>
            <a:off x="722376" y="4700016"/>
            <a:ext cx="3063240" cy="438912"/>
            <a:chOff x="722376" y="4700016"/>
            <a:chExt cx="3063240" cy="438912"/>
          </a:xfrm>
        </p:grpSpPr>
        <p:sp>
          <p:nvSpPr>
            <p:cNvPr id="141" name="Oval 140"/>
            <p:cNvSpPr/>
            <p:nvPr/>
          </p:nvSpPr>
          <p:spPr>
            <a:xfrm>
              <a:off x="722376" y="470001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2" name="Picture 141" descr="link_298FC2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22960" y="4800600"/>
              <a:ext cx="237744" cy="237744"/>
            </a:xfrm>
            <a:prstGeom prst="rect">
              <a:avLst/>
            </a:prstGeom>
          </p:spPr>
        </p:pic>
        <p:sp>
          <p:nvSpPr>
            <p:cNvPr id="143" name="TextBox 142"/>
            <p:cNvSpPr txBox="1"/>
            <p:nvPr/>
          </p:nvSpPr>
          <p:spPr>
            <a:xfrm>
              <a:off x="1271016" y="470001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Their followers · 1.5k–50k each</a:t>
              </a:r>
            </a:p>
          </p:txBody>
        </p:sp>
      </p:grpSp>
      <p:grpSp>
        <p:nvGrpSpPr>
          <p:cNvPr id="144" name="Group 144"/>
          <p:cNvGrpSpPr/>
          <p:nvPr/>
        </p:nvGrpSpPr>
        <p:grpSpPr>
          <a:xfrm>
            <a:off x="8458200" y="2359152"/>
            <a:ext cx="3017520" cy="310896"/>
            <a:chOff x="8458200" y="2359152"/>
            <a:chExt cx="3017520" cy="310896"/>
          </a:xfrm>
        </p:grpSpPr>
        <p:sp>
          <p:nvSpPr>
            <p:cNvPr id="145" name="TextBox 144"/>
            <p:cNvSpPr txBox="1"/>
            <p:nvPr/>
          </p:nvSpPr>
          <p:spPr>
            <a:xfrm>
              <a:off x="8458200" y="2359152"/>
              <a:ext cx="301752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298FC2"/>
                  </a:solidFill>
                  <a:latin typeface="Inter"/>
                  <a:cs typeface="Inter"/>
                </a:rPr>
                <a:t>Shoppers</a:t>
              </a:r>
            </a:p>
          </p:txBody>
        </p:sp>
      </p:grpSp>
      <p:grpSp>
        <p:nvGrpSpPr>
          <p:cNvPr id="146" name="Group 146"/>
          <p:cNvGrpSpPr/>
          <p:nvPr/>
        </p:nvGrpSpPr>
        <p:grpSpPr>
          <a:xfrm>
            <a:off x="8458200" y="2779776"/>
            <a:ext cx="3063240" cy="438912"/>
            <a:chOff x="8458200" y="2779776"/>
            <a:chExt cx="3063240" cy="438912"/>
          </a:xfrm>
        </p:grpSpPr>
        <p:sp>
          <p:nvSpPr>
            <p:cNvPr id="147" name="Oval 146"/>
            <p:cNvSpPr/>
            <p:nvPr/>
          </p:nvSpPr>
          <p:spPr>
            <a:xfrm>
              <a:off x="8458200" y="277977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8" name="Picture 147" descr="megaphone_298FC2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558784" y="2880360"/>
              <a:ext cx="237744" cy="237744"/>
            </a:xfrm>
            <a:prstGeom prst="rect">
              <a:avLst/>
            </a:prstGeom>
          </p:spPr>
        </p:pic>
        <p:sp>
          <p:nvSpPr>
            <p:cNvPr id="149" name="TextBox 148"/>
            <p:cNvSpPr txBox="1"/>
            <p:nvPr/>
          </p:nvSpPr>
          <p:spPr>
            <a:xfrm>
              <a:off x="9006840" y="277977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Targeted ads · $2,200</a:t>
              </a:r>
            </a:p>
          </p:txBody>
        </p:sp>
      </p:grpSp>
      <p:grpSp>
        <p:nvGrpSpPr>
          <p:cNvPr id="150" name="Group 150"/>
          <p:cNvGrpSpPr/>
          <p:nvPr/>
        </p:nvGrpSpPr>
        <p:grpSpPr>
          <a:xfrm>
            <a:off x="8458200" y="3419856"/>
            <a:ext cx="3063240" cy="438912"/>
            <a:chOff x="8458200" y="3419856"/>
            <a:chExt cx="3063240" cy="438912"/>
          </a:xfrm>
        </p:grpSpPr>
        <p:sp>
          <p:nvSpPr>
            <p:cNvPr id="151" name="Oval 150"/>
            <p:cNvSpPr/>
            <p:nvPr/>
          </p:nvSpPr>
          <p:spPr>
            <a:xfrm>
              <a:off x="8458200" y="341985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52" name="Picture 151" descr="clapperboard_298FC2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58784" y="3520440"/>
              <a:ext cx="237744" cy="237744"/>
            </a:xfrm>
            <a:prstGeom prst="rect">
              <a:avLst/>
            </a:prstGeom>
          </p:spPr>
        </p:pic>
        <p:sp>
          <p:nvSpPr>
            <p:cNvPr id="153" name="TextBox 152"/>
            <p:cNvSpPr txBox="1"/>
            <p:nvPr/>
          </p:nvSpPr>
          <p:spPr>
            <a:xfrm>
              <a:off x="9006840" y="341985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Short videos</a:t>
              </a:r>
            </a:p>
          </p:txBody>
        </p:sp>
      </p:grpSp>
      <p:grpSp>
        <p:nvGrpSpPr>
          <p:cNvPr id="154" name="Group 154"/>
          <p:cNvGrpSpPr/>
          <p:nvPr/>
        </p:nvGrpSpPr>
        <p:grpSpPr>
          <a:xfrm>
            <a:off x="8458200" y="4059936"/>
            <a:ext cx="3063240" cy="438912"/>
            <a:chOff x="8458200" y="4059936"/>
            <a:chExt cx="3063240" cy="438912"/>
          </a:xfrm>
        </p:grpSpPr>
        <p:sp>
          <p:nvSpPr>
            <p:cNvPr id="155" name="Oval 154"/>
            <p:cNvSpPr/>
            <p:nvPr/>
          </p:nvSpPr>
          <p:spPr>
            <a:xfrm>
              <a:off x="8458200" y="405993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56" name="Picture 155" descr="graduation-cap_298FC2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58784" y="4160520"/>
              <a:ext cx="237744" cy="237744"/>
            </a:xfrm>
            <a:prstGeom prst="rect">
              <a:avLst/>
            </a:prstGeom>
          </p:spPr>
        </p:pic>
        <p:sp>
          <p:nvSpPr>
            <p:cNvPr id="157" name="TextBox 156"/>
            <p:cNvSpPr txBox="1"/>
            <p:nvPr/>
          </p:nvSpPr>
          <p:spPr>
            <a:xfrm>
              <a:off x="9006840" y="405993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Campus deals · 3 universities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8458200" y="4700016"/>
            <a:ext cx="3063240" cy="438912"/>
            <a:chOff x="8458200" y="4700016"/>
            <a:chExt cx="3063240" cy="438912"/>
          </a:xfrm>
        </p:grpSpPr>
        <p:sp>
          <p:nvSpPr>
            <p:cNvPr id="159" name="Oval 158"/>
            <p:cNvSpPr/>
            <p:nvPr/>
          </p:nvSpPr>
          <p:spPr>
            <a:xfrm>
              <a:off x="8458200" y="4700016"/>
              <a:ext cx="438912" cy="438912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60" name="Picture 159" descr="users_298FC2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58784" y="4800600"/>
              <a:ext cx="237744" cy="237744"/>
            </a:xfrm>
            <a:prstGeom prst="rect">
              <a:avLst/>
            </a:prstGeom>
          </p:spPr>
        </p:pic>
        <p:sp>
          <p:nvSpPr>
            <p:cNvPr id="161" name="TextBox 160"/>
            <p:cNvSpPr txBox="1"/>
            <p:nvPr/>
          </p:nvSpPr>
          <p:spPr>
            <a:xfrm>
              <a:off x="9006840" y="4700016"/>
              <a:ext cx="2514600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Referrals · 52 on the waitlist</a:t>
              </a:r>
            </a:p>
          </p:txBody>
        </p:sp>
      </p:grpSp>
      <p:grpSp>
        <p:nvGrpSpPr>
          <p:cNvPr id="162" name="Group 162"/>
          <p:cNvGrpSpPr/>
          <p:nvPr/>
        </p:nvGrpSpPr>
        <p:grpSpPr>
          <a:xfrm>
            <a:off x="3822192" y="3904488"/>
            <a:ext cx="347472" cy="182880"/>
            <a:chOff x="3822192" y="3904488"/>
            <a:chExt cx="347472" cy="182880"/>
          </a:xfrm>
        </p:grpSpPr>
        <p:sp>
          <p:nvSpPr>
            <p:cNvPr id="163" name="Right Arrow 162"/>
            <p:cNvSpPr/>
            <p:nvPr/>
          </p:nvSpPr>
          <p:spPr>
            <a:xfrm>
              <a:off x="3822192" y="3904488"/>
              <a:ext cx="347472" cy="182880"/>
            </a:xfrm>
            <a:prstGeom prst="rightArrow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4" name="Group 164"/>
          <p:cNvGrpSpPr/>
          <p:nvPr/>
        </p:nvGrpSpPr>
        <p:grpSpPr>
          <a:xfrm>
            <a:off x="8019288" y="3904488"/>
            <a:ext cx="347472" cy="182880"/>
            <a:chOff x="8019288" y="3904488"/>
            <a:chExt cx="347472" cy="182880"/>
          </a:xfrm>
        </p:grpSpPr>
        <p:sp>
          <p:nvSpPr>
            <p:cNvPr id="165" name="Left Arrow 164"/>
            <p:cNvSpPr/>
            <p:nvPr/>
          </p:nvSpPr>
          <p:spPr>
            <a:xfrm>
              <a:off x="8019288" y="3904488"/>
              <a:ext cx="347472" cy="182880"/>
            </a:xfrm>
            <a:prstGeom prst="leftArrow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6" name="Group 166"/>
          <p:cNvGrpSpPr/>
          <p:nvPr/>
        </p:nvGrpSpPr>
        <p:grpSpPr>
          <a:xfrm>
            <a:off x="722376" y="5687568"/>
            <a:ext cx="10744200" cy="530352"/>
            <a:chOff x="722376" y="5687568"/>
            <a:chExt cx="10744200" cy="530352"/>
          </a:xfrm>
        </p:grpSpPr>
        <p:sp>
          <p:nvSpPr>
            <p:cNvPr id="167" name="Rounded Rectangle 166"/>
            <p:cNvSpPr/>
            <p:nvPr/>
          </p:nvSpPr>
          <p:spPr>
            <a:xfrm>
              <a:off x="722376" y="5687568"/>
              <a:ext cx="10744200" cy="530352"/>
            </a:xfrm>
            <a:prstGeom prst="roundRect">
              <a:avLst>
                <a:gd name="adj" fmla="val 20689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Oval 167"/>
            <p:cNvSpPr/>
            <p:nvPr/>
          </p:nvSpPr>
          <p:spPr>
            <a:xfrm>
              <a:off x="969264" y="5870448"/>
              <a:ext cx="164592" cy="16459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TextBox 168"/>
            <p:cNvSpPr txBox="1"/>
            <p:nvPr/>
          </p:nvSpPr>
          <p:spPr>
            <a:xfrm>
              <a:off x="1234440" y="5687568"/>
              <a:ext cx="2834640" cy="53035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Duhok · Semel · Zakho</a:t>
              </a:r>
            </a:p>
          </p:txBody>
        </p:sp>
        <p:sp>
          <p:nvSpPr>
            <p:cNvPr id="170" name="Oval 169"/>
            <p:cNvSpPr/>
            <p:nvPr/>
          </p:nvSpPr>
          <p:spPr>
            <a:xfrm>
              <a:off x="4718304" y="5870448"/>
              <a:ext cx="164592" cy="16459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TextBox 170"/>
            <p:cNvSpPr txBox="1"/>
            <p:nvPr/>
          </p:nvSpPr>
          <p:spPr>
            <a:xfrm>
              <a:off x="4983480" y="5687568"/>
              <a:ext cx="3108960" cy="53035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Erbil · Mosul · Sulaymaniyah</a:t>
              </a:r>
            </a:p>
          </p:txBody>
        </p:sp>
        <p:sp>
          <p:nvSpPr>
            <p:cNvPr id="172" name="Oval 171"/>
            <p:cNvSpPr/>
            <p:nvPr/>
          </p:nvSpPr>
          <p:spPr>
            <a:xfrm>
              <a:off x="8833104" y="5870448"/>
              <a:ext cx="164592" cy="16459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9098280" y="5687568"/>
              <a:ext cx="2103120" cy="53035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All of Iraq</a:t>
              </a:r>
            </a:p>
          </p:txBody>
        </p:sp>
        <p:sp>
          <p:nvSpPr>
            <p:cNvPr id="174" name="Right Arrow 173"/>
            <p:cNvSpPr/>
            <p:nvPr/>
          </p:nvSpPr>
          <p:spPr>
            <a:xfrm>
              <a:off x="4069080" y="5870448"/>
              <a:ext cx="329184" cy="164592"/>
            </a:xfrm>
            <a:prstGeom prst="rightArrow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Right Arrow 174"/>
            <p:cNvSpPr/>
            <p:nvPr/>
          </p:nvSpPr>
          <p:spPr>
            <a:xfrm>
              <a:off x="8183880" y="5870448"/>
              <a:ext cx="329184" cy="164592"/>
            </a:xfrm>
            <a:prstGeom prst="rightArrow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2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2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2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2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4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2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2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2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2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2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2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2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2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2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22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22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2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22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22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2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34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4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4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4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4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Financial feasibility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200" b="1" lang="en-US">
                <a:solidFill>
                  <a:srgbClr val="101820"/>
                </a:solidFill>
                <a:latin typeface="Comfortaa"/>
                <a:cs typeface="Comfortaa"/>
              </a:rPr>
              <a:t>Profitable from month 4. Everything earned back by month 8.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Planned: orders grow 100 → 2,000/month; Fast: 2× pace; Slow: half pace. Costs $435/month (652,000 IQD; $527 from month 6), incl. 1.7M IQD startup. USD at 1,500 IQD.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722376" y="2322576"/>
            <a:ext cx="3429000" cy="603504"/>
            <a:chOff x="722376" y="2322576"/>
            <a:chExt cx="3429000" cy="603504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2322576"/>
              <a:ext cx="3429000" cy="603504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50392" y="2340864"/>
              <a:ext cx="317296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Costs $435 / month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50392" y="2651760"/>
              <a:ext cx="317296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from month 6: $527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4379976" y="2322576"/>
            <a:ext cx="3429000" cy="603504"/>
            <a:chOff x="4379976" y="2322576"/>
            <a:chExt cx="3429000" cy="603504"/>
          </a:xfrm>
        </p:grpSpPr>
        <p:sp>
          <p:nvSpPr>
            <p:cNvPr id="109" name="Rounded Rectangle 108"/>
            <p:cNvSpPr/>
            <p:nvPr/>
          </p:nvSpPr>
          <p:spPr>
            <a:xfrm>
              <a:off x="4379976" y="2322576"/>
              <a:ext cx="3429000" cy="603504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4507992" y="2340864"/>
              <a:ext cx="317296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Break-even 585 orders / mo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507992" y="2651760"/>
              <a:ext cx="317296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≈ 390 regular shoppers</a:t>
              </a:r>
            </a:p>
          </p:txBody>
        </p:sp>
      </p:grpSp>
      <p:grpSp>
        <p:nvGrpSpPr>
          <p:cNvPr id="112" name="Group 112"/>
          <p:cNvGrpSpPr/>
          <p:nvPr/>
        </p:nvGrpSpPr>
        <p:grpSpPr>
          <a:xfrm>
            <a:off x="8037576" y="2322576"/>
            <a:ext cx="3429000" cy="603504"/>
            <a:chOff x="8037576" y="2322576"/>
            <a:chExt cx="3429000" cy="603504"/>
          </a:xfrm>
        </p:grpSpPr>
        <p:sp>
          <p:nvSpPr>
            <p:cNvPr id="113" name="Rounded Rectangle 112"/>
            <p:cNvSpPr/>
            <p:nvPr/>
          </p:nvSpPr>
          <p:spPr>
            <a:xfrm>
              <a:off x="8037576" y="2322576"/>
              <a:ext cx="3429000" cy="603504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8165592" y="2340864"/>
              <a:ext cx="317296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Payback month 8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8165592" y="2651760"/>
              <a:ext cx="317296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fast case: month 6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777240" y="3284103"/>
            <a:ext cx="10799064" cy="3089265"/>
            <a:chOff x="777240" y="3284103"/>
            <a:chExt cx="10799064" cy="3089265"/>
          </a:xfrm>
        </p:grpSpPr>
        <p:cxnSp>
          <p:nvCxnSpPr>
            <p:cNvPr id="117" name="Connector 116"/>
            <p:cNvCxnSpPr/>
            <p:nvPr/>
          </p:nvCxnSpPr>
          <p:spPr>
            <a:xfrm>
              <a:off x="1371600" y="3384687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8" name="TextBox 117"/>
            <p:cNvSpPr txBox="1"/>
            <p:nvPr/>
          </p:nvSpPr>
          <p:spPr>
            <a:xfrm>
              <a:off x="777240" y="3284103"/>
              <a:ext cx="5029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+$3k</a:t>
              </a:r>
            </a:p>
          </p:txBody>
        </p:sp>
        <p:cxnSp>
          <p:nvCxnSpPr>
            <p:cNvPr id="119" name="Connector 118"/>
            <p:cNvCxnSpPr/>
            <p:nvPr/>
          </p:nvCxnSpPr>
          <p:spPr>
            <a:xfrm>
              <a:off x="1371600" y="3844700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20" name="TextBox 119"/>
            <p:cNvSpPr txBox="1"/>
            <p:nvPr/>
          </p:nvSpPr>
          <p:spPr>
            <a:xfrm>
              <a:off x="777240" y="3744116"/>
              <a:ext cx="5029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+$2k</a:t>
              </a:r>
            </a:p>
          </p:txBody>
        </p:sp>
        <p:cxnSp>
          <p:nvCxnSpPr>
            <p:cNvPr id="121" name="Connector 120"/>
            <p:cNvCxnSpPr/>
            <p:nvPr/>
          </p:nvCxnSpPr>
          <p:spPr>
            <a:xfrm>
              <a:off x="1371600" y="4304714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22" name="TextBox 121"/>
            <p:cNvSpPr txBox="1"/>
            <p:nvPr/>
          </p:nvSpPr>
          <p:spPr>
            <a:xfrm>
              <a:off x="777240" y="4204130"/>
              <a:ext cx="5029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+$1k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777240" y="4664143"/>
              <a:ext cx="5029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$0</a:t>
              </a:r>
            </a:p>
          </p:txBody>
        </p:sp>
        <p:cxnSp>
          <p:nvCxnSpPr>
            <p:cNvPr id="124" name="Connector 123"/>
            <p:cNvCxnSpPr/>
            <p:nvPr/>
          </p:nvCxnSpPr>
          <p:spPr>
            <a:xfrm>
              <a:off x="1371600" y="5224741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25" name="TextBox 124"/>
            <p:cNvSpPr txBox="1"/>
            <p:nvPr/>
          </p:nvSpPr>
          <p:spPr>
            <a:xfrm>
              <a:off x="777240" y="5124157"/>
              <a:ext cx="5029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−$1k</a:t>
              </a:r>
            </a:p>
          </p:txBody>
        </p:sp>
        <p:cxnSp>
          <p:nvCxnSpPr>
            <p:cNvPr id="126" name="Connector 125"/>
            <p:cNvCxnSpPr/>
            <p:nvPr/>
          </p:nvCxnSpPr>
          <p:spPr>
            <a:xfrm>
              <a:off x="1371600" y="5684754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27" name="TextBox 126"/>
            <p:cNvSpPr txBox="1"/>
            <p:nvPr/>
          </p:nvSpPr>
          <p:spPr>
            <a:xfrm>
              <a:off x="777240" y="5584170"/>
              <a:ext cx="5029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−$2k</a:t>
              </a:r>
            </a:p>
          </p:txBody>
        </p:sp>
        <p:cxnSp>
          <p:nvCxnSpPr>
            <p:cNvPr id="128" name="Connector 127"/>
            <p:cNvCxnSpPr/>
            <p:nvPr/>
          </p:nvCxnSpPr>
          <p:spPr>
            <a:xfrm>
              <a:off x="1371600" y="6144768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29" name="TextBox 128"/>
            <p:cNvSpPr txBox="1"/>
            <p:nvPr/>
          </p:nvSpPr>
          <p:spPr>
            <a:xfrm>
              <a:off x="777240" y="6044184"/>
              <a:ext cx="5029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−$3k</a:t>
              </a:r>
            </a:p>
          </p:txBody>
        </p:sp>
        <p:cxnSp>
          <p:nvCxnSpPr>
            <p:cNvPr id="130" name="Connector 129"/>
            <p:cNvCxnSpPr/>
            <p:nvPr/>
          </p:nvCxnSpPr>
          <p:spPr>
            <a:xfrm>
              <a:off x="1371600" y="4764727"/>
              <a:ext cx="9875520" cy="0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31" name="TextBox 130"/>
            <p:cNvSpPr txBox="1"/>
            <p:nvPr/>
          </p:nvSpPr>
          <p:spPr>
            <a:xfrm>
              <a:off x="104241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Start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186537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M-1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268833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Launch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351129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M1</a:t>
              </a:r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433425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M2</a:t>
              </a:r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515721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M3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598017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M4</a:t>
              </a: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680313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M5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762609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M6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844905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M7</a:t>
              </a:r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927201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M8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1009497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M9</a:t>
              </a:r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10917936" y="6172200"/>
              <a:ext cx="658368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M10</a:t>
              </a:r>
            </a:p>
          </p:txBody>
        </p:sp>
      </p:grpSp>
      <p:grpSp>
        <p:nvGrpSpPr>
          <p:cNvPr id="144" name="Group 144"/>
          <p:cNvGrpSpPr/>
          <p:nvPr/>
        </p:nvGrpSpPr>
        <p:grpSpPr>
          <a:xfrm>
            <a:off x="1371600" y="3090672"/>
            <a:ext cx="7178040" cy="219456"/>
            <a:chOff x="1371600" y="3090672"/>
            <a:chExt cx="7178040" cy="219456"/>
          </a:xfrm>
        </p:grpSpPr>
        <p:sp>
          <p:nvSpPr>
            <p:cNvPr id="145" name="TextBox 144"/>
            <p:cNvSpPr txBox="1"/>
            <p:nvPr/>
          </p:nvSpPr>
          <p:spPr>
            <a:xfrm>
              <a:off x="1371600" y="3090672"/>
              <a:ext cx="283464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Cumulative net cash position (USD)</a:t>
              </a:r>
            </a:p>
          </p:txBody>
        </p:sp>
        <p:cxnSp>
          <p:nvCxnSpPr>
            <p:cNvPr id="146" name="Connector 145"/>
            <p:cNvCxnSpPr/>
            <p:nvPr/>
          </p:nvCxnSpPr>
          <p:spPr>
            <a:xfrm>
              <a:off x="4160520" y="3200400"/>
              <a:ext cx="256032" cy="0"/>
            </a:xfrm>
            <a:prstGeom prst="line">
              <a:avLst/>
            </a:prstGeom>
            <a:ln w="38100">
              <a:solidFill>
                <a:srgbClr val="298FC2"/>
              </a:solidFill>
            </a:ln>
            <a:effectLst/>
          </p:spPr>
        </p:cxnSp>
        <p:sp>
          <p:nvSpPr>
            <p:cNvPr id="147" name="TextBox 146"/>
            <p:cNvSpPr txBox="1"/>
            <p:nvPr/>
          </p:nvSpPr>
          <p:spPr>
            <a:xfrm>
              <a:off x="4471416" y="3090672"/>
              <a:ext cx="1078992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Planned (base)</a:t>
              </a:r>
            </a:p>
          </p:txBody>
        </p:sp>
        <p:cxnSp>
          <p:nvCxnSpPr>
            <p:cNvPr id="148" name="Connector 147"/>
            <p:cNvCxnSpPr/>
            <p:nvPr/>
          </p:nvCxnSpPr>
          <p:spPr>
            <a:xfrm>
              <a:off x="5641848" y="3200400"/>
              <a:ext cx="256032" cy="0"/>
            </a:xfrm>
            <a:prstGeom prst="line">
              <a:avLst/>
            </a:prstGeom>
            <a:ln w="27940">
              <a:solidFill>
                <a:srgbClr val="101820"/>
              </a:solidFill>
            </a:ln>
            <a:effectLst/>
          </p:spPr>
        </p:cxnSp>
        <p:sp>
          <p:nvSpPr>
            <p:cNvPr id="149" name="TextBox 148"/>
            <p:cNvSpPr txBox="1"/>
            <p:nvPr/>
          </p:nvSpPr>
          <p:spPr>
            <a:xfrm>
              <a:off x="5952744" y="3090672"/>
              <a:ext cx="105156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lang="en-US">
                  <a:solidFill>
                    <a:srgbClr val="101820"/>
                  </a:solidFill>
                  <a:latin typeface="Inter"/>
                  <a:cs typeface="Inter"/>
                </a:rPr>
                <a:t>Fast (2× pace)</a:t>
              </a:r>
            </a:p>
          </p:txBody>
        </p:sp>
        <p:cxnSp>
          <p:nvCxnSpPr>
            <p:cNvPr id="150" name="Connector 149"/>
            <p:cNvCxnSpPr/>
            <p:nvPr/>
          </p:nvCxnSpPr>
          <p:spPr>
            <a:xfrm>
              <a:off x="7095744" y="3200400"/>
              <a:ext cx="256032" cy="0"/>
            </a:xfrm>
            <a:prstGeom prst="line">
              <a:avLst/>
            </a:prstGeom>
            <a:ln w="19050">
              <a:solidFill>
                <a:srgbClr val="A9B1B9"/>
              </a:solidFill>
              <a:prstDash val="dash"/>
            </a:ln>
            <a:effectLst/>
          </p:spPr>
        </p:cxnSp>
        <p:sp>
          <p:nvSpPr>
            <p:cNvPr id="151" name="TextBox 150"/>
            <p:cNvSpPr txBox="1"/>
            <p:nvPr/>
          </p:nvSpPr>
          <p:spPr>
            <a:xfrm>
              <a:off x="7406640" y="3090672"/>
              <a:ext cx="1143000" cy="2194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Slow (half pace)</a:t>
              </a:r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1371600" y="5285923"/>
            <a:ext cx="822960" cy="64402"/>
            <a:chOff x="1371600" y="5285923"/>
            <a:chExt cx="822960" cy="64402"/>
          </a:xfrm>
        </p:grpSpPr>
        <p:cxnSp>
          <p:nvCxnSpPr>
            <p:cNvPr id="153" name="Connector 152"/>
            <p:cNvCxnSpPr/>
            <p:nvPr/>
          </p:nvCxnSpPr>
          <p:spPr>
            <a:xfrm>
              <a:off x="1371600" y="5285923"/>
              <a:ext cx="822960" cy="64402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54" name="Group 154"/>
          <p:cNvGrpSpPr/>
          <p:nvPr/>
        </p:nvGrpSpPr>
        <p:grpSpPr>
          <a:xfrm>
            <a:off x="2194560" y="5350325"/>
            <a:ext cx="822960" cy="64402"/>
            <a:chOff x="2194560" y="5350325"/>
            <a:chExt cx="822960" cy="64402"/>
          </a:xfrm>
        </p:grpSpPr>
        <p:cxnSp>
          <p:nvCxnSpPr>
            <p:cNvPr id="155" name="Connector 154"/>
            <p:cNvCxnSpPr/>
            <p:nvPr/>
          </p:nvCxnSpPr>
          <p:spPr>
            <a:xfrm>
              <a:off x="2194560" y="5350325"/>
              <a:ext cx="822960" cy="64402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56" name="Group 156"/>
          <p:cNvGrpSpPr/>
          <p:nvPr/>
        </p:nvGrpSpPr>
        <p:grpSpPr>
          <a:xfrm>
            <a:off x="3017520" y="5414727"/>
            <a:ext cx="822960" cy="166064"/>
            <a:chOff x="3017520" y="5414727"/>
            <a:chExt cx="822960" cy="166064"/>
          </a:xfrm>
        </p:grpSpPr>
        <p:cxnSp>
          <p:nvCxnSpPr>
            <p:cNvPr id="157" name="Connector 156"/>
            <p:cNvCxnSpPr/>
            <p:nvPr/>
          </p:nvCxnSpPr>
          <p:spPr>
            <a:xfrm>
              <a:off x="3017520" y="5414727"/>
              <a:ext cx="822960" cy="166064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58" name="Group 158"/>
          <p:cNvGrpSpPr/>
          <p:nvPr/>
        </p:nvGrpSpPr>
        <p:grpSpPr>
          <a:xfrm>
            <a:off x="3840480" y="5580791"/>
            <a:ext cx="822960" cy="122824"/>
            <a:chOff x="3840480" y="5580791"/>
            <a:chExt cx="822960" cy="122824"/>
          </a:xfrm>
        </p:grpSpPr>
        <p:cxnSp>
          <p:nvCxnSpPr>
            <p:cNvPr id="159" name="Connector 158"/>
            <p:cNvCxnSpPr/>
            <p:nvPr/>
          </p:nvCxnSpPr>
          <p:spPr>
            <a:xfrm>
              <a:off x="3840480" y="5580791"/>
              <a:ext cx="822960" cy="122824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60" name="Group 160"/>
          <p:cNvGrpSpPr/>
          <p:nvPr/>
        </p:nvGrpSpPr>
        <p:grpSpPr>
          <a:xfrm>
            <a:off x="4663440" y="5703615"/>
            <a:ext cx="822960" cy="63022"/>
            <a:chOff x="4663440" y="5703615"/>
            <a:chExt cx="822960" cy="63022"/>
          </a:xfrm>
        </p:grpSpPr>
        <p:cxnSp>
          <p:nvCxnSpPr>
            <p:cNvPr id="161" name="Connector 160"/>
            <p:cNvCxnSpPr/>
            <p:nvPr/>
          </p:nvCxnSpPr>
          <p:spPr>
            <a:xfrm>
              <a:off x="4663440" y="5703615"/>
              <a:ext cx="822960" cy="63022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62" name="Group 162"/>
          <p:cNvGrpSpPr/>
          <p:nvPr/>
        </p:nvGrpSpPr>
        <p:grpSpPr>
          <a:xfrm>
            <a:off x="5486400" y="5761577"/>
            <a:ext cx="822960" cy="5060"/>
            <a:chOff x="5486400" y="5761577"/>
            <a:chExt cx="822960" cy="5060"/>
          </a:xfrm>
        </p:grpSpPr>
        <p:cxnSp>
          <p:nvCxnSpPr>
            <p:cNvPr id="163" name="Connector 162"/>
            <p:cNvCxnSpPr/>
            <p:nvPr/>
          </p:nvCxnSpPr>
          <p:spPr>
            <a:xfrm flipV="1">
              <a:off x="5486400" y="5761577"/>
              <a:ext cx="822960" cy="5060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64" name="Group 164"/>
          <p:cNvGrpSpPr/>
          <p:nvPr/>
        </p:nvGrpSpPr>
        <p:grpSpPr>
          <a:xfrm>
            <a:off x="6309360" y="5619433"/>
            <a:ext cx="822960" cy="142144"/>
            <a:chOff x="6309360" y="5619433"/>
            <a:chExt cx="822960" cy="142144"/>
          </a:xfrm>
        </p:grpSpPr>
        <p:cxnSp>
          <p:nvCxnSpPr>
            <p:cNvPr id="165" name="Connector 164"/>
            <p:cNvCxnSpPr/>
            <p:nvPr/>
          </p:nvCxnSpPr>
          <p:spPr>
            <a:xfrm flipV="1">
              <a:off x="6309360" y="5619433"/>
              <a:ext cx="822960" cy="142144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66" name="Group 166"/>
          <p:cNvGrpSpPr/>
          <p:nvPr/>
        </p:nvGrpSpPr>
        <p:grpSpPr>
          <a:xfrm>
            <a:off x="7132320" y="5400466"/>
            <a:ext cx="822960" cy="218967"/>
            <a:chOff x="7132320" y="5400466"/>
            <a:chExt cx="822960" cy="218967"/>
          </a:xfrm>
        </p:grpSpPr>
        <p:cxnSp>
          <p:nvCxnSpPr>
            <p:cNvPr id="167" name="Connector 166"/>
            <p:cNvCxnSpPr/>
            <p:nvPr/>
          </p:nvCxnSpPr>
          <p:spPr>
            <a:xfrm flipV="1">
              <a:off x="7132320" y="5400466"/>
              <a:ext cx="822960" cy="218967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68" name="Group 168"/>
          <p:cNvGrpSpPr/>
          <p:nvPr/>
        </p:nvGrpSpPr>
        <p:grpSpPr>
          <a:xfrm>
            <a:off x="7955280" y="5095477"/>
            <a:ext cx="822960" cy="304989"/>
            <a:chOff x="7955280" y="5095477"/>
            <a:chExt cx="822960" cy="304989"/>
          </a:xfrm>
        </p:grpSpPr>
        <p:cxnSp>
          <p:nvCxnSpPr>
            <p:cNvPr id="169" name="Connector 168"/>
            <p:cNvCxnSpPr/>
            <p:nvPr/>
          </p:nvCxnSpPr>
          <p:spPr>
            <a:xfrm flipV="1">
              <a:off x="7955280" y="5095477"/>
              <a:ext cx="822960" cy="304989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70" name="Group 170"/>
          <p:cNvGrpSpPr/>
          <p:nvPr/>
        </p:nvGrpSpPr>
        <p:grpSpPr>
          <a:xfrm>
            <a:off x="8778240" y="4704926"/>
            <a:ext cx="822960" cy="390551"/>
            <a:chOff x="8778240" y="4704926"/>
            <a:chExt cx="822960" cy="390551"/>
          </a:xfrm>
        </p:grpSpPr>
        <p:cxnSp>
          <p:nvCxnSpPr>
            <p:cNvPr id="171" name="Connector 170"/>
            <p:cNvCxnSpPr/>
            <p:nvPr/>
          </p:nvCxnSpPr>
          <p:spPr>
            <a:xfrm flipV="1">
              <a:off x="8778240" y="4704926"/>
              <a:ext cx="822960" cy="390551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72" name="Group 172"/>
          <p:cNvGrpSpPr/>
          <p:nvPr/>
        </p:nvGrpSpPr>
        <p:grpSpPr>
          <a:xfrm>
            <a:off x="9601200" y="4263313"/>
            <a:ext cx="822960" cy="441613"/>
            <a:chOff x="9601200" y="4263313"/>
            <a:chExt cx="822960" cy="441613"/>
          </a:xfrm>
        </p:grpSpPr>
        <p:cxnSp>
          <p:nvCxnSpPr>
            <p:cNvPr id="173" name="Connector 172"/>
            <p:cNvCxnSpPr/>
            <p:nvPr/>
          </p:nvCxnSpPr>
          <p:spPr>
            <a:xfrm flipV="1">
              <a:off x="9601200" y="4263313"/>
              <a:ext cx="822960" cy="441613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74" name="Group 174"/>
          <p:cNvGrpSpPr/>
          <p:nvPr/>
        </p:nvGrpSpPr>
        <p:grpSpPr>
          <a:xfrm>
            <a:off x="10424160" y="3787659"/>
            <a:ext cx="822960" cy="475654"/>
            <a:chOff x="10424160" y="3787659"/>
            <a:chExt cx="822960" cy="475654"/>
          </a:xfrm>
        </p:grpSpPr>
        <p:cxnSp>
          <p:nvCxnSpPr>
            <p:cNvPr id="175" name="Connector 174"/>
            <p:cNvCxnSpPr/>
            <p:nvPr/>
          </p:nvCxnSpPr>
          <p:spPr>
            <a:xfrm flipV="1">
              <a:off x="10424160" y="3787659"/>
              <a:ext cx="822960" cy="475654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76" name="Group 176"/>
          <p:cNvGrpSpPr/>
          <p:nvPr/>
        </p:nvGrpSpPr>
        <p:grpSpPr>
          <a:xfrm>
            <a:off x="5417820" y="5698057"/>
            <a:ext cx="137160" cy="137160"/>
            <a:chOff x="5417820" y="5698057"/>
            <a:chExt cx="137160" cy="137160"/>
          </a:xfrm>
        </p:grpSpPr>
        <p:sp>
          <p:nvSpPr>
            <p:cNvPr id="177" name="Oval 176"/>
            <p:cNvSpPr/>
            <p:nvPr/>
          </p:nvSpPr>
          <p:spPr>
            <a:xfrm>
              <a:off x="5417820" y="5698057"/>
              <a:ext cx="137160" cy="137160"/>
            </a:xfrm>
            <a:prstGeom prst="ellipse">
              <a:avLst/>
            </a:prstGeom>
            <a:solidFill>
              <a:srgbClr val="298FC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8" name="Group 178"/>
          <p:cNvGrpSpPr/>
          <p:nvPr/>
        </p:nvGrpSpPr>
        <p:grpSpPr>
          <a:xfrm>
            <a:off x="6240780" y="5692997"/>
            <a:ext cx="137160" cy="137160"/>
            <a:chOff x="6240780" y="5692997"/>
            <a:chExt cx="137160" cy="137160"/>
          </a:xfrm>
        </p:grpSpPr>
        <p:sp>
          <p:nvSpPr>
            <p:cNvPr id="179" name="Oval 178"/>
            <p:cNvSpPr/>
            <p:nvPr/>
          </p:nvSpPr>
          <p:spPr>
            <a:xfrm>
              <a:off x="6240780" y="5692997"/>
              <a:ext cx="137160" cy="137160"/>
            </a:xfrm>
            <a:prstGeom prst="ellipse">
              <a:avLst/>
            </a:prstGeom>
            <a:solidFill>
              <a:srgbClr val="298FC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Group 180"/>
          <p:cNvGrpSpPr/>
          <p:nvPr/>
        </p:nvGrpSpPr>
        <p:grpSpPr>
          <a:xfrm>
            <a:off x="9532620" y="4636346"/>
            <a:ext cx="137160" cy="137160"/>
            <a:chOff x="9532620" y="4636346"/>
            <a:chExt cx="137160" cy="137160"/>
          </a:xfrm>
        </p:grpSpPr>
        <p:sp>
          <p:nvSpPr>
            <p:cNvPr id="181" name="Oval 180"/>
            <p:cNvSpPr/>
            <p:nvPr/>
          </p:nvSpPr>
          <p:spPr>
            <a:xfrm>
              <a:off x="9532620" y="4636346"/>
              <a:ext cx="137160" cy="137160"/>
            </a:xfrm>
            <a:prstGeom prst="ellipse">
              <a:avLst/>
            </a:prstGeom>
            <a:solidFill>
              <a:srgbClr val="298FC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2" name="Group 182"/>
          <p:cNvGrpSpPr/>
          <p:nvPr/>
        </p:nvGrpSpPr>
        <p:grpSpPr>
          <a:xfrm>
            <a:off x="3108960" y="5766637"/>
            <a:ext cx="2377440" cy="323267"/>
            <a:chOff x="3108960" y="5766637"/>
            <a:chExt cx="2377440" cy="323267"/>
          </a:xfrm>
        </p:grpSpPr>
        <p:cxnSp>
          <p:nvCxnSpPr>
            <p:cNvPr id="183" name="Connector 182"/>
            <p:cNvCxnSpPr/>
            <p:nvPr/>
          </p:nvCxnSpPr>
          <p:spPr>
            <a:xfrm flipH="1">
              <a:off x="4983480" y="5766637"/>
              <a:ext cx="502920" cy="158675"/>
            </a:xfrm>
            <a:prstGeom prst="line">
              <a:avLst/>
            </a:prstGeom>
            <a:ln w="12700">
              <a:solidFill>
                <a:srgbClr val="298FC2"/>
              </a:solidFill>
            </a:ln>
            <a:effectLst/>
          </p:spPr>
        </p:cxnSp>
        <p:sp>
          <p:nvSpPr>
            <p:cNvPr id="184" name="Rounded Rectangle 183"/>
            <p:cNvSpPr/>
            <p:nvPr/>
          </p:nvSpPr>
          <p:spPr>
            <a:xfrm>
              <a:off x="3108960" y="5852160"/>
              <a:ext cx="18745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TextBox 184"/>
            <p:cNvSpPr txBox="1"/>
            <p:nvPr/>
          </p:nvSpPr>
          <p:spPr>
            <a:xfrm>
              <a:off x="3108960" y="5852160"/>
              <a:ext cx="1874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Lowest −$2,180 · month 3</a:t>
              </a:r>
            </a:p>
          </p:txBody>
        </p:sp>
      </p:grpSp>
      <p:grpSp>
        <p:nvGrpSpPr>
          <p:cNvPr id="186" name="Group 186"/>
          <p:cNvGrpSpPr/>
          <p:nvPr/>
        </p:nvGrpSpPr>
        <p:grpSpPr>
          <a:xfrm>
            <a:off x="6309360" y="5687568"/>
            <a:ext cx="2651760" cy="237744"/>
            <a:chOff x="6309360" y="5687568"/>
            <a:chExt cx="2651760" cy="237744"/>
          </a:xfrm>
        </p:grpSpPr>
        <p:cxnSp>
          <p:nvCxnSpPr>
            <p:cNvPr id="187" name="Connector 186"/>
            <p:cNvCxnSpPr/>
            <p:nvPr/>
          </p:nvCxnSpPr>
          <p:spPr>
            <a:xfrm>
              <a:off x="6309360" y="5761577"/>
              <a:ext cx="594360" cy="17431"/>
            </a:xfrm>
            <a:prstGeom prst="line">
              <a:avLst/>
            </a:prstGeom>
            <a:ln w="12700">
              <a:solidFill>
                <a:srgbClr val="298FC2"/>
              </a:solidFill>
            </a:ln>
            <a:effectLst/>
          </p:spPr>
        </p:cxnSp>
        <p:sp>
          <p:nvSpPr>
            <p:cNvPr id="188" name="Rounded Rectangle 187"/>
            <p:cNvSpPr/>
            <p:nvPr/>
          </p:nvSpPr>
          <p:spPr>
            <a:xfrm>
              <a:off x="6903720" y="5687568"/>
              <a:ext cx="205740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6903720" y="5687568"/>
              <a:ext cx="205740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Monthly break-even · month 4</a:t>
              </a:r>
            </a:p>
          </p:txBody>
        </p:sp>
      </p:grpSp>
      <p:grpSp>
        <p:nvGrpSpPr>
          <p:cNvPr id="190" name="Group 190"/>
          <p:cNvGrpSpPr/>
          <p:nvPr/>
        </p:nvGrpSpPr>
        <p:grpSpPr>
          <a:xfrm>
            <a:off x="8183880" y="3877056"/>
            <a:ext cx="2121408" cy="827870"/>
            <a:chOff x="8183880" y="3877056"/>
            <a:chExt cx="2121408" cy="827870"/>
          </a:xfrm>
        </p:grpSpPr>
        <p:cxnSp>
          <p:nvCxnSpPr>
            <p:cNvPr id="191" name="Connector 190"/>
            <p:cNvCxnSpPr/>
            <p:nvPr/>
          </p:nvCxnSpPr>
          <p:spPr>
            <a:xfrm flipH="1" flipV="1">
              <a:off x="9244584" y="4114800"/>
              <a:ext cx="356616" cy="590126"/>
            </a:xfrm>
            <a:prstGeom prst="line">
              <a:avLst/>
            </a:prstGeom>
            <a:ln w="12700">
              <a:solidFill>
                <a:srgbClr val="298FC2"/>
              </a:solidFill>
            </a:ln>
            <a:effectLst/>
          </p:spPr>
        </p:cxnSp>
        <p:sp>
          <p:nvSpPr>
            <p:cNvPr id="192" name="Rounded Rectangle 191"/>
            <p:cNvSpPr/>
            <p:nvPr/>
          </p:nvSpPr>
          <p:spPr>
            <a:xfrm>
              <a:off x="8183880" y="3877056"/>
              <a:ext cx="2121408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TextBox 192"/>
            <p:cNvSpPr txBox="1"/>
            <p:nvPr/>
          </p:nvSpPr>
          <p:spPr>
            <a:xfrm>
              <a:off x="8183880" y="3877056"/>
              <a:ext cx="212140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All losses recovered · month 8</a:t>
              </a:r>
            </a:p>
          </p:txBody>
        </p:sp>
      </p:grpSp>
      <p:grpSp>
        <p:nvGrpSpPr>
          <p:cNvPr id="194" name="Group 194"/>
          <p:cNvGrpSpPr/>
          <p:nvPr/>
        </p:nvGrpSpPr>
        <p:grpSpPr>
          <a:xfrm>
            <a:off x="1371600" y="5285923"/>
            <a:ext cx="822960" cy="64402"/>
            <a:chOff x="1371600" y="5285923"/>
            <a:chExt cx="822960" cy="64402"/>
          </a:xfrm>
        </p:grpSpPr>
        <p:cxnSp>
          <p:nvCxnSpPr>
            <p:cNvPr id="195" name="Connector 194"/>
            <p:cNvCxnSpPr/>
            <p:nvPr/>
          </p:nvCxnSpPr>
          <p:spPr>
            <a:xfrm>
              <a:off x="1371600" y="5285923"/>
              <a:ext cx="822960" cy="64402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196" name="Group 196"/>
          <p:cNvGrpSpPr/>
          <p:nvPr/>
        </p:nvGrpSpPr>
        <p:grpSpPr>
          <a:xfrm>
            <a:off x="2194560" y="5350325"/>
            <a:ext cx="822960" cy="64402"/>
            <a:chOff x="2194560" y="5350325"/>
            <a:chExt cx="822960" cy="64402"/>
          </a:xfrm>
        </p:grpSpPr>
        <p:cxnSp>
          <p:nvCxnSpPr>
            <p:cNvPr id="197" name="Connector 196"/>
            <p:cNvCxnSpPr/>
            <p:nvPr/>
          </p:nvCxnSpPr>
          <p:spPr>
            <a:xfrm>
              <a:off x="2194560" y="5350325"/>
              <a:ext cx="822960" cy="64402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198" name="Group 198"/>
          <p:cNvGrpSpPr/>
          <p:nvPr/>
        </p:nvGrpSpPr>
        <p:grpSpPr>
          <a:xfrm>
            <a:off x="3017520" y="5414727"/>
            <a:ext cx="822960" cy="131563"/>
            <a:chOff x="3017520" y="5414727"/>
            <a:chExt cx="822960" cy="131563"/>
          </a:xfrm>
        </p:grpSpPr>
        <p:cxnSp>
          <p:nvCxnSpPr>
            <p:cNvPr id="199" name="Connector 198"/>
            <p:cNvCxnSpPr/>
            <p:nvPr/>
          </p:nvCxnSpPr>
          <p:spPr>
            <a:xfrm>
              <a:off x="3017520" y="5414727"/>
              <a:ext cx="822960" cy="131563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200" name="Group 200"/>
          <p:cNvGrpSpPr/>
          <p:nvPr/>
        </p:nvGrpSpPr>
        <p:grpSpPr>
          <a:xfrm>
            <a:off x="3840480" y="5546290"/>
            <a:ext cx="822960" cy="46462"/>
            <a:chOff x="3840480" y="5546290"/>
            <a:chExt cx="822960" cy="46462"/>
          </a:xfrm>
        </p:grpSpPr>
        <p:cxnSp>
          <p:nvCxnSpPr>
            <p:cNvPr id="201" name="Connector 200"/>
            <p:cNvCxnSpPr/>
            <p:nvPr/>
          </p:nvCxnSpPr>
          <p:spPr>
            <a:xfrm>
              <a:off x="3840480" y="5546290"/>
              <a:ext cx="822960" cy="46462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202" name="Group 202"/>
          <p:cNvGrpSpPr/>
          <p:nvPr/>
        </p:nvGrpSpPr>
        <p:grpSpPr>
          <a:xfrm>
            <a:off x="4663440" y="5519150"/>
            <a:ext cx="822960" cy="73602"/>
            <a:chOff x="4663440" y="5519150"/>
            <a:chExt cx="822960" cy="73602"/>
          </a:xfrm>
        </p:grpSpPr>
        <p:cxnSp>
          <p:nvCxnSpPr>
            <p:cNvPr id="203" name="Connector 202"/>
            <p:cNvCxnSpPr/>
            <p:nvPr/>
          </p:nvCxnSpPr>
          <p:spPr>
            <a:xfrm flipV="1">
              <a:off x="4663440" y="5519150"/>
              <a:ext cx="822960" cy="73602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204" name="Group 204"/>
          <p:cNvGrpSpPr/>
          <p:nvPr/>
        </p:nvGrpSpPr>
        <p:grpSpPr>
          <a:xfrm>
            <a:off x="5486400" y="5308463"/>
            <a:ext cx="822960" cy="210687"/>
            <a:chOff x="5486400" y="5308463"/>
            <a:chExt cx="822960" cy="210687"/>
          </a:xfrm>
        </p:grpSpPr>
        <p:cxnSp>
          <p:nvCxnSpPr>
            <p:cNvPr id="205" name="Connector 204"/>
            <p:cNvCxnSpPr/>
            <p:nvPr/>
          </p:nvCxnSpPr>
          <p:spPr>
            <a:xfrm flipV="1">
              <a:off x="5486400" y="5308463"/>
              <a:ext cx="822960" cy="210687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206" name="Group 206"/>
          <p:cNvGrpSpPr/>
          <p:nvPr/>
        </p:nvGrpSpPr>
        <p:grpSpPr>
          <a:xfrm>
            <a:off x="6309360" y="4824529"/>
            <a:ext cx="822960" cy="483934"/>
            <a:chOff x="6309360" y="4824529"/>
            <a:chExt cx="822960" cy="483934"/>
          </a:xfrm>
        </p:grpSpPr>
        <p:cxnSp>
          <p:nvCxnSpPr>
            <p:cNvPr id="207" name="Connector 206"/>
            <p:cNvCxnSpPr/>
            <p:nvPr/>
          </p:nvCxnSpPr>
          <p:spPr>
            <a:xfrm flipV="1">
              <a:off x="6309360" y="4824529"/>
              <a:ext cx="822960" cy="483934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208" name="Group 208"/>
          <p:cNvGrpSpPr/>
          <p:nvPr/>
        </p:nvGrpSpPr>
        <p:grpSpPr>
          <a:xfrm>
            <a:off x="7132320" y="4143709"/>
            <a:ext cx="822960" cy="680820"/>
            <a:chOff x="7132320" y="4143709"/>
            <a:chExt cx="822960" cy="680820"/>
          </a:xfrm>
        </p:grpSpPr>
        <p:cxnSp>
          <p:nvCxnSpPr>
            <p:cNvPr id="209" name="Connector 208"/>
            <p:cNvCxnSpPr/>
            <p:nvPr/>
          </p:nvCxnSpPr>
          <p:spPr>
            <a:xfrm flipV="1">
              <a:off x="7132320" y="4143709"/>
              <a:ext cx="822960" cy="680820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210" name="Group 210"/>
          <p:cNvGrpSpPr/>
          <p:nvPr/>
        </p:nvGrpSpPr>
        <p:grpSpPr>
          <a:xfrm>
            <a:off x="7955280" y="3291764"/>
            <a:ext cx="822960" cy="851945"/>
            <a:chOff x="7955280" y="3291764"/>
            <a:chExt cx="822960" cy="851945"/>
          </a:xfrm>
        </p:grpSpPr>
        <p:cxnSp>
          <p:nvCxnSpPr>
            <p:cNvPr id="211" name="Connector 210"/>
            <p:cNvCxnSpPr/>
            <p:nvPr/>
          </p:nvCxnSpPr>
          <p:spPr>
            <a:xfrm flipV="1">
              <a:off x="7955280" y="3291764"/>
              <a:ext cx="822960" cy="851945"/>
            </a:xfrm>
            <a:prstGeom prst="line">
              <a:avLst/>
            </a:prstGeom>
            <a:ln w="27940" cap="rnd">
              <a:solidFill>
                <a:srgbClr val="101820"/>
              </a:solidFill>
            </a:ln>
            <a:effectLst/>
          </p:spPr>
        </p:cxnSp>
      </p:grpSp>
      <p:grpSp>
        <p:nvGrpSpPr>
          <p:cNvPr id="212" name="Group 212"/>
          <p:cNvGrpSpPr/>
          <p:nvPr/>
        </p:nvGrpSpPr>
        <p:grpSpPr>
          <a:xfrm>
            <a:off x="5417820" y="5450570"/>
            <a:ext cx="137160" cy="137160"/>
            <a:chOff x="5417820" y="5450570"/>
            <a:chExt cx="137160" cy="137160"/>
          </a:xfrm>
        </p:grpSpPr>
        <p:sp>
          <p:nvSpPr>
            <p:cNvPr id="213" name="Oval 212"/>
            <p:cNvSpPr/>
            <p:nvPr/>
          </p:nvSpPr>
          <p:spPr>
            <a:xfrm>
              <a:off x="5417820" y="5450570"/>
              <a:ext cx="137160" cy="137160"/>
            </a:xfrm>
            <a:prstGeom prst="ellipse">
              <a:avLst/>
            </a:prstGeom>
            <a:solidFill>
              <a:srgbClr val="10182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4" name="Group 214"/>
          <p:cNvGrpSpPr/>
          <p:nvPr/>
        </p:nvGrpSpPr>
        <p:grpSpPr>
          <a:xfrm>
            <a:off x="7886700" y="4075129"/>
            <a:ext cx="137160" cy="137160"/>
            <a:chOff x="7886700" y="4075129"/>
            <a:chExt cx="137160" cy="137160"/>
          </a:xfrm>
        </p:grpSpPr>
        <p:sp>
          <p:nvSpPr>
            <p:cNvPr id="215" name="Oval 214"/>
            <p:cNvSpPr/>
            <p:nvPr/>
          </p:nvSpPr>
          <p:spPr>
            <a:xfrm>
              <a:off x="7886700" y="4075129"/>
              <a:ext cx="137160" cy="137160"/>
            </a:xfrm>
            <a:prstGeom prst="ellipse">
              <a:avLst/>
            </a:prstGeom>
            <a:solidFill>
              <a:srgbClr val="10182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6" name="Group 216"/>
          <p:cNvGrpSpPr/>
          <p:nvPr/>
        </p:nvGrpSpPr>
        <p:grpSpPr>
          <a:xfrm>
            <a:off x="3749040" y="4919472"/>
            <a:ext cx="1847088" cy="599678"/>
            <a:chOff x="3749040" y="4919472"/>
            <a:chExt cx="1847088" cy="599678"/>
          </a:xfrm>
        </p:grpSpPr>
        <p:cxnSp>
          <p:nvCxnSpPr>
            <p:cNvPr id="217" name="Connector 216"/>
            <p:cNvCxnSpPr/>
            <p:nvPr/>
          </p:nvCxnSpPr>
          <p:spPr>
            <a:xfrm flipH="1" flipV="1">
              <a:off x="4892040" y="5157216"/>
              <a:ext cx="594360" cy="361934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218" name="Rounded Rectangle 217"/>
            <p:cNvSpPr/>
            <p:nvPr/>
          </p:nvSpPr>
          <p:spPr>
            <a:xfrm>
              <a:off x="3749040" y="4919472"/>
              <a:ext cx="1847088" cy="237744"/>
            </a:xfrm>
            <a:prstGeom prst="roundRect">
              <a:avLst>
                <a:gd name="adj" fmla="val 5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3749040" y="4919472"/>
              <a:ext cx="1847088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Fast break-even · month 3</a:t>
              </a:r>
            </a:p>
          </p:txBody>
        </p:sp>
      </p:grpSp>
      <p:grpSp>
        <p:nvGrpSpPr>
          <p:cNvPr id="220" name="Group 220"/>
          <p:cNvGrpSpPr/>
          <p:nvPr/>
        </p:nvGrpSpPr>
        <p:grpSpPr>
          <a:xfrm>
            <a:off x="5669280" y="3529584"/>
            <a:ext cx="2286000" cy="614125"/>
            <a:chOff x="5669280" y="3529584"/>
            <a:chExt cx="2286000" cy="614125"/>
          </a:xfrm>
        </p:grpSpPr>
        <p:cxnSp>
          <p:nvCxnSpPr>
            <p:cNvPr id="221" name="Connector 220"/>
            <p:cNvCxnSpPr/>
            <p:nvPr/>
          </p:nvCxnSpPr>
          <p:spPr>
            <a:xfrm flipH="1" flipV="1">
              <a:off x="7360920" y="3648456"/>
              <a:ext cx="594360" cy="495253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222" name="Rounded Rectangle 221"/>
            <p:cNvSpPr/>
            <p:nvPr/>
          </p:nvSpPr>
          <p:spPr>
            <a:xfrm>
              <a:off x="5669280" y="3529584"/>
              <a:ext cx="1691640" cy="237744"/>
            </a:xfrm>
            <a:prstGeom prst="roundRect">
              <a:avLst>
                <a:gd name="adj" fmla="val 5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5669280" y="3529584"/>
              <a:ext cx="169164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Fast payback · month 6</a:t>
              </a:r>
            </a:p>
          </p:txBody>
        </p:sp>
      </p:grpSp>
      <p:grpSp>
        <p:nvGrpSpPr>
          <p:cNvPr id="224" name="Group 224"/>
          <p:cNvGrpSpPr/>
          <p:nvPr/>
        </p:nvGrpSpPr>
        <p:grpSpPr>
          <a:xfrm>
            <a:off x="8695944" y="3035732"/>
            <a:ext cx="1307592" cy="201168"/>
            <a:chOff x="8695944" y="3035732"/>
            <a:chExt cx="1307592" cy="201168"/>
          </a:xfrm>
        </p:grpSpPr>
        <p:sp>
          <p:nvSpPr>
            <p:cNvPr id="225" name="Isosceles Triangle 224"/>
            <p:cNvSpPr/>
            <p:nvPr/>
          </p:nvSpPr>
          <p:spPr>
            <a:xfrm>
              <a:off x="8695944" y="3035732"/>
              <a:ext cx="164592" cy="182880"/>
            </a:xfrm>
            <a:prstGeom prst="triangle">
              <a:avLst/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" name="TextBox 225"/>
            <p:cNvSpPr txBox="1"/>
            <p:nvPr/>
          </p:nvSpPr>
          <p:spPr>
            <a:xfrm>
              <a:off x="8906256" y="3035732"/>
              <a:ext cx="109728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keeps rising</a:t>
              </a:r>
            </a:p>
          </p:txBody>
        </p:sp>
      </p:grpSp>
      <p:grpSp>
        <p:nvGrpSpPr>
          <p:cNvPr id="227" name="Group 22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" name="Freeform 1"/>
            <p:cNvSpPr/>
            <p:nvPr/>
          </p:nvSpPr>
          <p:spPr>
            <a:xfrm>
              <a:off x="1371600" y="5285923"/>
              <a:ext cx="9875520" cy="742002"/>
            </a:xfrm>
            <a:custGeom>
              <a:avLst/>
              <a:gdLst/>
              <a:ahLst/>
              <a:cxnLst/>
              <a:rect l="l" t="t" r="r" b="b"/>
              <a:pathLst>
                <a:path w="9875520" h="742002">
                  <a:moveTo>
                    <a:pt x="0" y="0"/>
                  </a:moveTo>
                  <a:lnTo>
                    <a:pt x="822960" y="64402"/>
                  </a:lnTo>
                  <a:lnTo>
                    <a:pt x="1645920" y="128804"/>
                  </a:lnTo>
                  <a:lnTo>
                    <a:pt x="2468880" y="311889"/>
                  </a:lnTo>
                  <a:lnTo>
                    <a:pt x="3291840" y="472434"/>
                  </a:lnTo>
                  <a:lnTo>
                    <a:pt x="4114800" y="603997"/>
                  </a:lnTo>
                  <a:lnTo>
                    <a:pt x="4937760" y="701520"/>
                  </a:lnTo>
                  <a:lnTo>
                    <a:pt x="5760720" y="730501"/>
                  </a:lnTo>
                  <a:lnTo>
                    <a:pt x="6583680" y="742002"/>
                  </a:lnTo>
                  <a:lnTo>
                    <a:pt x="7406640" y="710721"/>
                  </a:lnTo>
                  <a:lnTo>
                    <a:pt x="8229600" y="636658"/>
                  </a:lnTo>
                  <a:lnTo>
                    <a:pt x="9052560" y="536836"/>
                  </a:lnTo>
                  <a:lnTo>
                    <a:pt x="9875520" y="437013"/>
                  </a:lnTo>
                </a:path>
              </a:pathLst>
            </a:custGeom>
            <a:noFill/>
            <a:ln w="19050">
              <a:solidFill>
                <a:srgbClr val="A9B1B9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8" name="Group 228"/>
          <p:cNvGrpSpPr/>
          <p:nvPr/>
        </p:nvGrpSpPr>
        <p:grpSpPr>
          <a:xfrm>
            <a:off x="8641080" y="5175504"/>
            <a:ext cx="2514600" cy="885148"/>
            <a:chOff x="8641080" y="5175504"/>
            <a:chExt cx="2514600" cy="885148"/>
          </a:xfrm>
        </p:grpSpPr>
        <p:sp>
          <p:nvSpPr>
            <p:cNvPr id="229" name="Oval 228"/>
            <p:cNvSpPr/>
            <p:nvPr/>
          </p:nvSpPr>
          <p:spPr>
            <a:xfrm>
              <a:off x="8714232" y="5932636"/>
              <a:ext cx="128016" cy="128016"/>
            </a:xfrm>
            <a:prstGeom prst="ellipse">
              <a:avLst/>
            </a:prstGeom>
            <a:solidFill>
              <a:srgbClr val="5A667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0" name="Connector 229"/>
            <p:cNvCxnSpPr/>
            <p:nvPr/>
          </p:nvCxnSpPr>
          <p:spPr>
            <a:xfrm flipV="1">
              <a:off x="8778240" y="5468112"/>
              <a:ext cx="777240" cy="528532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231" name="Rounded Rectangle 230"/>
            <p:cNvSpPr/>
            <p:nvPr/>
          </p:nvSpPr>
          <p:spPr>
            <a:xfrm>
              <a:off x="8641080" y="5175504"/>
              <a:ext cx="2514600" cy="292608"/>
            </a:xfrm>
            <a:prstGeom prst="roundRect">
              <a:avLst>
                <a:gd name="adj" fmla="val 4375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TextBox 231"/>
            <p:cNvSpPr txBox="1"/>
            <p:nvPr/>
          </p:nvSpPr>
          <p:spPr>
            <a:xfrm>
              <a:off x="8641080" y="5175504"/>
              <a:ext cx="2514600" cy="29260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noAutofit/>
            </a:bodyPr>
            <a:lstStyle/>
            <a:p>
              <a:pPr algn="ctr"/>
              <a:r>
                <a:rPr sz="1000" b="1" lang="en-US">
                  <a:solidFill>
                    <a:srgbClr val="5A6672"/>
                  </a:solidFill>
                  <a:latin typeface="Inter"/>
                  <a:cs typeface="Inter"/>
                </a:rPr>
                <a:t>Slow case: profitable from month 7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8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8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41"/>
                            </p:stCondLst>
                            <p:childTnLst>
                              <p:par>
                                <p:cTn id="4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2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2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2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22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2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2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2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2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2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41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8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8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8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21"/>
                            </p:stCondLst>
                            <p:childTnLst>
                              <p:par>
                                <p:cTn id="9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22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22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22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22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22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22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81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881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28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28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Funding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What $5,480 makes possible.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Registration: official KRI fee schedule · USD at the CBI rate of 1,500 IQD.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722376" y="2340864"/>
            <a:ext cx="7452360" cy="3255264"/>
            <a:chOff x="722376" y="2340864"/>
            <a:chExt cx="7452360" cy="3255264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2340864"/>
              <a:ext cx="7452360" cy="3255264"/>
            </a:xfrm>
            <a:prstGeom prst="roundRect">
              <a:avLst>
                <a:gd name="adj" fmla="val 39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60120" y="2468880"/>
              <a:ext cx="228600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700" b="1" lang="en-US">
                  <a:solidFill>
                    <a:srgbClr val="298FC2"/>
                  </a:solidFill>
                  <a:latin typeface="Comfortaa"/>
                  <a:cs typeface="Comfortaa"/>
                </a:rPr>
                <a:t>$5,480 total ask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246120" y="2468880"/>
              <a:ext cx="466344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200" b="1" lang="en-US">
                  <a:solidFill>
                    <a:srgbClr val="5A6672"/>
                  </a:solidFill>
                  <a:latin typeface="Inter"/>
                  <a:cs typeface="Inter"/>
                </a:rPr>
                <a:t>When each dollar is spent (M0 → M6)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3520440" y="2852928"/>
              <a:ext cx="0" cy="2587752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09" name="TextBox 108"/>
            <p:cNvSpPr txBox="1"/>
            <p:nvPr/>
          </p:nvSpPr>
          <p:spPr>
            <a:xfrm>
              <a:off x="3291840" y="5376672"/>
              <a:ext cx="45720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M0</a:t>
              </a:r>
            </a:p>
          </p:txBody>
        </p:sp>
        <p:cxnSp>
          <p:nvCxnSpPr>
            <p:cNvPr id="110" name="Connector 109"/>
            <p:cNvCxnSpPr/>
            <p:nvPr/>
          </p:nvCxnSpPr>
          <p:spPr>
            <a:xfrm>
              <a:off x="4251960" y="2852928"/>
              <a:ext cx="0" cy="2587752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11" name="TextBox 110"/>
            <p:cNvSpPr txBox="1"/>
            <p:nvPr/>
          </p:nvSpPr>
          <p:spPr>
            <a:xfrm>
              <a:off x="4023360" y="5376672"/>
              <a:ext cx="45720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M1</a:t>
              </a:r>
            </a:p>
          </p:txBody>
        </p:sp>
        <p:cxnSp>
          <p:nvCxnSpPr>
            <p:cNvPr id="112" name="Connector 111"/>
            <p:cNvCxnSpPr/>
            <p:nvPr/>
          </p:nvCxnSpPr>
          <p:spPr>
            <a:xfrm>
              <a:off x="4983480" y="2852928"/>
              <a:ext cx="0" cy="2587752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13" name="TextBox 112"/>
            <p:cNvSpPr txBox="1"/>
            <p:nvPr/>
          </p:nvSpPr>
          <p:spPr>
            <a:xfrm>
              <a:off x="4754880" y="5376672"/>
              <a:ext cx="45720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M2</a:t>
              </a:r>
            </a:p>
          </p:txBody>
        </p:sp>
        <p:cxnSp>
          <p:nvCxnSpPr>
            <p:cNvPr id="114" name="Connector 113"/>
            <p:cNvCxnSpPr/>
            <p:nvPr/>
          </p:nvCxnSpPr>
          <p:spPr>
            <a:xfrm>
              <a:off x="5715000" y="2852928"/>
              <a:ext cx="0" cy="2587752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15" name="TextBox 114"/>
            <p:cNvSpPr txBox="1"/>
            <p:nvPr/>
          </p:nvSpPr>
          <p:spPr>
            <a:xfrm>
              <a:off x="5486400" y="5376672"/>
              <a:ext cx="45720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M3</a:t>
              </a:r>
            </a:p>
          </p:txBody>
        </p:sp>
        <p:cxnSp>
          <p:nvCxnSpPr>
            <p:cNvPr id="116" name="Connector 115"/>
            <p:cNvCxnSpPr/>
            <p:nvPr/>
          </p:nvCxnSpPr>
          <p:spPr>
            <a:xfrm>
              <a:off x="6446520" y="2852928"/>
              <a:ext cx="0" cy="2587752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17" name="TextBox 116"/>
            <p:cNvSpPr txBox="1"/>
            <p:nvPr/>
          </p:nvSpPr>
          <p:spPr>
            <a:xfrm>
              <a:off x="6217920" y="5376672"/>
              <a:ext cx="45720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M4</a:t>
              </a:r>
            </a:p>
          </p:txBody>
        </p:sp>
        <p:cxnSp>
          <p:nvCxnSpPr>
            <p:cNvPr id="118" name="Connector 117"/>
            <p:cNvCxnSpPr/>
            <p:nvPr/>
          </p:nvCxnSpPr>
          <p:spPr>
            <a:xfrm>
              <a:off x="7178040" y="2852928"/>
              <a:ext cx="0" cy="2587752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19" name="TextBox 118"/>
            <p:cNvSpPr txBox="1"/>
            <p:nvPr/>
          </p:nvSpPr>
          <p:spPr>
            <a:xfrm>
              <a:off x="6949440" y="5376672"/>
              <a:ext cx="45720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M5</a:t>
              </a:r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7909560" y="2852928"/>
              <a:ext cx="0" cy="2587752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21" name="TextBox 120"/>
            <p:cNvSpPr txBox="1"/>
            <p:nvPr/>
          </p:nvSpPr>
          <p:spPr>
            <a:xfrm>
              <a:off x="7680960" y="5376672"/>
              <a:ext cx="45720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50" b="1" lang="en-US">
                  <a:solidFill>
                    <a:srgbClr val="5A6672"/>
                  </a:solidFill>
                  <a:latin typeface="Inter"/>
                  <a:cs typeface="Inter"/>
                </a:rPr>
                <a:t>M6</a:t>
              </a:r>
            </a:p>
          </p:txBody>
        </p:sp>
      </p:grpSp>
      <p:grpSp>
        <p:nvGrpSpPr>
          <p:cNvPr id="122" name="Group 122"/>
          <p:cNvGrpSpPr/>
          <p:nvPr/>
        </p:nvGrpSpPr>
        <p:grpSpPr>
          <a:xfrm>
            <a:off x="932688" y="2916936"/>
            <a:ext cx="3209544" cy="393192"/>
            <a:chOff x="932688" y="2916936"/>
            <a:chExt cx="3209544" cy="393192"/>
          </a:xfrm>
        </p:grpSpPr>
        <p:sp>
          <p:nvSpPr>
            <p:cNvPr id="123" name="TextBox 122"/>
            <p:cNvSpPr txBox="1"/>
            <p:nvPr/>
          </p:nvSpPr>
          <p:spPr>
            <a:xfrm>
              <a:off x="932688" y="2916936"/>
              <a:ext cx="1783080" cy="20116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Pilot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932688" y="3127248"/>
              <a:ext cx="1783080" cy="18288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15–20 hand-run orders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2697480" y="2944368"/>
              <a:ext cx="713232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Comfortaa"/>
                  <a:cs typeface="Comfortaa"/>
                </a:rPr>
                <a:t>$100</a:t>
              </a:r>
            </a:p>
          </p:txBody>
        </p:sp>
        <p:sp>
          <p:nvSpPr>
            <p:cNvPr id="126" name="Rounded Rectangle 125"/>
            <p:cNvSpPr/>
            <p:nvPr/>
          </p:nvSpPr>
          <p:spPr>
            <a:xfrm>
              <a:off x="3520440" y="2962656"/>
              <a:ext cx="621792" cy="292608"/>
            </a:xfrm>
            <a:prstGeom prst="roundRect">
              <a:avLst>
                <a:gd name="adj" fmla="val 25000"/>
              </a:avLst>
            </a:prstGeom>
            <a:solidFill>
              <a:srgbClr val="FFA3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3520440" y="2962656"/>
              <a:ext cx="621792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$100</a:t>
              </a:r>
            </a:p>
          </p:txBody>
        </p:sp>
      </p:grpSp>
      <p:grpSp>
        <p:nvGrpSpPr>
          <p:cNvPr id="128" name="Group 128"/>
          <p:cNvGrpSpPr/>
          <p:nvPr/>
        </p:nvGrpSpPr>
        <p:grpSpPr>
          <a:xfrm>
            <a:off x="932688" y="3392424"/>
            <a:ext cx="3575304" cy="393192"/>
            <a:chOff x="932688" y="3392424"/>
            <a:chExt cx="3575304" cy="393192"/>
          </a:xfrm>
        </p:grpSpPr>
        <p:sp>
          <p:nvSpPr>
            <p:cNvPr id="129" name="TextBox 128"/>
            <p:cNvSpPr txBox="1"/>
            <p:nvPr/>
          </p:nvSpPr>
          <p:spPr>
            <a:xfrm>
              <a:off x="932688" y="3392424"/>
              <a:ext cx="1783080" cy="20116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Register the company</a:t>
              </a:r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932688" y="3602736"/>
              <a:ext cx="1783080" cy="18288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Official KRI &amp; Chamber fees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2697480" y="3419856"/>
              <a:ext cx="713232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Comfortaa"/>
                  <a:cs typeface="Comfortaa"/>
                </a:rPr>
                <a:t>$1,000</a:t>
              </a:r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3703320" y="3438144"/>
              <a:ext cx="804672" cy="292608"/>
            </a:xfrm>
            <a:prstGeom prst="roundRect">
              <a:avLst>
                <a:gd name="adj" fmla="val 25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3703320" y="3438144"/>
              <a:ext cx="804672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$1,000</a:t>
              </a:r>
            </a:p>
          </p:txBody>
        </p:sp>
      </p:grpSp>
      <p:grpSp>
        <p:nvGrpSpPr>
          <p:cNvPr id="134" name="Group 134"/>
          <p:cNvGrpSpPr/>
          <p:nvPr/>
        </p:nvGrpSpPr>
        <p:grpSpPr>
          <a:xfrm>
            <a:off x="932688" y="3867912"/>
            <a:ext cx="4416552" cy="393192"/>
            <a:chOff x="932688" y="3867912"/>
            <a:chExt cx="4416552" cy="393192"/>
          </a:xfrm>
        </p:grpSpPr>
        <p:sp>
          <p:nvSpPr>
            <p:cNvPr id="135" name="TextBox 134"/>
            <p:cNvSpPr txBox="1"/>
            <p:nvPr/>
          </p:nvSpPr>
          <p:spPr>
            <a:xfrm>
              <a:off x="932688" y="3867912"/>
              <a:ext cx="1783080" cy="20116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Launch 20 stores</a:t>
              </a:r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932688" y="4078224"/>
              <a:ext cx="1783080" cy="18288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Kits $710 + 0% M1 $130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2697480" y="3895344"/>
              <a:ext cx="713232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Comfortaa"/>
                  <a:cs typeface="Comfortaa"/>
                </a:rPr>
                <a:t>$840</a:t>
              </a:r>
            </a:p>
          </p:txBody>
        </p:sp>
        <p:sp>
          <p:nvSpPr>
            <p:cNvPr id="138" name="Rounded Rectangle 137"/>
            <p:cNvSpPr/>
            <p:nvPr/>
          </p:nvSpPr>
          <p:spPr>
            <a:xfrm>
              <a:off x="4251960" y="3913632"/>
              <a:ext cx="1097280" cy="292608"/>
            </a:xfrm>
            <a:prstGeom prst="roundRect">
              <a:avLst>
                <a:gd name="adj" fmla="val 25000"/>
              </a:avLst>
            </a:prstGeom>
            <a:solidFill>
              <a:srgbClr val="94C7E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4251960" y="3913632"/>
              <a:ext cx="109728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101820"/>
                  </a:solidFill>
                  <a:latin typeface="Inter"/>
                  <a:cs typeface="Inter"/>
                </a:rPr>
                <a:t>$840</a:t>
              </a:r>
            </a:p>
          </p:txBody>
        </p:sp>
      </p:grpSp>
      <p:grpSp>
        <p:nvGrpSpPr>
          <p:cNvPr id="140" name="Group 140"/>
          <p:cNvGrpSpPr/>
          <p:nvPr/>
        </p:nvGrpSpPr>
        <p:grpSpPr>
          <a:xfrm>
            <a:off x="932688" y="4343400"/>
            <a:ext cx="6976872" cy="393192"/>
            <a:chOff x="932688" y="4343400"/>
            <a:chExt cx="6976872" cy="393192"/>
          </a:xfrm>
        </p:grpSpPr>
        <p:sp>
          <p:nvSpPr>
            <p:cNvPr id="141" name="TextBox 140"/>
            <p:cNvSpPr txBox="1"/>
            <p:nvPr/>
          </p:nvSpPr>
          <p:spPr>
            <a:xfrm>
              <a:off x="932688" y="4343400"/>
              <a:ext cx="1783080" cy="20116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Runway to break-even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932688" y="4553712"/>
              <a:ext cx="1783080" cy="18288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Slow-case loss cap (M1–M6)</a:t>
              </a:r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2697480" y="4370832"/>
              <a:ext cx="713232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Comfortaa"/>
                  <a:cs typeface="Comfortaa"/>
                </a:rPr>
                <a:t>$1,340</a:t>
              </a:r>
            </a:p>
          </p:txBody>
        </p:sp>
        <p:sp>
          <p:nvSpPr>
            <p:cNvPr id="144" name="Rounded Rectangle 143"/>
            <p:cNvSpPr/>
            <p:nvPr/>
          </p:nvSpPr>
          <p:spPr>
            <a:xfrm>
              <a:off x="4251960" y="4389120"/>
              <a:ext cx="3657600" cy="292608"/>
            </a:xfrm>
            <a:prstGeom prst="roundRect">
              <a:avLst>
                <a:gd name="adj" fmla="val 25000"/>
              </a:avLst>
            </a:prstGeom>
            <a:solidFill>
              <a:srgbClr val="5A667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4251960" y="4389120"/>
              <a:ext cx="365760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$1,340</a:t>
              </a:r>
            </a:p>
          </p:txBody>
        </p:sp>
      </p:grpSp>
      <p:grpSp>
        <p:nvGrpSpPr>
          <p:cNvPr id="146" name="Group 146"/>
          <p:cNvGrpSpPr/>
          <p:nvPr/>
        </p:nvGrpSpPr>
        <p:grpSpPr>
          <a:xfrm>
            <a:off x="932688" y="4818888"/>
            <a:ext cx="6976872" cy="393192"/>
            <a:chOff x="932688" y="4818888"/>
            <a:chExt cx="6976872" cy="393192"/>
          </a:xfrm>
        </p:grpSpPr>
        <p:sp>
          <p:nvSpPr>
            <p:cNvPr id="147" name="TextBox 146"/>
            <p:cNvSpPr txBox="1"/>
            <p:nvPr/>
          </p:nvSpPr>
          <p:spPr>
            <a:xfrm>
              <a:off x="932688" y="4818888"/>
              <a:ext cx="1783080" cy="20116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1250" b="1" lang="en-US">
                  <a:solidFill>
                    <a:srgbClr val="101820"/>
                  </a:solidFill>
                  <a:latin typeface="Inter"/>
                  <a:cs typeface="Inter"/>
                </a:rPr>
                <a:t>Growth push</a:t>
              </a:r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932688" y="5029200"/>
              <a:ext cx="1783080" cy="18288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Ads &amp; campus ($550/mo)</a:t>
              </a:r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2697480" y="4846320"/>
              <a:ext cx="713232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Comfortaa"/>
                  <a:cs typeface="Comfortaa"/>
                </a:rPr>
                <a:t>$2,200</a:t>
              </a:r>
            </a:p>
          </p:txBody>
        </p:sp>
        <p:sp>
          <p:nvSpPr>
            <p:cNvPr id="150" name="Rounded Rectangle 149"/>
            <p:cNvSpPr/>
            <p:nvPr/>
          </p:nvSpPr>
          <p:spPr>
            <a:xfrm>
              <a:off x="5568696" y="4864608"/>
              <a:ext cx="2340864" cy="292608"/>
            </a:xfrm>
            <a:prstGeom prst="roundRect">
              <a:avLst>
                <a:gd name="adj" fmla="val 25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5568696" y="4864608"/>
              <a:ext cx="2340864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50" b="1" lang="en-US">
                  <a:solidFill>
                    <a:srgbClr val="FFFFFF"/>
                  </a:solidFill>
                  <a:latin typeface="Inter"/>
                  <a:cs typeface="Inter"/>
                </a:rPr>
                <a:t>$2,200</a:t>
              </a:r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8366760" y="2340864"/>
            <a:ext cx="3099816" cy="3255264"/>
            <a:chOff x="8366760" y="2340864"/>
            <a:chExt cx="3099816" cy="3255264"/>
          </a:xfrm>
        </p:grpSpPr>
        <p:sp>
          <p:nvSpPr>
            <p:cNvPr id="153" name="Rounded Rectangle 152"/>
            <p:cNvSpPr/>
            <p:nvPr/>
          </p:nvSpPr>
          <p:spPr>
            <a:xfrm>
              <a:off x="8366760" y="2340864"/>
              <a:ext cx="3099816" cy="3255264"/>
            </a:xfrm>
            <a:prstGeom prst="roundRect">
              <a:avLst>
                <a:gd name="adj" fmla="val 4129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8595360" y="2505456"/>
              <a:ext cx="2642616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Less? Still a plan.</a:t>
              </a:r>
            </a:p>
          </p:txBody>
        </p:sp>
        <p:sp>
          <p:nvSpPr>
            <p:cNvPr id="155" name="Rounded Rectangle 154"/>
            <p:cNvSpPr/>
            <p:nvPr/>
          </p:nvSpPr>
          <p:spPr>
            <a:xfrm>
              <a:off x="8549640" y="2962656"/>
              <a:ext cx="2734056" cy="109728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875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8705088" y="3054096"/>
              <a:ext cx="24231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298FC2"/>
                  </a:solidFill>
                  <a:latin typeface="Comfortaa"/>
                  <a:cs typeface="Comfortaa"/>
                </a:rPr>
                <a:t>$3,280</a:t>
              </a:r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8705088" y="3364992"/>
              <a:ext cx="24231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Launches + slow-case runway</a:t>
              </a:r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8705088" y="3621024"/>
              <a:ext cx="242316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Pilot + registration + 20 stores + full $1,340 slow-case runway</a:t>
              </a:r>
            </a:p>
          </p:txBody>
        </p:sp>
        <p:sp>
          <p:nvSpPr>
            <p:cNvPr id="159" name="Rounded Rectangle 158"/>
            <p:cNvSpPr/>
            <p:nvPr/>
          </p:nvSpPr>
          <p:spPr>
            <a:xfrm>
              <a:off x="8549640" y="4206240"/>
              <a:ext cx="2734056" cy="109728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875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8705088" y="4297680"/>
              <a:ext cx="24231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298FC2"/>
                  </a:solidFill>
                  <a:latin typeface="Comfortaa"/>
                  <a:cs typeface="Comfortaa"/>
                </a:rPr>
                <a:t>$2,710</a:t>
              </a:r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8705088" y="4608576"/>
              <a:ext cx="24231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Minimum self-funding launch</a:t>
              </a:r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8705088" y="4864608"/>
              <a:ext cx="242316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Pilot + registration + 20 stores + $770 planned-case runway</a:t>
              </a:r>
            </a:p>
          </p:txBody>
        </p:sp>
      </p:grpSp>
      <p:grpSp>
        <p:nvGrpSpPr>
          <p:cNvPr id="163" name="Group 163"/>
          <p:cNvGrpSpPr/>
          <p:nvPr/>
        </p:nvGrpSpPr>
        <p:grpSpPr>
          <a:xfrm>
            <a:off x="722376" y="5724144"/>
            <a:ext cx="10744200" cy="566928"/>
            <a:chOff x="722376" y="5724144"/>
            <a:chExt cx="10744200" cy="566928"/>
          </a:xfrm>
        </p:grpSpPr>
        <p:sp>
          <p:nvSpPr>
            <p:cNvPr id="164" name="Rounded Rectangle 163"/>
            <p:cNvSpPr/>
            <p:nvPr/>
          </p:nvSpPr>
          <p:spPr>
            <a:xfrm>
              <a:off x="722376" y="5724144"/>
              <a:ext cx="10744200" cy="566928"/>
            </a:xfrm>
            <a:prstGeom prst="roundRect">
              <a:avLst>
                <a:gd name="adj" fmla="val 19354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65" name="Picture 164" descr="code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0120" y="5870448"/>
              <a:ext cx="274320" cy="274320"/>
            </a:xfrm>
            <a:prstGeom prst="rect">
              <a:avLst/>
            </a:prstGeom>
          </p:spPr>
        </p:pic>
        <p:sp>
          <p:nvSpPr>
            <p:cNvPr id="166" name="TextBox 165"/>
            <p:cNvSpPr txBox="1"/>
            <p:nvPr/>
          </p:nvSpPr>
          <p:spPr>
            <a:xfrm>
              <a:off x="1353312" y="5724144"/>
              <a:ext cx="9875520" cy="56692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No salaries. No developers. I build the platform myself.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3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3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500" b="1" lang="en-US">
                <a:solidFill>
                  <a:srgbClr val="101820"/>
                </a:solidFill>
                <a:latin typeface="Comfortaa"/>
                <a:cs typeface="Comfortaa"/>
              </a:rPr>
              <a:t>Progressive fee schedule: lighter as prices rise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2331720"/>
            <a:ext cx="107442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 lang="en-US">
                <a:solidFill>
                  <a:srgbClr val="5A6672"/>
                </a:solidFill>
                <a:latin typeface="Inter"/>
                <a:cs typeface="Inter"/>
              </a:rPr>
              <a:t>5% on the first 10,000 IQD · 3% on 10,001–100,000 · 1.5% above 100,000 — marginal brackets so a higher price never pays a higher rate.</a:t>
            </a:r>
          </a:p>
        </p:txBody>
      </p:sp>
      <p:graphicFrame>
        <p:nvGraphicFramePr>
          <p:cNvPr id="104" name="Table 103"/>
          <p:cNvGraphicFramePr>
            <a:graphicFrameLocks noGrp="1"/>
          </p:cNvGraphicFramePr>
          <p:nvPr/>
        </p:nvGraphicFramePr>
        <p:xfrm>
          <a:off x="722376" y="2724912"/>
          <a:ext cx="10744200" cy="2962656"/>
        </p:xfrm>
        <a:graphic>
          <a:graphicData uri="http://schemas.openxmlformats.org/drawingml/2006/table">
            <a:tbl>
              <a:tblPr firstRow="0" bandRow="0"/>
              <a:tblGrid>
                <a:gridCol w="3248247"/>
                <a:gridCol w="2498651"/>
                <a:gridCol w="2498651"/>
                <a:gridCol w="249865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Item price (IQD)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Cheapify fee (IQD)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Merchant keeps (IQD)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Effective fee rate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4,750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5.0%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9,500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5.0%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25,000 (typical order)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24,050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3.8%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45,000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1,550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43,450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3.4%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100,000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3,200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96,800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3.2%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150,000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3,950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146,050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2.6%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350,000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6,950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343,050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2.0%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1,200,000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19,700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1,180,300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1.6%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pSp>
        <p:nvGrpSpPr>
          <p:cNvPr id="105" name="Group 105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06" name="Rounded Rectangle 105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On a typical 25,000 IQD order, the merchant keeps 96.2% (24,050 IQD) and Cheapify earns 950 IQD.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500" b="1" lang="en-US">
                <a:solidFill>
                  <a:srgbClr val="101820"/>
                </a:solidFill>
                <a:latin typeface="Comfortaa"/>
                <a:cs typeface="Comfortaa"/>
              </a:rPr>
              <a:t>Unit economics, payment methods &amp; sensitivity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331720"/>
          <a:ext cx="4983480" cy="3182112"/>
        </p:xfrm>
        <a:graphic>
          <a:graphicData uri="http://schemas.openxmlformats.org/drawingml/2006/table">
            <a:tbl>
              <a:tblPr firstRow="0" bandRow="0"/>
              <a:tblGrid>
                <a:gridCol w="3817134"/>
                <a:gridCol w="1166346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Per 25,000 IQD order (Duhok city, COD)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Platform fee (5% first 10k + 3% next 15k)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+950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Delivery margin (3,000 charged − 2,500 courier contract)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+500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WhatsApp alerts (−90) &amp; OTP login codes (−25)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−115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Returns (−20) &amp; failed-delivery re-attempts (−200)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−220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Kept per delivered order (COD base case)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+1,115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4" name="Table 103"/>
          <p:cNvGraphicFramePr>
            <a:graphicFrameLocks noGrp="1"/>
          </p:cNvGraphicFramePr>
          <p:nvPr/>
        </p:nvGraphicFramePr>
        <p:xfrm>
          <a:off x="5934456" y="2331720"/>
          <a:ext cx="5532119" cy="3182112"/>
        </p:xfrm>
        <a:graphic>
          <a:graphicData uri="http://schemas.openxmlformats.org/drawingml/2006/table">
            <a:tbl>
              <a:tblPr firstRow="0" bandRow="0"/>
              <a:tblGrid>
                <a:gridCol w="2437883"/>
                <a:gridCol w="937647"/>
                <a:gridCol w="1031412"/>
                <a:gridCol w="1125177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Payment method / sensitivity case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Gateway fee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Kept / order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Break-even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Cash on delivery (base case)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0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1,115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~585 / mo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SuperQi wallet (Qi 2026 promo; no door failure)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0 IQD (0%)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1,315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~496 / mo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FIB in-app QR (0.3% on 28k; no door failure)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~84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1,231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~530 / mo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Visa / Mastercard (≤1% CBI cap; no door failure)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≤280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1,035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~630 / mo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No courier contract signed (COD)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0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615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~1,060 / mo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105" name="Group 105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06" name="Rounded Rectangle 105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Pre-paid orders remove the 200 IQD failed-delivery cost, so SuperQi and FIB QR earn even more per order than COD.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500" b="1" lang="en-US">
                <a:solidFill>
                  <a:srgbClr val="101820"/>
                </a:solidFill>
                <a:latin typeface="Comfortaa"/>
                <a:cs typeface="Comfortaa"/>
              </a:rPr>
              <a:t>Three growth scenarios &amp; low-point composition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331720"/>
          <a:ext cx="10744200" cy="1463040"/>
        </p:xfrm>
        <a:graphic>
          <a:graphicData uri="http://schemas.openxmlformats.org/drawingml/2006/table">
            <a:tbl>
              <a:tblPr firstRow="0" bandRow="0"/>
              <a:tblGrid>
                <a:gridCol w="2686050"/>
                <a:gridCol w="1939925"/>
                <a:gridCol w="2089150"/>
                <a:gridCol w="1939925"/>
                <a:gridCol w="208915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Scenario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Orders at M6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Lowest cash point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Monthly break-even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All losses recovered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Fast (2× planned pace)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2,700 / month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−$1,800 (M2)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3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6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Planned (base case)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1,350 / month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−$2,180 (M3)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4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Month 8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Slow (half the planned pace)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675 / month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−$2,750 (M6)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7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~Month 20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4" name="Table 103"/>
          <p:cNvGraphicFramePr>
            <a:graphicFrameLocks noGrp="1"/>
          </p:cNvGraphicFramePr>
          <p:nvPr/>
        </p:nvGraphicFramePr>
        <p:xfrm>
          <a:off x="722376" y="3931920"/>
          <a:ext cx="10744200" cy="1737360"/>
        </p:xfrm>
        <a:graphic>
          <a:graphicData uri="http://schemas.openxmlformats.org/drawingml/2006/table">
            <a:tbl>
              <a:tblPr firstRow="0" bandRow="0"/>
              <a:tblGrid>
                <a:gridCol w="5145110"/>
                <a:gridCol w="1664594"/>
                <a:gridCol w="1513268"/>
                <a:gridCol w="2421228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Component of the −$2,180 (−3.27M IQD) planned low point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USD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Funded by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Startup costs (registration, 20 store kits, labels, app stores)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1,700,000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$1,133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Grant (lines 2 &amp; 3)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Two development months before launch (M-2, M-1)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420,000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$280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Founder (pre-award)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Operating losses M1–M3 (planned pace; slow case is $1,340)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1,147,625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$765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Grant (line 5 runway)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Total planned cash low point (Month 3)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3,267,625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$2,178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Each cost funded once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</a:tbl>
          </a:graphicData>
        </a:graphic>
      </p:graphicFrame>
      <p:grpSp>
        <p:nvGrpSpPr>
          <p:cNvPr id="105" name="Group 105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06" name="Rounded Rectangle 105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Even at half the planned order pace (Slow case), losses stay capped by our $435/mo burn and turn profitable in Month 7.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200" b="1" lang="en-US">
                <a:solidFill>
                  <a:srgbClr val="101820"/>
                </a:solidFill>
                <a:latin typeface="Comfortaa"/>
                <a:cs typeface="Comfortaa"/>
              </a:rPr>
              <a:t>Market validation survey: 199 responses (Sep–Oct 2026)</a:t>
            </a:r>
          </a:p>
        </p:txBody>
      </p:sp>
      <p:grpSp>
        <p:nvGrpSpPr>
          <p:cNvPr id="103" name="Group 103"/>
          <p:cNvGrpSpPr/>
          <p:nvPr/>
        </p:nvGrpSpPr>
        <p:grpSpPr>
          <a:xfrm>
            <a:off x="722376" y="2359152"/>
            <a:ext cx="10744200" cy="3346704"/>
            <a:chOff x="722376" y="2359152"/>
            <a:chExt cx="10744200" cy="3346704"/>
          </a:xfrm>
        </p:grpSpPr>
        <p:sp>
          <p:nvSpPr>
            <p:cNvPr id="104" name="Rounded Rectangle 103"/>
            <p:cNvSpPr/>
            <p:nvPr/>
          </p:nvSpPr>
          <p:spPr>
            <a:xfrm>
              <a:off x="722376" y="2359152"/>
              <a:ext cx="5230368" cy="3346704"/>
            </a:xfrm>
            <a:prstGeom prst="roundRect">
              <a:avLst>
                <a:gd name="adj" fmla="val 382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941832" y="2505456"/>
              <a:ext cx="4791456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298FC2"/>
                  </a:solidFill>
                  <a:latin typeface="Inter"/>
                  <a:cs typeface="Inter"/>
                </a:rPr>
                <a:t>Shoppers (n = 179)</a:t>
              </a:r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941832" y="2944368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41832" y="2944368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97%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2130552" y="2944368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notice price gaps on the exact same item (39% always see large gaps)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941832" y="3602736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941832" y="3602736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88%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2130552" y="3602736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would use a side-by-side comparison app (only 2% prefer DMs)</a:t>
              </a:r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941832" y="4261104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941832" y="4261104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Top pains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2130552" y="4261104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untrusted/duplicate pages 52% · found cheaper after buying 47% · DM price interrogation 46%</a:t>
              </a:r>
            </a:p>
          </p:txBody>
        </p:sp>
        <p:sp>
          <p:nvSpPr>
            <p:cNvPr id="115" name="Rounded Rectangle 114"/>
            <p:cNvSpPr/>
            <p:nvPr/>
          </p:nvSpPr>
          <p:spPr>
            <a:xfrm>
              <a:off x="941832" y="4919472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941832" y="4919472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~52 leads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2130552" y="4919472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actionable beta-waitlist contacts (38 phone numbers + 14 Instagram handles)</a:t>
              </a:r>
            </a:p>
          </p:txBody>
        </p:sp>
        <p:sp>
          <p:nvSpPr>
            <p:cNvPr id="118" name="Rounded Rectangle 117"/>
            <p:cNvSpPr/>
            <p:nvPr/>
          </p:nvSpPr>
          <p:spPr>
            <a:xfrm>
              <a:off x="6236208" y="2359152"/>
              <a:ext cx="5230368" cy="3346704"/>
            </a:xfrm>
            <a:prstGeom prst="roundRect">
              <a:avLst>
                <a:gd name="adj" fmla="val 382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6455664" y="2505456"/>
              <a:ext cx="4791456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298FC2"/>
                  </a:solidFill>
                  <a:latin typeface="Inter"/>
                  <a:cs typeface="Inter"/>
                </a:rPr>
                <a:t>Merchants (n = 20)</a:t>
              </a:r>
            </a:p>
          </p:txBody>
        </p:sp>
        <p:sp>
          <p:nvSpPr>
            <p:cNvPr id="120" name="Rounded Rectangle 119"/>
            <p:cNvSpPr/>
            <p:nvPr/>
          </p:nvSpPr>
          <p:spPr>
            <a:xfrm>
              <a:off x="6455664" y="2944368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6455664" y="2944368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85%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7644384" y="2944368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sell primarily on Instagram and Facebook</a:t>
              </a:r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6455664" y="3602736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6455664" y="3602736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75%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7644384" y="3602736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want to try Cheapify (15% maybe depending on commission · 10% no)</a:t>
              </a:r>
            </a:p>
          </p:txBody>
        </p:sp>
        <p:sp>
          <p:nvSpPr>
            <p:cNvPr id="126" name="Rounded Rectangle 125"/>
            <p:cNvSpPr/>
            <p:nvPr/>
          </p:nvSpPr>
          <p:spPr>
            <a:xfrm>
              <a:off x="6455664" y="4261104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6455664" y="4261104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Top pains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7644384" y="4261104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'price?' DMs 55% · random price undercutting 45% · own-app cost 35% · courier coordination 35%</a:t>
              </a:r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6455664" y="4919472"/>
              <a:ext cx="1078992" cy="402336"/>
            </a:xfrm>
            <a:prstGeom prst="roundRect">
              <a:avLst>
                <a:gd name="adj" fmla="val 18181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6455664" y="4919472"/>
              <a:ext cx="1078992" cy="40233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298FC2"/>
                  </a:solidFill>
                  <a:latin typeface="Inter"/>
                  <a:cs typeface="Inter"/>
                </a:rPr>
                <a:t>~8 leads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7644384" y="4919472"/>
              <a:ext cx="3602736" cy="49377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50" b="0" lang="en-US">
                  <a:solidFill>
                    <a:srgbClr val="101820"/>
                  </a:solidFill>
                  <a:latin typeface="Inter"/>
                  <a:cs typeface="Inter"/>
                </a:rPr>
                <a:t>validated pilot-store leads ready for in-person onboarding (target: 20 founding stores)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33" name="Rounded Rectangle 132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Limitations noted honestly: self-selected sample (168 AR / 21 EN / 10 KU) — the $100 hand-run pilot tests real buying.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500" b="1" lang="en-US">
                <a:solidFill>
                  <a:srgbClr val="101820"/>
                </a:solidFill>
                <a:latin typeface="Comfortaa"/>
                <a:cs typeface="Comfortaa"/>
              </a:rPr>
              <a:t>Six documented price-variation cases in our market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359152"/>
          <a:ext cx="10744200" cy="3200400"/>
        </p:xfrm>
        <a:graphic>
          <a:graphicData uri="http://schemas.openxmlformats.org/drawingml/2006/table">
            <a:tbl>
              <a:tblPr firstRow="0" bandRow="0"/>
              <a:tblGrid>
                <a:gridCol w="2984500"/>
                <a:gridCol w="1790700"/>
                <a:gridCol w="1910080"/>
                <a:gridCol w="1193800"/>
                <a:gridCol w="28651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Product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Lowest price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Highest price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Spread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Where captured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Anker 25K 165W power bank (flagship)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90,000 IQD (IG)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200,000 IQD (Miswag)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+122%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Instagram, iBazzar, Miswag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Hoco HX80 portable espresso maker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25,000 IQD (IG)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35,280 IQD (Miswag)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+41%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 vs Miswag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Newal VAC-3510 2000W vacuum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95,000 IQD (IG)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133,250 IQD (Miswag)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+40%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 vs Miswag ('−35%')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ASUS VA24EHF 24" monitor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135,000 IQD (Elryan)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163,350 IQD (Miswag)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+21%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Elryan vs Miswag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Xiaomi 165W 10,000 mAh power bank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60,000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70,000 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+17%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Inside the same app (iBazzar)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Espresso machines (2 seller posts)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Hidden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Hidden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No price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 ('call / DM to order')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pSp>
        <p:nvGrpSpPr>
          <p:cNvPr id="104" name="Group 104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Price gaps of 17% to 122% appear across both social sellers and major apps — even inside the same app's search screen.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Top operational risks and how we handle them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359152"/>
          <a:ext cx="10744200" cy="3291840"/>
        </p:xfrm>
        <a:graphic>
          <a:graphicData uri="http://schemas.openxmlformats.org/drawingml/2006/table">
            <a:tbl>
              <a:tblPr firstRow="0" bandRow="0"/>
              <a:tblGrid>
                <a:gridCol w="3174423"/>
                <a:gridCol w="756977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Risk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Mitigation built into the model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Slower shopper adoption than planned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Model sized to conservative ramp; slow case (half pace) is covered by the $1,340 runway; $100 pilot validates demand first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Buyers and sellers bypass the app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Low ~3.8% fee, no seller phone numbers on waybills, ratings and referral credits work only on-platform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Courier contract or registration delayed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Registration is funded in M0 right after the pilot; second courier quote in hand; even without the 500 margin, orders stay +615 IQD positive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Failed COD deliveries ('not at home')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200 IQD/order budgeted for re-delivery; one free re-attempt; 3 failures disable COD for that buyer; WhatsApp pre-dispatch check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Late COD cash transfer from courier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Contract sets a 24h transfer target; merchant payouts release only after 48h return window AND courier transfer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104" name="Group 104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Every top risk is addressed before scale: low burn ($435/mo), $100 validation gate, and strict COD custody rules.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End-to-end order, payment &amp; return flow</a:t>
            </a:r>
          </a:p>
        </p:txBody>
      </p:sp>
      <p:grpSp>
        <p:nvGrpSpPr>
          <p:cNvPr id="103" name="Group 103"/>
          <p:cNvGrpSpPr/>
          <p:nvPr/>
        </p:nvGrpSpPr>
        <p:grpSpPr>
          <a:xfrm>
            <a:off x="676656" y="2587752"/>
            <a:ext cx="10789920" cy="3099816"/>
            <a:chOff x="676656" y="2587752"/>
            <a:chExt cx="10789920" cy="3099816"/>
          </a:xfrm>
        </p:grpSpPr>
        <p:cxnSp>
          <p:nvCxnSpPr>
            <p:cNvPr id="104" name="Connector 103"/>
            <p:cNvCxnSpPr/>
            <p:nvPr/>
          </p:nvCxnSpPr>
          <p:spPr>
            <a:xfrm>
              <a:off x="1444752" y="2880360"/>
              <a:ext cx="8366760" cy="0"/>
            </a:xfrm>
            <a:prstGeom prst="line">
              <a:avLst/>
            </a:prstGeom>
            <a:ln w="38100">
              <a:solidFill>
                <a:srgbClr val="DDE5ED"/>
              </a:solidFill>
            </a:ln>
            <a:effectLst/>
          </p:spPr>
        </p:cxnSp>
        <p:sp>
          <p:nvSpPr>
            <p:cNvPr id="105" name="Oval 104"/>
            <p:cNvSpPr/>
            <p:nvPr/>
          </p:nvSpPr>
          <p:spPr>
            <a:xfrm>
              <a:off x="1152144" y="2587752"/>
              <a:ext cx="585216" cy="5852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6" name="Picture 105" descr="shopping-cart_FFFF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98448" y="2734056"/>
              <a:ext cx="292608" cy="292608"/>
            </a:xfrm>
            <a:prstGeom prst="rect">
              <a:avLst/>
            </a:prstGeom>
          </p:spPr>
        </p:pic>
        <p:sp>
          <p:nvSpPr>
            <p:cNvPr id="107" name="Rounded Rectangle 106"/>
            <p:cNvSpPr/>
            <p:nvPr/>
          </p:nvSpPr>
          <p:spPr>
            <a:xfrm>
              <a:off x="676656" y="3310128"/>
              <a:ext cx="1536192" cy="1143000"/>
            </a:xfrm>
            <a:prstGeom prst="roundRect">
              <a:avLst>
                <a:gd name="adj" fmla="val 112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49808" y="3383280"/>
              <a:ext cx="138988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1. Checkout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749808" y="3712464"/>
              <a:ext cx="1389888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Cash on delivery or card; doorstep total upfront</a:t>
              </a:r>
            </a:p>
          </p:txBody>
        </p:sp>
        <p:sp>
          <p:nvSpPr>
            <p:cNvPr id="110" name="Oval 109"/>
            <p:cNvSpPr/>
            <p:nvPr/>
          </p:nvSpPr>
          <p:spPr>
            <a:xfrm>
              <a:off x="2825496" y="2587752"/>
              <a:ext cx="585216" cy="5852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1" name="Picture 110" descr="store_FFFF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1800" y="2734056"/>
              <a:ext cx="292608" cy="292608"/>
            </a:xfrm>
            <a:prstGeom prst="rect">
              <a:avLst/>
            </a:prstGeom>
          </p:spPr>
        </p:pic>
        <p:sp>
          <p:nvSpPr>
            <p:cNvPr id="112" name="Rounded Rectangle 111"/>
            <p:cNvSpPr/>
            <p:nvPr/>
          </p:nvSpPr>
          <p:spPr>
            <a:xfrm>
              <a:off x="2350008" y="3310128"/>
              <a:ext cx="1536192" cy="1143000"/>
            </a:xfrm>
            <a:prstGeom prst="roundRect">
              <a:avLst>
                <a:gd name="adj" fmla="val 112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2423160" y="3383280"/>
              <a:ext cx="138988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2. Store accepts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2423160" y="3712464"/>
              <a:ext cx="1389888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Dashboard + WhatsApp alert; 2h SLA</a:t>
              </a:r>
            </a:p>
          </p:txBody>
        </p:sp>
        <p:sp>
          <p:nvSpPr>
            <p:cNvPr id="115" name="Oval 114"/>
            <p:cNvSpPr/>
            <p:nvPr/>
          </p:nvSpPr>
          <p:spPr>
            <a:xfrm>
              <a:off x="4498848" y="2587752"/>
              <a:ext cx="585216" cy="5852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6" name="Picture 115" descr="package_FFFFFF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45152" y="2734056"/>
              <a:ext cx="292608" cy="292608"/>
            </a:xfrm>
            <a:prstGeom prst="rect">
              <a:avLst/>
            </a:prstGeom>
          </p:spPr>
        </p:pic>
        <p:sp>
          <p:nvSpPr>
            <p:cNvPr id="117" name="Rounded Rectangle 116"/>
            <p:cNvSpPr/>
            <p:nvPr/>
          </p:nvSpPr>
          <p:spPr>
            <a:xfrm>
              <a:off x="4023360" y="3310128"/>
              <a:ext cx="1536192" cy="1143000"/>
            </a:xfrm>
            <a:prstGeom prst="roundRect">
              <a:avLst>
                <a:gd name="adj" fmla="val 112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4096512" y="3383280"/>
              <a:ext cx="138988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3. Sealed pack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4096512" y="3712464"/>
              <a:ext cx="1389888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Opaque mailer + waybill; security tape ≥50k</a:t>
              </a:r>
            </a:p>
          </p:txBody>
        </p:sp>
        <p:sp>
          <p:nvSpPr>
            <p:cNvPr id="120" name="Oval 119"/>
            <p:cNvSpPr/>
            <p:nvPr/>
          </p:nvSpPr>
          <p:spPr>
            <a:xfrm>
              <a:off x="6172200" y="2587752"/>
              <a:ext cx="585216" cy="5852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1" name="Picture 120" descr="truck_FFFFFF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18504" y="2734056"/>
              <a:ext cx="292608" cy="292608"/>
            </a:xfrm>
            <a:prstGeom prst="rect">
              <a:avLst/>
            </a:prstGeom>
          </p:spPr>
        </p:pic>
        <p:sp>
          <p:nvSpPr>
            <p:cNvPr id="122" name="Rounded Rectangle 121"/>
            <p:cNvSpPr/>
            <p:nvPr/>
          </p:nvSpPr>
          <p:spPr>
            <a:xfrm>
              <a:off x="5696712" y="3310128"/>
              <a:ext cx="1536192" cy="1143000"/>
            </a:xfrm>
            <a:prstGeom prst="roundRect">
              <a:avLst>
                <a:gd name="adj" fmla="val 112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5769864" y="3383280"/>
              <a:ext cx="138988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4. Courier pickup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5769864" y="3712464"/>
              <a:ext cx="1389888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Fast Delivery (Duhok) picks up same day</a:t>
              </a:r>
            </a:p>
          </p:txBody>
        </p:sp>
        <p:sp>
          <p:nvSpPr>
            <p:cNvPr id="125" name="Oval 124"/>
            <p:cNvSpPr/>
            <p:nvPr/>
          </p:nvSpPr>
          <p:spPr>
            <a:xfrm>
              <a:off x="7845552" y="2587752"/>
              <a:ext cx="585216" cy="5852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6" name="Picture 125" descr="banknote_FFFFFF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91856" y="2734056"/>
              <a:ext cx="292608" cy="292608"/>
            </a:xfrm>
            <a:prstGeom prst="rect">
              <a:avLst/>
            </a:prstGeom>
          </p:spPr>
        </p:pic>
        <p:sp>
          <p:nvSpPr>
            <p:cNvPr id="127" name="Rounded Rectangle 126"/>
            <p:cNvSpPr/>
            <p:nvPr/>
          </p:nvSpPr>
          <p:spPr>
            <a:xfrm>
              <a:off x="7370064" y="3310128"/>
              <a:ext cx="1536192" cy="1143000"/>
            </a:xfrm>
            <a:prstGeom prst="roundRect">
              <a:avLst>
                <a:gd name="adj" fmla="val 112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7443216" y="3383280"/>
              <a:ext cx="138988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5. Doorstep delivery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7443216" y="3712464"/>
              <a:ext cx="1389888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Courier collects COD cash &amp; transfers electronically</a:t>
              </a:r>
            </a:p>
          </p:txBody>
        </p:sp>
        <p:sp>
          <p:nvSpPr>
            <p:cNvPr id="130" name="Oval 129"/>
            <p:cNvSpPr/>
            <p:nvPr/>
          </p:nvSpPr>
          <p:spPr>
            <a:xfrm>
              <a:off x="9518904" y="2587752"/>
              <a:ext cx="585216" cy="5852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1" name="Picture 130" descr="circle-check_FFFFFF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65208" y="2734056"/>
              <a:ext cx="292608" cy="292608"/>
            </a:xfrm>
            <a:prstGeom prst="rect">
              <a:avLst/>
            </a:prstGeom>
          </p:spPr>
        </p:pic>
        <p:sp>
          <p:nvSpPr>
            <p:cNvPr id="132" name="Rounded Rectangle 131"/>
            <p:cNvSpPr/>
            <p:nvPr/>
          </p:nvSpPr>
          <p:spPr>
            <a:xfrm>
              <a:off x="9043416" y="3310128"/>
              <a:ext cx="1536192" cy="1143000"/>
            </a:xfrm>
            <a:prstGeom prst="roundRect">
              <a:avLst>
                <a:gd name="adj" fmla="val 112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9116568" y="3383280"/>
              <a:ext cx="1389888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6. Auto payout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9116568" y="3712464"/>
              <a:ext cx="1389888" cy="6583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Merchant paid 48h after delivery, minus fee</a:t>
              </a:r>
            </a:p>
          </p:txBody>
        </p:sp>
        <p:sp>
          <p:nvSpPr>
            <p:cNvPr id="135" name="Rounded Rectangle 134"/>
            <p:cNvSpPr/>
            <p:nvPr/>
          </p:nvSpPr>
          <p:spPr>
            <a:xfrm>
              <a:off x="722376" y="4608576"/>
              <a:ext cx="5257800" cy="1078992"/>
            </a:xfrm>
            <a:prstGeom prst="roundRect">
              <a:avLst>
                <a:gd name="adj" fmla="val 11864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923544" y="4718304"/>
              <a:ext cx="4855464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48-hour return window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923544" y="5029200"/>
              <a:ext cx="4855464" cy="53035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Faulty / wrong item: merchant pays return shipping. Buyer remorse (unopened): buyer pays 3,000 IQD return fee.</a:t>
              </a:r>
            </a:p>
          </p:txBody>
        </p:sp>
        <p:sp>
          <p:nvSpPr>
            <p:cNvPr id="138" name="Rounded Rectangle 137"/>
            <p:cNvSpPr/>
            <p:nvPr/>
          </p:nvSpPr>
          <p:spPr>
            <a:xfrm>
              <a:off x="6208776" y="4608576"/>
              <a:ext cx="5257800" cy="1078992"/>
            </a:xfrm>
            <a:prstGeom prst="roundRect">
              <a:avLst>
                <a:gd name="adj" fmla="val 11864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6409944" y="4718304"/>
              <a:ext cx="4855464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Zero cash handled by Cheapify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6409944" y="5029200"/>
              <a:ext cx="4855464" cy="53035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Courier transfers COD funds electronically to Cheapify; card/wallet orders settle via FIB / SuperQi / Switch gateway.</a:t>
              </a:r>
            </a:p>
          </p:txBody>
        </p:sp>
      </p:grpSp>
      <p:grpSp>
        <p:nvGrpSpPr>
          <p:cNvPr id="141" name="Group 141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42" name="Rounded Rectangle 141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Cheapify never touches physical cash, and paying merchants after the 48-hour return window avoids clawbacks.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How we sized the Duhok launch market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359152"/>
          <a:ext cx="10744200" cy="3200400"/>
        </p:xfrm>
        <a:graphic>
          <a:graphicData uri="http://schemas.openxmlformats.org/drawingml/2006/table">
            <a:tbl>
              <a:tblPr firstRow="0" bandRow="0"/>
              <a:tblGrid>
                <a:gridCol w="2686050"/>
                <a:gridCol w="1751772"/>
                <a:gridCol w="4204252"/>
                <a:gridCol w="210212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Metric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Value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Calculation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Source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Launch-area population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1,062,224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Duhok 497,029 + Zakho 398,876 + Semel 166,319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2024 national census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Duhok governorate population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1,599,871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All 7 districts of Duhok governorate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2024 national census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Launch-area internet users (est.)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≈ 0.89M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1,062,224 × 83.8% Iraq internet penetration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DataReportal 2026 rate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Launch-area online shopping (est.)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≈ $30M / year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2.30% share of Iraq population × $1,317M Iraq e-commerce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ECDB Iraq 2025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Break-even order volume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~585 orders / mo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652,000 IQD monthly burn ÷ 1,115 IQD kept per order (~$117k/yr GMV)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Cheapify financial model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Regular shoppers at break-even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~390 shoppers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585 orders/month ÷ 1.5 orders/month per active shopper (≈ 0.4% of market)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Cheapify financial model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</a:tbl>
          </a:graphicData>
        </a:graphic>
      </p:graphicFrame>
      <p:grpSp>
        <p:nvGrpSpPr>
          <p:cNvPr id="104" name="Group 104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Break-even requires only ~390 regular shoppers (~585 orders/month) out of ~890,000 internet users in Duhok, Semel and Zakho.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1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70464" y="822960"/>
            <a:ext cx="1207008" cy="368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1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68" y="274320"/>
            <a:ext cx="1783080" cy="99888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500" b="1" lang="en-US">
                <a:solidFill>
                  <a:srgbClr val="101820"/>
                </a:solidFill>
                <a:latin typeface="Comfortaa"/>
                <a:cs typeface="Comfortaa"/>
              </a:rPr>
              <a:t>Funding detail: 6 computed lines &amp; monthly release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304288"/>
          <a:ext cx="10744200" cy="2633472"/>
        </p:xfrm>
        <a:graphic>
          <a:graphicData uri="http://schemas.openxmlformats.org/drawingml/2006/table">
            <a:tbl>
              <a:tblPr firstRow="0" bandRow="0"/>
              <a:tblGrid>
                <a:gridCol w="383721"/>
                <a:gridCol w="2357146"/>
                <a:gridCol w="767443"/>
                <a:gridCol w="1041530"/>
                <a:gridCol w="822260"/>
                <a:gridCol w="537210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#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Grant component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USD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IQD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When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1" lang="en-US">
                          <a:solidFill>
                            <a:srgbClr val="FFFFFF"/>
                          </a:solidFill>
                          <a:latin typeface="Inter"/>
                          <a:cs typeface="Inter"/>
                        </a:rPr>
                        <a:t>Derivation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101820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Hand-run concierge pilot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$100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150,000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15–20 real orders on MVP before registration (~5–7k IQD/order)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Company registration &amp; filing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$1,000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1,500,000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154.5k Companies Reg. + 1,140k Chamber (English) + ~200k filing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Launch setup (20 stores + apps)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$710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1,061,000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M1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 kits × 40k (800k) + labels (75k) + Apple ($99) + Google ($25)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Founding-store 0% month-1 offer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$130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190,000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M1–M2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0% fee in M1: ~200 orders × 950 IQD typical fee waived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Operating runway (slow-case cap)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$1,340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1,998,400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M1–M6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Slow-case monthly loss cap: 596k + 524k + 429k + 318k + 95k + 37k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Growth marketing push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$2,200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3,300,000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M3–M6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 months × 825k IQD ($550/mo) ads + campus (~900 shoppers)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/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Total grant request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$5,480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8,199,400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5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M0–M6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50" b="1" lang="en-US">
                          <a:solidFill>
                            <a:srgbClr val="298FC2"/>
                          </a:solidFill>
                          <a:latin typeface="Inter"/>
                          <a:cs typeface="Inter"/>
                        </a:rPr>
                        <a:t>Exact IQD = $5,466 at 1,500 CBI rate; each line rounded up to $10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E5F2F8"/>
                    </a:solidFill>
                  </a:tcPr>
                </a:tc>
              </a:tr>
            </a:tbl>
          </a:graphicData>
        </a:graphic>
      </p:graphicFrame>
      <p:grpSp>
        <p:nvGrpSpPr>
          <p:cNvPr id="104" name="Group 104"/>
          <p:cNvGrpSpPr/>
          <p:nvPr/>
        </p:nvGrpSpPr>
        <p:grpSpPr>
          <a:xfrm>
            <a:off x="722376" y="5047488"/>
            <a:ext cx="10753344" cy="676656"/>
            <a:chOff x="722376" y="5047488"/>
            <a:chExt cx="10753344" cy="676656"/>
          </a:xfrm>
        </p:grpSpPr>
        <p:sp>
          <p:nvSpPr>
            <p:cNvPr id="105" name="Rounded Rectangle 104"/>
            <p:cNvSpPr/>
            <p:nvPr/>
          </p:nvSpPr>
          <p:spPr>
            <a:xfrm>
              <a:off x="722376" y="5047488"/>
              <a:ext cx="1481328" cy="676656"/>
            </a:xfrm>
            <a:prstGeom prst="roundRect">
              <a:avLst>
                <a:gd name="adj" fmla="val 1081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95528" y="5084064"/>
              <a:ext cx="457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298FC2"/>
                  </a:solidFill>
                  <a:latin typeface="Inter"/>
                  <a:cs typeface="Inter"/>
                </a:rPr>
                <a:t>M0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252728" y="5084064"/>
              <a:ext cx="87782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$1,100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95528" y="5321808"/>
              <a:ext cx="1335024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Pilot + registration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2267712" y="5047488"/>
              <a:ext cx="1481328" cy="676656"/>
            </a:xfrm>
            <a:prstGeom prst="roundRect">
              <a:avLst>
                <a:gd name="adj" fmla="val 1081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2340864" y="5084064"/>
              <a:ext cx="457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298FC2"/>
                  </a:solidFill>
                  <a:latin typeface="Inter"/>
                  <a:cs typeface="Inter"/>
                </a:rPr>
                <a:t>M1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2798064" y="5084064"/>
              <a:ext cx="87782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$1,180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2340864" y="5321808"/>
              <a:ext cx="1335024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Setup + offer + runway</a:t>
              </a: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3813048" y="5047488"/>
              <a:ext cx="1481328" cy="676656"/>
            </a:xfrm>
            <a:prstGeom prst="roundRect">
              <a:avLst>
                <a:gd name="adj" fmla="val 1081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86200" y="5084064"/>
              <a:ext cx="457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298FC2"/>
                  </a:solidFill>
                  <a:latin typeface="Inter"/>
                  <a:cs typeface="Inter"/>
                </a:rPr>
                <a:t>M2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4343400" y="5084064"/>
              <a:ext cx="87782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$414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3886200" y="5321808"/>
              <a:ext cx="1335024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Offer + runway</a:t>
              </a:r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5358384" y="5047488"/>
              <a:ext cx="1481328" cy="676656"/>
            </a:xfrm>
            <a:prstGeom prst="roundRect">
              <a:avLst>
                <a:gd name="adj" fmla="val 1081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5431536" y="5084064"/>
              <a:ext cx="457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298FC2"/>
                  </a:solidFill>
                  <a:latin typeface="Inter"/>
                  <a:cs typeface="Inter"/>
                </a:rPr>
                <a:t>M3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5888736" y="5084064"/>
              <a:ext cx="87782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$836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5431536" y="5321808"/>
              <a:ext cx="1335024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Runway + ads start</a:t>
              </a:r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6903720" y="5047488"/>
              <a:ext cx="1481328" cy="676656"/>
            </a:xfrm>
            <a:prstGeom prst="roundRect">
              <a:avLst>
                <a:gd name="adj" fmla="val 1081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6976872" y="5084064"/>
              <a:ext cx="457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298FC2"/>
                  </a:solidFill>
                  <a:latin typeface="Inter"/>
                  <a:cs typeface="Inter"/>
                </a:rPr>
                <a:t>M4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7434072" y="5084064"/>
              <a:ext cx="87782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$762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6976872" y="5321808"/>
              <a:ext cx="1335024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Break-even + ads</a:t>
              </a:r>
            </a:p>
          </p:txBody>
        </p:sp>
        <p:sp>
          <p:nvSpPr>
            <p:cNvPr id="125" name="Rounded Rectangle 124"/>
            <p:cNvSpPr/>
            <p:nvPr/>
          </p:nvSpPr>
          <p:spPr>
            <a:xfrm>
              <a:off x="8449056" y="5047488"/>
              <a:ext cx="1481328" cy="676656"/>
            </a:xfrm>
            <a:prstGeom prst="roundRect">
              <a:avLst>
                <a:gd name="adj" fmla="val 1081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8522208" y="5084064"/>
              <a:ext cx="457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298FC2"/>
                  </a:solidFill>
                  <a:latin typeface="Inter"/>
                  <a:cs typeface="Inter"/>
                </a:rPr>
                <a:t>M5</a:t>
              </a: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8979408" y="5084064"/>
              <a:ext cx="87782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$613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8522208" y="5321808"/>
              <a:ext cx="1335024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Runway + ads</a:t>
              </a:r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9994392" y="5047488"/>
              <a:ext cx="1481328" cy="676656"/>
            </a:xfrm>
            <a:prstGeom prst="roundRect">
              <a:avLst>
                <a:gd name="adj" fmla="val 10810"/>
              </a:avLst>
            </a:prstGeom>
            <a:solidFill>
              <a:srgbClr val="F4F6F8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10067544" y="5084064"/>
              <a:ext cx="457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298FC2"/>
                  </a:solidFill>
                  <a:latin typeface="Inter"/>
                  <a:cs typeface="Inter"/>
                </a:rPr>
                <a:t>M6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0524744" y="5084064"/>
              <a:ext cx="87782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$575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10067544" y="5321808"/>
              <a:ext cx="1335024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Self-funding</a:t>
              </a:r>
            </a:p>
          </p:txBody>
        </p:sp>
      </p:grpSp>
      <p:grpSp>
        <p:nvGrpSpPr>
          <p:cNvPr id="133" name="Group 133"/>
          <p:cNvGrpSpPr/>
          <p:nvPr/>
        </p:nvGrpSpPr>
        <p:grpSpPr>
          <a:xfrm>
            <a:off x="722376" y="5852160"/>
            <a:ext cx="10744200" cy="457200"/>
            <a:chOff x="722376" y="5852160"/>
            <a:chExt cx="10744200" cy="457200"/>
          </a:xfrm>
        </p:grpSpPr>
        <p:sp>
          <p:nvSpPr>
            <p:cNvPr id="134" name="Rounded Rectangle 133"/>
            <p:cNvSpPr/>
            <p:nvPr/>
          </p:nvSpPr>
          <p:spPr>
            <a:xfrm>
              <a:off x="722376" y="5852160"/>
              <a:ext cx="10744200" cy="457200"/>
            </a:xfrm>
            <a:prstGeom prst="roundRect">
              <a:avLst>
                <a:gd name="adj" fmla="val 20000"/>
              </a:avLst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914400" y="5852160"/>
              <a:ext cx="10360152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Runway is released only against actual monthly losses — the planned case uses ~$765 of the $1,340 cap.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