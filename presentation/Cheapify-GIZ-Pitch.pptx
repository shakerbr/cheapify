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58" r:id="rId8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y="6858000" cx="12192000"/>
  <p:notesSz cx="6858000" cy="9144000"/>
  <p:embeddedFontLst>
    <p:embeddedFont>
      <p:font typeface="Comfortaa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font" Target="fonts/Comfortaa-regular.fntdata"/><Relationship Id="rId10" Type="http://schemas.openxmlformats.org/officeDocument/2006/relationships/font" Target="fonts/Comfortaa-bold.fntdata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Time: ~8s</a:t>
            </a:r>
          </a:p>
          <a:p>
            <a:r>
              <a:t>Good morning. I'm Shakir Bashar, a computer engineer — and this is Cheapify: the bright side of choosing.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Time: ~23s</a:t>
            </a:r>
          </a:p>
          <a:p>
            <a:r>
              <a:t>This is one power bank — the Anker 25,000, 165 watt. Same model. On one app's search page, it's listed at 100,000 dinars… [click] and right beside it, at 200,000. [click] Across Instagram and shopping apps, we found it anywhere from 90,000 to 200,000 dinars. [click] That's 122 percent more — for the exact same product.</a:t>
            </a:r>
          </a:p>
          <a:p/>
          <a:p>
            <a:r>
              <a:t>Key numbers:</a:t>
            </a:r>
          </a:p>
          <a:p>
            <a:r>
              <a:t>100,000 vs 200,000 IQD — Price evidence screenshots (Sep–Oct 2026)</a:t>
            </a:r>
          </a:p>
          <a:p>
            <a:r>
              <a:t>90,000 – 200,000 IQD — Price evidence screenshots (Sep–Oct 2026)</a:t>
            </a:r>
          </a:p>
          <a:p>
            <a:r>
              <a:t>+122% — Price evidence screenshots (Sep–Oct 2026)</a:t>
            </a:r>
          </a:p>
          <a:p>
            <a:r>
              <a:t>≈ 110,000 IQD — Price evidence screenshots (Sep–Oct 2026)</a:t>
            </a:r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Time: ~4s</a:t>
            </a:r>
          </a:p>
          <a:p>
            <a:r>
              <a:t>Cheapify — the bright side of choosing. Thank you.</a:t>
            </a:r>
          </a:p>
        </p:txBody>
      </p:sp>
      <p:sp>
        <p:nvSpPr>
          <p:cNvPr id="102" name="Google Shape;1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~27s</a:t>
            </a:r>
          </a:p>
          <a:p>
            <a:r>
              <a:t>And it's not one product — it's the whole market. [click] Apps list the same item twice, at two prices. [click] Instagram pages hide the price — under the post, someone asks: “How much is it?” [click] And a marketplace sells a vacuum as a 35 percent “deal” — Instagram has it for 95,000. [click] In our survey of 199 people, 97 percent of shoppers see these gaps.</a:t>
            </a:r>
          </a:p>
          <a:p/>
          <a:p>
            <a:r>
              <a:t>Key numbers:</a:t>
            </a:r>
          </a:p>
          <a:p>
            <a:r>
              <a:t>97% — Cheapify market survey, n=199 (Sep–Oct 2026)</a:t>
            </a:r>
          </a:p>
          <a:p>
            <a:r>
              <a:t>55% — Cheapify market survey, n=199 (Sep–Oct 2026)</a:t>
            </a:r>
          </a:p>
          <a:p>
            <a:r>
              <a:t>199 — Cheapify market survey, n=199 (Sep–Oct 2026)</a:t>
            </a:r>
          </a:p>
          <a:p>
            <a:r>
              <a:t>95,000 vs 133,250 IQD — Price evidence screenshots (Sep–Oct 2026)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~24s</a:t>
            </a:r>
          </a:p>
          <a:p>
            <a:r>
              <a:t>Today, one product is scattered across pages and apps. Cheapify's rule is simple: [click] one product, one page. [click] Every seller of that product sits on it, showing the doorstep total — item plus delivery. [click] Then our Best Value ranking picks the winner: lowest doorstep total, then fastest delivery, then seller rating. And the ranking can never be bought.</a:t>
            </a:r>
          </a:p>
          <a:p/>
          <a:p>
            <a:r>
              <a:t>Key numbers:</a:t>
            </a:r>
          </a:p>
          <a:p>
            <a:r>
              <a:t>Doorstep total — Fast Delivery (Duhok) courier quote, Oct 2026</a:t>
            </a:r>
          </a:p>
          <a:p>
            <a:r>
              <a:t>3,000 IQD — Fast Delivery (Duhok) courier quote, Oct 2026</a:t>
            </a:r>
          </a:p>
          <a:p>
            <a:r>
              <a:t>3 ranking rules — Cheapify go-to-market plan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~20s</a:t>
            </a:r>
          </a:p>
          <a:p>
            <a:r>
              <a:t>For shoppers: [click] every price side by side, an order in thirty seconds, and cash on delivery — or card. For merchants: [click] real orders instead of “price?” messages, a free dashboard for stock and payouts, and a fair fee — about 3.8 percent on a typical order.</a:t>
            </a:r>
          </a:p>
          <a:p/>
          <a:p>
            <a:r>
              <a:t>Key numbers:</a:t>
            </a:r>
          </a:p>
          <a:p>
            <a:r>
              <a:t>≈ 3.8% — Cheapify financial model</a:t>
            </a:r>
          </a:p>
          <a:p>
            <a:r>
              <a:t>30 seconds — Cheapify go-to-market plan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~24s</a:t>
            </a:r>
          </a:p>
          <a:p>
            <a:r>
              <a:t>We launch in Duhok city, Semel and Zakho. [click] Duhok governorate has 1.6 million people; [click] our launch area alone has about 1.06 million — roughly 890,000 online, spending about 30 million dollars a year shopping online. We need just 0.4 percent of that to break even. [click] Then Erbil, Mosul and Sulaymaniyah — then all of Iraq.</a:t>
            </a:r>
          </a:p>
          <a:p/>
          <a:p>
            <a:r>
              <a:t>Key numbers:</a:t>
            </a:r>
          </a:p>
          <a:p>
            <a:r>
              <a:t>46.1M · 1.60M · 1.06M — 2024 national census, Iraqi Ministry of Planning</a:t>
            </a:r>
          </a:p>
          <a:p>
            <a:r>
              <a:t>39.6M — DataReportal, Digital 2026: Iraq</a:t>
            </a:r>
          </a:p>
          <a:p>
            <a:r>
              <a:t>$1.32B — ECDB, Iraq e-commerce 2025</a:t>
            </a:r>
          </a:p>
          <a:p>
            <a:r>
              <a:t>≈ 0.89M · ≈ $30M — 2024 national census, Iraqi Ministry of Planning</a:t>
            </a:r>
          </a:p>
          <a:p>
            <a:r>
              <a:t>≈ 0.4% — Cheapify financial model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~22s</a:t>
            </a:r>
          </a:p>
          <a:p>
            <a:r>
              <a:t>Who exactly? Young professionals with no time for DMs, families who want savings and reliable delivery, and students who refuse to overpay — 88 percent of surveyed shoppers would use an app like this. [click] And Duhok's social-media shops: 85 percent sell on Instagram or Facebook, and 75 percent want to try Cheapify.</a:t>
            </a:r>
          </a:p>
          <a:p/>
          <a:p>
            <a:r>
              <a:t>Key numbers:</a:t>
            </a:r>
          </a:p>
          <a:p>
            <a:r>
              <a:t>88% — Cheapify market survey, n=199 (Sep–Oct 2026)</a:t>
            </a:r>
          </a:p>
          <a:p>
            <a:r>
              <a:t>85% — Cheapify market survey, n=199 (Sep–Oct 2026)</a:t>
            </a:r>
          </a:p>
          <a:p>
            <a:r>
              <a:t>75% — Cheapify market survey, n=199 (Sep–Oct 2026)</a:t>
            </a:r>
          </a:p>
          <a:p>
            <a:r>
              <a:t>~8 — Cheapify market survey, n=199 (Sep–Oct 2026)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~23s</a:t>
            </a:r>
          </a:p>
          <a:p>
            <a:r>
              <a:t>Here's how it works. A shopper searches. [click] Sees every seller on one page, Best Value on top. [click] Orders in thirty seconds — cash on delivery, or card. [click] The merchant gets a ready order, packs it, and the courier picks it up. [click] 48 hours after delivery, the merchant is paid automatically, minus our fee.</a:t>
            </a:r>
          </a:p>
          <a:p/>
          <a:p>
            <a:r>
              <a:t>Key numbers:</a:t>
            </a:r>
          </a:p>
          <a:p>
            <a:r>
              <a:t>30 seconds — Cheapify go-to-market plan</a:t>
            </a:r>
          </a:p>
          <a:p>
            <a:r>
              <a:t>48 hours — Cheapify financial model</a:t>
            </a:r>
          </a:p>
          <a:p>
            <a:r>
              <a:t>2,960 IQD — Cheapify financial model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~22s</a:t>
            </a:r>
          </a:p>
          <a:p>
            <a:r>
              <a:t>We only earn when an order is delivered. On a 25,000-dinar order, the shopper pays 28,000. [click] 24,050 goes to the merchant, [click] 2,500 to the courier, [click] 1,450 to us. [click] Our fee gets lighter as prices rise. [click] After about 335 in costs — messages, returns, re-deliveries — we keep 1,115 dinars per order.</a:t>
            </a:r>
          </a:p>
          <a:p/>
          <a:p>
            <a:r>
              <a:t>Key numbers:</a:t>
            </a:r>
          </a:p>
          <a:p>
            <a:r>
              <a:t>28,000 IQD — Cheapify financial model</a:t>
            </a:r>
          </a:p>
          <a:p>
            <a:r>
              <a:t>24,050 · 2,500 · 1,450 — Cheapify financial model</a:t>
            </a:r>
          </a:p>
          <a:p>
            <a:r>
              <a:t>5% · 3% · 1.5% — Cheapify financial model</a:t>
            </a:r>
          </a:p>
          <a:p>
            <a:r>
              <a:t>335 IQD — Cheapify financial model</a:t>
            </a:r>
          </a:p>
          <a:p>
            <a:r>
              <a:t>1,115 IQD — Cheapify financial model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~21s</a:t>
            </a:r>
          </a:p>
          <a:p>
            <a:r>
              <a:t>Look at today's options. [click] On Instagram, prices are often hidden. Miswag, iBazzar and Elryan show prices — but the same product shows up in several listings, and Elryan sells only its own stock. [click] Only Cheapify puts every seller of a product on one page — and compares them for you.</a:t>
            </a:r>
          </a:p>
          <a:p/>
          <a:p>
            <a:r>
              <a:t>Key numbers:</a:t>
            </a:r>
          </a:p>
          <a:p>
            <a:r>
              <a:t>4 platforms — Price evidence screenshots (Sep–Oct 2026)</a:t>
            </a:r>
          </a:p>
          <a:p>
            <a:r>
              <a:t>4 criteria — Price evidence screenshots (Sep–Oct 2026)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~23s</a:t>
            </a:r>
          </a:p>
          <a:p>
            <a:r>
              <a:t>We grow on two sides. [click] Stores: I sign the first 20 in person, with zero commission in month one and free ads — and they bring their own followers. [click] Shoppers: targeted ads across Duhok, short videos, campus and workplace deals, and referrals. [click] Then the loop: more stores, lower prices, more shoppers, more orders.</a:t>
            </a:r>
          </a:p>
          <a:p/>
          <a:p>
            <a:r>
              <a:t>Key numbers:</a:t>
            </a:r>
          </a:p>
          <a:p>
            <a:r>
              <a:t>20 — Cheapify go-to-market plan</a:t>
            </a:r>
          </a:p>
          <a:p>
            <a:r>
              <a:t>0% — Cheapify go-to-market plan</a:t>
            </a:r>
          </a:p>
          <a:p>
            <a:r>
              <a:t>~52 — Cheapify market survey, n=199 (Sep–Oct 2026)</a:t>
            </a:r>
          </a:p>
          <a:p>
            <a:r>
              <a:t>~8 — Cheapify market survey, n=199 (Sep–Oct 2026)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~26s</a:t>
            </a:r>
          </a:p>
          <a:p>
            <a:r>
              <a:t>We break even at about 585 orders a month — around 20 a day. [click] On our planned pace, the lowest cash point is about 2,200 dollars; we break even in month four and recover everything by month eight. [click] With a strong growth push: month three and month six. [click] Even if growth is slow, we're profitable every month from month seven.</a:t>
            </a:r>
          </a:p>
          <a:p/>
          <a:p>
            <a:r>
              <a:t>Key numbers:</a:t>
            </a:r>
          </a:p>
          <a:p>
            <a:r>
              <a:t>≈ 585 orders / month — Cheapify financial model</a:t>
            </a:r>
          </a:p>
          <a:p>
            <a:r>
              <a:t>1,115 IQD — Cheapify financial model</a:t>
            </a:r>
          </a:p>
          <a:p>
            <a:r>
              <a:t>−$2,180 (month 3) — Cheapify financial model</a:t>
            </a:r>
          </a:p>
          <a:p>
            <a:r>
              <a:t>−$1,800 (month 2) — Cheapify financial model</a:t>
            </a:r>
          </a:p>
          <a:p>
            <a:r>
              <a:t>652,000 IQD — Cheapify financial model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~29s</a:t>
            </a:r>
          </a:p>
          <a:p>
            <a:r>
              <a:t>We're asking for 7,500 dollars, and every dollar has a job. [click] Cash gap, growth, registration, store kits, pilot, reserve. [click] 2,500 carries us safely to break-even. [click] 4,500 adds the pilot and registers the company — unlocking the courier contract and card payments. [click] 7,500 adds a real growth push, aiming for the fast case. [click] And none of it goes to salaries or developers — I build the platform myself.</a:t>
            </a:r>
          </a:p>
          <a:p/>
          <a:p>
            <a:r>
              <a:t>Key numbers:</a:t>
            </a:r>
          </a:p>
          <a:p>
            <a:r>
              <a:t>$7,500 (≈ 11.25M IQD) — Cheapify financial model</a:t>
            </a:r>
          </a:p>
          <a:p>
            <a:r>
              <a:t>$4,500 · $2,500 — Cheapify financial model</a:t>
            </a:r>
          </a:p>
          <a:p>
            <a:r>
              <a:t>$2,200 — Cheapify financial model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~16s</a:t>
            </a:r>
          </a:p>
          <a:p>
            <a:r>
              <a:t>Once funded: [click] we register and sign the courier contract — rates are already quoted. [click] We run 10 to 20 real orders by hand. [click] We launch with 20 founding stores. [click] Break-even by month four, [click] then Erbil, Mosul and Sulaymaniyah.</a:t>
            </a:r>
          </a:p>
          <a:p/>
          <a:p>
            <a:r>
              <a:t>Key numbers:</a:t>
            </a:r>
          </a:p>
          <a:p>
            <a:r>
              <a:t>10–20 — Cheapify financial model</a:t>
            </a:r>
          </a:p>
          <a:p>
            <a:r>
              <a:t>20 — Cheapify go-to-market plan</a:t>
            </a:r>
          </a:p>
          <a:p>
            <a:r>
              <a:t>Month 4 · ~600 orders — Cheapify financial model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for questions.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for questions.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for questions.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for questions.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for questions.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for questions.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for questions.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for questions.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18.pn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25.png"/><Relationship Id="rId6" Type="http://schemas.openxmlformats.org/officeDocument/2006/relationships/image" Target="../media/image12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7.png"/><Relationship Id="rId8" Type="http://schemas.openxmlformats.org/officeDocument/2006/relationships/image" Target="../media/image31.png"/><Relationship Id="rId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24.png"/><Relationship Id="rId10" Type="http://schemas.openxmlformats.org/officeDocument/2006/relationships/image" Target="../media/image37.png"/><Relationship Id="rId1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8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23900" y="5848350"/>
            <a:ext cx="10744200" cy="514350"/>
          </a:xfrm>
          <a:prstGeom prst="roundRect">
            <a:avLst>
              <a:gd fmla="val 25925" name="adj"/>
            </a:avLst>
          </a:prstGeom>
          <a:solidFill>
            <a:srgbClr val="0105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00075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0650" y="600075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4937" y="600075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15425" y="600075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685925" y="6010275"/>
            <a:ext cx="1104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capa.auk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510212" y="6010275"/>
            <a:ext cx="1181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CAPA AUK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439275" y="6010275"/>
            <a:ext cx="21074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capa@auk.edu.krd</a:t>
            </a:r>
            <a:endParaRPr/>
          </a:p>
        </p:txBody>
      </p:sp>
      <p:pic>
        <p:nvPicPr>
          <p:cNvPr id="92" name="Google Shape;92;p13" title="Center_for_Academic_and_Professional_Advancemen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88575" y="351575"/>
            <a:ext cx="4058099" cy="123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title="german cooperation deutsche zusammenarbei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3901" y="459625"/>
            <a:ext cx="1823430" cy="102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Picture 93" descr="cheapify-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24348" y="1645920"/>
            <a:ext cx="1143000" cy="1469571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0" y="3154680"/>
            <a:ext cx="12191695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400" b="1" lang="en-US">
                <a:solidFill>
                  <a:srgbClr val="101820"/>
                </a:solidFill>
                <a:latin typeface="Comfortaa"/>
                <a:cs typeface="Comfortaa"/>
              </a:rPr>
              <a:t>Cheapify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0" y="4005072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0" lang="en-US">
                <a:solidFill>
                  <a:srgbClr val="298FC2"/>
                </a:solidFill>
                <a:latin typeface="Comfortaa"/>
                <a:cs typeface="Comfortaa"/>
              </a:rPr>
              <a:t>The bright side of choosing.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0" y="4736592"/>
            <a:ext cx="12191695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lang="en-US">
                <a:solidFill>
                  <a:srgbClr val="101820"/>
                </a:solidFill>
                <a:latin typeface="Inter"/>
                <a:cs typeface="Inter"/>
              </a:rPr>
              <a:t>Shakir Bashar · Founder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0" y="502920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0" lang="en-US">
                <a:solidFill>
                  <a:srgbClr val="5A6672"/>
                </a:solidFill>
                <a:latin typeface="Inter"/>
                <a:cs typeface="Inter"/>
              </a:rPr>
              <a:t>Youth Entrepreneurship Program · Final Pitch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6" grpId="0" animBg="1"/>
      <p:bldP spid="97" grpId="0" animBg="1"/>
      <p:bldP spid="9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Problem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Same power bank. 100,000 or 200,000 IQD.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2376" y="6455664"/>
            <a:ext cx="107442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5A6672"/>
                </a:solidFill>
                <a:latin typeface="Inter"/>
                <a:cs typeface="Inter"/>
              </a:rPr>
              <a:t>Live app listings captured Oct 20, 2026 (Miswag, iBazzar); Instagram offers from seller posts dated Apr–Oct 2026. Seller names blurred.</a:t>
            </a:r>
          </a:p>
        </p:txBody>
      </p:sp>
      <p:grpSp>
        <p:nvGrpSpPr>
          <p:cNvPr id="1" name="Group 0"/>
          <p:cNvGrpSpPr/>
          <p:nvPr/>
        </p:nvGrpSpPr>
        <p:grpSpPr>
          <a:xfrm>
            <a:off x="722376" y="2468880"/>
            <a:ext cx="3749040" cy="3383280"/>
            <a:chOff x="722376" y="2468880"/>
            <a:chExt cx="3749040" cy="3383280"/>
          </a:xfrm>
        </p:grpSpPr>
        <p:sp>
          <p:nvSpPr>
            <p:cNvPr id="104" name="Rounded Rectangle 103"/>
            <p:cNvSpPr/>
            <p:nvPr/>
          </p:nvSpPr>
          <p:spPr>
            <a:xfrm>
              <a:off x="722376" y="2468880"/>
              <a:ext cx="3749040" cy="3383280"/>
            </a:xfrm>
            <a:prstGeom prst="roundRect">
              <a:avLst>
                <a:gd name="adj" fmla="val 3783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859536" y="2606040"/>
              <a:ext cx="3474720" cy="2697480"/>
            </a:xfrm>
            <a:prstGeom prst="roundRect">
              <a:avLst>
                <a:gd name="adj" fmla="val 2711"/>
              </a:avLst>
            </a:prstGeom>
            <a:solidFill>
              <a:srgbClr val="F4F6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06" name="Picture 105" descr="ev-miswag-anker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0971" y="2606040"/>
              <a:ext cx="3371850" cy="2697480"/>
            </a:xfrm>
            <a:prstGeom prst="rect">
              <a:avLst/>
            </a:prstGeom>
          </p:spPr>
        </p:pic>
        <p:sp>
          <p:nvSpPr>
            <p:cNvPr id="107" name="TextBox 106"/>
            <p:cNvSpPr txBox="1"/>
            <p:nvPr/>
          </p:nvSpPr>
          <p:spPr>
            <a:xfrm>
              <a:off x="859536" y="5376672"/>
              <a:ext cx="3474720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100" b="0" lang="en-US">
                  <a:solidFill>
                    <a:srgbClr val="5A6672"/>
                  </a:solidFill>
                  <a:latin typeface="Inter"/>
                  <a:cs typeface="Inter"/>
                </a:rPr>
                <a:t>Miswag app — same search, same screen (Oct 20, 2026)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010878" y="4622906"/>
            <a:ext cx="643149" cy="181081"/>
            <a:chOff x="1010878" y="4622906"/>
            <a:chExt cx="643149" cy="181081"/>
          </a:xfrm>
        </p:grpSpPr>
        <p:sp>
          <p:nvSpPr>
            <p:cNvPr id="108" name="Rounded Rectangle 107"/>
            <p:cNvSpPr/>
            <p:nvPr/>
          </p:nvSpPr>
          <p:spPr>
            <a:xfrm>
              <a:off x="1010878" y="4622906"/>
              <a:ext cx="643149" cy="181081"/>
            </a:xfrm>
            <a:prstGeom prst="roundRect">
              <a:avLst>
                <a:gd name="adj" fmla="val 30298"/>
              </a:avLst>
            </a:prstGeom>
            <a:noFill/>
            <a:ln w="28575">
              <a:solidFill>
                <a:srgbClr val="D2273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640605" y="4622906"/>
            <a:ext cx="652515" cy="181081"/>
            <a:chOff x="2640605" y="4622906"/>
            <a:chExt cx="652515" cy="181081"/>
          </a:xfrm>
        </p:grpSpPr>
        <p:sp>
          <p:nvSpPr>
            <p:cNvPr id="109" name="Rounded Rectangle 108"/>
            <p:cNvSpPr/>
            <p:nvPr/>
          </p:nvSpPr>
          <p:spPr>
            <a:xfrm>
              <a:off x="2640605" y="4622906"/>
              <a:ext cx="652515" cy="181081"/>
            </a:xfrm>
            <a:prstGeom prst="roundRect">
              <a:avLst>
                <a:gd name="adj" fmla="val 30298"/>
              </a:avLst>
            </a:prstGeom>
            <a:noFill/>
            <a:ln w="28575">
              <a:solidFill>
                <a:srgbClr val="D2273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754880" y="2468880"/>
            <a:ext cx="7086600" cy="2953512"/>
            <a:chOff x="4754880" y="2468880"/>
            <a:chExt cx="7086600" cy="2953512"/>
          </a:xfrm>
        </p:grpSpPr>
        <p:sp>
          <p:nvSpPr>
            <p:cNvPr id="110" name="TextBox 109"/>
            <p:cNvSpPr txBox="1"/>
            <p:nvPr/>
          </p:nvSpPr>
          <p:spPr>
            <a:xfrm>
              <a:off x="4937760" y="2468880"/>
              <a:ext cx="457200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300" b="1" lang="en-US">
                  <a:solidFill>
                    <a:srgbClr val="5A6672"/>
                  </a:solidFill>
                  <a:latin typeface="Inter"/>
                  <a:cs typeface="Inter"/>
                </a:rPr>
                <a:t>Every price we found for this model (IQD)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9189720" y="2551176"/>
              <a:ext cx="128016" cy="128016"/>
            </a:xfrm>
            <a:prstGeom prst="ellipse">
              <a:avLst/>
            </a:prstGeom>
            <a:solidFill>
              <a:srgbClr val="10182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9372600" y="2487168"/>
              <a:ext cx="82296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100" b="0" lang="en-US">
                  <a:solidFill>
                    <a:srgbClr val="101820"/>
                  </a:solidFill>
                  <a:latin typeface="Inter"/>
                  <a:cs typeface="Inter"/>
                </a:rPr>
                <a:t>Instagram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10104120" y="2551176"/>
              <a:ext cx="128016" cy="128016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10287000" y="2487168"/>
              <a:ext cx="82296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100" b="0" lang="en-US">
                  <a:solidFill>
                    <a:srgbClr val="101820"/>
                  </a:solidFill>
                  <a:latin typeface="Inter"/>
                  <a:cs typeface="Inter"/>
                </a:rPr>
                <a:t>Miswag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10835640" y="2551176"/>
              <a:ext cx="128016" cy="128016"/>
            </a:xfrm>
            <a:prstGeom prst="ellipse">
              <a:avLst/>
            </a:prstGeom>
            <a:solidFill>
              <a:srgbClr val="FFA3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1018520" y="2487168"/>
              <a:ext cx="82296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100" b="0" lang="en-US">
                  <a:solidFill>
                    <a:srgbClr val="101820"/>
                  </a:solidFill>
                  <a:latin typeface="Inter"/>
                  <a:cs typeface="Inter"/>
                </a:rPr>
                <a:t>iBazzar</a:t>
              </a:r>
            </a:p>
          </p:txBody>
        </p:sp>
        <p:cxnSp>
          <p:nvCxnSpPr>
            <p:cNvPr id="117" name="Connector 116"/>
            <p:cNvCxnSpPr/>
            <p:nvPr/>
          </p:nvCxnSpPr>
          <p:spPr>
            <a:xfrm>
              <a:off x="5120640" y="5120640"/>
              <a:ext cx="6126480" cy="0"/>
            </a:xfrm>
            <a:prstGeom prst="line">
              <a:avLst/>
            </a:prstGeom>
            <a:ln w="12700">
              <a:solidFill>
                <a:srgbClr val="A9B1B9"/>
              </a:solidFill>
            </a:ln>
            <a:effectLst/>
          </p:spPr>
        </p:cxnSp>
        <p:cxnSp>
          <p:nvCxnSpPr>
            <p:cNvPr id="118" name="Connector 117"/>
            <p:cNvCxnSpPr/>
            <p:nvPr/>
          </p:nvCxnSpPr>
          <p:spPr>
            <a:xfrm>
              <a:off x="5120640" y="5120640"/>
              <a:ext cx="0" cy="64008"/>
            </a:xfrm>
            <a:prstGeom prst="line">
              <a:avLst/>
            </a:prstGeom>
            <a:ln w="12700">
              <a:solidFill>
                <a:srgbClr val="A9B1B9"/>
              </a:solidFill>
            </a:ln>
            <a:effectLst/>
          </p:spPr>
        </p:cxnSp>
        <p:sp>
          <p:nvSpPr>
            <p:cNvPr id="119" name="TextBox 118"/>
            <p:cNvSpPr txBox="1"/>
            <p:nvPr/>
          </p:nvSpPr>
          <p:spPr>
            <a:xfrm>
              <a:off x="4754880" y="5221224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80k</a:t>
              </a:r>
            </a:p>
          </p:txBody>
        </p:sp>
        <p:cxnSp>
          <p:nvCxnSpPr>
            <p:cNvPr id="120" name="Connector 119"/>
            <p:cNvCxnSpPr/>
            <p:nvPr/>
          </p:nvCxnSpPr>
          <p:spPr>
            <a:xfrm>
              <a:off x="6063175" y="5120640"/>
              <a:ext cx="0" cy="64008"/>
            </a:xfrm>
            <a:prstGeom prst="line">
              <a:avLst/>
            </a:prstGeom>
            <a:ln w="12700">
              <a:solidFill>
                <a:srgbClr val="A9B1B9"/>
              </a:solidFill>
            </a:ln>
            <a:effectLst/>
          </p:spPr>
        </p:cxnSp>
        <p:sp>
          <p:nvSpPr>
            <p:cNvPr id="121" name="TextBox 120"/>
            <p:cNvSpPr txBox="1"/>
            <p:nvPr/>
          </p:nvSpPr>
          <p:spPr>
            <a:xfrm>
              <a:off x="5697415" y="5221224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100k</a:t>
              </a:r>
            </a:p>
          </p:txBody>
        </p:sp>
        <p:cxnSp>
          <p:nvCxnSpPr>
            <p:cNvPr id="122" name="Connector 121"/>
            <p:cNvCxnSpPr/>
            <p:nvPr/>
          </p:nvCxnSpPr>
          <p:spPr>
            <a:xfrm>
              <a:off x="7005711" y="5120640"/>
              <a:ext cx="0" cy="64008"/>
            </a:xfrm>
            <a:prstGeom prst="line">
              <a:avLst/>
            </a:prstGeom>
            <a:ln w="12700">
              <a:solidFill>
                <a:srgbClr val="A9B1B9"/>
              </a:solidFill>
            </a:ln>
            <a:effectLst/>
          </p:spPr>
        </p:cxnSp>
        <p:sp>
          <p:nvSpPr>
            <p:cNvPr id="123" name="TextBox 122"/>
            <p:cNvSpPr txBox="1"/>
            <p:nvPr/>
          </p:nvSpPr>
          <p:spPr>
            <a:xfrm>
              <a:off x="6639951" y="5221224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120k</a:t>
              </a:r>
            </a:p>
          </p:txBody>
        </p:sp>
        <p:cxnSp>
          <p:nvCxnSpPr>
            <p:cNvPr id="124" name="Connector 123"/>
            <p:cNvCxnSpPr/>
            <p:nvPr/>
          </p:nvCxnSpPr>
          <p:spPr>
            <a:xfrm>
              <a:off x="7948246" y="5120640"/>
              <a:ext cx="0" cy="64008"/>
            </a:xfrm>
            <a:prstGeom prst="line">
              <a:avLst/>
            </a:prstGeom>
            <a:ln w="12700">
              <a:solidFill>
                <a:srgbClr val="A9B1B9"/>
              </a:solidFill>
            </a:ln>
            <a:effectLst/>
          </p:spPr>
        </p:cxnSp>
        <p:sp>
          <p:nvSpPr>
            <p:cNvPr id="125" name="TextBox 124"/>
            <p:cNvSpPr txBox="1"/>
            <p:nvPr/>
          </p:nvSpPr>
          <p:spPr>
            <a:xfrm>
              <a:off x="7582486" y="5221224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140k</a:t>
              </a:r>
            </a:p>
          </p:txBody>
        </p:sp>
        <p:cxnSp>
          <p:nvCxnSpPr>
            <p:cNvPr id="126" name="Connector 125"/>
            <p:cNvCxnSpPr/>
            <p:nvPr/>
          </p:nvCxnSpPr>
          <p:spPr>
            <a:xfrm>
              <a:off x="8890782" y="5120640"/>
              <a:ext cx="0" cy="64008"/>
            </a:xfrm>
            <a:prstGeom prst="line">
              <a:avLst/>
            </a:prstGeom>
            <a:ln w="12700">
              <a:solidFill>
                <a:srgbClr val="A9B1B9"/>
              </a:solidFill>
            </a:ln>
            <a:effectLst/>
          </p:spPr>
        </p:cxnSp>
        <p:sp>
          <p:nvSpPr>
            <p:cNvPr id="127" name="TextBox 126"/>
            <p:cNvSpPr txBox="1"/>
            <p:nvPr/>
          </p:nvSpPr>
          <p:spPr>
            <a:xfrm>
              <a:off x="8525022" y="5221224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160k</a:t>
              </a:r>
            </a:p>
          </p:txBody>
        </p:sp>
        <p:cxnSp>
          <p:nvCxnSpPr>
            <p:cNvPr id="128" name="Connector 127"/>
            <p:cNvCxnSpPr/>
            <p:nvPr/>
          </p:nvCxnSpPr>
          <p:spPr>
            <a:xfrm>
              <a:off x="9833317" y="5120640"/>
              <a:ext cx="0" cy="64008"/>
            </a:xfrm>
            <a:prstGeom prst="line">
              <a:avLst/>
            </a:prstGeom>
            <a:ln w="12700">
              <a:solidFill>
                <a:srgbClr val="A9B1B9"/>
              </a:solidFill>
            </a:ln>
            <a:effectLst/>
          </p:spPr>
        </p:cxnSp>
        <p:sp>
          <p:nvSpPr>
            <p:cNvPr id="129" name="TextBox 128"/>
            <p:cNvSpPr txBox="1"/>
            <p:nvPr/>
          </p:nvSpPr>
          <p:spPr>
            <a:xfrm>
              <a:off x="9467557" y="5221224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180k</a:t>
              </a:r>
            </a:p>
          </p:txBody>
        </p:sp>
        <p:cxnSp>
          <p:nvCxnSpPr>
            <p:cNvPr id="130" name="Connector 129"/>
            <p:cNvCxnSpPr/>
            <p:nvPr/>
          </p:nvCxnSpPr>
          <p:spPr>
            <a:xfrm>
              <a:off x="10775852" y="5120640"/>
              <a:ext cx="0" cy="64008"/>
            </a:xfrm>
            <a:prstGeom prst="line">
              <a:avLst/>
            </a:prstGeom>
            <a:ln w="12700">
              <a:solidFill>
                <a:srgbClr val="A9B1B9"/>
              </a:solidFill>
            </a:ln>
            <a:effectLst/>
          </p:spPr>
        </p:cxnSp>
        <p:sp>
          <p:nvSpPr>
            <p:cNvPr id="131" name="TextBox 130"/>
            <p:cNvSpPr txBox="1"/>
            <p:nvPr/>
          </p:nvSpPr>
          <p:spPr>
            <a:xfrm>
              <a:off x="10410092" y="5221224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200k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482180" y="4828032"/>
            <a:ext cx="219456" cy="219456"/>
            <a:chOff x="5482180" y="4828032"/>
            <a:chExt cx="219456" cy="219456"/>
          </a:xfrm>
        </p:grpSpPr>
        <p:sp>
          <p:nvSpPr>
            <p:cNvPr id="132" name="Oval 131"/>
            <p:cNvSpPr/>
            <p:nvPr/>
          </p:nvSpPr>
          <p:spPr>
            <a:xfrm>
              <a:off x="5482180" y="4828032"/>
              <a:ext cx="219456" cy="219456"/>
            </a:xfrm>
            <a:prstGeom prst="ellipse">
              <a:avLst/>
            </a:prstGeom>
            <a:solidFill>
              <a:srgbClr val="101820"/>
            </a:solidFill>
            <a:ln w="9525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5717814" y="4572000"/>
            <a:ext cx="219456" cy="219456"/>
            <a:chOff x="5717814" y="4572000"/>
            <a:chExt cx="219456" cy="219456"/>
          </a:xfrm>
        </p:grpSpPr>
        <p:sp>
          <p:nvSpPr>
            <p:cNvPr id="133" name="Oval 132"/>
            <p:cNvSpPr/>
            <p:nvPr/>
          </p:nvSpPr>
          <p:spPr>
            <a:xfrm>
              <a:off x="5717814" y="4572000"/>
              <a:ext cx="219456" cy="219456"/>
            </a:xfrm>
            <a:prstGeom prst="ellipse">
              <a:avLst/>
            </a:prstGeom>
            <a:solidFill>
              <a:srgbClr val="101820"/>
            </a:solidFill>
            <a:ln w="9525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906321" y="4828032"/>
            <a:ext cx="219456" cy="219456"/>
            <a:chOff x="5906321" y="4828032"/>
            <a:chExt cx="219456" cy="219456"/>
          </a:xfrm>
        </p:grpSpPr>
        <p:sp>
          <p:nvSpPr>
            <p:cNvPr id="134" name="Oval 133"/>
            <p:cNvSpPr/>
            <p:nvPr/>
          </p:nvSpPr>
          <p:spPr>
            <a:xfrm>
              <a:off x="5906321" y="4828032"/>
              <a:ext cx="219456" cy="219456"/>
            </a:xfrm>
            <a:prstGeom prst="ellipse">
              <a:avLst/>
            </a:prstGeom>
            <a:solidFill>
              <a:srgbClr val="101820"/>
            </a:solidFill>
            <a:ln w="9525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953447" y="4315968"/>
            <a:ext cx="219456" cy="219456"/>
            <a:chOff x="5953447" y="4315968"/>
            <a:chExt cx="219456" cy="219456"/>
          </a:xfrm>
        </p:grpSpPr>
        <p:sp>
          <p:nvSpPr>
            <p:cNvPr id="135" name="Oval 134"/>
            <p:cNvSpPr/>
            <p:nvPr/>
          </p:nvSpPr>
          <p:spPr>
            <a:xfrm>
              <a:off x="5953447" y="4315968"/>
              <a:ext cx="219456" cy="219456"/>
            </a:xfrm>
            <a:prstGeom prst="ellipse">
              <a:avLst/>
            </a:prstGeom>
            <a:solidFill>
              <a:srgbClr val="101820"/>
            </a:solidFill>
            <a:ln w="9525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953447" y="4059936"/>
            <a:ext cx="219456" cy="219456"/>
            <a:chOff x="5953447" y="4059936"/>
            <a:chExt cx="219456" cy="219456"/>
          </a:xfrm>
        </p:grpSpPr>
        <p:sp>
          <p:nvSpPr>
            <p:cNvPr id="136" name="Oval 135"/>
            <p:cNvSpPr/>
            <p:nvPr/>
          </p:nvSpPr>
          <p:spPr>
            <a:xfrm>
              <a:off x="5953447" y="4059936"/>
              <a:ext cx="219456" cy="219456"/>
            </a:xfrm>
            <a:prstGeom prst="ellipse">
              <a:avLst/>
            </a:prstGeom>
            <a:solidFill>
              <a:srgbClr val="298FC2"/>
            </a:solidFill>
            <a:ln w="9525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943110" y="4828032"/>
            <a:ext cx="219456" cy="219456"/>
            <a:chOff x="6943110" y="4828032"/>
            <a:chExt cx="219456" cy="219456"/>
          </a:xfrm>
        </p:grpSpPr>
        <p:sp>
          <p:nvSpPr>
            <p:cNvPr id="137" name="Oval 136"/>
            <p:cNvSpPr/>
            <p:nvPr/>
          </p:nvSpPr>
          <p:spPr>
            <a:xfrm>
              <a:off x="6943110" y="4828032"/>
              <a:ext cx="219456" cy="219456"/>
            </a:xfrm>
            <a:prstGeom prst="ellipse">
              <a:avLst/>
            </a:prstGeom>
            <a:solidFill>
              <a:srgbClr val="298FC2"/>
            </a:solidFill>
            <a:ln w="9525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555758" y="4828032"/>
            <a:ext cx="219456" cy="219456"/>
            <a:chOff x="7555758" y="4828032"/>
            <a:chExt cx="219456" cy="219456"/>
          </a:xfrm>
        </p:grpSpPr>
        <p:sp>
          <p:nvSpPr>
            <p:cNvPr id="138" name="Oval 137"/>
            <p:cNvSpPr/>
            <p:nvPr/>
          </p:nvSpPr>
          <p:spPr>
            <a:xfrm>
              <a:off x="7555758" y="4828032"/>
              <a:ext cx="219456" cy="219456"/>
            </a:xfrm>
            <a:prstGeom prst="ellipse">
              <a:avLst/>
            </a:prstGeom>
            <a:solidFill>
              <a:srgbClr val="FFA300"/>
            </a:solidFill>
            <a:ln w="9525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602884" y="4572000"/>
            <a:ext cx="219456" cy="219456"/>
            <a:chOff x="7602884" y="4572000"/>
            <a:chExt cx="219456" cy="219456"/>
          </a:xfrm>
        </p:grpSpPr>
        <p:sp>
          <p:nvSpPr>
            <p:cNvPr id="139" name="Oval 138"/>
            <p:cNvSpPr/>
            <p:nvPr/>
          </p:nvSpPr>
          <p:spPr>
            <a:xfrm>
              <a:off x="7602884" y="4572000"/>
              <a:ext cx="219456" cy="219456"/>
            </a:xfrm>
            <a:prstGeom prst="ellipse">
              <a:avLst/>
            </a:prstGeom>
            <a:solidFill>
              <a:srgbClr val="298FC2"/>
            </a:solidFill>
            <a:ln w="9525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706563" y="4315968"/>
            <a:ext cx="219456" cy="219456"/>
            <a:chOff x="7706563" y="4315968"/>
            <a:chExt cx="219456" cy="219456"/>
          </a:xfrm>
        </p:grpSpPr>
        <p:sp>
          <p:nvSpPr>
            <p:cNvPr id="140" name="Oval 139"/>
            <p:cNvSpPr/>
            <p:nvPr/>
          </p:nvSpPr>
          <p:spPr>
            <a:xfrm>
              <a:off x="7706563" y="4315968"/>
              <a:ext cx="219456" cy="219456"/>
            </a:xfrm>
            <a:prstGeom prst="ellipse">
              <a:avLst/>
            </a:prstGeom>
            <a:solidFill>
              <a:srgbClr val="298FC2"/>
            </a:solidFill>
            <a:ln w="9525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0666124" y="4828032"/>
            <a:ext cx="219456" cy="219456"/>
            <a:chOff x="10666124" y="4828032"/>
            <a:chExt cx="219456" cy="219456"/>
          </a:xfrm>
        </p:grpSpPr>
        <p:sp>
          <p:nvSpPr>
            <p:cNvPr id="141" name="Oval 140"/>
            <p:cNvSpPr/>
            <p:nvPr/>
          </p:nvSpPr>
          <p:spPr>
            <a:xfrm>
              <a:off x="10666124" y="4828032"/>
              <a:ext cx="219456" cy="219456"/>
            </a:xfrm>
            <a:prstGeom prst="ellipse">
              <a:avLst/>
            </a:prstGeom>
            <a:solidFill>
              <a:srgbClr val="298FC2"/>
            </a:solidFill>
            <a:ln w="9525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591908" y="3703320"/>
            <a:ext cx="5183944" cy="128016"/>
            <a:chOff x="5591908" y="3703320"/>
            <a:chExt cx="5183944" cy="128016"/>
          </a:xfrm>
        </p:grpSpPr>
        <p:cxnSp>
          <p:nvCxnSpPr>
            <p:cNvPr id="142" name="Connector 141"/>
            <p:cNvCxnSpPr/>
            <p:nvPr/>
          </p:nvCxnSpPr>
          <p:spPr>
            <a:xfrm>
              <a:off x="5591908" y="3703320"/>
              <a:ext cx="5183944" cy="0"/>
            </a:xfrm>
            <a:prstGeom prst="line">
              <a:avLst/>
            </a:prstGeom>
            <a:ln w="25400">
              <a:solidFill>
                <a:srgbClr val="D22730"/>
              </a:solidFill>
            </a:ln>
            <a:effectLst/>
          </p:spPr>
        </p:cxnSp>
        <p:cxnSp>
          <p:nvCxnSpPr>
            <p:cNvPr id="143" name="Connector 142"/>
            <p:cNvCxnSpPr/>
            <p:nvPr/>
          </p:nvCxnSpPr>
          <p:spPr>
            <a:xfrm>
              <a:off x="5591908" y="3703320"/>
              <a:ext cx="0" cy="128016"/>
            </a:xfrm>
            <a:prstGeom prst="line">
              <a:avLst/>
            </a:prstGeom>
            <a:ln w="25400">
              <a:solidFill>
                <a:srgbClr val="D22730"/>
              </a:solidFill>
            </a:ln>
            <a:effectLst/>
          </p:spPr>
        </p:cxnSp>
        <p:cxnSp>
          <p:nvCxnSpPr>
            <p:cNvPr id="144" name="Connector 143"/>
            <p:cNvCxnSpPr/>
            <p:nvPr/>
          </p:nvCxnSpPr>
          <p:spPr>
            <a:xfrm>
              <a:off x="10775852" y="3703320"/>
              <a:ext cx="0" cy="128016"/>
            </a:xfrm>
            <a:prstGeom prst="line">
              <a:avLst/>
            </a:prstGeom>
            <a:ln w="25400">
              <a:solidFill>
                <a:srgbClr val="D22730"/>
              </a:solidFill>
            </a:ln>
            <a:effectLst/>
          </p:spPr>
        </p:cxnSp>
      </p:grpSp>
      <p:grpSp>
        <p:nvGrpSpPr>
          <p:cNvPr id="16" name="Group 15"/>
          <p:cNvGrpSpPr/>
          <p:nvPr/>
        </p:nvGrpSpPr>
        <p:grpSpPr>
          <a:xfrm>
            <a:off x="6812280" y="2788920"/>
            <a:ext cx="2743200" cy="548640"/>
            <a:chOff x="6812280" y="2788920"/>
            <a:chExt cx="2743200" cy="548640"/>
          </a:xfrm>
        </p:grpSpPr>
        <p:sp>
          <p:nvSpPr>
            <p:cNvPr id="145" name="TextBox 144"/>
            <p:cNvSpPr txBox="1"/>
            <p:nvPr/>
          </p:nvSpPr>
          <p:spPr>
            <a:xfrm>
              <a:off x="6812280" y="2788920"/>
              <a:ext cx="2743200" cy="5486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4000" b="1" lang="en-US">
                  <a:solidFill>
                    <a:srgbClr val="D22730"/>
                  </a:solidFill>
                  <a:latin typeface="Comfortaa"/>
                  <a:cs typeface="Comfortaa"/>
                </a:rPr>
                <a:t>+122%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897880" y="3310128"/>
            <a:ext cx="4572000" cy="274320"/>
            <a:chOff x="5897880" y="3310128"/>
            <a:chExt cx="4572000" cy="274320"/>
          </a:xfrm>
        </p:grpSpPr>
        <p:sp>
          <p:nvSpPr>
            <p:cNvPr id="146" name="TextBox 145"/>
            <p:cNvSpPr txBox="1"/>
            <p:nvPr/>
          </p:nvSpPr>
          <p:spPr>
            <a:xfrm>
              <a:off x="5897880" y="3310128"/>
              <a:ext cx="457200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101820"/>
                  </a:solidFill>
                  <a:latin typeface="Inter"/>
                  <a:cs typeface="Inter"/>
                </a:rPr>
                <a:t>≈ 110,000 IQD more for the same model</a:t>
              </a:r>
            </a:p>
          </p:txBody>
        </p:sp>
      </p:grp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12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723900" y="5848350"/>
            <a:ext cx="10744200" cy="514350"/>
          </a:xfrm>
          <a:prstGeom prst="roundRect">
            <a:avLst>
              <a:gd fmla="val 25925" name="adj"/>
            </a:avLst>
          </a:prstGeom>
          <a:solidFill>
            <a:srgbClr val="0105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00075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0650" y="600075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4937" y="600075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15425" y="600075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1543050" y="6010275"/>
            <a:ext cx="1104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capa.auk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367337" y="6010275"/>
            <a:ext cx="1181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CAPA AUK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228534" y="6010275"/>
            <a:ext cx="21074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capa@auk.edu.krd</a:t>
            </a:r>
            <a:endParaRPr/>
          </a:p>
        </p:txBody>
      </p:sp>
      <p:pic>
        <p:nvPicPr>
          <p:cNvPr id="112" name="Google Shape;112;p15" title="Center_for_Academic_and_Professional_Advancemen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88575" y="351575"/>
            <a:ext cx="4058099" cy="123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title="german cooperation deutsche zusammenarbei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3901" y="459625"/>
            <a:ext cx="1823430" cy="102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Picture 113" descr="cheapify-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5788" y="1554480"/>
            <a:ext cx="960120" cy="123444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0" y="283464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600" b="1" lang="en-US">
                <a:solidFill>
                  <a:srgbClr val="101820"/>
                </a:solidFill>
                <a:latin typeface="Comfortaa"/>
                <a:cs typeface="Comfortaa"/>
              </a:rPr>
              <a:t>Thank you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0" y="3611880"/>
            <a:ext cx="12191695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0" lang="en-US">
                <a:solidFill>
                  <a:srgbClr val="298FC2"/>
                </a:solidFill>
                <a:latin typeface="Comfortaa"/>
                <a:cs typeface="Comfortaa"/>
              </a:rPr>
              <a:t>The bright side of choosing.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0" y="4041648"/>
            <a:ext cx="12191695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2000" b="0" lang="ar-IQ">
                <a:solidFill>
                  <a:srgbClr val="101820"/>
                </a:solidFill>
                <a:latin typeface="IBM Plex Sans Arabic"/>
                <a:cs typeface="IBM Plex Sans Arabic"/>
              </a:rPr>
              <a:t>ڕوویێ گەش یێ هەلبژارتنێ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0" y="4462272"/>
            <a:ext cx="12191695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2000" b="0" lang="ar-IQ">
                <a:solidFill>
                  <a:srgbClr val="101820"/>
                </a:solidFill>
                <a:latin typeface="IBM Plex Sans Arabic"/>
                <a:cs typeface="IBM Plex Sans Arabic"/>
              </a:rPr>
              <a:t>الجانب المشرق للاختيار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0" y="495604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lang="en-US">
                <a:solidFill>
                  <a:srgbClr val="298FC2"/>
                </a:solidFill>
                <a:latin typeface="Inter"/>
                <a:cs typeface="Inter"/>
              </a:rPr>
              <a:t>getcheapify.com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0" y="5257800"/>
            <a:ext cx="1219169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Shakir Bashar · Founder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Problem · evidence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It's not one product. It's the whole market.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2376" y="6455664"/>
            <a:ext cx="107442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5A6672"/>
                </a:solidFill>
                <a:latin typeface="Inter"/>
                <a:cs typeface="Inter"/>
              </a:rPr>
              <a:t>Screenshots Sep–Oct 2026 (shop names and phone numbers blurred) · Cheapify market survey, n=199 (179 shoppers, 20 merchants), Sep–Oct 2026.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22376" y="2468880"/>
            <a:ext cx="3246120" cy="3017520"/>
            <a:chOff x="722376" y="2468880"/>
            <a:chExt cx="3246120" cy="3017520"/>
          </a:xfrm>
        </p:grpSpPr>
        <p:sp>
          <p:nvSpPr>
            <p:cNvPr id="104" name="Rounded Rectangle 103"/>
            <p:cNvSpPr/>
            <p:nvPr/>
          </p:nvSpPr>
          <p:spPr>
            <a:xfrm>
              <a:off x="722376" y="2468880"/>
              <a:ext cx="3246120" cy="3017520"/>
            </a:xfrm>
            <a:prstGeom prst="roundRect">
              <a:avLst>
                <a:gd name="adj" fmla="val 4242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859536" y="2606040"/>
              <a:ext cx="2971800" cy="2011680"/>
            </a:xfrm>
            <a:prstGeom prst="roundRect">
              <a:avLst>
                <a:gd name="adj" fmla="val 3636"/>
              </a:avLst>
            </a:prstGeom>
            <a:solidFill>
              <a:srgbClr val="F4F6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06" name="Picture 105" descr="ev-ibazzar-xiaomi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5431" y="2606040"/>
              <a:ext cx="1420009" cy="2011680"/>
            </a:xfrm>
            <a:prstGeom prst="rect">
              <a:avLst/>
            </a:prstGeom>
          </p:spPr>
        </p:pic>
        <p:sp>
          <p:nvSpPr>
            <p:cNvPr id="107" name="TextBox 106"/>
            <p:cNvSpPr txBox="1"/>
            <p:nvPr/>
          </p:nvSpPr>
          <p:spPr>
            <a:xfrm>
              <a:off x="859536" y="4709160"/>
              <a:ext cx="2971800" cy="32918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400" b="1" lang="en-US">
                  <a:solidFill>
                    <a:srgbClr val="101820"/>
                  </a:solidFill>
                  <a:latin typeface="Inter"/>
                  <a:cs typeface="Inter"/>
                </a:rPr>
                <a:t>Same product, listed twice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859536" y="5047488"/>
              <a:ext cx="2971800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050" b="0" lang="en-US">
                  <a:solidFill>
                    <a:srgbClr val="5A6672"/>
                  </a:solidFill>
                  <a:latin typeface="Inter"/>
                  <a:cs typeface="Inter"/>
                </a:rPr>
                <a:t>iBazzar app · 60,000 vs 70,000 IQD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690654" y="3434379"/>
            <a:ext cx="971654" cy="1097878"/>
            <a:chOff x="1690654" y="3434379"/>
            <a:chExt cx="971654" cy="1097878"/>
          </a:xfrm>
        </p:grpSpPr>
        <p:sp>
          <p:nvSpPr>
            <p:cNvPr id="109" name="Rounded Rectangle 108"/>
            <p:cNvSpPr/>
            <p:nvPr/>
          </p:nvSpPr>
          <p:spPr>
            <a:xfrm>
              <a:off x="2373047" y="3434379"/>
              <a:ext cx="289261" cy="7626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D2273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Rounded Rectangle 109"/>
            <p:cNvSpPr/>
            <p:nvPr/>
          </p:nvSpPr>
          <p:spPr>
            <a:xfrm>
              <a:off x="1690654" y="4454682"/>
              <a:ext cx="295835" cy="77575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D2273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471416" y="2468880"/>
            <a:ext cx="3246120" cy="3017520"/>
            <a:chOff x="4471416" y="2468880"/>
            <a:chExt cx="3246120" cy="3017520"/>
          </a:xfrm>
        </p:grpSpPr>
        <p:sp>
          <p:nvSpPr>
            <p:cNvPr id="111" name="Rounded Rectangle 110"/>
            <p:cNvSpPr/>
            <p:nvPr/>
          </p:nvSpPr>
          <p:spPr>
            <a:xfrm>
              <a:off x="4471416" y="2468880"/>
              <a:ext cx="3246120" cy="3017520"/>
            </a:xfrm>
            <a:prstGeom prst="roundRect">
              <a:avLst>
                <a:gd name="adj" fmla="val 4242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4608576" y="2606040"/>
              <a:ext cx="2971800" cy="2011680"/>
            </a:xfrm>
            <a:prstGeom prst="roundRect">
              <a:avLst>
                <a:gd name="adj" fmla="val 3636"/>
              </a:avLst>
            </a:prstGeom>
            <a:solidFill>
              <a:srgbClr val="F4F6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13" name="Picture 112" descr="ev-instagram-noprice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48571" y="2606040"/>
              <a:ext cx="2091810" cy="2011680"/>
            </a:xfrm>
            <a:prstGeom prst="rect">
              <a:avLst/>
            </a:prstGeom>
          </p:spPr>
        </p:pic>
        <p:sp>
          <p:nvSpPr>
            <p:cNvPr id="114" name="TextBox 113"/>
            <p:cNvSpPr txBox="1"/>
            <p:nvPr/>
          </p:nvSpPr>
          <p:spPr>
            <a:xfrm>
              <a:off x="4608576" y="4709160"/>
              <a:ext cx="2971800" cy="32918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400" b="1" lang="en-US">
                  <a:solidFill>
                    <a:srgbClr val="101820"/>
                  </a:solidFill>
                  <a:latin typeface="Inter"/>
                  <a:cs typeface="Inter"/>
                </a:rPr>
                <a:t>No price: 'call to order'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4608576" y="5047488"/>
              <a:ext cx="2971800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050" b="0" lang="en-US">
                  <a:solidFill>
                    <a:srgbClr val="5A6672"/>
                  </a:solidFill>
                  <a:latin typeface="Inter"/>
                  <a:cs typeface="Inter"/>
                </a:rPr>
                <a:t>Instagram · a buyer asks: “How much is it?”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293178" y="4486982"/>
            <a:ext cx="362693" cy="126521"/>
            <a:chOff x="5293178" y="4486982"/>
            <a:chExt cx="362693" cy="126521"/>
          </a:xfrm>
        </p:grpSpPr>
        <p:sp>
          <p:nvSpPr>
            <p:cNvPr id="116" name="Rounded Rectangle 115"/>
            <p:cNvSpPr/>
            <p:nvPr/>
          </p:nvSpPr>
          <p:spPr>
            <a:xfrm>
              <a:off x="5293178" y="4486982"/>
              <a:ext cx="362693" cy="126521"/>
            </a:xfrm>
            <a:prstGeom prst="roundRect">
              <a:avLst>
                <a:gd name="adj" fmla="val 43363"/>
              </a:avLst>
            </a:prstGeom>
            <a:noFill/>
            <a:ln w="28575">
              <a:solidFill>
                <a:srgbClr val="D2273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8220456" y="2468880"/>
            <a:ext cx="3246120" cy="3017520"/>
            <a:chOff x="8220456" y="2468880"/>
            <a:chExt cx="3246120" cy="3017520"/>
          </a:xfrm>
        </p:grpSpPr>
        <p:sp>
          <p:nvSpPr>
            <p:cNvPr id="117" name="Rounded Rectangle 116"/>
            <p:cNvSpPr/>
            <p:nvPr/>
          </p:nvSpPr>
          <p:spPr>
            <a:xfrm>
              <a:off x="8220456" y="2468880"/>
              <a:ext cx="3246120" cy="3017520"/>
            </a:xfrm>
            <a:prstGeom prst="roundRect">
              <a:avLst>
                <a:gd name="adj" fmla="val 4242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Rounded Rectangle 117"/>
            <p:cNvSpPr/>
            <p:nvPr/>
          </p:nvSpPr>
          <p:spPr>
            <a:xfrm>
              <a:off x="8357616" y="2606040"/>
              <a:ext cx="2971800" cy="2011680"/>
            </a:xfrm>
            <a:prstGeom prst="roundRect">
              <a:avLst>
                <a:gd name="adj" fmla="val 3636"/>
              </a:avLst>
            </a:prstGeom>
            <a:solidFill>
              <a:srgbClr val="F4F6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19" name="Picture 118" descr="ev-vacuum-fakedeal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57616" y="2737535"/>
              <a:ext cx="2971800" cy="1748690"/>
            </a:xfrm>
            <a:prstGeom prst="rect">
              <a:avLst/>
            </a:prstGeom>
          </p:spPr>
        </p:pic>
        <p:sp>
          <p:nvSpPr>
            <p:cNvPr id="120" name="TextBox 119"/>
            <p:cNvSpPr txBox="1"/>
            <p:nvPr/>
          </p:nvSpPr>
          <p:spPr>
            <a:xfrm>
              <a:off x="8357616" y="4709160"/>
              <a:ext cx="2971800" cy="32918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400" b="1" lang="en-US">
                  <a:solidFill>
                    <a:srgbClr val="101820"/>
                  </a:solidFill>
                  <a:latin typeface="Inter"/>
                  <a:cs typeface="Inter"/>
                </a:rPr>
                <a:t>A fake “deal”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8357616" y="5047488"/>
              <a:ext cx="2971800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050" b="0" lang="en-US">
                  <a:solidFill>
                    <a:srgbClr val="5A6672"/>
                  </a:solidFill>
                  <a:latin typeface="Inter"/>
                  <a:cs typeface="Inter"/>
                </a:rPr>
                <a:t>Same Newal vacuum: 95,000 on Instagram · “−35%” at 133,250 on Miswag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9606680" y="3146320"/>
            <a:ext cx="1706515" cy="1323684"/>
            <a:chOff x="9606680" y="3146320"/>
            <a:chExt cx="1706515" cy="1323684"/>
          </a:xfrm>
        </p:grpSpPr>
        <p:sp>
          <p:nvSpPr>
            <p:cNvPr id="122" name="Rounded Rectangle 121"/>
            <p:cNvSpPr/>
            <p:nvPr/>
          </p:nvSpPr>
          <p:spPr>
            <a:xfrm>
              <a:off x="9606680" y="3146320"/>
              <a:ext cx="343898" cy="311455"/>
            </a:xfrm>
            <a:prstGeom prst="roundRect">
              <a:avLst>
                <a:gd name="adj" fmla="val 17615"/>
              </a:avLst>
            </a:prstGeom>
            <a:noFill/>
            <a:ln w="28575">
              <a:solidFill>
                <a:srgbClr val="D2273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Rounded Rectangle 122"/>
            <p:cNvSpPr/>
            <p:nvPr/>
          </p:nvSpPr>
          <p:spPr>
            <a:xfrm>
              <a:off x="10190659" y="4273722"/>
              <a:ext cx="1122536" cy="196282"/>
            </a:xfrm>
            <a:prstGeom prst="roundRect">
              <a:avLst>
                <a:gd name="adj" fmla="val 27951"/>
              </a:avLst>
            </a:prstGeom>
            <a:noFill/>
            <a:ln w="28575">
              <a:solidFill>
                <a:srgbClr val="D2273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22376" y="5623560"/>
            <a:ext cx="1325880" cy="640080"/>
            <a:chOff x="722376" y="5623560"/>
            <a:chExt cx="1325880" cy="640080"/>
          </a:xfrm>
        </p:grpSpPr>
        <p:sp>
          <p:nvSpPr>
            <p:cNvPr id="124" name="TextBox 123"/>
            <p:cNvSpPr txBox="1"/>
            <p:nvPr/>
          </p:nvSpPr>
          <p:spPr>
            <a:xfrm>
              <a:off x="722376" y="5623560"/>
              <a:ext cx="1325880" cy="6400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3400" b="1" lang="en-US">
                  <a:solidFill>
                    <a:srgbClr val="298FC2"/>
                  </a:solidFill>
                  <a:latin typeface="Comfortaa"/>
                  <a:cs typeface="Comfortaa"/>
                </a:rPr>
                <a:t>97%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103120" y="5650992"/>
            <a:ext cx="3749040" cy="640080"/>
            <a:chOff x="2103120" y="5650992"/>
            <a:chExt cx="3749040" cy="640080"/>
          </a:xfrm>
        </p:grpSpPr>
        <p:sp>
          <p:nvSpPr>
            <p:cNvPr id="125" name="TextBox 124"/>
            <p:cNvSpPr txBox="1"/>
            <p:nvPr/>
          </p:nvSpPr>
          <p:spPr>
            <a:xfrm>
              <a:off x="2103120" y="5650992"/>
              <a:ext cx="3749040" cy="6400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400" b="0" lang="en-US">
                  <a:solidFill>
                    <a:srgbClr val="101820"/>
                  </a:solidFill>
                  <a:latin typeface="Inter"/>
                  <a:cs typeface="Inter"/>
                </a:rPr>
                <a:t>of 179 surveyed shoppers notice big price gaps on the same item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309360" y="5623560"/>
            <a:ext cx="1325880" cy="640080"/>
            <a:chOff x="6309360" y="5623560"/>
            <a:chExt cx="1325880" cy="640080"/>
          </a:xfrm>
        </p:grpSpPr>
        <p:sp>
          <p:nvSpPr>
            <p:cNvPr id="126" name="TextBox 125"/>
            <p:cNvSpPr txBox="1"/>
            <p:nvPr/>
          </p:nvSpPr>
          <p:spPr>
            <a:xfrm>
              <a:off x="6309360" y="5623560"/>
              <a:ext cx="1325880" cy="6400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3400" b="1" lang="en-US">
                  <a:solidFill>
                    <a:srgbClr val="298FC2"/>
                  </a:solidFill>
                  <a:latin typeface="Comfortaa"/>
                  <a:cs typeface="Comfortaa"/>
                </a:rPr>
                <a:t>55%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680960" y="5650992"/>
            <a:ext cx="3749040" cy="640080"/>
            <a:chOff x="7680960" y="5650992"/>
            <a:chExt cx="3749040" cy="640080"/>
          </a:xfrm>
        </p:grpSpPr>
        <p:sp>
          <p:nvSpPr>
            <p:cNvPr id="127" name="TextBox 126"/>
            <p:cNvSpPr txBox="1"/>
            <p:nvPr/>
          </p:nvSpPr>
          <p:spPr>
            <a:xfrm>
              <a:off x="7680960" y="5650992"/>
              <a:ext cx="3749040" cy="6400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400" b="0" lang="en-US">
                  <a:solidFill>
                    <a:srgbClr val="101820"/>
                  </a:solidFill>
                  <a:latin typeface="Inter"/>
                  <a:cs typeface="Inter"/>
                </a:rPr>
                <a:t>of merchants pick answering “price?” messages as a top headache — the most common answer</a:t>
              </a:r>
            </a:p>
          </p:txBody>
        </p:sp>
      </p:grp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Solution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One product. One page. Every seller.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2376" y="6455664"/>
            <a:ext cx="107442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5A6672"/>
                </a:solidFill>
                <a:latin typeface="Inter"/>
                <a:cs typeface="Inter"/>
              </a:rPr>
              <a:t>Illustration — store names and prices are examples.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914400" y="2697480"/>
            <a:ext cx="1965960" cy="868680"/>
            <a:chOff x="914400" y="2697480"/>
            <a:chExt cx="1965960" cy="868680"/>
          </a:xfrm>
        </p:grpSpPr>
        <p:sp>
          <p:nvSpPr>
            <p:cNvPr id="104" name="Rounded Rectangle 103"/>
            <p:cNvSpPr/>
            <p:nvPr/>
          </p:nvSpPr>
          <p:spPr>
            <a:xfrm>
              <a:off x="914400" y="2697480"/>
              <a:ext cx="1965960" cy="868680"/>
            </a:xfrm>
            <a:prstGeom prst="roundRect">
              <a:avLst>
                <a:gd name="adj" fmla="val 14736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1051560" y="2788920"/>
              <a:ext cx="173736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Instagram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051560" y="2971800"/>
              <a:ext cx="1737360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100" b="0" lang="en-US">
                  <a:solidFill>
                    <a:srgbClr val="101820"/>
                  </a:solidFill>
                  <a:latin typeface="Inter"/>
                  <a:cs typeface="Inter"/>
                </a:rPr>
                <a:t>Anker 25K 165W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051560" y="3172968"/>
              <a:ext cx="1737360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600" b="1" lang="en-US">
                  <a:solidFill>
                    <a:srgbClr val="101820"/>
                  </a:solidFill>
                  <a:latin typeface="Inter"/>
                  <a:cs typeface="Inter"/>
                </a:rPr>
                <a:t>95,000 IQD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749040" y="3063240"/>
            <a:ext cx="1965960" cy="868680"/>
            <a:chOff x="3749040" y="3063240"/>
            <a:chExt cx="1965960" cy="868680"/>
          </a:xfrm>
        </p:grpSpPr>
        <p:sp>
          <p:nvSpPr>
            <p:cNvPr id="108" name="Rounded Rectangle 107"/>
            <p:cNvSpPr/>
            <p:nvPr/>
          </p:nvSpPr>
          <p:spPr>
            <a:xfrm>
              <a:off x="3749040" y="3063240"/>
              <a:ext cx="1965960" cy="868680"/>
            </a:xfrm>
            <a:prstGeom prst="roundRect">
              <a:avLst>
                <a:gd name="adj" fmla="val 14736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886200" y="3154680"/>
              <a:ext cx="173736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Miswag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3886200" y="3337560"/>
              <a:ext cx="1737360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100" b="0" lang="en-US">
                  <a:solidFill>
                    <a:srgbClr val="101820"/>
                  </a:solidFill>
                  <a:latin typeface="Inter"/>
                  <a:cs typeface="Inter"/>
                </a:rPr>
                <a:t>Anker 25K 165W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3886200" y="3538728"/>
              <a:ext cx="1737360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600" b="1" lang="en-US">
                  <a:solidFill>
                    <a:srgbClr val="101820"/>
                  </a:solidFill>
                  <a:latin typeface="Inter"/>
                  <a:cs typeface="Inter"/>
                </a:rPr>
                <a:t>200,000 IQD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949440" y="2606040"/>
            <a:ext cx="1965960" cy="868680"/>
            <a:chOff x="6949440" y="2606040"/>
            <a:chExt cx="1965960" cy="868680"/>
          </a:xfrm>
        </p:grpSpPr>
        <p:sp>
          <p:nvSpPr>
            <p:cNvPr id="112" name="Rounded Rectangle 111"/>
            <p:cNvSpPr/>
            <p:nvPr/>
          </p:nvSpPr>
          <p:spPr>
            <a:xfrm>
              <a:off x="6949440" y="2606040"/>
              <a:ext cx="1965960" cy="868680"/>
            </a:xfrm>
            <a:prstGeom prst="roundRect">
              <a:avLst>
                <a:gd name="adj" fmla="val 14736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7086600" y="2697480"/>
              <a:ext cx="173736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iBazzar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086600" y="2880360"/>
              <a:ext cx="1737360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100" b="0" lang="en-US">
                  <a:solidFill>
                    <a:srgbClr val="101820"/>
                  </a:solidFill>
                  <a:latin typeface="Inter"/>
                  <a:cs typeface="Inter"/>
                </a:rPr>
                <a:t>Anker 25K 165W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7086600" y="3081528"/>
              <a:ext cx="1737360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600" b="1" lang="en-US">
                  <a:solidFill>
                    <a:srgbClr val="101820"/>
                  </a:solidFill>
                  <a:latin typeface="Inter"/>
                  <a:cs typeface="Inter"/>
                </a:rPr>
                <a:t>134,000 IQD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9326880" y="3291840"/>
            <a:ext cx="1965960" cy="868680"/>
            <a:chOff x="9326880" y="3291840"/>
            <a:chExt cx="1965960" cy="868680"/>
          </a:xfrm>
        </p:grpSpPr>
        <p:sp>
          <p:nvSpPr>
            <p:cNvPr id="116" name="Rounded Rectangle 115"/>
            <p:cNvSpPr/>
            <p:nvPr/>
          </p:nvSpPr>
          <p:spPr>
            <a:xfrm>
              <a:off x="9326880" y="3291840"/>
              <a:ext cx="1965960" cy="868680"/>
            </a:xfrm>
            <a:prstGeom prst="roundRect">
              <a:avLst>
                <a:gd name="adj" fmla="val 14736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9464040" y="3383280"/>
              <a:ext cx="173736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Instagram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9464040" y="3566160"/>
              <a:ext cx="1737360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100" b="0" lang="en-US">
                  <a:solidFill>
                    <a:srgbClr val="101820"/>
                  </a:solidFill>
                  <a:latin typeface="Inter"/>
                  <a:cs typeface="Inter"/>
                </a:rPr>
                <a:t>Anker 25K 165W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9464040" y="3767328"/>
              <a:ext cx="1737360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400" b="1" lang="en-US">
                  <a:solidFill>
                    <a:srgbClr val="D22730"/>
                  </a:solidFill>
                  <a:latin typeface="Inter"/>
                  <a:cs typeface="Inter"/>
                </a:rPr>
                <a:t>Price? DM us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011680" y="4846320"/>
            <a:ext cx="1965960" cy="868680"/>
            <a:chOff x="2011680" y="4846320"/>
            <a:chExt cx="1965960" cy="868680"/>
          </a:xfrm>
        </p:grpSpPr>
        <p:sp>
          <p:nvSpPr>
            <p:cNvPr id="120" name="Rounded Rectangle 119"/>
            <p:cNvSpPr/>
            <p:nvPr/>
          </p:nvSpPr>
          <p:spPr>
            <a:xfrm>
              <a:off x="2011680" y="4846320"/>
              <a:ext cx="1965960" cy="868680"/>
            </a:xfrm>
            <a:prstGeom prst="roundRect">
              <a:avLst>
                <a:gd name="adj" fmla="val 14736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148840" y="4937760"/>
              <a:ext cx="173736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Miswag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2148840" y="5120640"/>
              <a:ext cx="1737360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100" b="0" lang="en-US">
                  <a:solidFill>
                    <a:srgbClr val="101820"/>
                  </a:solidFill>
                  <a:latin typeface="Inter"/>
                  <a:cs typeface="Inter"/>
                </a:rPr>
                <a:t>Anker 25K 165W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2148840" y="5321808"/>
              <a:ext cx="1737360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600" b="1" lang="en-US">
                  <a:solidFill>
                    <a:srgbClr val="101820"/>
                  </a:solidFill>
                  <a:latin typeface="Inter"/>
                  <a:cs typeface="Inter"/>
                </a:rPr>
                <a:t>100,000 IQD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486400" y="5120640"/>
            <a:ext cx="1965960" cy="868680"/>
            <a:chOff x="5486400" y="5120640"/>
            <a:chExt cx="1965960" cy="868680"/>
          </a:xfrm>
        </p:grpSpPr>
        <p:sp>
          <p:nvSpPr>
            <p:cNvPr id="124" name="Rounded Rectangle 123"/>
            <p:cNvSpPr/>
            <p:nvPr/>
          </p:nvSpPr>
          <p:spPr>
            <a:xfrm>
              <a:off x="5486400" y="5120640"/>
              <a:ext cx="1965960" cy="868680"/>
            </a:xfrm>
            <a:prstGeom prst="roundRect">
              <a:avLst>
                <a:gd name="adj" fmla="val 14736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623560" y="5212080"/>
              <a:ext cx="173736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Instagram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623560" y="5394960"/>
              <a:ext cx="1737360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100" b="0" lang="en-US">
                  <a:solidFill>
                    <a:srgbClr val="101820"/>
                  </a:solidFill>
                  <a:latin typeface="Inter"/>
                  <a:cs typeface="Inter"/>
                </a:rPr>
                <a:t>Anker 25K 165W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5623560" y="5596128"/>
              <a:ext cx="1737360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600" b="1" lang="en-US">
                  <a:solidFill>
                    <a:srgbClr val="101820"/>
                  </a:solidFill>
                  <a:latin typeface="Inter"/>
                  <a:cs typeface="Inter"/>
                </a:rPr>
                <a:t>99,000 IQD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503920" y="4754880"/>
            <a:ext cx="1965960" cy="868680"/>
            <a:chOff x="8503920" y="4754880"/>
            <a:chExt cx="1965960" cy="868680"/>
          </a:xfrm>
        </p:grpSpPr>
        <p:sp>
          <p:nvSpPr>
            <p:cNvPr id="128" name="Rounded Rectangle 127"/>
            <p:cNvSpPr/>
            <p:nvPr/>
          </p:nvSpPr>
          <p:spPr>
            <a:xfrm>
              <a:off x="8503920" y="4754880"/>
              <a:ext cx="1965960" cy="868680"/>
            </a:xfrm>
            <a:prstGeom prst="roundRect">
              <a:avLst>
                <a:gd name="adj" fmla="val 14736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8641080" y="4846320"/>
              <a:ext cx="173736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Miswag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8641080" y="5029200"/>
              <a:ext cx="1737360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100" b="0" lang="en-US">
                  <a:solidFill>
                    <a:srgbClr val="101820"/>
                  </a:solidFill>
                  <a:latin typeface="Inter"/>
                  <a:cs typeface="Inter"/>
                </a:rPr>
                <a:t>Anker 25K 165W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8641080" y="5230368"/>
              <a:ext cx="1737360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600" b="1" lang="en-US">
                  <a:solidFill>
                    <a:srgbClr val="101820"/>
                  </a:solidFill>
                  <a:latin typeface="Inter"/>
                  <a:cs typeface="Inter"/>
                </a:rPr>
                <a:t>121,000 IQD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737360" y="2514600"/>
            <a:ext cx="6858000" cy="3794760"/>
            <a:chOff x="1737360" y="2514600"/>
            <a:chExt cx="6858000" cy="3794760"/>
          </a:xfrm>
        </p:grpSpPr>
        <p:sp>
          <p:nvSpPr>
            <p:cNvPr id="132" name="Rounded Rectangle 131"/>
            <p:cNvSpPr/>
            <p:nvPr/>
          </p:nvSpPr>
          <p:spPr>
            <a:xfrm>
              <a:off x="1737360" y="2514600"/>
              <a:ext cx="6858000" cy="3794760"/>
            </a:xfrm>
            <a:prstGeom prst="roundRect">
              <a:avLst>
                <a:gd name="adj" fmla="val 3373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304800" dist="101600" dir="5400000" algn="t" rotWithShape="0">
                <a:srgbClr val="101820">
                  <a:alpha val="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3" name="Picture 132" descr="product-anker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47408" y="2743200"/>
              <a:ext cx="625823" cy="868680"/>
            </a:xfrm>
            <a:prstGeom prst="rect">
              <a:avLst/>
            </a:prstGeom>
          </p:spPr>
        </p:pic>
        <p:sp>
          <p:nvSpPr>
            <p:cNvPr id="134" name="TextBox 133"/>
            <p:cNvSpPr txBox="1"/>
            <p:nvPr/>
          </p:nvSpPr>
          <p:spPr>
            <a:xfrm>
              <a:off x="3337560" y="2743200"/>
              <a:ext cx="5120640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700" b="1" lang="en-US">
                  <a:solidFill>
                    <a:srgbClr val="101820"/>
                  </a:solidFill>
                  <a:latin typeface="Inter"/>
                  <a:cs typeface="Inter"/>
                </a:rPr>
                <a:t>Anker Power Bank 25,000 mAh · 165 W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3337560" y="3127248"/>
              <a:ext cx="512064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One page · every verified seller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1965960" y="3675888"/>
              <a:ext cx="1737360" cy="2286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050" b="1" lang="en-US">
                  <a:solidFill>
                    <a:srgbClr val="5A6672"/>
                  </a:solidFill>
                  <a:latin typeface="Inter"/>
                  <a:cs typeface="Inter"/>
                </a:rPr>
                <a:t>Seller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3840480" y="3675888"/>
              <a:ext cx="1051560" cy="2286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050" b="1" lang="en-US">
                  <a:solidFill>
                    <a:srgbClr val="5A6672"/>
                  </a:solidFill>
                  <a:latin typeface="Inter"/>
                  <a:cs typeface="Inter"/>
                </a:rPr>
                <a:t>Item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4983480" y="3675888"/>
              <a:ext cx="960120" cy="2286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050" b="1" lang="en-US">
                  <a:solidFill>
                    <a:srgbClr val="5A6672"/>
                  </a:solidFill>
                  <a:latin typeface="Inter"/>
                  <a:cs typeface="Inter"/>
                </a:rPr>
                <a:t>Delivery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6035040" y="3675888"/>
              <a:ext cx="1325880" cy="2286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050" b="1" lang="en-US">
                  <a:solidFill>
                    <a:srgbClr val="5A6672"/>
                  </a:solidFill>
                  <a:latin typeface="Inter"/>
                  <a:cs typeface="Inter"/>
                </a:rPr>
                <a:t>Doorstep total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498080" y="3675888"/>
              <a:ext cx="960120" cy="2286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050" b="1" lang="en-US">
                  <a:solidFill>
                    <a:srgbClr val="5A6672"/>
                  </a:solidFill>
                  <a:latin typeface="Inter"/>
                  <a:cs typeface="Inter"/>
                </a:rPr>
                <a:t>Arrives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874520" y="3950208"/>
            <a:ext cx="6583680" cy="475488"/>
            <a:chOff x="1874520" y="3950208"/>
            <a:chExt cx="6583680" cy="475488"/>
          </a:xfrm>
        </p:grpSpPr>
        <p:sp>
          <p:nvSpPr>
            <p:cNvPr id="141" name="Rounded Rectangle 140"/>
            <p:cNvSpPr/>
            <p:nvPr/>
          </p:nvSpPr>
          <p:spPr>
            <a:xfrm>
              <a:off x="1874520" y="3950208"/>
              <a:ext cx="6583680" cy="475488"/>
            </a:xfrm>
            <a:prstGeom prst="roundRect">
              <a:avLst>
                <a:gd name="adj" fmla="val 15384"/>
              </a:avLst>
            </a:prstGeom>
            <a:solidFill>
              <a:srgbClr val="EDF5F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965960" y="3950208"/>
            <a:ext cx="6492240" cy="475488"/>
            <a:chOff x="1965960" y="3950208"/>
            <a:chExt cx="6492240" cy="475488"/>
          </a:xfrm>
        </p:grpSpPr>
        <p:cxnSp>
          <p:nvCxnSpPr>
            <p:cNvPr id="142" name="Connector 141"/>
            <p:cNvCxnSpPr/>
            <p:nvPr/>
          </p:nvCxnSpPr>
          <p:spPr>
            <a:xfrm>
              <a:off x="1965960" y="4425696"/>
              <a:ext cx="6400800" cy="0"/>
            </a:xfrm>
            <a:prstGeom prst="line">
              <a:avLst/>
            </a:prstGeom>
            <a:ln w="9525">
              <a:solidFill>
                <a:srgbClr val="DDE5ED"/>
              </a:solidFill>
            </a:ln>
            <a:effectLst/>
          </p:spPr>
        </p:cxnSp>
        <p:sp>
          <p:nvSpPr>
            <p:cNvPr id="143" name="TextBox 142"/>
            <p:cNvSpPr txBox="1"/>
            <p:nvPr/>
          </p:nvSpPr>
          <p:spPr>
            <a:xfrm>
              <a:off x="1965960" y="3950208"/>
              <a:ext cx="173736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Store A · Duhok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3840480" y="3950208"/>
              <a:ext cx="105156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92,000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4983480" y="3950208"/>
              <a:ext cx="96012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+3,000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035040" y="3950208"/>
              <a:ext cx="132588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95,000 IQD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7498080" y="3950208"/>
              <a:ext cx="96012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Today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965960" y="4443984"/>
            <a:ext cx="6492240" cy="475488"/>
            <a:chOff x="1965960" y="4443984"/>
            <a:chExt cx="6492240" cy="475488"/>
          </a:xfrm>
        </p:grpSpPr>
        <p:cxnSp>
          <p:nvCxnSpPr>
            <p:cNvPr id="148" name="Connector 147"/>
            <p:cNvCxnSpPr/>
            <p:nvPr/>
          </p:nvCxnSpPr>
          <p:spPr>
            <a:xfrm>
              <a:off x="1965960" y="4919472"/>
              <a:ext cx="6400800" cy="0"/>
            </a:xfrm>
            <a:prstGeom prst="line">
              <a:avLst/>
            </a:prstGeom>
            <a:ln w="9525">
              <a:solidFill>
                <a:srgbClr val="DDE5ED"/>
              </a:solidFill>
            </a:ln>
            <a:effectLst/>
          </p:spPr>
        </p:cxnSp>
        <p:sp>
          <p:nvSpPr>
            <p:cNvPr id="149" name="TextBox 148"/>
            <p:cNvSpPr txBox="1"/>
            <p:nvPr/>
          </p:nvSpPr>
          <p:spPr>
            <a:xfrm>
              <a:off x="1965960" y="4443984"/>
              <a:ext cx="173736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Store D · Erbil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3840480" y="4443984"/>
              <a:ext cx="105156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91,000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4983480" y="4443984"/>
              <a:ext cx="96012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+5,000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6035040" y="4443984"/>
              <a:ext cx="132588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96,000 IQD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7498080" y="4443984"/>
              <a:ext cx="96012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1–2 days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965960" y="4937760"/>
            <a:ext cx="6492240" cy="475488"/>
            <a:chOff x="1965960" y="4937760"/>
            <a:chExt cx="6492240" cy="475488"/>
          </a:xfrm>
        </p:grpSpPr>
        <p:cxnSp>
          <p:nvCxnSpPr>
            <p:cNvPr id="154" name="Connector 153"/>
            <p:cNvCxnSpPr/>
            <p:nvPr/>
          </p:nvCxnSpPr>
          <p:spPr>
            <a:xfrm>
              <a:off x="1965960" y="5413248"/>
              <a:ext cx="6400800" cy="0"/>
            </a:xfrm>
            <a:prstGeom prst="line">
              <a:avLst/>
            </a:prstGeom>
            <a:ln w="9525">
              <a:solidFill>
                <a:srgbClr val="DDE5ED"/>
              </a:solidFill>
            </a:ln>
            <a:effectLst/>
          </p:spPr>
        </p:cxnSp>
        <p:sp>
          <p:nvSpPr>
            <p:cNvPr id="155" name="TextBox 154"/>
            <p:cNvSpPr txBox="1"/>
            <p:nvPr/>
          </p:nvSpPr>
          <p:spPr>
            <a:xfrm>
              <a:off x="1965960" y="4937760"/>
              <a:ext cx="173736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Store B · Duhok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3840480" y="4937760"/>
              <a:ext cx="105156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99,000</a:t>
              </a: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4983480" y="4937760"/>
              <a:ext cx="96012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+3,000</a:t>
              </a: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6035040" y="4937760"/>
              <a:ext cx="132588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102,000 IQD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7498080" y="4937760"/>
              <a:ext cx="96012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Today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965960" y="5431536"/>
            <a:ext cx="6492240" cy="475488"/>
            <a:chOff x="1965960" y="5431536"/>
            <a:chExt cx="6492240" cy="475488"/>
          </a:xfrm>
        </p:grpSpPr>
        <p:cxnSp>
          <p:nvCxnSpPr>
            <p:cNvPr id="160" name="Connector 159"/>
            <p:cNvCxnSpPr/>
            <p:nvPr/>
          </p:nvCxnSpPr>
          <p:spPr>
            <a:xfrm>
              <a:off x="1965960" y="5907024"/>
              <a:ext cx="6400800" cy="0"/>
            </a:xfrm>
            <a:prstGeom prst="line">
              <a:avLst/>
            </a:prstGeom>
            <a:ln w="9525">
              <a:solidFill>
                <a:srgbClr val="DDE5ED"/>
              </a:solidFill>
            </a:ln>
            <a:effectLst/>
          </p:spPr>
        </p:cxnSp>
        <p:sp>
          <p:nvSpPr>
            <p:cNvPr id="161" name="TextBox 160"/>
            <p:cNvSpPr txBox="1"/>
            <p:nvPr/>
          </p:nvSpPr>
          <p:spPr>
            <a:xfrm>
              <a:off x="1965960" y="5431536"/>
              <a:ext cx="173736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Store C · Duhok</a:t>
              </a: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3840480" y="5431536"/>
              <a:ext cx="105156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121,000</a:t>
              </a: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4983480" y="5431536"/>
              <a:ext cx="96012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+3,000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035040" y="5431536"/>
              <a:ext cx="132588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124,000 IQD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7498080" y="5431536"/>
              <a:ext cx="960120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Today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183880" y="3986784"/>
            <a:ext cx="1234440" cy="365760"/>
            <a:chOff x="8183880" y="3986784"/>
            <a:chExt cx="1234440" cy="365760"/>
          </a:xfrm>
        </p:grpSpPr>
        <p:sp>
          <p:nvSpPr>
            <p:cNvPr id="166" name="Rounded Rectangle 165"/>
            <p:cNvSpPr/>
            <p:nvPr/>
          </p:nvSpPr>
          <p:spPr>
            <a:xfrm>
              <a:off x="8183880" y="3986784"/>
              <a:ext cx="1234440" cy="365760"/>
            </a:xfrm>
            <a:prstGeom prst="roundRect">
              <a:avLst>
                <a:gd name="adj" fmla="val 50000"/>
              </a:avLst>
            </a:prstGeom>
            <a:solidFill>
              <a:srgbClr val="22884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67" name="Picture 166" descr="sparkle_FFFFFF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93608" y="4078224"/>
              <a:ext cx="182880" cy="182880"/>
            </a:xfrm>
            <a:prstGeom prst="rect">
              <a:avLst/>
            </a:prstGeom>
          </p:spPr>
        </p:pic>
        <p:sp>
          <p:nvSpPr>
            <p:cNvPr id="168" name="TextBox 167"/>
            <p:cNvSpPr txBox="1"/>
            <p:nvPr/>
          </p:nvSpPr>
          <p:spPr>
            <a:xfrm>
              <a:off x="8513064" y="3986784"/>
              <a:ext cx="868680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000" b="1" lang="en-US">
                  <a:solidFill>
                    <a:srgbClr val="FFFFFF"/>
                  </a:solidFill>
                  <a:latin typeface="Inter"/>
                  <a:cs typeface="Inter"/>
                </a:rPr>
                <a:t>BEST VALUE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692640" y="3931920"/>
            <a:ext cx="1783080" cy="365760"/>
            <a:chOff x="9692640" y="3931920"/>
            <a:chExt cx="1783080" cy="365760"/>
          </a:xfrm>
        </p:grpSpPr>
        <p:sp>
          <p:nvSpPr>
            <p:cNvPr id="169" name="Oval 168"/>
            <p:cNvSpPr/>
            <p:nvPr/>
          </p:nvSpPr>
          <p:spPr>
            <a:xfrm>
              <a:off x="9692640" y="3931920"/>
              <a:ext cx="329184" cy="329184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9692640" y="3931920"/>
              <a:ext cx="329184" cy="32918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200" b="1" lang="en-US">
                  <a:solidFill>
                    <a:srgbClr val="FFFFFF"/>
                  </a:solidFill>
                  <a:latin typeface="Inter"/>
                  <a:cs typeface="Inter"/>
                </a:rPr>
                <a:t>1</a:t>
              </a: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10104120" y="3931920"/>
              <a:ext cx="1371600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1" lang="en-US">
                  <a:solidFill>
                    <a:srgbClr val="101820"/>
                  </a:solidFill>
                  <a:latin typeface="Inter"/>
                  <a:cs typeface="Inter"/>
                </a:rPr>
                <a:t>Lowest doorstep total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9692640" y="4480560"/>
            <a:ext cx="1783080" cy="365760"/>
            <a:chOff x="9692640" y="4480560"/>
            <a:chExt cx="1783080" cy="365760"/>
          </a:xfrm>
        </p:grpSpPr>
        <p:sp>
          <p:nvSpPr>
            <p:cNvPr id="172" name="Oval 171"/>
            <p:cNvSpPr/>
            <p:nvPr/>
          </p:nvSpPr>
          <p:spPr>
            <a:xfrm>
              <a:off x="9692640" y="4480560"/>
              <a:ext cx="329184" cy="329184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9692640" y="4480560"/>
              <a:ext cx="329184" cy="32918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200" b="1" lang="en-US">
                  <a:solidFill>
                    <a:srgbClr val="FFFFFF"/>
                  </a:solidFill>
                  <a:latin typeface="Inter"/>
                  <a:cs typeface="Inter"/>
                </a:rPr>
                <a:t>2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10104120" y="4480560"/>
              <a:ext cx="1371600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1" lang="en-US">
                  <a:solidFill>
                    <a:srgbClr val="101820"/>
                  </a:solidFill>
                  <a:latin typeface="Inter"/>
                  <a:cs typeface="Inter"/>
                </a:rPr>
                <a:t>Fastest delivery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9692640" y="5029200"/>
            <a:ext cx="1783080" cy="365760"/>
            <a:chOff x="9692640" y="5029200"/>
            <a:chExt cx="1783080" cy="365760"/>
          </a:xfrm>
        </p:grpSpPr>
        <p:sp>
          <p:nvSpPr>
            <p:cNvPr id="175" name="Oval 174"/>
            <p:cNvSpPr/>
            <p:nvPr/>
          </p:nvSpPr>
          <p:spPr>
            <a:xfrm>
              <a:off x="9692640" y="5029200"/>
              <a:ext cx="329184" cy="329184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9692640" y="5029200"/>
              <a:ext cx="329184" cy="32918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200" b="1" lang="en-US">
                  <a:solidFill>
                    <a:srgbClr val="FFFFFF"/>
                  </a:solidFill>
                  <a:latin typeface="Inter"/>
                  <a:cs typeface="Inter"/>
                </a:rPr>
                <a:t>3</a:t>
              </a:r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10104120" y="5029200"/>
              <a:ext cx="1371600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1" lang="en-US">
                  <a:solidFill>
                    <a:srgbClr val="101820"/>
                  </a:solidFill>
                  <a:latin typeface="Inter"/>
                  <a:cs typeface="Inter"/>
                </a:rPr>
                <a:t>Best seller rating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9692640" y="5623560"/>
            <a:ext cx="1773936" cy="457200"/>
            <a:chOff x="9692640" y="5623560"/>
            <a:chExt cx="1773936" cy="457200"/>
          </a:xfrm>
        </p:grpSpPr>
        <p:sp>
          <p:nvSpPr>
            <p:cNvPr id="178" name="TextBox 177"/>
            <p:cNvSpPr txBox="1"/>
            <p:nvPr/>
          </p:nvSpPr>
          <p:spPr>
            <a:xfrm>
              <a:off x="9692640" y="5623560"/>
              <a:ext cx="1773936" cy="4572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250" b="1" lang="en-US">
                  <a:solidFill>
                    <a:srgbClr val="298FC2"/>
                  </a:solidFill>
                  <a:latin typeface="Inter"/>
                  <a:cs typeface="Inter"/>
                </a:rPr>
                <a:t>Ranking can't be bought.</a:t>
              </a:r>
            </a:p>
          </p:txBody>
        </p:sp>
      </p:grp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71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Value proposition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Shoppers save. Merchants sell.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094476" y="2560320"/>
            <a:ext cx="0" cy="3703320"/>
            <a:chOff x="6094476" y="2560320"/>
            <a:chExt cx="0" cy="3703320"/>
          </a:xfrm>
        </p:grpSpPr>
        <p:cxnSp>
          <p:nvCxnSpPr>
            <p:cNvPr id="103" name="Connector 102"/>
            <p:cNvCxnSpPr/>
            <p:nvPr/>
          </p:nvCxnSpPr>
          <p:spPr>
            <a:xfrm>
              <a:off x="6094476" y="2560320"/>
              <a:ext cx="0" cy="3703320"/>
            </a:xfrm>
            <a:prstGeom prst="line">
              <a:avLst/>
            </a:prstGeom>
            <a:ln w="12700">
              <a:solidFill>
                <a:srgbClr val="DDE5ED"/>
              </a:solidFill>
            </a:ln>
            <a:effectLst/>
          </p:spPr>
        </p:cxnSp>
      </p:grpSp>
      <p:grpSp>
        <p:nvGrpSpPr>
          <p:cNvPr id="3" name="Group 2"/>
          <p:cNvGrpSpPr/>
          <p:nvPr/>
        </p:nvGrpSpPr>
        <p:grpSpPr>
          <a:xfrm>
            <a:off x="868680" y="2542032"/>
            <a:ext cx="4800600" cy="502920"/>
            <a:chOff x="868680" y="2542032"/>
            <a:chExt cx="4800600" cy="502920"/>
          </a:xfrm>
        </p:grpSpPr>
        <p:sp>
          <p:nvSpPr>
            <p:cNvPr id="104" name="Oval 103"/>
            <p:cNvSpPr/>
            <p:nvPr/>
          </p:nvSpPr>
          <p:spPr>
            <a:xfrm>
              <a:off x="868680" y="2542032"/>
              <a:ext cx="502920" cy="50292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05" name="Picture 104" descr="shopping-bag_298FC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2980" y="2656332"/>
              <a:ext cx="274320" cy="27432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554480" y="2542032"/>
              <a:ext cx="4114800" cy="5029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2000" b="1" lang="en-US">
                  <a:solidFill>
                    <a:srgbClr val="101820"/>
                  </a:solidFill>
                  <a:latin typeface="Inter"/>
                  <a:cs typeface="Inter"/>
                </a:rPr>
                <a:t>For shoppers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868680" y="3364992"/>
            <a:ext cx="5166360" cy="585216"/>
            <a:chOff x="868680" y="3364992"/>
            <a:chExt cx="5166360" cy="585216"/>
          </a:xfrm>
        </p:grpSpPr>
        <p:sp>
          <p:nvSpPr>
            <p:cNvPr id="107" name="Oval 106"/>
            <p:cNvSpPr/>
            <p:nvPr/>
          </p:nvSpPr>
          <p:spPr>
            <a:xfrm>
              <a:off x="868680" y="3383280"/>
              <a:ext cx="502920" cy="50292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08" name="Picture 107" descr="eye_298FC2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2980" y="3497580"/>
              <a:ext cx="274320" cy="27432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1554480" y="3364992"/>
              <a:ext cx="448056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800" b="1" lang="en-US">
                  <a:solidFill>
                    <a:srgbClr val="101820"/>
                  </a:solidFill>
                  <a:latin typeface="Inter"/>
                  <a:cs typeface="Inter"/>
                </a:rPr>
                <a:t>Every price, side by side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1554480" y="3694176"/>
              <a:ext cx="448056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300" b="0" lang="en-US">
                  <a:solidFill>
                    <a:srgbClr val="5A6672"/>
                  </a:solidFill>
                  <a:latin typeface="Inter"/>
                  <a:cs typeface="Inter"/>
                </a:rPr>
                <a:t>No more checking ten pages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68680" y="4279392"/>
            <a:ext cx="5166360" cy="585216"/>
            <a:chOff x="868680" y="4279392"/>
            <a:chExt cx="5166360" cy="585216"/>
          </a:xfrm>
        </p:grpSpPr>
        <p:sp>
          <p:nvSpPr>
            <p:cNvPr id="111" name="Oval 110"/>
            <p:cNvSpPr/>
            <p:nvPr/>
          </p:nvSpPr>
          <p:spPr>
            <a:xfrm>
              <a:off x="868680" y="4297680"/>
              <a:ext cx="502920" cy="50292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12" name="Picture 111" descr="message-circle-off_298FC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2980" y="4411980"/>
              <a:ext cx="274320" cy="274320"/>
            </a:xfrm>
            <a:prstGeom prst="rect">
              <a:avLst/>
            </a:prstGeom>
          </p:spPr>
        </p:pic>
        <p:sp>
          <p:nvSpPr>
            <p:cNvPr id="113" name="TextBox 112"/>
            <p:cNvSpPr txBox="1"/>
            <p:nvPr/>
          </p:nvSpPr>
          <p:spPr>
            <a:xfrm>
              <a:off x="1554480" y="4279392"/>
              <a:ext cx="448056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800" b="1" lang="en-US">
                  <a:solidFill>
                    <a:srgbClr val="101820"/>
                  </a:solidFill>
                  <a:latin typeface="Inter"/>
                  <a:cs typeface="Inter"/>
                </a:rPr>
                <a:t>Order in 30 seconds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1554480" y="4608576"/>
              <a:ext cx="448056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300" b="0" lang="en-US">
                  <a:solidFill>
                    <a:srgbClr val="5A6672"/>
                  </a:solidFill>
                  <a:latin typeface="Inter"/>
                  <a:cs typeface="Inter"/>
                </a:rPr>
                <a:t>No “price?” DMs, no waiting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868680" y="5193792"/>
            <a:ext cx="5166360" cy="585216"/>
            <a:chOff x="868680" y="5193792"/>
            <a:chExt cx="5166360" cy="585216"/>
          </a:xfrm>
        </p:grpSpPr>
        <p:sp>
          <p:nvSpPr>
            <p:cNvPr id="115" name="Oval 114"/>
            <p:cNvSpPr/>
            <p:nvPr/>
          </p:nvSpPr>
          <p:spPr>
            <a:xfrm>
              <a:off x="868680" y="5212080"/>
              <a:ext cx="502920" cy="50292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16" name="Picture 115" descr="banknote_298FC2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2980" y="5326380"/>
              <a:ext cx="274320" cy="274320"/>
            </a:xfrm>
            <a:prstGeom prst="rect">
              <a:avLst/>
            </a:prstGeom>
          </p:spPr>
        </p:pic>
        <p:sp>
          <p:nvSpPr>
            <p:cNvPr id="117" name="TextBox 116"/>
            <p:cNvSpPr txBox="1"/>
            <p:nvPr/>
          </p:nvSpPr>
          <p:spPr>
            <a:xfrm>
              <a:off x="1554480" y="5193792"/>
              <a:ext cx="448056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800" b="1" lang="en-US">
                  <a:solidFill>
                    <a:srgbClr val="101820"/>
                  </a:solidFill>
                  <a:latin typeface="Inter"/>
                  <a:cs typeface="Inter"/>
                </a:rPr>
                <a:t>Cash on delivery or card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1554480" y="5522976"/>
              <a:ext cx="448056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300" b="0" lang="en-US">
                  <a:solidFill>
                    <a:srgbClr val="5A6672"/>
                  </a:solidFill>
                  <a:latin typeface="Inter"/>
                  <a:cs typeface="Inter"/>
                </a:rPr>
                <a:t>Doorstep total shown upfront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446520" y="2542032"/>
            <a:ext cx="4800600" cy="502920"/>
            <a:chOff x="6446520" y="2542032"/>
            <a:chExt cx="4800600" cy="502920"/>
          </a:xfrm>
        </p:grpSpPr>
        <p:sp>
          <p:nvSpPr>
            <p:cNvPr id="119" name="Oval 118"/>
            <p:cNvSpPr/>
            <p:nvPr/>
          </p:nvSpPr>
          <p:spPr>
            <a:xfrm>
              <a:off x="6446520" y="2542032"/>
              <a:ext cx="502920" cy="50292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20" name="Picture 119" descr="store_298FC2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60820" y="2656332"/>
              <a:ext cx="274320" cy="27432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7132320" y="2542032"/>
              <a:ext cx="4114800" cy="5029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2000" b="1" lang="en-US">
                  <a:solidFill>
                    <a:srgbClr val="101820"/>
                  </a:solidFill>
                  <a:latin typeface="Inter"/>
                  <a:cs typeface="Inter"/>
                </a:rPr>
                <a:t>For merchants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446520" y="3364992"/>
            <a:ext cx="5166360" cy="585216"/>
            <a:chOff x="6446520" y="3364992"/>
            <a:chExt cx="5166360" cy="585216"/>
          </a:xfrm>
        </p:grpSpPr>
        <p:sp>
          <p:nvSpPr>
            <p:cNvPr id="122" name="Oval 121"/>
            <p:cNvSpPr/>
            <p:nvPr/>
          </p:nvSpPr>
          <p:spPr>
            <a:xfrm>
              <a:off x="6446520" y="3383280"/>
              <a:ext cx="502920" cy="50292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23" name="Picture 122" descr="package-check_298FC2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60820" y="3497580"/>
              <a:ext cx="274320" cy="274320"/>
            </a:xfrm>
            <a:prstGeom prst="rect">
              <a:avLst/>
            </a:prstGeom>
          </p:spPr>
        </p:pic>
        <p:sp>
          <p:nvSpPr>
            <p:cNvPr id="124" name="TextBox 123"/>
            <p:cNvSpPr txBox="1"/>
            <p:nvPr/>
          </p:nvSpPr>
          <p:spPr>
            <a:xfrm>
              <a:off x="7132320" y="3364992"/>
              <a:ext cx="448056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800" b="1" lang="en-US">
                  <a:solidFill>
                    <a:srgbClr val="101820"/>
                  </a:solidFill>
                  <a:latin typeface="Inter"/>
                  <a:cs typeface="Inter"/>
                </a:rPr>
                <a:t>Orders, not interrogations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7132320" y="3694176"/>
              <a:ext cx="448056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300" b="0" lang="en-US">
                  <a:solidFill>
                    <a:srgbClr val="5A6672"/>
                  </a:solidFill>
                  <a:latin typeface="Inter"/>
                  <a:cs typeface="Inter"/>
                </a:rPr>
                <a:t>Ready orders with address and variant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46520" y="4279392"/>
            <a:ext cx="5166360" cy="585216"/>
            <a:chOff x="6446520" y="4279392"/>
            <a:chExt cx="5166360" cy="585216"/>
          </a:xfrm>
        </p:grpSpPr>
        <p:sp>
          <p:nvSpPr>
            <p:cNvPr id="126" name="Oval 125"/>
            <p:cNvSpPr/>
            <p:nvPr/>
          </p:nvSpPr>
          <p:spPr>
            <a:xfrm>
              <a:off x="6446520" y="4297680"/>
              <a:ext cx="502920" cy="50292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27" name="Picture 126" descr="layout-dashboard_298FC2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560820" y="4411980"/>
              <a:ext cx="274320" cy="274320"/>
            </a:xfrm>
            <a:prstGeom prst="rect">
              <a:avLst/>
            </a:prstGeom>
          </p:spPr>
        </p:pic>
        <p:sp>
          <p:nvSpPr>
            <p:cNvPr id="128" name="TextBox 127"/>
            <p:cNvSpPr txBox="1"/>
            <p:nvPr/>
          </p:nvSpPr>
          <p:spPr>
            <a:xfrm>
              <a:off x="7132320" y="4279392"/>
              <a:ext cx="448056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800" b="1" lang="en-US">
                  <a:solidFill>
                    <a:srgbClr val="101820"/>
                  </a:solidFill>
                  <a:latin typeface="Inter"/>
                  <a:cs typeface="Inter"/>
                </a:rPr>
                <a:t>Free dashboard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7132320" y="4608576"/>
              <a:ext cx="448056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300" b="0" lang="en-US">
                  <a:solidFill>
                    <a:srgbClr val="5A6672"/>
                  </a:solidFill>
                  <a:latin typeface="Inter"/>
                  <a:cs typeface="Inter"/>
                </a:rPr>
                <a:t>Stock, orders and payouts in one place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446520" y="5193792"/>
            <a:ext cx="5166360" cy="585216"/>
            <a:chOff x="6446520" y="5193792"/>
            <a:chExt cx="5166360" cy="585216"/>
          </a:xfrm>
        </p:grpSpPr>
        <p:sp>
          <p:nvSpPr>
            <p:cNvPr id="130" name="Oval 129"/>
            <p:cNvSpPr/>
            <p:nvPr/>
          </p:nvSpPr>
          <p:spPr>
            <a:xfrm>
              <a:off x="6446520" y="5212080"/>
              <a:ext cx="502920" cy="50292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1" name="Picture 130" descr="percent_298FC2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60820" y="5326380"/>
              <a:ext cx="274320" cy="27432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7132320" y="5193792"/>
              <a:ext cx="448056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800" b="1" lang="en-US">
                  <a:solidFill>
                    <a:srgbClr val="101820"/>
                  </a:solidFill>
                  <a:latin typeface="Inter"/>
                  <a:cs typeface="Inter"/>
                </a:rPr>
                <a:t>Fair, low fee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7132320" y="5522976"/>
              <a:ext cx="448056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300" b="0" lang="en-US">
                  <a:solidFill>
                    <a:srgbClr val="5A6672"/>
                  </a:solidFill>
                  <a:latin typeface="Inter"/>
                  <a:cs typeface="Inter"/>
                </a:rPr>
                <a:t>About 3.8% on a typical 25,000 IQD order</a:t>
              </a:r>
            </a:p>
          </p:txBody>
        </p:sp>
      </p:grp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Target market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Duhok first: about 1 million people.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2376" y="6455664"/>
            <a:ext cx="107442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5A6672"/>
                </a:solidFill>
                <a:latin typeface="Inter"/>
                <a:cs typeface="Inter"/>
              </a:rPr>
              <a:t>Population: 2024 national census (Iraqi Ministry of Planning). Internet users: DataReportal, Digital 2026: Iraq. E-commerce: ECDB, Iraq 2025. Duhok figures marked “estimate” = Iraq rate × Duhok population share.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22376" y="2468880"/>
            <a:ext cx="3840480" cy="2788920"/>
            <a:chOff x="722376" y="2468880"/>
            <a:chExt cx="3840480" cy="2788920"/>
          </a:xfrm>
        </p:grpSpPr>
        <p:sp>
          <p:nvSpPr>
            <p:cNvPr id="104" name="Rounded Rectangle 103"/>
            <p:cNvSpPr/>
            <p:nvPr/>
          </p:nvSpPr>
          <p:spPr>
            <a:xfrm>
              <a:off x="722376" y="2468880"/>
              <a:ext cx="3840480" cy="2788920"/>
            </a:xfrm>
            <a:prstGeom prst="roundRect">
              <a:avLst>
                <a:gd name="adj" fmla="val 4590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905256" y="2560320"/>
              <a:ext cx="3474720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Iraq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905256" y="3108960"/>
              <a:ext cx="347472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People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905256" y="3310128"/>
              <a:ext cx="2743200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2600" b="1" lang="en-US">
                  <a:solidFill>
                    <a:srgbClr val="101820"/>
                  </a:solidFill>
                  <a:latin typeface="Comfortaa"/>
                  <a:cs typeface="Comfortaa"/>
                </a:rPr>
                <a:t>46.1M</a:t>
              </a:r>
            </a:p>
          </p:txBody>
        </p:sp>
        <p:sp>
          <p:nvSpPr>
            <p:cNvPr id="108" name="Rounded Rectangle 107"/>
            <p:cNvSpPr/>
            <p:nvPr/>
          </p:nvSpPr>
          <p:spPr>
            <a:xfrm>
              <a:off x="3648456" y="3419856"/>
              <a:ext cx="731520" cy="201168"/>
            </a:xfrm>
            <a:prstGeom prst="roundRect">
              <a:avLst>
                <a:gd name="adj" fmla="val 50000"/>
              </a:avLst>
            </a:prstGeom>
            <a:solidFill>
              <a:srgbClr val="DDE5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648456" y="3419856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900" b="0" lang="en-US">
                  <a:solidFill>
                    <a:srgbClr val="101820"/>
                  </a:solidFill>
                  <a:latin typeface="Inter"/>
                  <a:cs typeface="Inter"/>
                </a:rPr>
                <a:t>census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905256" y="3813048"/>
              <a:ext cx="347472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Internet users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905256" y="4014216"/>
              <a:ext cx="2743200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2600" b="1" lang="en-US">
                  <a:solidFill>
                    <a:srgbClr val="101820"/>
                  </a:solidFill>
                  <a:latin typeface="Comfortaa"/>
                  <a:cs typeface="Comfortaa"/>
                </a:rPr>
                <a:t>39.6M</a:t>
              </a:r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3648456" y="4123944"/>
              <a:ext cx="731520" cy="201168"/>
            </a:xfrm>
            <a:prstGeom prst="roundRect">
              <a:avLst>
                <a:gd name="adj" fmla="val 50000"/>
              </a:avLst>
            </a:prstGeom>
            <a:solidFill>
              <a:srgbClr val="DDE5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3648456" y="4123944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900" b="0" lang="en-US">
                  <a:solidFill>
                    <a:srgbClr val="101820"/>
                  </a:solidFill>
                  <a:latin typeface="Inter"/>
                  <a:cs typeface="Inter"/>
                </a:rPr>
                <a:t>published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905256" y="4517136"/>
              <a:ext cx="347472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Online shopping / year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905256" y="4718304"/>
              <a:ext cx="2743200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2600" b="1" lang="en-US">
                  <a:solidFill>
                    <a:srgbClr val="101820"/>
                  </a:solidFill>
                  <a:latin typeface="Comfortaa"/>
                  <a:cs typeface="Comfortaa"/>
                </a:rPr>
                <a:t>$1.32B</a:t>
              </a:r>
            </a:p>
          </p:txBody>
        </p:sp>
        <p:sp>
          <p:nvSpPr>
            <p:cNvPr id="116" name="Rounded Rectangle 115"/>
            <p:cNvSpPr/>
            <p:nvPr/>
          </p:nvSpPr>
          <p:spPr>
            <a:xfrm>
              <a:off x="3648456" y="4828032"/>
              <a:ext cx="731520" cy="201168"/>
            </a:xfrm>
            <a:prstGeom prst="roundRect">
              <a:avLst>
                <a:gd name="adj" fmla="val 50000"/>
              </a:avLst>
            </a:prstGeom>
            <a:solidFill>
              <a:srgbClr val="DDE5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3648456" y="4828032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900" b="0" lang="en-US">
                  <a:solidFill>
                    <a:srgbClr val="101820"/>
                  </a:solidFill>
                  <a:latin typeface="Inter"/>
                  <a:cs typeface="Inter"/>
                </a:rPr>
                <a:t>published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791456" y="2468880"/>
            <a:ext cx="3429000" cy="2788920"/>
            <a:chOff x="4791456" y="2468880"/>
            <a:chExt cx="3429000" cy="2788920"/>
          </a:xfrm>
        </p:grpSpPr>
        <p:sp>
          <p:nvSpPr>
            <p:cNvPr id="118" name="Rounded Rectangle 117"/>
            <p:cNvSpPr/>
            <p:nvPr/>
          </p:nvSpPr>
          <p:spPr>
            <a:xfrm>
              <a:off x="4791456" y="2468880"/>
              <a:ext cx="3429000" cy="2788920"/>
            </a:xfrm>
            <a:prstGeom prst="roundRect">
              <a:avLst>
                <a:gd name="adj" fmla="val 4590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4974336" y="2560320"/>
              <a:ext cx="3063240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Duhok governorate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4974336" y="3108960"/>
              <a:ext cx="306324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People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974336" y="3310128"/>
              <a:ext cx="2331720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2600" b="1" lang="en-US">
                  <a:solidFill>
                    <a:srgbClr val="101820"/>
                  </a:solidFill>
                  <a:latin typeface="Comfortaa"/>
                  <a:cs typeface="Comfortaa"/>
                </a:rPr>
                <a:t>1.60M</a:t>
              </a:r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7306056" y="3419856"/>
              <a:ext cx="731520" cy="201168"/>
            </a:xfrm>
            <a:prstGeom prst="roundRect">
              <a:avLst>
                <a:gd name="adj" fmla="val 50000"/>
              </a:avLst>
            </a:prstGeom>
            <a:solidFill>
              <a:srgbClr val="DDE5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7306056" y="3419856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900" b="0" lang="en-US">
                  <a:solidFill>
                    <a:srgbClr val="101820"/>
                  </a:solidFill>
                  <a:latin typeface="Inter"/>
                  <a:cs typeface="Inter"/>
                </a:rPr>
                <a:t>census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4974336" y="3813048"/>
              <a:ext cx="306324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Internet users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4974336" y="4014216"/>
              <a:ext cx="2331720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2600" b="1" lang="en-US">
                  <a:solidFill>
                    <a:srgbClr val="101820"/>
                  </a:solidFill>
                  <a:latin typeface="Comfortaa"/>
                  <a:cs typeface="Comfortaa"/>
                </a:rPr>
                <a:t>≈ 1.34M</a:t>
              </a:r>
            </a:p>
          </p:txBody>
        </p:sp>
        <p:sp>
          <p:nvSpPr>
            <p:cNvPr id="126" name="Rounded Rectangle 125"/>
            <p:cNvSpPr/>
            <p:nvPr/>
          </p:nvSpPr>
          <p:spPr>
            <a:xfrm>
              <a:off x="7306056" y="4123944"/>
              <a:ext cx="731520" cy="20116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5875">
              <a:solidFill>
                <a:srgbClr val="FFA3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7306056" y="4123944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900" b="1" lang="en-US">
                  <a:solidFill>
                    <a:srgbClr val="101820"/>
                  </a:solidFill>
                  <a:latin typeface="Inter"/>
                  <a:cs typeface="Inter"/>
                </a:rPr>
                <a:t>estimate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4974336" y="4517136"/>
              <a:ext cx="306324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Online shopping / year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4974336" y="4718304"/>
              <a:ext cx="2331720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2600" b="1" lang="en-US">
                  <a:solidFill>
                    <a:srgbClr val="101820"/>
                  </a:solidFill>
                  <a:latin typeface="Comfortaa"/>
                  <a:cs typeface="Comfortaa"/>
                </a:rPr>
                <a:t>≈ $46M</a:t>
              </a:r>
            </a:p>
          </p:txBody>
        </p:sp>
        <p:sp>
          <p:nvSpPr>
            <p:cNvPr id="130" name="Rounded Rectangle 129"/>
            <p:cNvSpPr/>
            <p:nvPr/>
          </p:nvSpPr>
          <p:spPr>
            <a:xfrm>
              <a:off x="7306056" y="4828032"/>
              <a:ext cx="731520" cy="20116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5875">
              <a:solidFill>
                <a:srgbClr val="FFA3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7306056" y="4828032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900" b="1" lang="en-US">
                  <a:solidFill>
                    <a:srgbClr val="101820"/>
                  </a:solidFill>
                  <a:latin typeface="Inter"/>
                  <a:cs typeface="Inter"/>
                </a:rPr>
                <a:t>estimate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8449056" y="2468880"/>
            <a:ext cx="3017520" cy="2788920"/>
            <a:chOff x="8449056" y="2468880"/>
            <a:chExt cx="3017520" cy="2788920"/>
          </a:xfrm>
        </p:grpSpPr>
        <p:sp>
          <p:nvSpPr>
            <p:cNvPr id="132" name="Rounded Rectangle 131"/>
            <p:cNvSpPr/>
            <p:nvPr/>
          </p:nvSpPr>
          <p:spPr>
            <a:xfrm>
              <a:off x="8449056" y="2468880"/>
              <a:ext cx="3017520" cy="2788920"/>
            </a:xfrm>
            <a:prstGeom prst="roundRect">
              <a:avLst>
                <a:gd name="adj" fmla="val 4590"/>
              </a:avLst>
            </a:prstGeom>
            <a:solidFill>
              <a:srgbClr val="E5F2F8"/>
            </a:solidFill>
            <a:ln w="19050">
              <a:solidFill>
                <a:srgbClr val="298FC2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8631936" y="2560320"/>
              <a:ext cx="2651760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300" b="1" lang="en-US">
                  <a:solidFill>
                    <a:srgbClr val="298FC2"/>
                  </a:solidFill>
                  <a:latin typeface="Inter"/>
                  <a:cs typeface="Inter"/>
                </a:rPr>
                <a:t>Launch area: Duhok · Semel · Zakho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8631936" y="3108960"/>
              <a:ext cx="265176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People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8631936" y="3310128"/>
              <a:ext cx="1920240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2600" b="1" lang="en-US">
                  <a:solidFill>
                    <a:srgbClr val="298FC2"/>
                  </a:solidFill>
                  <a:latin typeface="Comfortaa"/>
                  <a:cs typeface="Comfortaa"/>
                </a:rPr>
                <a:t>1.06M</a:t>
              </a:r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10552176" y="3419856"/>
              <a:ext cx="731520" cy="201168"/>
            </a:xfrm>
            <a:prstGeom prst="roundRect">
              <a:avLst>
                <a:gd name="adj" fmla="val 50000"/>
              </a:avLst>
            </a:prstGeom>
            <a:solidFill>
              <a:srgbClr val="DDE5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10552176" y="3419856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900" b="0" lang="en-US">
                  <a:solidFill>
                    <a:srgbClr val="101820"/>
                  </a:solidFill>
                  <a:latin typeface="Inter"/>
                  <a:cs typeface="Inter"/>
                </a:rPr>
                <a:t>census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8631936" y="3813048"/>
              <a:ext cx="265176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Internet users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8631936" y="4014216"/>
              <a:ext cx="1920240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2600" b="1" lang="en-US">
                  <a:solidFill>
                    <a:srgbClr val="298FC2"/>
                  </a:solidFill>
                  <a:latin typeface="Comfortaa"/>
                  <a:cs typeface="Comfortaa"/>
                </a:rPr>
                <a:t>≈ 0.89M</a:t>
              </a:r>
            </a:p>
          </p:txBody>
        </p:sp>
        <p:sp>
          <p:nvSpPr>
            <p:cNvPr id="140" name="Rounded Rectangle 139"/>
            <p:cNvSpPr/>
            <p:nvPr/>
          </p:nvSpPr>
          <p:spPr>
            <a:xfrm>
              <a:off x="10552176" y="4123944"/>
              <a:ext cx="731520" cy="20116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5875">
              <a:solidFill>
                <a:srgbClr val="FFA3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0552176" y="4123944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900" b="1" lang="en-US">
                  <a:solidFill>
                    <a:srgbClr val="101820"/>
                  </a:solidFill>
                  <a:latin typeface="Inter"/>
                  <a:cs typeface="Inter"/>
                </a:rPr>
                <a:t>estimate</a:t>
              </a: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8631936" y="4517136"/>
              <a:ext cx="265176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Online shopping / year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8631936" y="4718304"/>
              <a:ext cx="1920240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2600" b="1" lang="en-US">
                  <a:solidFill>
                    <a:srgbClr val="298FC2"/>
                  </a:solidFill>
                  <a:latin typeface="Comfortaa"/>
                  <a:cs typeface="Comfortaa"/>
                </a:rPr>
                <a:t>≈ $30M</a:t>
              </a:r>
            </a:p>
          </p:txBody>
        </p:sp>
        <p:sp>
          <p:nvSpPr>
            <p:cNvPr id="144" name="Rounded Rectangle 143"/>
            <p:cNvSpPr/>
            <p:nvPr/>
          </p:nvSpPr>
          <p:spPr>
            <a:xfrm>
              <a:off x="10552176" y="4828032"/>
              <a:ext cx="731520" cy="20116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5875">
              <a:solidFill>
                <a:srgbClr val="FFA3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0552176" y="4828032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900" b="1" lang="en-US">
                  <a:solidFill>
                    <a:srgbClr val="101820"/>
                  </a:solidFill>
                  <a:latin typeface="Inter"/>
                  <a:cs typeface="Inter"/>
                </a:rPr>
                <a:t>estimate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22376" y="5394960"/>
            <a:ext cx="10744200" cy="457200"/>
            <a:chOff x="722376" y="5394960"/>
            <a:chExt cx="10744200" cy="457200"/>
          </a:xfrm>
        </p:grpSpPr>
        <p:sp>
          <p:nvSpPr>
            <p:cNvPr id="146" name="TextBox 145"/>
            <p:cNvSpPr txBox="1"/>
            <p:nvPr/>
          </p:nvSpPr>
          <p:spPr>
            <a:xfrm>
              <a:off x="722376" y="5394960"/>
              <a:ext cx="10744200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101820"/>
                  </a:solidFill>
                  <a:latin typeface="Inter"/>
                  <a:cs typeface="Inter"/>
                </a:rPr>
                <a:t>Break-even needs only about 0.4% of the launch area's online shopping.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389888" y="5989320"/>
            <a:ext cx="10021824" cy="228600"/>
            <a:chOff x="1389888" y="5989320"/>
            <a:chExt cx="10021824" cy="228600"/>
          </a:xfrm>
        </p:grpSpPr>
        <p:sp>
          <p:nvSpPr>
            <p:cNvPr id="147" name="Oval 146"/>
            <p:cNvSpPr/>
            <p:nvPr/>
          </p:nvSpPr>
          <p:spPr>
            <a:xfrm>
              <a:off x="1389888" y="6030468"/>
              <a:ext cx="146304" cy="146304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627632" y="5989320"/>
              <a:ext cx="2651760" cy="2286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101820"/>
                  </a:solidFill>
                  <a:latin typeface="Inter"/>
                  <a:cs typeface="Inter"/>
                </a:rPr>
                <a:t>Launch: Duhok · Semel · Zakho</a:t>
              </a:r>
            </a:p>
          </p:txBody>
        </p:sp>
        <p:sp>
          <p:nvSpPr>
            <p:cNvPr id="149" name="Oval 148"/>
            <p:cNvSpPr/>
            <p:nvPr/>
          </p:nvSpPr>
          <p:spPr>
            <a:xfrm>
              <a:off x="5001768" y="6030468"/>
              <a:ext cx="146304" cy="146304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5239512" y="5989320"/>
              <a:ext cx="3200400" cy="2286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101820"/>
                  </a:solidFill>
                  <a:latin typeface="Inter"/>
                  <a:cs typeface="Inter"/>
                </a:rPr>
                <a:t>Next: Erbil · Mosul · Sulaymaniyah</a:t>
              </a:r>
            </a:p>
          </p:txBody>
        </p:sp>
        <p:sp>
          <p:nvSpPr>
            <p:cNvPr id="151" name="Oval 150"/>
            <p:cNvSpPr/>
            <p:nvPr/>
          </p:nvSpPr>
          <p:spPr>
            <a:xfrm>
              <a:off x="9345168" y="6030468"/>
              <a:ext cx="146304" cy="146304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9582912" y="5989320"/>
              <a:ext cx="1828800" cy="2286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101820"/>
                  </a:solidFill>
                  <a:latin typeface="Inter"/>
                  <a:cs typeface="Inter"/>
                </a:rPr>
                <a:t>Then: all of Iraq</a:t>
              </a:r>
            </a:p>
          </p:txBody>
        </p:sp>
        <p:cxnSp>
          <p:nvCxnSpPr>
            <p:cNvPr id="153" name="Connector 152"/>
            <p:cNvCxnSpPr/>
            <p:nvPr/>
          </p:nvCxnSpPr>
          <p:spPr>
            <a:xfrm>
              <a:off x="4206240" y="6103620"/>
              <a:ext cx="777240" cy="0"/>
            </a:xfrm>
            <a:prstGeom prst="line">
              <a:avLst/>
            </a:prstGeom>
            <a:ln w="19050">
              <a:solidFill>
                <a:srgbClr val="A9B1B9"/>
              </a:solidFill>
            </a:ln>
            <a:effectLst/>
          </p:spPr>
        </p:cxnSp>
        <p:cxnSp>
          <p:nvCxnSpPr>
            <p:cNvPr id="154" name="Connector 153"/>
            <p:cNvCxnSpPr/>
            <p:nvPr/>
          </p:nvCxnSpPr>
          <p:spPr>
            <a:xfrm>
              <a:off x="8321040" y="6103620"/>
              <a:ext cx="1005840" cy="0"/>
            </a:xfrm>
            <a:prstGeom prst="line">
              <a:avLst/>
            </a:prstGeom>
            <a:ln w="19050">
              <a:solidFill>
                <a:srgbClr val="A9B1B9"/>
              </a:solidFill>
            </a:ln>
            <a:effectLst/>
          </p:spPr>
        </p:cxnSp>
      </p:grp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Target customers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Who we serve.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2376" y="6455664"/>
            <a:ext cx="107442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5A6672"/>
                </a:solidFill>
                <a:latin typeface="Inter"/>
                <a:cs typeface="Inter"/>
              </a:rPr>
              <a:t>Age groups are our targeting plan — the survey did not ask age. Survey: Cheapify market survey, n=199 (179 shoppers, 20 merchants), Sep–Oct 2026.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22376" y="2450592"/>
            <a:ext cx="3986784" cy="310896"/>
            <a:chOff x="722376" y="2450592"/>
            <a:chExt cx="3986784" cy="310896"/>
          </a:xfrm>
        </p:grpSpPr>
        <p:sp>
          <p:nvSpPr>
            <p:cNvPr id="104" name="TextBox 103"/>
            <p:cNvSpPr txBox="1"/>
            <p:nvPr/>
          </p:nvSpPr>
          <p:spPr>
            <a:xfrm>
              <a:off x="722376" y="2450592"/>
              <a:ext cx="182880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600" b="1" lang="en-US">
                  <a:solidFill>
                    <a:srgbClr val="101820"/>
                  </a:solidFill>
                  <a:latin typeface="Inter"/>
                  <a:cs typeface="Inter"/>
                </a:rPr>
                <a:t>Shoppers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1965960" y="2450592"/>
              <a:ext cx="274320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target groups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22376" y="2834640"/>
            <a:ext cx="6044184" cy="960120"/>
            <a:chOff x="722376" y="2834640"/>
            <a:chExt cx="6044184" cy="960120"/>
          </a:xfrm>
        </p:grpSpPr>
        <p:sp>
          <p:nvSpPr>
            <p:cNvPr id="106" name="Rounded Rectangle 105"/>
            <p:cNvSpPr/>
            <p:nvPr/>
          </p:nvSpPr>
          <p:spPr>
            <a:xfrm>
              <a:off x="722376" y="2834640"/>
              <a:ext cx="6044184" cy="96012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Oval 106"/>
            <p:cNvSpPr/>
            <p:nvPr/>
          </p:nvSpPr>
          <p:spPr>
            <a:xfrm>
              <a:off x="937260" y="3063240"/>
              <a:ext cx="502920" cy="50292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08" name="Picture 107" descr="briefcase_298FC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1560" y="3177540"/>
              <a:ext cx="274320" cy="27432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1645920" y="2990088"/>
              <a:ext cx="4937760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101820"/>
                  </a:solidFill>
                  <a:latin typeface="Inter"/>
                  <a:cs typeface="Inter"/>
                </a:rPr>
                <a:t>Young professionals · 23–38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1645920" y="3328416"/>
              <a:ext cx="493776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Tech, gadgets, perfume — no time for DMs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722376" y="3886200"/>
            <a:ext cx="6044184" cy="960120"/>
            <a:chOff x="722376" y="3886200"/>
            <a:chExt cx="6044184" cy="960120"/>
          </a:xfrm>
        </p:grpSpPr>
        <p:sp>
          <p:nvSpPr>
            <p:cNvPr id="111" name="Rounded Rectangle 110"/>
            <p:cNvSpPr/>
            <p:nvPr/>
          </p:nvSpPr>
          <p:spPr>
            <a:xfrm>
              <a:off x="722376" y="3886200"/>
              <a:ext cx="6044184" cy="96012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>
              <a:off x="937260" y="4114800"/>
              <a:ext cx="502920" cy="50292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13" name="Picture 112" descr="house_298FC2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51560" y="4229100"/>
              <a:ext cx="274320" cy="274320"/>
            </a:xfrm>
            <a:prstGeom prst="rect">
              <a:avLst/>
            </a:prstGeom>
          </p:spPr>
        </p:pic>
        <p:sp>
          <p:nvSpPr>
            <p:cNvPr id="114" name="TextBox 113"/>
            <p:cNvSpPr txBox="1"/>
            <p:nvPr/>
          </p:nvSpPr>
          <p:spPr>
            <a:xfrm>
              <a:off x="1645920" y="4041648"/>
              <a:ext cx="4937760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101820"/>
                  </a:solidFill>
                  <a:latin typeface="Inter"/>
                  <a:cs typeface="Inter"/>
                </a:rPr>
                <a:t>Families · 26–48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1645920" y="4379976"/>
              <a:ext cx="493776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Kitchen, home, personal care — savings and reliable delivery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22376" y="4937760"/>
            <a:ext cx="6044184" cy="960120"/>
            <a:chOff x="722376" y="4937760"/>
            <a:chExt cx="6044184" cy="960120"/>
          </a:xfrm>
        </p:grpSpPr>
        <p:sp>
          <p:nvSpPr>
            <p:cNvPr id="116" name="Rounded Rectangle 115"/>
            <p:cNvSpPr/>
            <p:nvPr/>
          </p:nvSpPr>
          <p:spPr>
            <a:xfrm>
              <a:off x="722376" y="4937760"/>
              <a:ext cx="6044184" cy="96012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Oval 116"/>
            <p:cNvSpPr/>
            <p:nvPr/>
          </p:nvSpPr>
          <p:spPr>
            <a:xfrm>
              <a:off x="937260" y="5166360"/>
              <a:ext cx="502920" cy="50292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18" name="Picture 117" descr="graduation-cap_298FC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51560" y="5280660"/>
              <a:ext cx="274320" cy="274320"/>
            </a:xfrm>
            <a:prstGeom prst="rect">
              <a:avLst/>
            </a:prstGeom>
          </p:spPr>
        </p:pic>
        <p:sp>
          <p:nvSpPr>
            <p:cNvPr id="119" name="TextBox 118"/>
            <p:cNvSpPr txBox="1"/>
            <p:nvPr/>
          </p:nvSpPr>
          <p:spPr>
            <a:xfrm>
              <a:off x="1645920" y="5093208"/>
              <a:ext cx="4937760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101820"/>
                  </a:solidFill>
                  <a:latin typeface="Inter"/>
                  <a:cs typeface="Inter"/>
                </a:rPr>
                <a:t>Students &amp; deal hunters · 18–24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645920" y="5431536"/>
              <a:ext cx="493776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Chargers, cables, gaming — refuse to overpay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22376" y="5943600"/>
            <a:ext cx="6089904" cy="384048"/>
            <a:chOff x="722376" y="5943600"/>
            <a:chExt cx="6089904" cy="384048"/>
          </a:xfrm>
        </p:grpSpPr>
        <p:sp>
          <p:nvSpPr>
            <p:cNvPr id="121" name="TextBox 120"/>
            <p:cNvSpPr txBox="1"/>
            <p:nvPr/>
          </p:nvSpPr>
          <p:spPr>
            <a:xfrm>
              <a:off x="722376" y="5943600"/>
              <a:ext cx="1097280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2600" b="1" lang="en-US">
                  <a:solidFill>
                    <a:srgbClr val="298FC2"/>
                  </a:solidFill>
                  <a:latin typeface="Comfortaa"/>
                  <a:cs typeface="Comfortaa"/>
                </a:rPr>
                <a:t>88%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1874520" y="5943600"/>
              <a:ext cx="4937760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of 179 surveyed shoppers would use an app like Cheapify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7132320" y="2450592"/>
            <a:ext cx="4334256" cy="2441448"/>
            <a:chOff x="7132320" y="2450592"/>
            <a:chExt cx="4334256" cy="2441448"/>
          </a:xfrm>
        </p:grpSpPr>
        <p:sp>
          <p:nvSpPr>
            <p:cNvPr id="123" name="TextBox 122"/>
            <p:cNvSpPr txBox="1"/>
            <p:nvPr/>
          </p:nvSpPr>
          <p:spPr>
            <a:xfrm>
              <a:off x="7132320" y="2450592"/>
              <a:ext cx="274320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600" b="1" lang="en-US">
                  <a:solidFill>
                    <a:srgbClr val="101820"/>
                  </a:solidFill>
                  <a:latin typeface="Inter"/>
                  <a:cs typeface="Inter"/>
                </a:rPr>
                <a:t>Merchants</a:t>
              </a:r>
            </a:p>
          </p:txBody>
        </p:sp>
        <p:sp>
          <p:nvSpPr>
            <p:cNvPr id="124" name="Rounded Rectangle 123"/>
            <p:cNvSpPr/>
            <p:nvPr/>
          </p:nvSpPr>
          <p:spPr>
            <a:xfrm>
              <a:off x="7132320" y="2834640"/>
              <a:ext cx="4334256" cy="2057400"/>
            </a:xfrm>
            <a:prstGeom prst="roundRect">
              <a:avLst>
                <a:gd name="adj" fmla="val 6222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Oval 124"/>
            <p:cNvSpPr/>
            <p:nvPr/>
          </p:nvSpPr>
          <p:spPr>
            <a:xfrm>
              <a:off x="7338060" y="3040380"/>
              <a:ext cx="502920" cy="50292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26" name="Picture 125" descr="store_298FC2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52360" y="3154680"/>
              <a:ext cx="274320" cy="274320"/>
            </a:xfrm>
            <a:prstGeom prst="rect">
              <a:avLst/>
            </a:prstGeom>
          </p:spPr>
        </p:pic>
        <p:sp>
          <p:nvSpPr>
            <p:cNvPr id="127" name="TextBox 126"/>
            <p:cNvSpPr txBox="1"/>
            <p:nvPr/>
          </p:nvSpPr>
          <p:spPr>
            <a:xfrm>
              <a:off x="8001000" y="3108960"/>
              <a:ext cx="3383280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101820"/>
                  </a:solidFill>
                  <a:latin typeface="Inter"/>
                  <a:cs typeface="Inter"/>
                </a:rPr>
                <a:t>Social-media shops in Duhok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7360920" y="3703320"/>
              <a:ext cx="3931920" cy="10972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5000"/>
                </a:lnSpc>
              </a:pPr>
              <a:r>
                <a:rPr sz="1250" b="0" lang="en-US">
                  <a:solidFill>
                    <a:srgbClr val="5A6672"/>
                  </a:solidFill>
                  <a:latin typeface="Inter"/>
                  <a:cs typeface="Inter"/>
                </a:rPr>
                <a:t>Instagram · Facebook · TikTok</a:t>
              </a:r>
            </a:p>
            <a:p>
              <a:pPr algn="l">
                <a:lnSpc>
                  <a:spcPct val="115000"/>
                </a:lnSpc>
              </a:pPr>
              <a:r>
                <a:rPr sz="1250" b="0" lang="en-US">
                  <a:solidFill>
                    <a:srgbClr val="5A6672"/>
                  </a:solidFill>
                  <a:latin typeface="Inter"/>
                  <a:cs typeface="Inter"/>
                </a:rPr>
                <a:t>1,500–50,000 followers</a:t>
              </a:r>
            </a:p>
            <a:p>
              <a:pPr algn="l">
                <a:lnSpc>
                  <a:spcPct val="115000"/>
                </a:lnSpc>
              </a:pPr>
              <a:r>
                <a:rPr sz="1250" b="0" lang="en-US">
                  <a:solidFill>
                    <a:srgbClr val="5A6672"/>
                  </a:solidFill>
                  <a:latin typeface="Inter"/>
                  <a:cs typeface="Inter"/>
                </a:rPr>
                <a:t>20–150 products</a:t>
              </a:r>
            </a:p>
            <a:p>
              <a:pPr algn="l">
                <a:lnSpc>
                  <a:spcPct val="115000"/>
                </a:lnSpc>
              </a:pPr>
              <a:r>
                <a:rPr sz="1250" b="0" lang="en-US">
                  <a:solidFill>
                    <a:srgbClr val="5A6672"/>
                  </a:solidFill>
                  <a:latin typeface="Inter"/>
                  <a:cs typeface="Inter"/>
                </a:rPr>
                <a:t>Tech, accessories, beauty, home, perfume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132320" y="5074920"/>
            <a:ext cx="4343400" cy="384048"/>
            <a:chOff x="7132320" y="5074920"/>
            <a:chExt cx="4343400" cy="384048"/>
          </a:xfrm>
        </p:grpSpPr>
        <p:sp>
          <p:nvSpPr>
            <p:cNvPr id="129" name="TextBox 128"/>
            <p:cNvSpPr txBox="1"/>
            <p:nvPr/>
          </p:nvSpPr>
          <p:spPr>
            <a:xfrm>
              <a:off x="7132320" y="5074920"/>
              <a:ext cx="1097280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2600" b="1" lang="en-US">
                  <a:solidFill>
                    <a:srgbClr val="298FC2"/>
                  </a:solidFill>
                  <a:latin typeface="Comfortaa"/>
                  <a:cs typeface="Comfortaa"/>
                </a:rPr>
                <a:t>85%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8275320" y="5074920"/>
              <a:ext cx="3200400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sell on Instagram or Facebook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132320" y="5513832"/>
            <a:ext cx="4343400" cy="676656"/>
            <a:chOff x="7132320" y="5513832"/>
            <a:chExt cx="4343400" cy="676656"/>
          </a:xfrm>
        </p:grpSpPr>
        <p:sp>
          <p:nvSpPr>
            <p:cNvPr id="131" name="TextBox 130"/>
            <p:cNvSpPr txBox="1"/>
            <p:nvPr/>
          </p:nvSpPr>
          <p:spPr>
            <a:xfrm>
              <a:off x="7132320" y="5513832"/>
              <a:ext cx="1097280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2600" b="1" lang="en-US">
                  <a:solidFill>
                    <a:srgbClr val="298FC2"/>
                  </a:solidFill>
                  <a:latin typeface="Comfortaa"/>
                  <a:cs typeface="Comfortaa"/>
                </a:rPr>
                <a:t>75%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8275320" y="5513832"/>
              <a:ext cx="3200400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want to try Cheapify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7132320" y="5989320"/>
              <a:ext cx="4297680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of 20 surveyed merchants</a:t>
              </a:r>
            </a:p>
          </p:txBody>
        </p:sp>
      </p:grp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5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Product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Order in 30 seconds. Pay at the door.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2376" y="6455664"/>
            <a:ext cx="107442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5A6672"/>
                </a:solidFill>
                <a:latin typeface="Inter"/>
                <a:cs typeface="Inter"/>
              </a:rPr>
              <a:t>Concept screens — app in development.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234440" y="2395728"/>
            <a:ext cx="2011680" cy="3931920"/>
            <a:chOff x="1234440" y="2395728"/>
            <a:chExt cx="2011680" cy="3931920"/>
          </a:xfrm>
        </p:grpSpPr>
        <p:sp>
          <p:nvSpPr>
            <p:cNvPr id="104" name="Rounded Rectangle 103"/>
            <p:cNvSpPr/>
            <p:nvPr/>
          </p:nvSpPr>
          <p:spPr>
            <a:xfrm>
              <a:off x="1234440" y="2395728"/>
              <a:ext cx="2011680" cy="3931920"/>
            </a:xfrm>
            <a:prstGeom prst="roundRect">
              <a:avLst>
                <a:gd name="adj" fmla="val 13636"/>
              </a:avLst>
            </a:prstGeom>
            <a:solidFill>
              <a:srgbClr val="10182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1307592" y="2468880"/>
              <a:ext cx="1865376" cy="3785616"/>
            </a:xfrm>
            <a:prstGeom prst="roundRect">
              <a:avLst>
                <a:gd name="adj" fmla="val 1078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Rounded Rectangle 105"/>
            <p:cNvSpPr/>
            <p:nvPr/>
          </p:nvSpPr>
          <p:spPr>
            <a:xfrm>
              <a:off x="1965960" y="2514600"/>
              <a:ext cx="548640" cy="64008"/>
            </a:xfrm>
            <a:prstGeom prst="roundRect">
              <a:avLst>
                <a:gd name="adj" fmla="val 50000"/>
              </a:avLst>
            </a:prstGeom>
            <a:solidFill>
              <a:srgbClr val="10182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114800" y="2514600"/>
            <a:ext cx="7351776" cy="694944"/>
            <a:chOff x="4114800" y="2514600"/>
            <a:chExt cx="7351776" cy="694944"/>
          </a:xfrm>
        </p:grpSpPr>
        <p:sp>
          <p:nvSpPr>
            <p:cNvPr id="107" name="Rounded Rectangle 106"/>
            <p:cNvSpPr/>
            <p:nvPr/>
          </p:nvSpPr>
          <p:spPr>
            <a:xfrm>
              <a:off x="4114800" y="2514600"/>
              <a:ext cx="7351776" cy="694944"/>
            </a:xfrm>
            <a:prstGeom prst="roundRect">
              <a:avLst>
                <a:gd name="adj" fmla="val 15789"/>
              </a:avLst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114800" y="3282696"/>
            <a:ext cx="7351776" cy="694944"/>
            <a:chOff x="4114800" y="3282696"/>
            <a:chExt cx="7351776" cy="694944"/>
          </a:xfrm>
        </p:grpSpPr>
        <p:sp>
          <p:nvSpPr>
            <p:cNvPr id="108" name="Rounded Rectangle 107"/>
            <p:cNvSpPr/>
            <p:nvPr/>
          </p:nvSpPr>
          <p:spPr>
            <a:xfrm>
              <a:off x="4114800" y="3282696"/>
              <a:ext cx="7351776" cy="694944"/>
            </a:xfrm>
            <a:prstGeom prst="roundRect">
              <a:avLst>
                <a:gd name="adj" fmla="val 15789"/>
              </a:avLst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114800" y="4050792"/>
            <a:ext cx="7351776" cy="694944"/>
            <a:chOff x="4114800" y="4050792"/>
            <a:chExt cx="7351776" cy="694944"/>
          </a:xfrm>
        </p:grpSpPr>
        <p:sp>
          <p:nvSpPr>
            <p:cNvPr id="109" name="Rounded Rectangle 108"/>
            <p:cNvSpPr/>
            <p:nvPr/>
          </p:nvSpPr>
          <p:spPr>
            <a:xfrm>
              <a:off x="4114800" y="4050792"/>
              <a:ext cx="7351776" cy="694944"/>
            </a:xfrm>
            <a:prstGeom prst="roundRect">
              <a:avLst>
                <a:gd name="adj" fmla="val 15789"/>
              </a:avLst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114800" y="4818888"/>
            <a:ext cx="7351776" cy="694944"/>
            <a:chOff x="4114800" y="4818888"/>
            <a:chExt cx="7351776" cy="694944"/>
          </a:xfrm>
        </p:grpSpPr>
        <p:sp>
          <p:nvSpPr>
            <p:cNvPr id="110" name="Rounded Rectangle 109"/>
            <p:cNvSpPr/>
            <p:nvPr/>
          </p:nvSpPr>
          <p:spPr>
            <a:xfrm>
              <a:off x="4114800" y="4818888"/>
              <a:ext cx="7351776" cy="694944"/>
            </a:xfrm>
            <a:prstGeom prst="roundRect">
              <a:avLst>
                <a:gd name="adj" fmla="val 15789"/>
              </a:avLst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114800" y="5586984"/>
            <a:ext cx="7351776" cy="694944"/>
            <a:chOff x="4114800" y="5586984"/>
            <a:chExt cx="7351776" cy="694944"/>
          </a:xfrm>
        </p:grpSpPr>
        <p:sp>
          <p:nvSpPr>
            <p:cNvPr id="111" name="Rounded Rectangle 110"/>
            <p:cNvSpPr/>
            <p:nvPr/>
          </p:nvSpPr>
          <p:spPr>
            <a:xfrm>
              <a:off x="4114800" y="5586984"/>
              <a:ext cx="7351776" cy="694944"/>
            </a:xfrm>
            <a:prstGeom prst="roundRect">
              <a:avLst>
                <a:gd name="adj" fmla="val 15789"/>
              </a:avLst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206240" y="2551176"/>
            <a:ext cx="7269480" cy="585216"/>
            <a:chOff x="4206240" y="2551176"/>
            <a:chExt cx="7269480" cy="585216"/>
          </a:xfrm>
        </p:grpSpPr>
        <p:sp>
          <p:nvSpPr>
            <p:cNvPr id="112" name="Oval 111"/>
            <p:cNvSpPr/>
            <p:nvPr/>
          </p:nvSpPr>
          <p:spPr>
            <a:xfrm>
              <a:off x="4206240" y="2642616"/>
              <a:ext cx="438912" cy="438912"/>
            </a:xfrm>
            <a:prstGeom prst="ellipse">
              <a:avLst/>
            </a:prstGeom>
            <a:solidFill>
              <a:srgbClr val="DDE5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4206240" y="2642616"/>
              <a:ext cx="438912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5A6672"/>
                  </a:solidFill>
                  <a:latin typeface="Inter"/>
                  <a:cs typeface="Inter"/>
                </a:rPr>
                <a:t>1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5074920" y="2551176"/>
              <a:ext cx="640080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800" b="1" lang="en-US">
                  <a:solidFill>
                    <a:srgbClr val="101820"/>
                  </a:solidFill>
                  <a:latin typeface="Inter"/>
                  <a:cs typeface="Inter"/>
                </a:rPr>
                <a:t>Search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074920" y="2880360"/>
              <a:ext cx="640080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300" b="0" lang="en-US">
                  <a:solidFill>
                    <a:srgbClr val="5A6672"/>
                  </a:solidFill>
                  <a:latin typeface="Inter"/>
                  <a:cs typeface="Inter"/>
                </a:rPr>
                <a:t>Find any product in one place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206240" y="3319272"/>
            <a:ext cx="7269480" cy="585216"/>
            <a:chOff x="4206240" y="3319272"/>
            <a:chExt cx="7269480" cy="585216"/>
          </a:xfrm>
        </p:grpSpPr>
        <p:sp>
          <p:nvSpPr>
            <p:cNvPr id="116" name="Oval 115"/>
            <p:cNvSpPr/>
            <p:nvPr/>
          </p:nvSpPr>
          <p:spPr>
            <a:xfrm>
              <a:off x="4206240" y="3410712"/>
              <a:ext cx="438912" cy="438912"/>
            </a:xfrm>
            <a:prstGeom prst="ellipse">
              <a:avLst/>
            </a:prstGeom>
            <a:solidFill>
              <a:srgbClr val="DDE5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4206240" y="3410712"/>
              <a:ext cx="438912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5A6672"/>
                  </a:solidFill>
                  <a:latin typeface="Inter"/>
                  <a:cs typeface="Inter"/>
                </a:rPr>
                <a:t>2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5074920" y="3319272"/>
              <a:ext cx="640080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800" b="1" lang="en-US">
                  <a:solidFill>
                    <a:srgbClr val="101820"/>
                  </a:solidFill>
                  <a:latin typeface="Inter"/>
                  <a:cs typeface="Inter"/>
                </a:rPr>
                <a:t>Compare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74920" y="3648456"/>
              <a:ext cx="640080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300" b="0" lang="en-US">
                  <a:solidFill>
                    <a:srgbClr val="5A6672"/>
                  </a:solidFill>
                  <a:latin typeface="Inter"/>
                  <a:cs typeface="Inter"/>
                </a:rPr>
                <a:t>Every seller on one page — Best Value on top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206240" y="4087368"/>
            <a:ext cx="7269480" cy="585216"/>
            <a:chOff x="4206240" y="4087368"/>
            <a:chExt cx="7269480" cy="585216"/>
          </a:xfrm>
        </p:grpSpPr>
        <p:sp>
          <p:nvSpPr>
            <p:cNvPr id="120" name="Oval 119"/>
            <p:cNvSpPr/>
            <p:nvPr/>
          </p:nvSpPr>
          <p:spPr>
            <a:xfrm>
              <a:off x="4206240" y="4178808"/>
              <a:ext cx="438912" cy="438912"/>
            </a:xfrm>
            <a:prstGeom prst="ellipse">
              <a:avLst/>
            </a:prstGeom>
            <a:solidFill>
              <a:srgbClr val="DDE5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206240" y="4178808"/>
              <a:ext cx="438912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5A6672"/>
                  </a:solidFill>
                  <a:latin typeface="Inter"/>
                  <a:cs typeface="Inter"/>
                </a:rPr>
                <a:t>3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5074920" y="4087368"/>
              <a:ext cx="640080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800" b="1" lang="en-US">
                  <a:solidFill>
                    <a:srgbClr val="101820"/>
                  </a:solidFill>
                  <a:latin typeface="Inter"/>
                  <a:cs typeface="Inter"/>
                </a:rPr>
                <a:t>Order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5074920" y="4416552"/>
              <a:ext cx="640080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300" b="0" lang="en-US">
                  <a:solidFill>
                    <a:srgbClr val="5A6672"/>
                  </a:solidFill>
                  <a:latin typeface="Inter"/>
                  <a:cs typeface="Inter"/>
                </a:rPr>
                <a:t>Doorstep total upfront · cash or card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206240" y="4855464"/>
            <a:ext cx="7269480" cy="585216"/>
            <a:chOff x="4206240" y="4855464"/>
            <a:chExt cx="7269480" cy="585216"/>
          </a:xfrm>
        </p:grpSpPr>
        <p:sp>
          <p:nvSpPr>
            <p:cNvPr id="124" name="Oval 123"/>
            <p:cNvSpPr/>
            <p:nvPr/>
          </p:nvSpPr>
          <p:spPr>
            <a:xfrm>
              <a:off x="4206240" y="4946904"/>
              <a:ext cx="438912" cy="438912"/>
            </a:xfrm>
            <a:prstGeom prst="ellipse">
              <a:avLst/>
            </a:prstGeom>
            <a:solidFill>
              <a:srgbClr val="DDE5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4206240" y="4946904"/>
              <a:ext cx="438912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5A6672"/>
                  </a:solidFill>
                  <a:latin typeface="Inter"/>
                  <a:cs typeface="Inter"/>
                </a:rPr>
                <a:t>4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074920" y="4855464"/>
              <a:ext cx="640080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800" b="1" lang="en-US">
                  <a:solidFill>
                    <a:srgbClr val="101820"/>
                  </a:solidFill>
                  <a:latin typeface="Inter"/>
                  <a:cs typeface="Inter"/>
                </a:rPr>
                <a:t>Merchant packs, courier picks up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5074920" y="5184648"/>
              <a:ext cx="640080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300" b="0" lang="en-US">
                  <a:solidFill>
                    <a:srgbClr val="5A6672"/>
                  </a:solidFill>
                  <a:latin typeface="Inter"/>
                  <a:cs typeface="Inter"/>
                </a:rPr>
                <a:t>The order lands on the dashboard and WhatsApp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206240" y="5623560"/>
            <a:ext cx="7269480" cy="585216"/>
            <a:chOff x="4206240" y="5623560"/>
            <a:chExt cx="7269480" cy="585216"/>
          </a:xfrm>
        </p:grpSpPr>
        <p:sp>
          <p:nvSpPr>
            <p:cNvPr id="128" name="Oval 127"/>
            <p:cNvSpPr/>
            <p:nvPr/>
          </p:nvSpPr>
          <p:spPr>
            <a:xfrm>
              <a:off x="4206240" y="5715000"/>
              <a:ext cx="438912" cy="438912"/>
            </a:xfrm>
            <a:prstGeom prst="ellipse">
              <a:avLst/>
            </a:prstGeom>
            <a:solidFill>
              <a:srgbClr val="DDE5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4206240" y="5715000"/>
              <a:ext cx="438912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5A6672"/>
                  </a:solidFill>
                  <a:latin typeface="Inter"/>
                  <a:cs typeface="Inter"/>
                </a:rPr>
                <a:t>5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5074920" y="5623560"/>
              <a:ext cx="640080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800" b="1" lang="en-US">
                  <a:solidFill>
                    <a:srgbClr val="101820"/>
                  </a:solidFill>
                  <a:latin typeface="Inter"/>
                  <a:cs typeface="Inter"/>
                </a:rPr>
                <a:t>Automatic payout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5074920" y="5952744"/>
              <a:ext cx="6400800" cy="25603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300" b="0" lang="en-US">
                  <a:solidFill>
                    <a:srgbClr val="5A6672"/>
                  </a:solidFill>
                  <a:latin typeface="Inter"/>
                  <a:cs typeface="Inter"/>
                </a:rPr>
                <a:t>Paid 48 hours after delivery, minus our fee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206240" y="2642616"/>
            <a:ext cx="438912" cy="438912"/>
            <a:chOff x="4206240" y="2642616"/>
            <a:chExt cx="438912" cy="438912"/>
          </a:xfrm>
        </p:grpSpPr>
        <p:sp>
          <p:nvSpPr>
            <p:cNvPr id="132" name="Oval 131"/>
            <p:cNvSpPr/>
            <p:nvPr/>
          </p:nvSpPr>
          <p:spPr>
            <a:xfrm>
              <a:off x="4206240" y="2642616"/>
              <a:ext cx="438912" cy="438912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4206240" y="2642616"/>
              <a:ext cx="438912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FFFFFF"/>
                  </a:solidFill>
                  <a:latin typeface="Inter"/>
                  <a:cs typeface="Inter"/>
                </a:rPr>
                <a:t>1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206240" y="3410712"/>
            <a:ext cx="438912" cy="438912"/>
            <a:chOff x="4206240" y="3410712"/>
            <a:chExt cx="438912" cy="438912"/>
          </a:xfrm>
        </p:grpSpPr>
        <p:sp>
          <p:nvSpPr>
            <p:cNvPr id="134" name="Oval 133"/>
            <p:cNvSpPr/>
            <p:nvPr/>
          </p:nvSpPr>
          <p:spPr>
            <a:xfrm>
              <a:off x="4206240" y="3410712"/>
              <a:ext cx="438912" cy="438912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4206240" y="3410712"/>
              <a:ext cx="438912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FFFFFF"/>
                  </a:solidFill>
                  <a:latin typeface="Inter"/>
                  <a:cs typeface="Inter"/>
                </a:rPr>
                <a:t>2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206240" y="4178808"/>
            <a:ext cx="438912" cy="438912"/>
            <a:chOff x="4206240" y="4178808"/>
            <a:chExt cx="438912" cy="438912"/>
          </a:xfrm>
        </p:grpSpPr>
        <p:sp>
          <p:nvSpPr>
            <p:cNvPr id="136" name="Oval 135"/>
            <p:cNvSpPr/>
            <p:nvPr/>
          </p:nvSpPr>
          <p:spPr>
            <a:xfrm>
              <a:off x="4206240" y="4178808"/>
              <a:ext cx="438912" cy="438912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4206240" y="4178808"/>
              <a:ext cx="438912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FFFFFF"/>
                  </a:solidFill>
                  <a:latin typeface="Inter"/>
                  <a:cs typeface="Inter"/>
                </a:rPr>
                <a:t>3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206240" y="4946904"/>
            <a:ext cx="438912" cy="438912"/>
            <a:chOff x="4206240" y="4946904"/>
            <a:chExt cx="438912" cy="438912"/>
          </a:xfrm>
        </p:grpSpPr>
        <p:sp>
          <p:nvSpPr>
            <p:cNvPr id="138" name="Oval 137"/>
            <p:cNvSpPr/>
            <p:nvPr/>
          </p:nvSpPr>
          <p:spPr>
            <a:xfrm>
              <a:off x="4206240" y="4946904"/>
              <a:ext cx="438912" cy="438912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4206240" y="4946904"/>
              <a:ext cx="438912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FFFFFF"/>
                  </a:solidFill>
                  <a:latin typeface="Inter"/>
                  <a:cs typeface="Inter"/>
                </a:rPr>
                <a:t>4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206240" y="5715000"/>
            <a:ext cx="438912" cy="438912"/>
            <a:chOff x="4206240" y="5715000"/>
            <a:chExt cx="438912" cy="438912"/>
          </a:xfrm>
        </p:grpSpPr>
        <p:sp>
          <p:nvSpPr>
            <p:cNvPr id="140" name="Oval 139"/>
            <p:cNvSpPr/>
            <p:nvPr/>
          </p:nvSpPr>
          <p:spPr>
            <a:xfrm>
              <a:off x="4206240" y="5715000"/>
              <a:ext cx="438912" cy="438912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4206240" y="5715000"/>
              <a:ext cx="438912" cy="43891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FFFFFF"/>
                  </a:solidFill>
                  <a:latin typeface="Inter"/>
                  <a:cs typeface="Inter"/>
                </a:rPr>
                <a:t>5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307592" y="2468880"/>
            <a:ext cx="1865376" cy="3785616"/>
            <a:chOff x="1307592" y="2468880"/>
            <a:chExt cx="1865376" cy="3785616"/>
          </a:xfrm>
        </p:grpSpPr>
        <p:sp>
          <p:nvSpPr>
            <p:cNvPr id="142" name="Rounded Rectangle 141"/>
            <p:cNvSpPr/>
            <p:nvPr/>
          </p:nvSpPr>
          <p:spPr>
            <a:xfrm>
              <a:off x="1307592" y="2468880"/>
              <a:ext cx="1865376" cy="3785616"/>
            </a:xfrm>
            <a:prstGeom prst="roundRect">
              <a:avLst>
                <a:gd name="adj" fmla="val 1078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43" name="Picture 142" descr="cheapify-logo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35608" y="2677886"/>
              <a:ext cx="201168" cy="258645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1709928" y="2670048"/>
              <a:ext cx="10972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100" b="1" lang="en-US">
                  <a:solidFill>
                    <a:srgbClr val="101820"/>
                  </a:solidFill>
                  <a:latin typeface="Comfortaa"/>
                  <a:cs typeface="Comfortaa"/>
                </a:rPr>
                <a:t>Cheapify</a:t>
              </a:r>
            </a:p>
          </p:txBody>
        </p:sp>
        <p:sp>
          <p:nvSpPr>
            <p:cNvPr id="145" name="Rounded Rectangle 144"/>
            <p:cNvSpPr/>
            <p:nvPr/>
          </p:nvSpPr>
          <p:spPr>
            <a:xfrm>
              <a:off x="1435608" y="3090672"/>
              <a:ext cx="1609344" cy="329184"/>
            </a:xfrm>
            <a:prstGeom prst="roundRect">
              <a:avLst>
                <a:gd name="adj" fmla="val 50000"/>
              </a:avLst>
            </a:prstGeom>
            <a:solidFill>
              <a:srgbClr val="F4F6F8"/>
            </a:solidFill>
            <a:ln w="9525">
              <a:solidFill>
                <a:srgbClr val="DDE5E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46" name="Picture 145" descr="search_5A6672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27048" y="3182112"/>
              <a:ext cx="146304" cy="146304"/>
            </a:xfrm>
            <a:prstGeom prst="rect">
              <a:avLst/>
            </a:prstGeom>
          </p:spPr>
        </p:pic>
        <p:sp>
          <p:nvSpPr>
            <p:cNvPr id="147" name="TextBox 146"/>
            <p:cNvSpPr txBox="1"/>
            <p:nvPr/>
          </p:nvSpPr>
          <p:spPr>
            <a:xfrm>
              <a:off x="1746504" y="3090672"/>
              <a:ext cx="1243584" cy="32918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900" b="0" lang="en-US">
                  <a:solidFill>
                    <a:srgbClr val="101820"/>
                  </a:solidFill>
                  <a:latin typeface="Inter"/>
                  <a:cs typeface="Inter"/>
                </a:rPr>
                <a:t>anker power bank</a:t>
              </a:r>
            </a:p>
          </p:txBody>
        </p:sp>
        <p:sp>
          <p:nvSpPr>
            <p:cNvPr id="148" name="Rounded Rectangle 147"/>
            <p:cNvSpPr/>
            <p:nvPr/>
          </p:nvSpPr>
          <p:spPr>
            <a:xfrm>
              <a:off x="1435608" y="3611880"/>
              <a:ext cx="457200" cy="457200"/>
            </a:xfrm>
            <a:prstGeom prst="roundRect">
              <a:avLst>
                <a:gd name="adj" fmla="val 16000"/>
              </a:avLst>
            </a:prstGeom>
            <a:solidFill>
              <a:srgbClr val="DDE5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965960" y="3630168"/>
              <a:ext cx="1097280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850" b="1" lang="en-US">
                  <a:solidFill>
                    <a:srgbClr val="101820"/>
                  </a:solidFill>
                  <a:latin typeface="Inter"/>
                  <a:cs typeface="Inter"/>
                </a:rPr>
                <a:t>Anker 25K · 165 W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1965960" y="3840480"/>
              <a:ext cx="1078992" cy="32918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800" b="0" lang="en-US">
                  <a:solidFill>
                    <a:srgbClr val="5A6672"/>
                  </a:solidFill>
                  <a:latin typeface="Inter"/>
                  <a:cs typeface="Inter"/>
                </a:rPr>
                <a:t>from 95,000 IQD · 4 sellers</a:t>
              </a:r>
            </a:p>
          </p:txBody>
        </p:sp>
        <p:sp>
          <p:nvSpPr>
            <p:cNvPr id="151" name="Rounded Rectangle 150"/>
            <p:cNvSpPr/>
            <p:nvPr/>
          </p:nvSpPr>
          <p:spPr>
            <a:xfrm>
              <a:off x="1435608" y="4434840"/>
              <a:ext cx="457200" cy="457200"/>
            </a:xfrm>
            <a:prstGeom prst="roundRect">
              <a:avLst>
                <a:gd name="adj" fmla="val 16000"/>
              </a:avLst>
            </a:prstGeom>
            <a:solidFill>
              <a:srgbClr val="DDE5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1965960" y="4453128"/>
              <a:ext cx="1097280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850" b="1" lang="en-US">
                  <a:solidFill>
                    <a:srgbClr val="101820"/>
                  </a:solidFill>
                  <a:latin typeface="Inter"/>
                  <a:cs typeface="Inter"/>
                </a:rPr>
                <a:t>Anker 10K · 30 W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1965960" y="4663440"/>
              <a:ext cx="1078992" cy="32918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800" b="0" lang="en-US">
                  <a:solidFill>
                    <a:srgbClr val="5A6672"/>
                  </a:solidFill>
                  <a:latin typeface="Inter"/>
                  <a:cs typeface="Inter"/>
                </a:rPr>
                <a:t>from 35,000 IQD</a:t>
              </a:r>
            </a:p>
          </p:txBody>
        </p:sp>
        <p:sp>
          <p:nvSpPr>
            <p:cNvPr id="154" name="Rounded Rectangle 153"/>
            <p:cNvSpPr/>
            <p:nvPr/>
          </p:nvSpPr>
          <p:spPr>
            <a:xfrm>
              <a:off x="1435608" y="5257800"/>
              <a:ext cx="457200" cy="457200"/>
            </a:xfrm>
            <a:prstGeom prst="roundRect">
              <a:avLst>
                <a:gd name="adj" fmla="val 16000"/>
              </a:avLst>
            </a:prstGeom>
            <a:solidFill>
              <a:srgbClr val="DDE5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1965960" y="5276088"/>
              <a:ext cx="1097280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850" b="1" lang="en-US">
                  <a:solidFill>
                    <a:srgbClr val="101820"/>
                  </a:solidFill>
                  <a:latin typeface="Inter"/>
                  <a:cs typeface="Inter"/>
                </a:rPr>
                <a:t>Xiaomi 10K · 165 W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1965960" y="5486400"/>
              <a:ext cx="1078992" cy="32918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800" b="0" lang="en-US">
                  <a:solidFill>
                    <a:srgbClr val="5A6672"/>
                  </a:solidFill>
                  <a:latin typeface="Inter"/>
                  <a:cs typeface="Inter"/>
                </a:rPr>
                <a:t>from 60,000 IQD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307592" y="2468880"/>
            <a:ext cx="1865376" cy="3785616"/>
            <a:chOff x="1307592" y="2468880"/>
            <a:chExt cx="1865376" cy="3785616"/>
          </a:xfrm>
        </p:grpSpPr>
        <p:sp>
          <p:nvSpPr>
            <p:cNvPr id="157" name="Rounded Rectangle 156"/>
            <p:cNvSpPr/>
            <p:nvPr/>
          </p:nvSpPr>
          <p:spPr>
            <a:xfrm>
              <a:off x="1307592" y="2468880"/>
              <a:ext cx="1865376" cy="3785616"/>
            </a:xfrm>
            <a:prstGeom prst="roundRect">
              <a:avLst>
                <a:gd name="adj" fmla="val 1078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58" name="Picture 157" descr="product-anker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35608" y="2745930"/>
              <a:ext cx="457200" cy="634621"/>
            </a:xfrm>
            <a:prstGeom prst="rect">
              <a:avLst/>
            </a:prstGeom>
          </p:spPr>
        </p:pic>
        <p:sp>
          <p:nvSpPr>
            <p:cNvPr id="159" name="TextBox 158"/>
            <p:cNvSpPr txBox="1"/>
            <p:nvPr/>
          </p:nvSpPr>
          <p:spPr>
            <a:xfrm>
              <a:off x="1984248" y="2834640"/>
              <a:ext cx="118872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950" b="1" lang="en-US">
                  <a:solidFill>
                    <a:srgbClr val="101820"/>
                  </a:solidFill>
                  <a:latin typeface="Inter"/>
                  <a:cs typeface="Inter"/>
                </a:rPr>
                <a:t>Anker 25K · 165 W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1984248" y="3090672"/>
              <a:ext cx="109728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900" b="0" lang="en-US">
                  <a:solidFill>
                    <a:srgbClr val="5A6672"/>
                  </a:solidFill>
                  <a:latin typeface="Inter"/>
                  <a:cs typeface="Inter"/>
                </a:rPr>
                <a:t>4 sellers</a:t>
              </a:r>
            </a:p>
          </p:txBody>
        </p:sp>
        <p:sp>
          <p:nvSpPr>
            <p:cNvPr id="161" name="Rounded Rectangle 160"/>
            <p:cNvSpPr/>
            <p:nvPr/>
          </p:nvSpPr>
          <p:spPr>
            <a:xfrm>
              <a:off x="1417320" y="3886200"/>
              <a:ext cx="1645920" cy="585216"/>
            </a:xfrm>
            <a:prstGeom prst="roundRect">
              <a:avLst>
                <a:gd name="adj" fmla="val 12500"/>
              </a:avLst>
            </a:prstGeom>
            <a:solidFill>
              <a:srgbClr val="EDF5F0"/>
            </a:solidFill>
            <a:ln w="12700">
              <a:solidFill>
                <a:srgbClr val="22884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1508760" y="3941064"/>
              <a:ext cx="137160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900" b="1" lang="en-US">
                  <a:solidFill>
                    <a:srgbClr val="101820"/>
                  </a:solidFill>
                  <a:latin typeface="Inter"/>
                  <a:cs typeface="Inter"/>
                </a:rPr>
                <a:t>Store A · Duhok</a:t>
              </a: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1508760" y="4114800"/>
              <a:ext cx="91440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000" b="1" lang="en-US">
                  <a:solidFill>
                    <a:srgbClr val="101820"/>
                  </a:solidFill>
                  <a:latin typeface="Inter"/>
                  <a:cs typeface="Inter"/>
                </a:rPr>
                <a:t>95,000 IQD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1508760" y="4297680"/>
              <a:ext cx="1371600" cy="14630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800" b="0" lang="en-US">
                  <a:solidFill>
                    <a:srgbClr val="5A6672"/>
                  </a:solidFill>
                  <a:latin typeface="Inter"/>
                  <a:cs typeface="Inter"/>
                </a:rPr>
                <a:t>Doorstep total</a:t>
              </a:r>
            </a:p>
          </p:txBody>
        </p:sp>
        <p:sp>
          <p:nvSpPr>
            <p:cNvPr id="165" name="Rounded Rectangle 164"/>
            <p:cNvSpPr/>
            <p:nvPr/>
          </p:nvSpPr>
          <p:spPr>
            <a:xfrm>
              <a:off x="1417320" y="4599432"/>
              <a:ext cx="1645920" cy="585216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DE5E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1508760" y="4654296"/>
              <a:ext cx="137160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900" b="1" lang="en-US">
                  <a:solidFill>
                    <a:srgbClr val="101820"/>
                  </a:solidFill>
                  <a:latin typeface="Inter"/>
                  <a:cs typeface="Inter"/>
                </a:rPr>
                <a:t>Store D · Erbil</a:t>
              </a: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1508760" y="4828032"/>
              <a:ext cx="91440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000" b="1" lang="en-US">
                  <a:solidFill>
                    <a:srgbClr val="101820"/>
                  </a:solidFill>
                  <a:latin typeface="Inter"/>
                  <a:cs typeface="Inter"/>
                </a:rPr>
                <a:t>96,000 IQD</a:t>
              </a: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1508760" y="5010912"/>
              <a:ext cx="1371600" cy="14630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800" b="0" lang="en-US">
                  <a:solidFill>
                    <a:srgbClr val="5A6672"/>
                  </a:solidFill>
                  <a:latin typeface="Inter"/>
                  <a:cs typeface="Inter"/>
                </a:rPr>
                <a:t>Doorstep total</a:t>
              </a:r>
            </a:p>
          </p:txBody>
        </p:sp>
        <p:sp>
          <p:nvSpPr>
            <p:cNvPr id="169" name="Rounded Rectangle 168"/>
            <p:cNvSpPr/>
            <p:nvPr/>
          </p:nvSpPr>
          <p:spPr>
            <a:xfrm>
              <a:off x="1417320" y="5312664"/>
              <a:ext cx="1645920" cy="585216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DE5E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1508760" y="5367528"/>
              <a:ext cx="137160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900" b="1" lang="en-US">
                  <a:solidFill>
                    <a:srgbClr val="101820"/>
                  </a:solidFill>
                  <a:latin typeface="Inter"/>
                  <a:cs typeface="Inter"/>
                </a:rPr>
                <a:t>Store B · Duhok</a:t>
              </a: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1508760" y="5541264"/>
              <a:ext cx="914400" cy="1828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000" b="1" lang="en-US">
                  <a:solidFill>
                    <a:srgbClr val="101820"/>
                  </a:solidFill>
                  <a:latin typeface="Inter"/>
                  <a:cs typeface="Inter"/>
                </a:rPr>
                <a:t>102,000 IQD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1508760" y="5724144"/>
              <a:ext cx="1371600" cy="14630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800" b="0" lang="en-US">
                  <a:solidFill>
                    <a:srgbClr val="5A6672"/>
                  </a:solidFill>
                  <a:latin typeface="Inter"/>
                  <a:cs typeface="Inter"/>
                </a:rPr>
                <a:t>Doorstep total</a:t>
              </a:r>
            </a:p>
          </p:txBody>
        </p:sp>
        <p:sp>
          <p:nvSpPr>
            <p:cNvPr id="173" name="Rounded Rectangle 172"/>
            <p:cNvSpPr/>
            <p:nvPr/>
          </p:nvSpPr>
          <p:spPr>
            <a:xfrm>
              <a:off x="2258568" y="4197096"/>
              <a:ext cx="731520" cy="201168"/>
            </a:xfrm>
            <a:prstGeom prst="roundRect">
              <a:avLst>
                <a:gd name="adj" fmla="val 50000"/>
              </a:avLst>
            </a:prstGeom>
            <a:solidFill>
              <a:srgbClr val="22884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2258568" y="4197096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800" b="1" lang="en-US">
                  <a:solidFill>
                    <a:srgbClr val="FFFFFF"/>
                  </a:solidFill>
                  <a:latin typeface="Inter"/>
                  <a:cs typeface="Inter"/>
                </a:rPr>
                <a:t>BEST VALUE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307592" y="2468880"/>
            <a:ext cx="1865376" cy="3785616"/>
            <a:chOff x="1307592" y="2468880"/>
            <a:chExt cx="1865376" cy="3785616"/>
          </a:xfrm>
        </p:grpSpPr>
        <p:sp>
          <p:nvSpPr>
            <p:cNvPr id="175" name="Rounded Rectangle 174"/>
            <p:cNvSpPr/>
            <p:nvPr/>
          </p:nvSpPr>
          <p:spPr>
            <a:xfrm>
              <a:off x="1307592" y="2468880"/>
              <a:ext cx="1865376" cy="3785616"/>
            </a:xfrm>
            <a:prstGeom prst="roundRect">
              <a:avLst>
                <a:gd name="adj" fmla="val 1078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1435608" y="2697480"/>
              <a:ext cx="1609344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200" b="1" lang="en-US">
                  <a:solidFill>
                    <a:srgbClr val="101820"/>
                  </a:solidFill>
                  <a:latin typeface="Inter"/>
                  <a:cs typeface="Inter"/>
                </a:rPr>
                <a:t>Checkout</a:t>
              </a:r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1435608" y="3017520"/>
              <a:ext cx="1609344" cy="2286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900" b="0" lang="en-US">
                  <a:solidFill>
                    <a:srgbClr val="5A6672"/>
                  </a:solidFill>
                  <a:latin typeface="Inter"/>
                  <a:cs typeface="Inter"/>
                </a:rPr>
                <a:t>Anker 25K · 165 W</a:t>
              </a: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1435608" y="3429000"/>
              <a:ext cx="100584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000" b="0" lang="en-US">
                  <a:solidFill>
                    <a:srgbClr val="101820"/>
                  </a:solidFill>
                  <a:latin typeface="Inter"/>
                  <a:cs typeface="Inter"/>
                </a:rPr>
                <a:t>Item</a:t>
              </a: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2313432" y="3429000"/>
              <a:ext cx="73152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000" b="0" lang="en-US">
                  <a:solidFill>
                    <a:srgbClr val="101820"/>
                  </a:solidFill>
                  <a:latin typeface="Inter"/>
                  <a:cs typeface="Inter"/>
                </a:rPr>
                <a:t>92,000</a:t>
              </a: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1435608" y="3739896"/>
              <a:ext cx="100584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000" b="0" lang="en-US">
                  <a:solidFill>
                    <a:srgbClr val="101820"/>
                  </a:solidFill>
                  <a:latin typeface="Inter"/>
                  <a:cs typeface="Inter"/>
                </a:rPr>
                <a:t>Delivery (Duhok)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2313432" y="3739896"/>
              <a:ext cx="73152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000" b="0" lang="en-US">
                  <a:solidFill>
                    <a:srgbClr val="101820"/>
                  </a:solidFill>
                  <a:latin typeface="Inter"/>
                  <a:cs typeface="Inter"/>
                </a:rPr>
                <a:t>3,000</a:t>
              </a:r>
            </a:p>
          </p:txBody>
        </p:sp>
        <p:cxnSp>
          <p:nvCxnSpPr>
            <p:cNvPr id="182" name="Connector 181"/>
            <p:cNvCxnSpPr/>
            <p:nvPr/>
          </p:nvCxnSpPr>
          <p:spPr>
            <a:xfrm>
              <a:off x="1435608" y="4114800"/>
              <a:ext cx="1609344" cy="0"/>
            </a:xfrm>
            <a:prstGeom prst="line">
              <a:avLst/>
            </a:prstGeom>
            <a:ln w="12700">
              <a:solidFill>
                <a:srgbClr val="DDE5ED"/>
              </a:solidFill>
            </a:ln>
            <a:effectLst/>
          </p:spPr>
        </p:cxnSp>
        <p:sp>
          <p:nvSpPr>
            <p:cNvPr id="183" name="TextBox 182"/>
            <p:cNvSpPr txBox="1"/>
            <p:nvPr/>
          </p:nvSpPr>
          <p:spPr>
            <a:xfrm>
              <a:off x="1435608" y="4206240"/>
              <a:ext cx="1609344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000" b="1" lang="en-US">
                  <a:solidFill>
                    <a:srgbClr val="101820"/>
                  </a:solidFill>
                  <a:latin typeface="Inter"/>
                  <a:cs typeface="Inter"/>
                </a:rPr>
                <a:t>Doorstep total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1435608" y="4425696"/>
              <a:ext cx="1609344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400" b="1" lang="en-US">
                  <a:solidFill>
                    <a:srgbClr val="101820"/>
                  </a:solidFill>
                  <a:latin typeface="Inter"/>
                  <a:cs typeface="Inter"/>
                </a:rPr>
                <a:t>95,000 IQD</a:t>
              </a:r>
            </a:p>
          </p:txBody>
        </p:sp>
        <p:sp>
          <p:nvSpPr>
            <p:cNvPr id="185" name="Rounded Rectangle 184"/>
            <p:cNvSpPr/>
            <p:nvPr/>
          </p:nvSpPr>
          <p:spPr>
            <a:xfrm>
              <a:off x="1435608" y="4828032"/>
              <a:ext cx="1609344" cy="384048"/>
            </a:xfrm>
            <a:prstGeom prst="roundRect">
              <a:avLst>
                <a:gd name="adj" fmla="val 19047"/>
              </a:avLst>
            </a:prstGeom>
            <a:solidFill>
              <a:srgbClr val="FFFFFF"/>
            </a:solidFill>
            <a:ln w="12700">
              <a:solidFill>
                <a:srgbClr val="298FC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6" name="Oval 185"/>
            <p:cNvSpPr/>
            <p:nvPr/>
          </p:nvSpPr>
          <p:spPr>
            <a:xfrm>
              <a:off x="1554480" y="4937760"/>
              <a:ext cx="164592" cy="164592"/>
            </a:xfrm>
            <a:prstGeom prst="ellipse">
              <a:avLst/>
            </a:prstGeom>
            <a:noFill/>
            <a:ln w="15875">
              <a:solidFill>
                <a:srgbClr val="298FC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Oval 186"/>
            <p:cNvSpPr/>
            <p:nvPr/>
          </p:nvSpPr>
          <p:spPr>
            <a:xfrm>
              <a:off x="1595628" y="4978908"/>
              <a:ext cx="82296" cy="82296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1819656" y="4828032"/>
              <a:ext cx="1152144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000" b="1" lang="en-US">
                  <a:solidFill>
                    <a:srgbClr val="101820"/>
                  </a:solidFill>
                  <a:latin typeface="Inter"/>
                  <a:cs typeface="Inter"/>
                </a:rPr>
                <a:t>Cash on delivery</a:t>
              </a:r>
            </a:p>
          </p:txBody>
        </p:sp>
        <p:sp>
          <p:nvSpPr>
            <p:cNvPr id="189" name="Rounded Rectangle 188"/>
            <p:cNvSpPr/>
            <p:nvPr/>
          </p:nvSpPr>
          <p:spPr>
            <a:xfrm>
              <a:off x="1435608" y="5285232"/>
              <a:ext cx="1609344" cy="384048"/>
            </a:xfrm>
            <a:prstGeom prst="roundRect">
              <a:avLst>
                <a:gd name="adj" fmla="val 19047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0" name="Oval 189"/>
            <p:cNvSpPr/>
            <p:nvPr/>
          </p:nvSpPr>
          <p:spPr>
            <a:xfrm>
              <a:off x="1554480" y="5394960"/>
              <a:ext cx="164592" cy="164592"/>
            </a:xfrm>
            <a:prstGeom prst="ellipse">
              <a:avLst/>
            </a:prstGeom>
            <a:noFill/>
            <a:ln w="15875">
              <a:solidFill>
                <a:srgbClr val="A9B1B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1819656" y="5285232"/>
              <a:ext cx="1152144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000" b="0" lang="en-US">
                  <a:solidFill>
                    <a:srgbClr val="101820"/>
                  </a:solidFill>
                  <a:latin typeface="Inter"/>
                  <a:cs typeface="Inter"/>
                </a:rPr>
                <a:t>Card / e-wallet</a:t>
              </a:r>
            </a:p>
          </p:txBody>
        </p:sp>
        <p:sp>
          <p:nvSpPr>
            <p:cNvPr id="192" name="Rounded Rectangle 191"/>
            <p:cNvSpPr/>
            <p:nvPr/>
          </p:nvSpPr>
          <p:spPr>
            <a:xfrm>
              <a:off x="1435608" y="5779008"/>
              <a:ext cx="1609344" cy="384048"/>
            </a:xfrm>
            <a:prstGeom prst="roundRect">
              <a:avLst>
                <a:gd name="adj" fmla="val 28571"/>
              </a:avLst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1435608" y="5779008"/>
              <a:ext cx="1609344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200" b="1" lang="en-US">
                  <a:solidFill>
                    <a:srgbClr val="FFFFFF"/>
                  </a:solidFill>
                  <a:latin typeface="Inter"/>
                  <a:cs typeface="Inter"/>
                </a:rPr>
                <a:t>Order now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307592" y="2468880"/>
            <a:ext cx="1865376" cy="3785616"/>
            <a:chOff x="1307592" y="2468880"/>
            <a:chExt cx="1865376" cy="3785616"/>
          </a:xfrm>
        </p:grpSpPr>
        <p:sp>
          <p:nvSpPr>
            <p:cNvPr id="194" name="Rounded Rectangle 193"/>
            <p:cNvSpPr/>
            <p:nvPr/>
          </p:nvSpPr>
          <p:spPr>
            <a:xfrm>
              <a:off x="1307592" y="2468880"/>
              <a:ext cx="1865376" cy="3785616"/>
            </a:xfrm>
            <a:prstGeom prst="roundRect">
              <a:avLst>
                <a:gd name="adj" fmla="val 1078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1435608" y="2697480"/>
              <a:ext cx="1609344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100" b="1" lang="en-US">
                  <a:solidFill>
                    <a:srgbClr val="101820"/>
                  </a:solidFill>
                  <a:latin typeface="Inter"/>
                  <a:cs typeface="Inter"/>
                </a:rPr>
                <a:t>Your store · Orders</a:t>
              </a:r>
            </a:p>
          </p:txBody>
        </p:sp>
        <p:cxnSp>
          <p:nvCxnSpPr>
            <p:cNvPr id="196" name="Connector 195"/>
            <p:cNvCxnSpPr/>
            <p:nvPr/>
          </p:nvCxnSpPr>
          <p:spPr>
            <a:xfrm>
              <a:off x="1435608" y="3035808"/>
              <a:ext cx="1609344" cy="0"/>
            </a:xfrm>
            <a:prstGeom prst="line">
              <a:avLst/>
            </a:prstGeom>
            <a:ln w="12700">
              <a:solidFill>
                <a:srgbClr val="DDE5ED"/>
              </a:solidFill>
            </a:ln>
            <a:effectLst/>
          </p:spPr>
        </p:cxnSp>
        <p:sp>
          <p:nvSpPr>
            <p:cNvPr id="197" name="Rounded Rectangle 196"/>
            <p:cNvSpPr/>
            <p:nvPr/>
          </p:nvSpPr>
          <p:spPr>
            <a:xfrm>
              <a:off x="1435608" y="3200400"/>
              <a:ext cx="1609344" cy="1874520"/>
            </a:xfrm>
            <a:prstGeom prst="roundRect">
              <a:avLst>
                <a:gd name="adj" fmla="val 5681"/>
              </a:avLst>
            </a:prstGeom>
            <a:solidFill>
              <a:srgbClr val="FFFFFF"/>
            </a:solidFill>
            <a:ln w="9525">
              <a:solidFill>
                <a:srgbClr val="DDE5E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1545336" y="3291840"/>
              <a:ext cx="1426464" cy="2286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000" b="1" lang="en-US">
                  <a:solidFill>
                    <a:srgbClr val="298FC2"/>
                  </a:solidFill>
                  <a:latin typeface="Inter"/>
                  <a:cs typeface="Inter"/>
                </a:rPr>
                <a:t>New order</a:t>
              </a: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1545336" y="3547872"/>
              <a:ext cx="1426464" cy="2286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900" b="0" lang="en-US">
                  <a:solidFill>
                    <a:srgbClr val="101820"/>
                  </a:solidFill>
                  <a:latin typeface="Inter"/>
                  <a:cs typeface="Inter"/>
                </a:rPr>
                <a:t>Anker 25K · Black · ×1</a:t>
              </a: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1545336" y="3803904"/>
              <a:ext cx="1426464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900" b="1" lang="en-US">
                  <a:solidFill>
                    <a:srgbClr val="101820"/>
                  </a:solidFill>
                  <a:latin typeface="Inter"/>
                  <a:cs typeface="Inter"/>
                </a:rPr>
                <a:t>95,000 IQD · cash on delivery</a:t>
              </a:r>
            </a:p>
          </p:txBody>
        </p:sp>
        <p:pic>
          <p:nvPicPr>
            <p:cNvPr id="201" name="Picture 200" descr="map-pin_5A6672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45336" y="4224528"/>
              <a:ext cx="146304" cy="146304"/>
            </a:xfrm>
            <a:prstGeom prst="rect">
              <a:avLst/>
            </a:prstGeom>
          </p:spPr>
        </p:pic>
        <p:sp>
          <p:nvSpPr>
            <p:cNvPr id="202" name="TextBox 201"/>
            <p:cNvSpPr txBox="1"/>
            <p:nvPr/>
          </p:nvSpPr>
          <p:spPr>
            <a:xfrm>
              <a:off x="1746504" y="4206240"/>
              <a:ext cx="1243584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900" b="0" lang="en-US">
                  <a:solidFill>
                    <a:srgbClr val="5A6672"/>
                  </a:solidFill>
                  <a:latin typeface="Inter"/>
                  <a:cs typeface="Inter"/>
                </a:rPr>
                <a:t>Duhok — Malta</a:t>
              </a:r>
            </a:p>
          </p:txBody>
        </p:sp>
        <p:sp>
          <p:nvSpPr>
            <p:cNvPr id="203" name="Rounded Rectangle 202"/>
            <p:cNvSpPr/>
            <p:nvPr/>
          </p:nvSpPr>
          <p:spPr>
            <a:xfrm>
              <a:off x="1545336" y="4572000"/>
              <a:ext cx="603504" cy="310896"/>
            </a:xfrm>
            <a:prstGeom prst="roundRect">
              <a:avLst>
                <a:gd name="adj" fmla="val 23529"/>
              </a:avLst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1545336" y="4572000"/>
              <a:ext cx="603504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900" b="1" lang="en-US">
                  <a:solidFill>
                    <a:srgbClr val="FFFFFF"/>
                  </a:solidFill>
                  <a:latin typeface="Inter"/>
                  <a:cs typeface="Inter"/>
                </a:rPr>
                <a:t>Accept</a:t>
              </a:r>
            </a:p>
          </p:txBody>
        </p:sp>
        <p:sp>
          <p:nvSpPr>
            <p:cNvPr id="205" name="Rounded Rectangle 204"/>
            <p:cNvSpPr/>
            <p:nvPr/>
          </p:nvSpPr>
          <p:spPr>
            <a:xfrm>
              <a:off x="2221992" y="4572000"/>
              <a:ext cx="713232" cy="310896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12700">
              <a:solidFill>
                <a:srgbClr val="298FC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2221992" y="4572000"/>
              <a:ext cx="713232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800" b="1" lang="en-US">
                  <a:solidFill>
                    <a:srgbClr val="298FC2"/>
                  </a:solidFill>
                  <a:latin typeface="Inter"/>
                  <a:cs typeface="Inter"/>
                </a:rPr>
                <a:t>Print waybill</a:t>
              </a:r>
            </a:p>
          </p:txBody>
        </p:sp>
        <p:pic>
          <p:nvPicPr>
            <p:cNvPr id="207" name="Picture 206" descr="truck_298FC2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53896" y="5349240"/>
              <a:ext cx="237744" cy="237744"/>
            </a:xfrm>
            <a:prstGeom prst="rect">
              <a:avLst/>
            </a:prstGeom>
          </p:spPr>
        </p:pic>
        <p:sp>
          <p:nvSpPr>
            <p:cNvPr id="208" name="TextBox 207"/>
            <p:cNvSpPr txBox="1"/>
            <p:nvPr/>
          </p:nvSpPr>
          <p:spPr>
            <a:xfrm>
              <a:off x="1764792" y="5321808"/>
              <a:ext cx="1243584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000" b="1" lang="en-US">
                  <a:solidFill>
                    <a:srgbClr val="101820"/>
                  </a:solidFill>
                  <a:latin typeface="Inter"/>
                  <a:cs typeface="Inter"/>
                </a:rPr>
                <a:t>Courier pickup today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307592" y="2468880"/>
            <a:ext cx="1865376" cy="3785616"/>
            <a:chOff x="1307592" y="2468880"/>
            <a:chExt cx="1865376" cy="3785616"/>
          </a:xfrm>
        </p:grpSpPr>
        <p:sp>
          <p:nvSpPr>
            <p:cNvPr id="209" name="Rounded Rectangle 208"/>
            <p:cNvSpPr/>
            <p:nvPr/>
          </p:nvSpPr>
          <p:spPr>
            <a:xfrm>
              <a:off x="1307592" y="2468880"/>
              <a:ext cx="1865376" cy="3785616"/>
            </a:xfrm>
            <a:prstGeom prst="roundRect">
              <a:avLst>
                <a:gd name="adj" fmla="val 10784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1435608" y="2697480"/>
              <a:ext cx="1609344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200" b="1" lang="en-US">
                  <a:solidFill>
                    <a:srgbClr val="101820"/>
                  </a:solidFill>
                  <a:latin typeface="Inter"/>
                  <a:cs typeface="Inter"/>
                </a:rPr>
                <a:t>Payout sent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1435608" y="2999232"/>
              <a:ext cx="1609344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900" b="0" lang="en-US">
                  <a:solidFill>
                    <a:srgbClr val="5A6672"/>
                  </a:solidFill>
                  <a:latin typeface="Inter"/>
                  <a:cs typeface="Inter"/>
                </a:rPr>
                <a:t>Order #1042 · delivered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1435608" y="3200400"/>
              <a:ext cx="1609344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900" b="0" lang="en-US">
                  <a:solidFill>
                    <a:srgbClr val="5A6672"/>
                  </a:solidFill>
                  <a:latin typeface="Inter"/>
                  <a:cs typeface="Inter"/>
                </a:rPr>
                <a:t>Return window closed (48 h)</a:t>
              </a:r>
            </a:p>
          </p:txBody>
        </p:sp>
        <p:sp>
          <p:nvSpPr>
            <p:cNvPr id="213" name="Rounded Rectangle 212"/>
            <p:cNvSpPr/>
            <p:nvPr/>
          </p:nvSpPr>
          <p:spPr>
            <a:xfrm>
              <a:off x="1435608" y="3566160"/>
              <a:ext cx="1609344" cy="16002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DDE5E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1545336" y="3685032"/>
              <a:ext cx="91440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950" b="0" lang="en-US">
                  <a:solidFill>
                    <a:srgbClr val="101820"/>
                  </a:solidFill>
                  <a:latin typeface="Inter"/>
                  <a:cs typeface="Inter"/>
                </a:rPr>
                <a:t>Item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020824" y="3685032"/>
              <a:ext cx="91440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950" b="0" lang="en-US">
                  <a:solidFill>
                    <a:srgbClr val="101820"/>
                  </a:solidFill>
                  <a:latin typeface="Inter"/>
                  <a:cs typeface="Inter"/>
                </a:rPr>
                <a:t>92,000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1545336" y="3995928"/>
              <a:ext cx="91440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950" b="0" lang="en-US">
                  <a:solidFill>
                    <a:srgbClr val="101820"/>
                  </a:solidFill>
                  <a:latin typeface="Inter"/>
                  <a:cs typeface="Inter"/>
                </a:rPr>
                <a:t>Cheapify fee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2020824" y="3995928"/>
              <a:ext cx="91440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950" b="0" lang="en-US">
                  <a:solidFill>
                    <a:srgbClr val="101820"/>
                  </a:solidFill>
                  <a:latin typeface="Inter"/>
                  <a:cs typeface="Inter"/>
                </a:rPr>
                <a:t>−2,960</a:t>
              </a:r>
            </a:p>
          </p:txBody>
        </p:sp>
        <p:cxnSp>
          <p:nvCxnSpPr>
            <p:cNvPr id="218" name="Connector 217"/>
            <p:cNvCxnSpPr/>
            <p:nvPr/>
          </p:nvCxnSpPr>
          <p:spPr>
            <a:xfrm>
              <a:off x="1545336" y="4370832"/>
              <a:ext cx="1389888" cy="0"/>
            </a:xfrm>
            <a:prstGeom prst="line">
              <a:avLst/>
            </a:prstGeom>
            <a:ln w="12700">
              <a:solidFill>
                <a:srgbClr val="DDE5ED"/>
              </a:solidFill>
            </a:ln>
            <a:effectLst/>
          </p:spPr>
        </p:cxnSp>
        <p:sp>
          <p:nvSpPr>
            <p:cNvPr id="219" name="TextBox 218"/>
            <p:cNvSpPr txBox="1"/>
            <p:nvPr/>
          </p:nvSpPr>
          <p:spPr>
            <a:xfrm>
              <a:off x="1545336" y="4462272"/>
              <a:ext cx="1426464" cy="201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950" b="0" lang="en-US">
                  <a:solidFill>
                    <a:srgbClr val="5A6672"/>
                  </a:solidFill>
                  <a:latin typeface="Inter"/>
                  <a:cs typeface="Inter"/>
                </a:rPr>
                <a:t>Paid to you</a:t>
              </a: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1545336" y="4681728"/>
              <a:ext cx="1426464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400" b="1" lang="en-US">
                  <a:solidFill>
                    <a:srgbClr val="298FC2"/>
                  </a:solidFill>
                  <a:latin typeface="Inter"/>
                  <a:cs typeface="Inter"/>
                </a:rPr>
                <a:t>89,040 IQD</a:t>
              </a:r>
            </a:p>
          </p:txBody>
        </p:sp>
      </p:grp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Business model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We earn only when an order is delivered.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2376" y="6455664"/>
            <a:ext cx="107442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5A6672"/>
                </a:solidFill>
                <a:latin typeface="Inter"/>
                <a:cs typeface="Inter"/>
              </a:rPr>
              <a:t>Example: 25,000 IQD item, cash on delivery, Duhok city; courier rate 2,500 IQD quoted by Fast Delivery (Duhok). The delivery margin applies once the courier contract is signed. Card processing fees not yet quoted.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22376" y="2468880"/>
            <a:ext cx="7772400" cy="292608"/>
            <a:chOff x="722376" y="2468880"/>
            <a:chExt cx="7772400" cy="292608"/>
          </a:xfrm>
        </p:grpSpPr>
        <p:sp>
          <p:nvSpPr>
            <p:cNvPr id="104" name="TextBox 103"/>
            <p:cNvSpPr txBox="1"/>
            <p:nvPr/>
          </p:nvSpPr>
          <p:spPr>
            <a:xfrm>
              <a:off x="722376" y="2468880"/>
              <a:ext cx="7772400" cy="29260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600" b="1" lang="en-US">
                  <a:solidFill>
                    <a:srgbClr val="101820"/>
                  </a:solidFill>
                  <a:latin typeface="Inter"/>
                  <a:cs typeface="Inter"/>
                </a:rPr>
                <a:t>Shopper pays 28,000 IQD</a:t>
              </a:r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   (25,000 item + 3,000 Duhok delivery)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22376" y="2880360"/>
            <a:ext cx="10744200" cy="777240"/>
            <a:chOff x="722376" y="2880360"/>
            <a:chExt cx="10744200" cy="777240"/>
          </a:xfrm>
        </p:grpSpPr>
        <p:sp>
          <p:nvSpPr>
            <p:cNvPr id="105" name="Rectangle 104"/>
            <p:cNvSpPr/>
            <p:nvPr/>
          </p:nvSpPr>
          <p:spPr>
            <a:xfrm>
              <a:off x="722376" y="2880360"/>
              <a:ext cx="10744200" cy="777240"/>
            </a:xfrm>
            <a:prstGeom prst="rect">
              <a:avLst/>
            </a:prstGeom>
            <a:solidFill>
              <a:srgbClr val="DDE5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722376" y="2880360"/>
              <a:ext cx="10744200" cy="7772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600" b="1" lang="en-US">
                  <a:solidFill>
                    <a:srgbClr val="101820"/>
                  </a:solidFill>
                  <a:latin typeface="Inter"/>
                  <a:cs typeface="Inter"/>
                </a:rPr>
                <a:t>28,000 IQD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722376" y="2880360"/>
            <a:ext cx="9229039" cy="777240"/>
            <a:chOff x="722376" y="2880360"/>
            <a:chExt cx="9229039" cy="777240"/>
          </a:xfrm>
        </p:grpSpPr>
        <p:sp>
          <p:nvSpPr>
            <p:cNvPr id="107" name="Rectangle 106"/>
            <p:cNvSpPr/>
            <p:nvPr/>
          </p:nvSpPr>
          <p:spPr>
            <a:xfrm>
              <a:off x="722376" y="2880360"/>
              <a:ext cx="9229039" cy="777240"/>
            </a:xfrm>
            <a:prstGeom prst="rect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9951415" y="2880360"/>
            <a:ext cx="959206" cy="777240"/>
            <a:chOff x="9951415" y="2880360"/>
            <a:chExt cx="959206" cy="777240"/>
          </a:xfrm>
        </p:grpSpPr>
        <p:sp>
          <p:nvSpPr>
            <p:cNvPr id="108" name="Rectangle 107"/>
            <p:cNvSpPr/>
            <p:nvPr/>
          </p:nvSpPr>
          <p:spPr>
            <a:xfrm>
              <a:off x="9951415" y="2880360"/>
              <a:ext cx="959206" cy="777240"/>
            </a:xfrm>
            <a:prstGeom prst="rect">
              <a:avLst/>
            </a:prstGeom>
            <a:solidFill>
              <a:srgbClr val="5A667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0910621" y="2880360"/>
            <a:ext cx="555955" cy="777240"/>
            <a:chOff x="10910621" y="2880360"/>
            <a:chExt cx="555955" cy="777240"/>
          </a:xfrm>
        </p:grpSpPr>
        <p:sp>
          <p:nvSpPr>
            <p:cNvPr id="109" name="Rectangle 108"/>
            <p:cNvSpPr/>
            <p:nvPr/>
          </p:nvSpPr>
          <p:spPr>
            <a:xfrm>
              <a:off x="10910621" y="2880360"/>
              <a:ext cx="555955" cy="777240"/>
            </a:xfrm>
            <a:prstGeom prst="rect">
              <a:avLst/>
            </a:prstGeom>
            <a:solidFill>
              <a:srgbClr val="10182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722376" y="3749040"/>
            <a:ext cx="7315200" cy="310896"/>
            <a:chOff x="722376" y="3749040"/>
            <a:chExt cx="7315200" cy="310896"/>
          </a:xfrm>
        </p:grpSpPr>
        <p:sp>
          <p:nvSpPr>
            <p:cNvPr id="110" name="TextBox 109"/>
            <p:cNvSpPr txBox="1"/>
            <p:nvPr/>
          </p:nvSpPr>
          <p:spPr>
            <a:xfrm>
              <a:off x="722376" y="3749040"/>
              <a:ext cx="731520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400" b="1" lang="en-US">
                  <a:solidFill>
                    <a:srgbClr val="101820"/>
                  </a:solidFill>
                  <a:latin typeface="Inter"/>
                  <a:cs typeface="Inter"/>
                </a:rPr>
                <a:t>Merchant 24,050 IQD — keeps </a:t>
              </a:r>
              <a:r>
                <a:rPr sz="1400" b="1" lang="en-US">
                  <a:solidFill>
                    <a:srgbClr val="298FC2"/>
                  </a:solidFill>
                  <a:latin typeface="Inter"/>
                  <a:cs typeface="Inter"/>
                </a:rPr>
                <a:t>96%</a:t>
              </a:r>
              <a:r>
                <a:rPr sz="1400" b="1" lang="en-US">
                  <a:solidFill>
                    <a:srgbClr val="101820"/>
                  </a:solidFill>
                  <a:latin typeface="Inter"/>
                  <a:cs typeface="Inter"/>
                </a:rPr>
                <a:t> of the item price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138160" y="3675888"/>
            <a:ext cx="2292858" cy="365760"/>
            <a:chOff x="8138160" y="3675888"/>
            <a:chExt cx="2292858" cy="365760"/>
          </a:xfrm>
        </p:grpSpPr>
        <p:cxnSp>
          <p:nvCxnSpPr>
            <p:cNvPr id="111" name="Connector 110"/>
            <p:cNvCxnSpPr/>
            <p:nvPr/>
          </p:nvCxnSpPr>
          <p:spPr>
            <a:xfrm>
              <a:off x="10431018" y="3675888"/>
              <a:ext cx="0" cy="237744"/>
            </a:xfrm>
            <a:prstGeom prst="line">
              <a:avLst/>
            </a:prstGeom>
            <a:ln w="12700">
              <a:solidFill>
                <a:srgbClr val="5A6672"/>
              </a:solidFill>
            </a:ln>
            <a:effectLst/>
          </p:spPr>
        </p:cxnSp>
        <p:sp>
          <p:nvSpPr>
            <p:cNvPr id="112" name="TextBox 111"/>
            <p:cNvSpPr txBox="1"/>
            <p:nvPr/>
          </p:nvSpPr>
          <p:spPr>
            <a:xfrm>
              <a:off x="8138160" y="3767328"/>
              <a:ext cx="2219706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Courier 2,500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509760" y="3675888"/>
            <a:ext cx="1678838" cy="713232"/>
            <a:chOff x="9509760" y="3675888"/>
            <a:chExt cx="1678838" cy="713232"/>
          </a:xfrm>
        </p:grpSpPr>
        <p:cxnSp>
          <p:nvCxnSpPr>
            <p:cNvPr id="113" name="Connector 112"/>
            <p:cNvCxnSpPr/>
            <p:nvPr/>
          </p:nvCxnSpPr>
          <p:spPr>
            <a:xfrm>
              <a:off x="11188598" y="3675888"/>
              <a:ext cx="0" cy="548640"/>
            </a:xfrm>
            <a:prstGeom prst="line">
              <a:avLst/>
            </a:prstGeom>
            <a:ln w="12700">
              <a:solidFill>
                <a:srgbClr val="101820"/>
              </a:solidFill>
            </a:ln>
            <a:effectLst/>
          </p:spPr>
        </p:cxnSp>
        <p:sp>
          <p:nvSpPr>
            <p:cNvPr id="114" name="TextBox 113"/>
            <p:cNvSpPr txBox="1"/>
            <p:nvPr/>
          </p:nvSpPr>
          <p:spPr>
            <a:xfrm>
              <a:off x="9509760" y="4114800"/>
              <a:ext cx="1605686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Cheapify 1,450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772400" y="2468880"/>
            <a:ext cx="3694176" cy="365760"/>
            <a:chOff x="7772400" y="2468880"/>
            <a:chExt cx="3694176" cy="365760"/>
          </a:xfrm>
        </p:grpSpPr>
        <p:sp>
          <p:nvSpPr>
            <p:cNvPr id="115" name="TextBox 114"/>
            <p:cNvSpPr txBox="1"/>
            <p:nvPr/>
          </p:nvSpPr>
          <p:spPr>
            <a:xfrm>
              <a:off x="7772400" y="2468880"/>
              <a:ext cx="3694176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950 fee + 500 delivery margin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22376" y="4526280"/>
            <a:ext cx="1417320" cy="914400"/>
            <a:chOff x="722376" y="4526280"/>
            <a:chExt cx="1417320" cy="914400"/>
          </a:xfrm>
        </p:grpSpPr>
        <p:sp>
          <p:nvSpPr>
            <p:cNvPr id="116" name="TextBox 115"/>
            <p:cNvSpPr txBox="1"/>
            <p:nvPr/>
          </p:nvSpPr>
          <p:spPr>
            <a:xfrm>
              <a:off x="722376" y="4526280"/>
              <a:ext cx="1417320" cy="914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500" b="1" lang="en-US">
                  <a:solidFill>
                    <a:srgbClr val="101820"/>
                  </a:solidFill>
                  <a:latin typeface="Inter"/>
                  <a:cs typeface="Inter"/>
                </a:rPr>
                <a:t>Our fee gets lighter as prices rise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148840" y="4389120"/>
            <a:ext cx="1463040" cy="1874520"/>
            <a:chOff x="2148840" y="4389120"/>
            <a:chExt cx="1463040" cy="1874520"/>
          </a:xfrm>
        </p:grpSpPr>
        <p:sp>
          <p:nvSpPr>
            <p:cNvPr id="117" name="Rectangle 116"/>
            <p:cNvSpPr/>
            <p:nvPr/>
          </p:nvSpPr>
          <p:spPr>
            <a:xfrm>
              <a:off x="2331720" y="4754880"/>
              <a:ext cx="1097280" cy="1234440"/>
            </a:xfrm>
            <a:prstGeom prst="rect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2148840" y="4389120"/>
              <a:ext cx="1463040" cy="32918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2000" b="1" lang="en-US">
                  <a:solidFill>
                    <a:srgbClr val="101820"/>
                  </a:solidFill>
                  <a:latin typeface="Comfortaa"/>
                  <a:cs typeface="Comfortaa"/>
                </a:rPr>
                <a:t>5%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148840" y="6035040"/>
              <a:ext cx="1463040" cy="2286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/>
              <a:r>
                <a:rPr sz="1100" b="0" lang="en-US">
                  <a:solidFill>
                    <a:srgbClr val="5A6672"/>
                  </a:solidFill>
                  <a:latin typeface="Inter"/>
                  <a:cs typeface="Inter"/>
                </a:rPr>
                <a:t>first 10,000 IQD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429000" y="4882896"/>
            <a:ext cx="1463040" cy="1380744"/>
            <a:chOff x="3429000" y="4882896"/>
            <a:chExt cx="1463040" cy="1380744"/>
          </a:xfrm>
        </p:grpSpPr>
        <p:sp>
          <p:nvSpPr>
            <p:cNvPr id="120" name="Rectangle 119"/>
            <p:cNvSpPr/>
            <p:nvPr/>
          </p:nvSpPr>
          <p:spPr>
            <a:xfrm>
              <a:off x="3611880" y="5248656"/>
              <a:ext cx="1097280" cy="740664"/>
            </a:xfrm>
            <a:prstGeom prst="rect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3429000" y="4882896"/>
              <a:ext cx="1463040" cy="32918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2000" b="1" lang="en-US">
                  <a:solidFill>
                    <a:srgbClr val="101820"/>
                  </a:solidFill>
                  <a:latin typeface="Comfortaa"/>
                  <a:cs typeface="Comfortaa"/>
                </a:rPr>
                <a:t>3%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429000" y="6035040"/>
              <a:ext cx="1463040" cy="2286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/>
              <a:r>
                <a:rPr sz="1100" b="0" lang="en-US">
                  <a:solidFill>
                    <a:srgbClr val="5A6672"/>
                  </a:solidFill>
                  <a:latin typeface="Inter"/>
                  <a:cs typeface="Inter"/>
                </a:rPr>
                <a:t>10,001 – 100,000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709160" y="5248656"/>
            <a:ext cx="1463040" cy="1014984"/>
            <a:chOff x="4709160" y="5248656"/>
            <a:chExt cx="1463040" cy="1014984"/>
          </a:xfrm>
        </p:grpSpPr>
        <p:sp>
          <p:nvSpPr>
            <p:cNvPr id="123" name="Rectangle 122"/>
            <p:cNvSpPr/>
            <p:nvPr/>
          </p:nvSpPr>
          <p:spPr>
            <a:xfrm>
              <a:off x="4892040" y="5614416"/>
              <a:ext cx="1097280" cy="374904"/>
            </a:xfrm>
            <a:prstGeom prst="rect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4709160" y="5248656"/>
              <a:ext cx="1463040" cy="32918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2000" b="1" lang="en-US">
                  <a:solidFill>
                    <a:srgbClr val="101820"/>
                  </a:solidFill>
                  <a:latin typeface="Comfortaa"/>
                  <a:cs typeface="Comfortaa"/>
                </a:rPr>
                <a:t>1.5%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4709160" y="6035040"/>
              <a:ext cx="1463040" cy="2286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/>
              <a:r>
                <a:rPr sz="1100" b="0" lang="en-US">
                  <a:solidFill>
                    <a:srgbClr val="5A6672"/>
                  </a:solidFill>
                  <a:latin typeface="Inter"/>
                  <a:cs typeface="Inter"/>
                </a:rPr>
                <a:t>above 100,000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309360" y="4462272"/>
            <a:ext cx="5157216" cy="274320"/>
            <a:chOff x="6309360" y="4462272"/>
            <a:chExt cx="5157216" cy="274320"/>
          </a:xfrm>
        </p:grpSpPr>
        <p:sp>
          <p:nvSpPr>
            <p:cNvPr id="126" name="TextBox 125"/>
            <p:cNvSpPr txBox="1"/>
            <p:nvPr/>
          </p:nvSpPr>
          <p:spPr>
            <a:xfrm>
              <a:off x="6309360" y="4462272"/>
              <a:ext cx="5157216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400" b="1" lang="en-US">
                  <a:solidFill>
                    <a:srgbClr val="101820"/>
                  </a:solidFill>
                  <a:latin typeface="Inter"/>
                  <a:cs typeface="Inter"/>
                </a:rPr>
                <a:t>From our 1,450 IQD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309360" y="4791456"/>
            <a:ext cx="5157216" cy="256032"/>
            <a:chOff x="6309360" y="4791456"/>
            <a:chExt cx="5157216" cy="256032"/>
          </a:xfrm>
        </p:grpSpPr>
        <p:sp>
          <p:nvSpPr>
            <p:cNvPr id="127" name="TextBox 126"/>
            <p:cNvSpPr txBox="1"/>
            <p:nvPr/>
          </p:nvSpPr>
          <p:spPr>
            <a:xfrm>
              <a:off x="6309360" y="4791456"/>
              <a:ext cx="356616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50" b="0" lang="en-US">
                  <a:solidFill>
                    <a:srgbClr val="101820"/>
                  </a:solidFill>
                  <a:latin typeface="Inter"/>
                  <a:cs typeface="Inter"/>
                </a:rPr>
                <a:t>WhatsApp order messages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0058400" y="4791456"/>
              <a:ext cx="1408176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250" b="1" lang="en-US">
                  <a:solidFill>
                    <a:srgbClr val="101820"/>
                  </a:solidFill>
                  <a:latin typeface="Inter"/>
                  <a:cs typeface="Inter"/>
                </a:rPr>
                <a:t>−90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309360" y="5074920"/>
            <a:ext cx="5157216" cy="256032"/>
            <a:chOff x="6309360" y="5074920"/>
            <a:chExt cx="5157216" cy="256032"/>
          </a:xfrm>
        </p:grpSpPr>
        <p:sp>
          <p:nvSpPr>
            <p:cNvPr id="129" name="TextBox 128"/>
            <p:cNvSpPr txBox="1"/>
            <p:nvPr/>
          </p:nvSpPr>
          <p:spPr>
            <a:xfrm>
              <a:off x="6309360" y="5074920"/>
              <a:ext cx="356616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50" b="0" lang="en-US">
                  <a:solidFill>
                    <a:srgbClr val="101820"/>
                  </a:solidFill>
                  <a:latin typeface="Inter"/>
                  <a:cs typeface="Inter"/>
                </a:rPr>
                <a:t>Login codes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10058400" y="5074920"/>
              <a:ext cx="1408176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250" b="1" lang="en-US">
                  <a:solidFill>
                    <a:srgbClr val="101820"/>
                  </a:solidFill>
                  <a:latin typeface="Inter"/>
                  <a:cs typeface="Inter"/>
                </a:rPr>
                <a:t>−25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309360" y="5358384"/>
            <a:ext cx="5157216" cy="256032"/>
            <a:chOff x="6309360" y="5358384"/>
            <a:chExt cx="5157216" cy="256032"/>
          </a:xfrm>
        </p:grpSpPr>
        <p:sp>
          <p:nvSpPr>
            <p:cNvPr id="131" name="TextBox 130"/>
            <p:cNvSpPr txBox="1"/>
            <p:nvPr/>
          </p:nvSpPr>
          <p:spPr>
            <a:xfrm>
              <a:off x="6309360" y="5358384"/>
              <a:ext cx="356616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50" b="0" lang="en-US">
                  <a:solidFill>
                    <a:srgbClr val="101820"/>
                  </a:solidFill>
                  <a:latin typeface="Inter"/>
                  <a:cs typeface="Inter"/>
                </a:rPr>
                <a:t>Share of returns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10058400" y="5358384"/>
              <a:ext cx="1408176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250" b="1" lang="en-US">
                  <a:solidFill>
                    <a:srgbClr val="101820"/>
                  </a:solidFill>
                  <a:latin typeface="Inter"/>
                  <a:cs typeface="Inter"/>
                </a:rPr>
                <a:t>−20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309360" y="5641848"/>
            <a:ext cx="5157216" cy="256032"/>
            <a:chOff x="6309360" y="5641848"/>
            <a:chExt cx="5157216" cy="256032"/>
          </a:xfrm>
        </p:grpSpPr>
        <p:sp>
          <p:nvSpPr>
            <p:cNvPr id="133" name="TextBox 132"/>
            <p:cNvSpPr txBox="1"/>
            <p:nvPr/>
          </p:nvSpPr>
          <p:spPr>
            <a:xfrm>
              <a:off x="6309360" y="5641848"/>
              <a:ext cx="356616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50" b="0" lang="en-US">
                  <a:solidFill>
                    <a:srgbClr val="101820"/>
                  </a:solidFill>
                  <a:latin typeface="Inter"/>
                  <a:cs typeface="Inter"/>
                </a:rPr>
                <a:t>Re-sending failed deliveries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0058400" y="5641848"/>
              <a:ext cx="1408176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250" b="1" lang="en-US">
                  <a:solidFill>
                    <a:srgbClr val="101820"/>
                  </a:solidFill>
                  <a:latin typeface="Inter"/>
                  <a:cs typeface="Inter"/>
                </a:rPr>
                <a:t>−200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309360" y="5943600"/>
            <a:ext cx="5157216" cy="420624"/>
            <a:chOff x="6309360" y="5943600"/>
            <a:chExt cx="5157216" cy="420624"/>
          </a:xfrm>
        </p:grpSpPr>
        <p:cxnSp>
          <p:nvCxnSpPr>
            <p:cNvPr id="135" name="Connector 134"/>
            <p:cNvCxnSpPr/>
            <p:nvPr/>
          </p:nvCxnSpPr>
          <p:spPr>
            <a:xfrm>
              <a:off x="6309360" y="5943600"/>
              <a:ext cx="5157216" cy="0"/>
            </a:xfrm>
            <a:prstGeom prst="line">
              <a:avLst/>
            </a:prstGeom>
            <a:ln w="12700">
              <a:solidFill>
                <a:srgbClr val="DDE5ED"/>
              </a:solidFill>
            </a:ln>
            <a:effectLst/>
          </p:spPr>
        </p:cxnSp>
        <p:sp>
          <p:nvSpPr>
            <p:cNvPr id="136" name="TextBox 135"/>
            <p:cNvSpPr txBox="1"/>
            <p:nvPr/>
          </p:nvSpPr>
          <p:spPr>
            <a:xfrm>
              <a:off x="6309360" y="5961888"/>
              <a:ext cx="3017520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50" b="1" lang="en-US">
                  <a:solidFill>
                    <a:srgbClr val="101820"/>
                  </a:solidFill>
                  <a:latin typeface="Inter"/>
                  <a:cs typeface="Inter"/>
                </a:rPr>
                <a:t>Profit per delivered order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8778240" y="5943600"/>
              <a:ext cx="2688336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3000" b="1" lang="en-US">
                  <a:solidFill>
                    <a:srgbClr val="101820"/>
                  </a:solidFill>
                  <a:latin typeface="Comfortaa"/>
                  <a:cs typeface="Comfortaa"/>
                </a:rPr>
                <a:t>1,115 IQD</a:t>
              </a:r>
            </a:p>
          </p:txBody>
        </p:sp>
      </p:grp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25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Competitor analysis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Nobody else puts every seller on one page.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2376" y="6455664"/>
            <a:ext cx="107442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5A6672"/>
                </a:solidFill>
                <a:latin typeface="Inter"/>
                <a:cs typeface="Inter"/>
              </a:rPr>
              <a:t>Based on in-app screenshots (Sep–Oct 2026) and public platform information.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22376" y="2578608"/>
            <a:ext cx="9244584" cy="3438144"/>
            <a:chOff x="722376" y="2578608"/>
            <a:chExt cx="9244584" cy="3438144"/>
          </a:xfrm>
        </p:grpSpPr>
        <p:sp>
          <p:nvSpPr>
            <p:cNvPr id="104" name="TextBox 103"/>
            <p:cNvSpPr txBox="1"/>
            <p:nvPr/>
          </p:nvSpPr>
          <p:spPr>
            <a:xfrm>
              <a:off x="722376" y="3383280"/>
              <a:ext cx="3200400" cy="6583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101820"/>
                  </a:solidFill>
                  <a:latin typeface="Inter"/>
                  <a:cs typeface="Inter"/>
                </a:rPr>
                <a:t>Prices shown upfront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722376" y="4041648"/>
              <a:ext cx="3200400" cy="6583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101820"/>
                  </a:solidFill>
                  <a:latin typeface="Inter"/>
                  <a:cs typeface="Inter"/>
                </a:rPr>
                <a:t>One page per product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722376" y="4700016"/>
              <a:ext cx="3200400" cy="6583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101820"/>
                  </a:solidFill>
                  <a:latin typeface="Inter"/>
                  <a:cs typeface="Inter"/>
                </a:rPr>
                <a:t>Every seller compared on that page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722376" y="5358384"/>
              <a:ext cx="3200400" cy="6583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101820"/>
                  </a:solidFill>
                  <a:latin typeface="Inter"/>
                  <a:cs typeface="Inter"/>
                </a:rPr>
                <a:t>Third-party sellers can join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4114800" y="2578608"/>
              <a:ext cx="1463040" cy="5029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Instagram / Facebook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5577840" y="2578608"/>
              <a:ext cx="1463040" cy="5029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Miswag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7040880" y="2578608"/>
              <a:ext cx="1463040" cy="5029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iBazzar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8503920" y="2578608"/>
              <a:ext cx="1463040" cy="5029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Elryan</a:t>
              </a:r>
            </a:p>
          </p:txBody>
        </p:sp>
        <p:cxnSp>
          <p:nvCxnSpPr>
            <p:cNvPr id="112" name="Connector 111"/>
            <p:cNvCxnSpPr/>
            <p:nvPr/>
          </p:nvCxnSpPr>
          <p:spPr>
            <a:xfrm>
              <a:off x="722376" y="4041648"/>
              <a:ext cx="9061704" cy="0"/>
            </a:xfrm>
            <a:prstGeom prst="line">
              <a:avLst/>
            </a:prstGeom>
            <a:ln w="9525">
              <a:solidFill>
                <a:srgbClr val="DDE5ED"/>
              </a:solidFill>
            </a:ln>
            <a:effectLst/>
          </p:spPr>
        </p:cxnSp>
        <p:cxnSp>
          <p:nvCxnSpPr>
            <p:cNvPr id="113" name="Connector 112"/>
            <p:cNvCxnSpPr/>
            <p:nvPr/>
          </p:nvCxnSpPr>
          <p:spPr>
            <a:xfrm>
              <a:off x="722376" y="4700016"/>
              <a:ext cx="9061704" cy="0"/>
            </a:xfrm>
            <a:prstGeom prst="line">
              <a:avLst/>
            </a:prstGeom>
            <a:ln w="9525">
              <a:solidFill>
                <a:srgbClr val="DDE5ED"/>
              </a:solidFill>
            </a:ln>
            <a:effectLst/>
          </p:spPr>
        </p:cxnSp>
        <p:cxnSp>
          <p:nvCxnSpPr>
            <p:cNvPr id="114" name="Connector 113"/>
            <p:cNvCxnSpPr/>
            <p:nvPr/>
          </p:nvCxnSpPr>
          <p:spPr>
            <a:xfrm>
              <a:off x="722376" y="5358384"/>
              <a:ext cx="9061704" cy="0"/>
            </a:xfrm>
            <a:prstGeom prst="line">
              <a:avLst/>
            </a:prstGeom>
            <a:ln w="9525">
              <a:solidFill>
                <a:srgbClr val="DDE5ED"/>
              </a:solidFill>
            </a:ln>
            <a:effectLst/>
          </p:spPr>
        </p:cxnSp>
        <p:cxnSp>
          <p:nvCxnSpPr>
            <p:cNvPr id="115" name="Connector 114"/>
            <p:cNvCxnSpPr/>
            <p:nvPr/>
          </p:nvCxnSpPr>
          <p:spPr>
            <a:xfrm>
              <a:off x="722376" y="3355848"/>
              <a:ext cx="9061704" cy="0"/>
            </a:xfrm>
            <a:prstGeom prst="line">
              <a:avLst/>
            </a:prstGeom>
            <a:ln w="9525">
              <a:solidFill>
                <a:srgbClr val="DDE5ED"/>
              </a:solidFill>
            </a:ln>
            <a:effectLst/>
          </p:spPr>
        </p:cxnSp>
        <p:cxnSp>
          <p:nvCxnSpPr>
            <p:cNvPr id="116" name="Connector 115"/>
            <p:cNvCxnSpPr/>
            <p:nvPr/>
          </p:nvCxnSpPr>
          <p:spPr>
            <a:xfrm>
              <a:off x="722376" y="6016752"/>
              <a:ext cx="9061704" cy="0"/>
            </a:xfrm>
            <a:prstGeom prst="line">
              <a:avLst/>
            </a:prstGeom>
            <a:ln w="9525">
              <a:solidFill>
                <a:srgbClr val="DDE5ED"/>
              </a:solidFill>
            </a:ln>
            <a:effectLst/>
          </p:spPr>
        </p:cxnSp>
      </p:grpSp>
      <p:grpSp>
        <p:nvGrpSpPr>
          <p:cNvPr id="3" name="Group 2"/>
          <p:cNvGrpSpPr/>
          <p:nvPr/>
        </p:nvGrpSpPr>
        <p:grpSpPr>
          <a:xfrm>
            <a:off x="4681728" y="3547872"/>
            <a:ext cx="329184" cy="2304288"/>
            <a:chOff x="4681728" y="3547872"/>
            <a:chExt cx="329184" cy="2304288"/>
          </a:xfrm>
        </p:grpSpPr>
        <p:pic>
          <p:nvPicPr>
            <p:cNvPr id="117" name="Picture 116" descr="contrast_5A667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1728" y="3547872"/>
              <a:ext cx="329184" cy="329184"/>
            </a:xfrm>
            <a:prstGeom prst="rect">
              <a:avLst/>
            </a:prstGeom>
          </p:spPr>
        </p:pic>
        <p:pic>
          <p:nvPicPr>
            <p:cNvPr id="118" name="Picture 117" descr="circle-x_D22730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81728" y="4206240"/>
              <a:ext cx="329184" cy="329184"/>
            </a:xfrm>
            <a:prstGeom prst="rect">
              <a:avLst/>
            </a:prstGeom>
          </p:spPr>
        </p:pic>
        <p:pic>
          <p:nvPicPr>
            <p:cNvPr id="119" name="Picture 118" descr="circle-x_D22730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81728" y="4864608"/>
              <a:ext cx="329184" cy="329184"/>
            </a:xfrm>
            <a:prstGeom prst="rect">
              <a:avLst/>
            </a:prstGeom>
          </p:spPr>
        </p:pic>
        <p:pic>
          <p:nvPicPr>
            <p:cNvPr id="120" name="Picture 119" descr="circle-check_5A667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81728" y="5522976"/>
              <a:ext cx="329184" cy="329184"/>
            </a:xfrm>
            <a:prstGeom prst="rect">
              <a:avLst/>
            </a:prstGeom>
          </p:spPr>
        </p:pic>
      </p:grpSp>
      <p:grpSp>
        <p:nvGrpSpPr>
          <p:cNvPr id="4" name="Group 3"/>
          <p:cNvGrpSpPr/>
          <p:nvPr/>
        </p:nvGrpSpPr>
        <p:grpSpPr>
          <a:xfrm>
            <a:off x="6144768" y="3547872"/>
            <a:ext cx="329184" cy="2304288"/>
            <a:chOff x="6144768" y="3547872"/>
            <a:chExt cx="329184" cy="2304288"/>
          </a:xfrm>
        </p:grpSpPr>
        <p:pic>
          <p:nvPicPr>
            <p:cNvPr id="121" name="Picture 120" descr="circle-check_5A667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44768" y="3547872"/>
              <a:ext cx="329184" cy="329184"/>
            </a:xfrm>
            <a:prstGeom prst="rect">
              <a:avLst/>
            </a:prstGeom>
          </p:spPr>
        </p:pic>
        <p:pic>
          <p:nvPicPr>
            <p:cNvPr id="122" name="Picture 121" descr="circle-x_D22730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44768" y="4206240"/>
              <a:ext cx="329184" cy="329184"/>
            </a:xfrm>
            <a:prstGeom prst="rect">
              <a:avLst/>
            </a:prstGeom>
          </p:spPr>
        </p:pic>
        <p:pic>
          <p:nvPicPr>
            <p:cNvPr id="123" name="Picture 122" descr="circle-x_D22730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44768" y="4864608"/>
              <a:ext cx="329184" cy="329184"/>
            </a:xfrm>
            <a:prstGeom prst="rect">
              <a:avLst/>
            </a:prstGeom>
          </p:spPr>
        </p:pic>
        <p:pic>
          <p:nvPicPr>
            <p:cNvPr id="124" name="Picture 123" descr="circle-check_5A667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44768" y="5522976"/>
              <a:ext cx="329184" cy="329184"/>
            </a:xfrm>
            <a:prstGeom prst="rect">
              <a:avLst/>
            </a:prstGeom>
          </p:spPr>
        </p:pic>
      </p:grpSp>
      <p:grpSp>
        <p:nvGrpSpPr>
          <p:cNvPr id="5" name="Group 4"/>
          <p:cNvGrpSpPr/>
          <p:nvPr/>
        </p:nvGrpSpPr>
        <p:grpSpPr>
          <a:xfrm>
            <a:off x="7607808" y="3547872"/>
            <a:ext cx="329184" cy="2304288"/>
            <a:chOff x="7607808" y="3547872"/>
            <a:chExt cx="329184" cy="2304288"/>
          </a:xfrm>
        </p:grpSpPr>
        <p:pic>
          <p:nvPicPr>
            <p:cNvPr id="125" name="Picture 124" descr="circle-check_5A667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07808" y="3547872"/>
              <a:ext cx="329184" cy="329184"/>
            </a:xfrm>
            <a:prstGeom prst="rect">
              <a:avLst/>
            </a:prstGeom>
          </p:spPr>
        </p:pic>
        <p:pic>
          <p:nvPicPr>
            <p:cNvPr id="126" name="Picture 125" descr="circle-x_D22730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07808" y="4206240"/>
              <a:ext cx="329184" cy="329184"/>
            </a:xfrm>
            <a:prstGeom prst="rect">
              <a:avLst/>
            </a:prstGeom>
          </p:spPr>
        </p:pic>
        <p:pic>
          <p:nvPicPr>
            <p:cNvPr id="127" name="Picture 126" descr="circle-x_D22730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07808" y="4864608"/>
              <a:ext cx="329184" cy="329184"/>
            </a:xfrm>
            <a:prstGeom prst="rect">
              <a:avLst/>
            </a:prstGeom>
          </p:spPr>
        </p:pic>
        <p:pic>
          <p:nvPicPr>
            <p:cNvPr id="128" name="Picture 127" descr="circle-check_5A667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07808" y="5522976"/>
              <a:ext cx="329184" cy="329184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>
            <a:off x="9070848" y="3547872"/>
            <a:ext cx="329184" cy="2304288"/>
            <a:chOff x="9070848" y="3547872"/>
            <a:chExt cx="329184" cy="2304288"/>
          </a:xfrm>
        </p:grpSpPr>
        <p:pic>
          <p:nvPicPr>
            <p:cNvPr id="129" name="Picture 128" descr="circle-check_5A667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70848" y="3547872"/>
              <a:ext cx="329184" cy="329184"/>
            </a:xfrm>
            <a:prstGeom prst="rect">
              <a:avLst/>
            </a:prstGeom>
          </p:spPr>
        </p:pic>
        <p:pic>
          <p:nvPicPr>
            <p:cNvPr id="130" name="Picture 129" descr="circle-x_D22730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70848" y="4206240"/>
              <a:ext cx="329184" cy="329184"/>
            </a:xfrm>
            <a:prstGeom prst="rect">
              <a:avLst/>
            </a:prstGeom>
          </p:spPr>
        </p:pic>
        <p:pic>
          <p:nvPicPr>
            <p:cNvPr id="131" name="Picture 130" descr="circle-x_D22730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70848" y="4864608"/>
              <a:ext cx="329184" cy="329184"/>
            </a:xfrm>
            <a:prstGeom prst="rect">
              <a:avLst/>
            </a:prstGeom>
          </p:spPr>
        </p:pic>
        <p:pic>
          <p:nvPicPr>
            <p:cNvPr id="132" name="Picture 131" descr="circle-x_D22730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70848" y="5522976"/>
              <a:ext cx="329184" cy="329184"/>
            </a:xfrm>
            <a:prstGeom prst="rect">
              <a:avLst/>
            </a:prstGeom>
          </p:spPr>
        </p:pic>
      </p:grpSp>
      <p:grpSp>
        <p:nvGrpSpPr>
          <p:cNvPr id="7" name="Group 6"/>
          <p:cNvGrpSpPr/>
          <p:nvPr/>
        </p:nvGrpSpPr>
        <p:grpSpPr>
          <a:xfrm>
            <a:off x="9966960" y="2441448"/>
            <a:ext cx="1463040" cy="3648456"/>
            <a:chOff x="9966960" y="2441448"/>
            <a:chExt cx="1463040" cy="3648456"/>
          </a:xfrm>
        </p:grpSpPr>
        <p:sp>
          <p:nvSpPr>
            <p:cNvPr id="133" name="Rounded Rectangle 132"/>
            <p:cNvSpPr/>
            <p:nvPr/>
          </p:nvSpPr>
          <p:spPr>
            <a:xfrm>
              <a:off x="9966960" y="2441448"/>
              <a:ext cx="1463040" cy="3648456"/>
            </a:xfrm>
            <a:prstGeom prst="roundRect">
              <a:avLst>
                <a:gd name="adj" fmla="val 8750"/>
              </a:avLst>
            </a:prstGeom>
            <a:solidFill>
              <a:srgbClr val="E5F2F8"/>
            </a:solidFill>
            <a:ln w="19050">
              <a:solidFill>
                <a:srgbClr val="298FC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4" name="Picture 133" descr="cheapify-logo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06456" y="2596896"/>
              <a:ext cx="384048" cy="493776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10012680" y="3108960"/>
              <a:ext cx="137160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298FC2"/>
                  </a:solidFill>
                  <a:latin typeface="Comfortaa"/>
                  <a:cs typeface="Comfortaa"/>
                </a:rPr>
                <a:t>Cheapify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0533888" y="3547872"/>
            <a:ext cx="329184" cy="329184"/>
            <a:chOff x="10533888" y="3547872"/>
            <a:chExt cx="329184" cy="329184"/>
          </a:xfrm>
        </p:grpSpPr>
        <p:pic>
          <p:nvPicPr>
            <p:cNvPr id="136" name="Picture 135" descr="circle-check_228848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533888" y="3547872"/>
              <a:ext cx="329184" cy="329184"/>
            </a:xfrm>
            <a:prstGeom prst="rect">
              <a:avLst/>
            </a:prstGeom>
          </p:spPr>
        </p:pic>
      </p:grpSp>
      <p:grpSp>
        <p:nvGrpSpPr>
          <p:cNvPr id="9" name="Group 8"/>
          <p:cNvGrpSpPr/>
          <p:nvPr/>
        </p:nvGrpSpPr>
        <p:grpSpPr>
          <a:xfrm>
            <a:off x="10533888" y="4206240"/>
            <a:ext cx="329184" cy="329184"/>
            <a:chOff x="10533888" y="4206240"/>
            <a:chExt cx="329184" cy="329184"/>
          </a:xfrm>
        </p:grpSpPr>
        <p:pic>
          <p:nvPicPr>
            <p:cNvPr id="137" name="Picture 136" descr="circle-check_228848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533888" y="4206240"/>
              <a:ext cx="329184" cy="329184"/>
            </a:xfrm>
            <a:prstGeom prst="rect">
              <a:avLst/>
            </a:prstGeom>
          </p:spPr>
        </p:pic>
      </p:grpSp>
      <p:grpSp>
        <p:nvGrpSpPr>
          <p:cNvPr id="10" name="Group 9"/>
          <p:cNvGrpSpPr/>
          <p:nvPr/>
        </p:nvGrpSpPr>
        <p:grpSpPr>
          <a:xfrm>
            <a:off x="10533888" y="4864608"/>
            <a:ext cx="329184" cy="329184"/>
            <a:chOff x="10533888" y="4864608"/>
            <a:chExt cx="329184" cy="329184"/>
          </a:xfrm>
        </p:grpSpPr>
        <p:pic>
          <p:nvPicPr>
            <p:cNvPr id="138" name="Picture 137" descr="circle-check_228848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533888" y="4864608"/>
              <a:ext cx="329184" cy="329184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/>
        </p:nvGrpSpPr>
        <p:grpSpPr>
          <a:xfrm>
            <a:off x="10533888" y="5522976"/>
            <a:ext cx="329184" cy="329184"/>
            <a:chOff x="10533888" y="5522976"/>
            <a:chExt cx="329184" cy="329184"/>
          </a:xfrm>
        </p:grpSpPr>
        <p:pic>
          <p:nvPicPr>
            <p:cNvPr id="139" name="Picture 138" descr="circle-check_228848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533888" y="5522976"/>
              <a:ext cx="329184" cy="329184"/>
            </a:xfrm>
            <a:prstGeom prst="rect">
              <a:avLst/>
            </a:prstGeom>
          </p:spPr>
        </p:pic>
      </p:grpSp>
      <p:grpSp>
        <p:nvGrpSpPr>
          <p:cNvPr id="12" name="Group 11"/>
          <p:cNvGrpSpPr/>
          <p:nvPr/>
        </p:nvGrpSpPr>
        <p:grpSpPr>
          <a:xfrm>
            <a:off x="722376" y="6144768"/>
            <a:ext cx="3291840" cy="237744"/>
            <a:chOff x="722376" y="6144768"/>
            <a:chExt cx="3291840" cy="237744"/>
          </a:xfrm>
        </p:grpSpPr>
        <p:pic>
          <p:nvPicPr>
            <p:cNvPr id="140" name="Picture 139" descr="circle-check_5A667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2376" y="6163056"/>
              <a:ext cx="201168" cy="201168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996696" y="6144768"/>
              <a:ext cx="73152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100" b="0" lang="en-US">
                  <a:solidFill>
                    <a:srgbClr val="5A6672"/>
                  </a:solidFill>
                  <a:latin typeface="Inter"/>
                  <a:cs typeface="Inter"/>
                </a:rPr>
                <a:t>yes</a:t>
              </a:r>
            </a:p>
          </p:txBody>
        </p:sp>
        <p:pic>
          <p:nvPicPr>
            <p:cNvPr id="142" name="Picture 141" descr="contrast_5A667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65376" y="6163056"/>
              <a:ext cx="201168" cy="201168"/>
            </a:xfrm>
            <a:prstGeom prst="rect">
              <a:avLst/>
            </a:prstGeom>
          </p:spPr>
        </p:pic>
        <p:sp>
          <p:nvSpPr>
            <p:cNvPr id="143" name="TextBox 142"/>
            <p:cNvSpPr txBox="1"/>
            <p:nvPr/>
          </p:nvSpPr>
          <p:spPr>
            <a:xfrm>
              <a:off x="2139696" y="6144768"/>
              <a:ext cx="73152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100" b="0" lang="en-US">
                  <a:solidFill>
                    <a:srgbClr val="5A6672"/>
                  </a:solidFill>
                  <a:latin typeface="Inter"/>
                  <a:cs typeface="Inter"/>
                </a:rPr>
                <a:t>partly</a:t>
              </a:r>
            </a:p>
          </p:txBody>
        </p:sp>
        <p:pic>
          <p:nvPicPr>
            <p:cNvPr id="144" name="Picture 143" descr="circle-x_D22730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08376" y="6163056"/>
              <a:ext cx="201168" cy="201168"/>
            </a:xfrm>
            <a:prstGeom prst="rect">
              <a:avLst/>
            </a:prstGeom>
          </p:spPr>
        </p:pic>
        <p:sp>
          <p:nvSpPr>
            <p:cNvPr id="145" name="TextBox 144"/>
            <p:cNvSpPr txBox="1"/>
            <p:nvPr/>
          </p:nvSpPr>
          <p:spPr>
            <a:xfrm>
              <a:off x="3282696" y="6144768"/>
              <a:ext cx="731520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100" b="0" lang="en-US">
                  <a:solidFill>
                    <a:srgbClr val="5A6672"/>
                  </a:solidFill>
                  <a:latin typeface="Inter"/>
                  <a:cs typeface="Inter"/>
                </a:rPr>
                <a:t>no</a:t>
              </a:r>
            </a:p>
          </p:txBody>
        </p:sp>
      </p:grp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Growth strategy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We grow on two sides: stores and shoppers.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22376" y="2487168"/>
            <a:ext cx="3657600" cy="310896"/>
            <a:chOff x="722376" y="2487168"/>
            <a:chExt cx="3657600" cy="310896"/>
          </a:xfrm>
        </p:grpSpPr>
        <p:sp>
          <p:nvSpPr>
            <p:cNvPr id="103" name="TextBox 102"/>
            <p:cNvSpPr txBox="1"/>
            <p:nvPr/>
          </p:nvSpPr>
          <p:spPr>
            <a:xfrm>
              <a:off x="722376" y="2487168"/>
              <a:ext cx="365760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600" b="1" lang="en-US">
                  <a:solidFill>
                    <a:srgbClr val="298FC2"/>
                  </a:solidFill>
                  <a:latin typeface="Inter"/>
                  <a:cs typeface="Inter"/>
                </a:rPr>
                <a:t>Stores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22376" y="2907792"/>
            <a:ext cx="5129784" cy="530352"/>
            <a:chOff x="722376" y="2907792"/>
            <a:chExt cx="5129784" cy="530352"/>
          </a:xfrm>
        </p:grpSpPr>
        <p:sp>
          <p:nvSpPr>
            <p:cNvPr id="104" name="Oval 103"/>
            <p:cNvSpPr/>
            <p:nvPr/>
          </p:nvSpPr>
          <p:spPr>
            <a:xfrm>
              <a:off x="722376" y="2935224"/>
              <a:ext cx="457200" cy="45720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05" name="Picture 104" descr="handshake_298FC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960" y="3035808"/>
              <a:ext cx="256032" cy="256032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362456" y="2907792"/>
              <a:ext cx="4489704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101820"/>
                  </a:solidFill>
                  <a:latin typeface="Inter"/>
                  <a:cs typeface="Inter"/>
                </a:rPr>
                <a:t>I sign the first 20 stores in person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362456" y="3200400"/>
              <a:ext cx="4489704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Bazaar visits, Instagram outreach, a 45-second demo video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722376" y="3657600"/>
            <a:ext cx="5129784" cy="530352"/>
            <a:chOff x="722376" y="3657600"/>
            <a:chExt cx="5129784" cy="530352"/>
          </a:xfrm>
        </p:grpSpPr>
        <p:sp>
          <p:nvSpPr>
            <p:cNvPr id="108" name="Oval 107"/>
            <p:cNvSpPr/>
            <p:nvPr/>
          </p:nvSpPr>
          <p:spPr>
            <a:xfrm>
              <a:off x="722376" y="3685032"/>
              <a:ext cx="457200" cy="45720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09" name="Picture 108" descr="gift_298FC2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2960" y="3785616"/>
              <a:ext cx="256032" cy="256032"/>
            </a:xfrm>
            <a:prstGeom prst="rect">
              <a:avLst/>
            </a:prstGeom>
          </p:spPr>
        </p:pic>
        <p:sp>
          <p:nvSpPr>
            <p:cNvPr id="110" name="TextBox 109"/>
            <p:cNvSpPr txBox="1"/>
            <p:nvPr/>
          </p:nvSpPr>
          <p:spPr>
            <a:xfrm>
              <a:off x="1362456" y="3657600"/>
              <a:ext cx="4489704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101820"/>
                  </a:solidFill>
                  <a:latin typeface="Inter"/>
                  <a:cs typeface="Inter"/>
                </a:rPr>
                <a:t>A founding offer they can't ignore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1362456" y="3950208"/>
              <a:ext cx="4489704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0% commission in month 1 + their products in our paid ads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22376" y="4407408"/>
            <a:ext cx="5129784" cy="530352"/>
            <a:chOff x="722376" y="4407408"/>
            <a:chExt cx="5129784" cy="530352"/>
          </a:xfrm>
        </p:grpSpPr>
        <p:sp>
          <p:nvSpPr>
            <p:cNvPr id="112" name="Oval 111"/>
            <p:cNvSpPr/>
            <p:nvPr/>
          </p:nvSpPr>
          <p:spPr>
            <a:xfrm>
              <a:off x="722376" y="4434840"/>
              <a:ext cx="457200" cy="45720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13" name="Picture 112" descr="link_298FC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2960" y="4535424"/>
              <a:ext cx="256032" cy="256032"/>
            </a:xfrm>
            <a:prstGeom prst="rect">
              <a:avLst/>
            </a:prstGeom>
          </p:spPr>
        </p:pic>
        <p:sp>
          <p:nvSpPr>
            <p:cNvPr id="114" name="TextBox 113"/>
            <p:cNvSpPr txBox="1"/>
            <p:nvPr/>
          </p:nvSpPr>
          <p:spPr>
            <a:xfrm>
              <a:off x="1362456" y="4407408"/>
              <a:ext cx="4489704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101820"/>
                  </a:solidFill>
                  <a:latin typeface="Inter"/>
                  <a:cs typeface="Inter"/>
                </a:rPr>
                <a:t>Their followers come too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1362456" y="4700016"/>
              <a:ext cx="4489704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Store link in bio and in replies to “price?” comments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336792" y="2487168"/>
            <a:ext cx="3657600" cy="310896"/>
            <a:chOff x="6336792" y="2487168"/>
            <a:chExt cx="3657600" cy="310896"/>
          </a:xfrm>
        </p:grpSpPr>
        <p:sp>
          <p:nvSpPr>
            <p:cNvPr id="116" name="TextBox 115"/>
            <p:cNvSpPr txBox="1"/>
            <p:nvPr/>
          </p:nvSpPr>
          <p:spPr>
            <a:xfrm>
              <a:off x="6336792" y="2487168"/>
              <a:ext cx="365760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600" b="1" lang="en-US">
                  <a:solidFill>
                    <a:srgbClr val="298FC2"/>
                  </a:solidFill>
                  <a:latin typeface="Inter"/>
                  <a:cs typeface="Inter"/>
                </a:rPr>
                <a:t>Shoppers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336792" y="2907792"/>
            <a:ext cx="5129784" cy="530352"/>
            <a:chOff x="6336792" y="2907792"/>
            <a:chExt cx="5129784" cy="530352"/>
          </a:xfrm>
        </p:grpSpPr>
        <p:sp>
          <p:nvSpPr>
            <p:cNvPr id="117" name="Oval 116"/>
            <p:cNvSpPr/>
            <p:nvPr/>
          </p:nvSpPr>
          <p:spPr>
            <a:xfrm>
              <a:off x="6336792" y="2935224"/>
              <a:ext cx="457200" cy="45720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18" name="Picture 117" descr="megaphone_298FC2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37376" y="3035808"/>
              <a:ext cx="256032" cy="256032"/>
            </a:xfrm>
            <a:prstGeom prst="rect">
              <a:avLst/>
            </a:prstGeom>
          </p:spPr>
        </p:pic>
        <p:sp>
          <p:nvSpPr>
            <p:cNvPr id="119" name="TextBox 118"/>
            <p:cNvSpPr txBox="1"/>
            <p:nvPr/>
          </p:nvSpPr>
          <p:spPr>
            <a:xfrm>
              <a:off x="6976872" y="2907792"/>
              <a:ext cx="4489704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101820"/>
                  </a:solidFill>
                  <a:latin typeface="Inter"/>
                  <a:cs typeface="Inter"/>
                </a:rPr>
                <a:t>Targeted ads across Duhok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976872" y="3200400"/>
              <a:ext cx="4489704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Facebook, Instagram, TikTok — real products, real prices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336792" y="3657600"/>
            <a:ext cx="5129784" cy="530352"/>
            <a:chOff x="6336792" y="3657600"/>
            <a:chExt cx="5129784" cy="530352"/>
          </a:xfrm>
        </p:grpSpPr>
        <p:sp>
          <p:nvSpPr>
            <p:cNvPr id="121" name="Oval 120"/>
            <p:cNvSpPr/>
            <p:nvPr/>
          </p:nvSpPr>
          <p:spPr>
            <a:xfrm>
              <a:off x="6336792" y="3685032"/>
              <a:ext cx="457200" cy="45720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22" name="Picture 121" descr="clapperboard_298FC2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37376" y="3785616"/>
              <a:ext cx="256032" cy="256032"/>
            </a:xfrm>
            <a:prstGeom prst="rect">
              <a:avLst/>
            </a:prstGeom>
          </p:spPr>
        </p:pic>
        <p:sp>
          <p:nvSpPr>
            <p:cNvPr id="123" name="TextBox 122"/>
            <p:cNvSpPr txBox="1"/>
            <p:nvPr/>
          </p:nvSpPr>
          <p:spPr>
            <a:xfrm>
              <a:off x="6976872" y="3657600"/>
              <a:ext cx="4489704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101820"/>
                  </a:solidFill>
                  <a:latin typeface="Inter"/>
                  <a:cs typeface="Inter"/>
                </a:rPr>
                <a:t>Short videos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6976872" y="3950208"/>
              <a:ext cx="4489704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“The old way vs the Cheapify way”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336792" y="4407408"/>
            <a:ext cx="5129784" cy="530352"/>
            <a:chOff x="6336792" y="4407408"/>
            <a:chExt cx="5129784" cy="530352"/>
          </a:xfrm>
        </p:grpSpPr>
        <p:sp>
          <p:nvSpPr>
            <p:cNvPr id="125" name="Oval 124"/>
            <p:cNvSpPr/>
            <p:nvPr/>
          </p:nvSpPr>
          <p:spPr>
            <a:xfrm>
              <a:off x="6336792" y="4434840"/>
              <a:ext cx="457200" cy="45720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26" name="Picture 125" descr="graduation-cap_298FC2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37376" y="4535424"/>
              <a:ext cx="256032" cy="256032"/>
            </a:xfrm>
            <a:prstGeom prst="rect">
              <a:avLst/>
            </a:prstGeom>
          </p:spPr>
        </p:pic>
        <p:sp>
          <p:nvSpPr>
            <p:cNvPr id="127" name="TextBox 126"/>
            <p:cNvSpPr txBox="1"/>
            <p:nvPr/>
          </p:nvSpPr>
          <p:spPr>
            <a:xfrm>
              <a:off x="6976872" y="4407408"/>
              <a:ext cx="4489704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101820"/>
                  </a:solidFill>
                  <a:latin typeface="Inter"/>
                  <a:cs typeface="Inter"/>
                </a:rPr>
                <a:t>Campus &amp; workplace deals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976872" y="4700016"/>
              <a:ext cx="4489704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UoD, AUK, Nawroz and office hubs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336792" y="5157216"/>
            <a:ext cx="5129784" cy="530352"/>
            <a:chOff x="6336792" y="5157216"/>
            <a:chExt cx="5129784" cy="530352"/>
          </a:xfrm>
        </p:grpSpPr>
        <p:sp>
          <p:nvSpPr>
            <p:cNvPr id="129" name="Oval 128"/>
            <p:cNvSpPr/>
            <p:nvPr/>
          </p:nvSpPr>
          <p:spPr>
            <a:xfrm>
              <a:off x="6336792" y="5184648"/>
              <a:ext cx="457200" cy="457200"/>
            </a:xfrm>
            <a:prstGeom prst="ellipse">
              <a:avLst/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0" name="Picture 129" descr="users_298FC2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437376" y="5285232"/>
              <a:ext cx="256032" cy="256032"/>
            </a:xfrm>
            <a:prstGeom prst="rect">
              <a:avLst/>
            </a:prstGeom>
          </p:spPr>
        </p:pic>
        <p:sp>
          <p:nvSpPr>
            <p:cNvPr id="131" name="TextBox 130"/>
            <p:cNvSpPr txBox="1"/>
            <p:nvPr/>
          </p:nvSpPr>
          <p:spPr>
            <a:xfrm>
              <a:off x="6976872" y="5157216"/>
              <a:ext cx="4489704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101820"/>
                  </a:solidFill>
                  <a:latin typeface="Inter"/>
                  <a:cs typeface="Inter"/>
                </a:rPr>
                <a:t>Waitlist &amp; referrals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6976872" y="5449824"/>
              <a:ext cx="4489704" cy="2377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~52 contacts ready · credits only after a delivered order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90876" y="5797296"/>
            <a:ext cx="1097280" cy="256032"/>
            <a:chOff x="2890876" y="5797296"/>
            <a:chExt cx="1097280" cy="256032"/>
          </a:xfrm>
        </p:grpSpPr>
        <p:sp>
          <p:nvSpPr>
            <p:cNvPr id="133" name="TextBox 132"/>
            <p:cNvSpPr txBox="1"/>
            <p:nvPr/>
          </p:nvSpPr>
          <p:spPr>
            <a:xfrm>
              <a:off x="2890876" y="5797296"/>
              <a:ext cx="109728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More stores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116172" y="5852160"/>
            <a:ext cx="310896" cy="146304"/>
            <a:chOff x="4116172" y="5852160"/>
            <a:chExt cx="310896" cy="146304"/>
          </a:xfrm>
        </p:grpSpPr>
        <p:sp>
          <p:nvSpPr>
            <p:cNvPr id="134" name="Right Arrow 133"/>
            <p:cNvSpPr/>
            <p:nvPr/>
          </p:nvSpPr>
          <p:spPr>
            <a:xfrm>
              <a:off x="4116172" y="5852160"/>
              <a:ext cx="310896" cy="146304"/>
            </a:xfrm>
            <a:prstGeom prst="rightArrow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555084" y="5797296"/>
            <a:ext cx="1143000" cy="256032"/>
            <a:chOff x="4555084" y="5797296"/>
            <a:chExt cx="1143000" cy="256032"/>
          </a:xfrm>
        </p:grpSpPr>
        <p:sp>
          <p:nvSpPr>
            <p:cNvPr id="135" name="TextBox 134"/>
            <p:cNvSpPr txBox="1"/>
            <p:nvPr/>
          </p:nvSpPr>
          <p:spPr>
            <a:xfrm>
              <a:off x="4555084" y="5797296"/>
              <a:ext cx="114300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Lower prices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826100" y="5852160"/>
            <a:ext cx="310896" cy="146304"/>
            <a:chOff x="5826100" y="5852160"/>
            <a:chExt cx="310896" cy="146304"/>
          </a:xfrm>
        </p:grpSpPr>
        <p:sp>
          <p:nvSpPr>
            <p:cNvPr id="136" name="Right Arrow 135"/>
            <p:cNvSpPr/>
            <p:nvPr/>
          </p:nvSpPr>
          <p:spPr>
            <a:xfrm>
              <a:off x="5826100" y="5852160"/>
              <a:ext cx="310896" cy="146304"/>
            </a:xfrm>
            <a:prstGeom prst="rightArrow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265012" y="5797296"/>
            <a:ext cx="1325880" cy="256032"/>
            <a:chOff x="6265012" y="5797296"/>
            <a:chExt cx="1325880" cy="256032"/>
          </a:xfrm>
        </p:grpSpPr>
        <p:sp>
          <p:nvSpPr>
            <p:cNvPr id="137" name="TextBox 136"/>
            <p:cNvSpPr txBox="1"/>
            <p:nvPr/>
          </p:nvSpPr>
          <p:spPr>
            <a:xfrm>
              <a:off x="6265012" y="5797296"/>
              <a:ext cx="132588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More shoppers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718908" y="5852160"/>
            <a:ext cx="310896" cy="146304"/>
            <a:chOff x="7718908" y="5852160"/>
            <a:chExt cx="310896" cy="146304"/>
          </a:xfrm>
        </p:grpSpPr>
        <p:sp>
          <p:nvSpPr>
            <p:cNvPr id="138" name="Right Arrow 137"/>
            <p:cNvSpPr/>
            <p:nvPr/>
          </p:nvSpPr>
          <p:spPr>
            <a:xfrm>
              <a:off x="7718908" y="5852160"/>
              <a:ext cx="310896" cy="146304"/>
            </a:xfrm>
            <a:prstGeom prst="rightArrow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57820" y="5797296"/>
            <a:ext cx="1143000" cy="256032"/>
            <a:chOff x="8157820" y="5797296"/>
            <a:chExt cx="1143000" cy="256032"/>
          </a:xfrm>
        </p:grpSpPr>
        <p:sp>
          <p:nvSpPr>
            <p:cNvPr id="139" name="TextBox 138"/>
            <p:cNvSpPr txBox="1"/>
            <p:nvPr/>
          </p:nvSpPr>
          <p:spPr>
            <a:xfrm>
              <a:off x="8157820" y="5797296"/>
              <a:ext cx="114300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More orders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375508" y="6080760"/>
            <a:ext cx="5353812" cy="173736"/>
            <a:chOff x="3375508" y="6080760"/>
            <a:chExt cx="5353812" cy="173736"/>
          </a:xfrm>
        </p:grpSpPr>
        <p:cxnSp>
          <p:nvCxnSpPr>
            <p:cNvPr id="140" name="Connector 139"/>
            <p:cNvCxnSpPr/>
            <p:nvPr/>
          </p:nvCxnSpPr>
          <p:spPr>
            <a:xfrm>
              <a:off x="8729320" y="6089904"/>
              <a:ext cx="0" cy="164592"/>
            </a:xfrm>
            <a:prstGeom prst="line">
              <a:avLst/>
            </a:prstGeom>
            <a:ln w="19050">
              <a:solidFill>
                <a:srgbClr val="298FC2"/>
              </a:solidFill>
            </a:ln>
            <a:effectLst/>
          </p:spPr>
        </p:cxnSp>
        <p:cxnSp>
          <p:nvCxnSpPr>
            <p:cNvPr id="141" name="Connector 140"/>
            <p:cNvCxnSpPr/>
            <p:nvPr/>
          </p:nvCxnSpPr>
          <p:spPr>
            <a:xfrm flipH="1">
              <a:off x="3439516" y="6254496"/>
              <a:ext cx="5289804" cy="0"/>
            </a:xfrm>
            <a:prstGeom prst="line">
              <a:avLst/>
            </a:prstGeom>
            <a:ln w="19050">
              <a:solidFill>
                <a:srgbClr val="298FC2"/>
              </a:solidFill>
            </a:ln>
            <a:effectLst/>
          </p:spPr>
        </p:cxnSp>
        <p:cxnSp>
          <p:nvCxnSpPr>
            <p:cNvPr id="142" name="Connector 141"/>
            <p:cNvCxnSpPr/>
            <p:nvPr/>
          </p:nvCxnSpPr>
          <p:spPr>
            <a:xfrm flipV="1">
              <a:off x="3439516" y="6144768"/>
              <a:ext cx="0" cy="109728"/>
            </a:xfrm>
            <a:prstGeom prst="line">
              <a:avLst/>
            </a:prstGeom>
            <a:ln w="19050">
              <a:solidFill>
                <a:srgbClr val="298FC2"/>
              </a:solidFill>
            </a:ln>
            <a:effectLst/>
          </p:spPr>
        </p:cxnSp>
        <p:sp>
          <p:nvSpPr>
            <p:cNvPr id="143" name="Isosceles Triangle 142"/>
            <p:cNvSpPr/>
            <p:nvPr/>
          </p:nvSpPr>
          <p:spPr>
            <a:xfrm>
              <a:off x="3375508" y="6080760"/>
              <a:ext cx="128016" cy="91440"/>
            </a:xfrm>
            <a:prstGeom prst="triangl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Financial feasibility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Break-even at about 20 orders a day.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2376" y="6455664"/>
            <a:ext cx="107442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 lang="en-US">
                <a:solidFill>
                  <a:srgbClr val="5A6672"/>
                </a:solidFill>
                <a:latin typeface="Inter"/>
                <a:cs typeface="Inter"/>
              </a:rPr>
              <a:t>Planned: orders grow 100 → 2,000 a month; Fast: twice that pace; Slow: half. Costs 652,000 IQD/month after launch (790,000 from month 6), incl. 1.7M IQD startup. Assumes 25,000 IQD average order and a signed courier contract. USD at 1,500 IQD.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22376" y="2468880"/>
            <a:ext cx="3529584" cy="841248"/>
            <a:chOff x="722376" y="2468880"/>
            <a:chExt cx="3529584" cy="841248"/>
          </a:xfrm>
        </p:grpSpPr>
        <p:sp>
          <p:nvSpPr>
            <p:cNvPr id="104" name="Rounded Rectangle 103"/>
            <p:cNvSpPr/>
            <p:nvPr/>
          </p:nvSpPr>
          <p:spPr>
            <a:xfrm>
              <a:off x="722376" y="2468880"/>
              <a:ext cx="3529584" cy="841248"/>
            </a:xfrm>
            <a:prstGeom prst="roundRect">
              <a:avLst>
                <a:gd name="adj" fmla="val 15217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914400" y="2542032"/>
              <a:ext cx="3200400" cy="40233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2400" b="1" lang="en-US">
                  <a:solidFill>
                    <a:srgbClr val="101820"/>
                  </a:solidFill>
                  <a:latin typeface="Comfortaa"/>
                  <a:cs typeface="Comfortaa"/>
                </a:rPr>
                <a:t>~585</a:t>
              </a:r>
              <a:r>
                <a:rPr sz="1400" b="1" lang="en-US">
                  <a:solidFill>
                    <a:srgbClr val="101820"/>
                  </a:solidFill>
                  <a:latin typeface="Comfortaa"/>
                  <a:cs typeface="Comfortaa"/>
                </a:rPr>
                <a:t> orders / month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914400" y="2962656"/>
              <a:ext cx="320040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break-even · about 20 a day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22376" y="3401568"/>
            <a:ext cx="3529584" cy="841248"/>
            <a:chOff x="722376" y="3401568"/>
            <a:chExt cx="3529584" cy="841248"/>
          </a:xfrm>
        </p:grpSpPr>
        <p:sp>
          <p:nvSpPr>
            <p:cNvPr id="107" name="Rounded Rectangle 106"/>
            <p:cNvSpPr/>
            <p:nvPr/>
          </p:nvSpPr>
          <p:spPr>
            <a:xfrm>
              <a:off x="722376" y="3401568"/>
              <a:ext cx="3529584" cy="841248"/>
            </a:xfrm>
            <a:prstGeom prst="roundRect">
              <a:avLst>
                <a:gd name="adj" fmla="val 15217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914400" y="3474720"/>
              <a:ext cx="3200400" cy="40233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2400" b="1" lang="en-US">
                  <a:solidFill>
                    <a:srgbClr val="101820"/>
                  </a:solidFill>
                  <a:latin typeface="Comfortaa"/>
                  <a:cs typeface="Comfortaa"/>
                </a:rPr>
                <a:t>1,115 IQD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914400" y="3895344"/>
              <a:ext cx="320040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profit per delivered order</a:t>
              </a:r>
            </a:p>
          </p:txBody>
        </p:sp>
      </p:grpSp>
      <p:graphicFrame>
        <p:nvGraphicFramePr>
          <p:cNvPr id="110" name="Table 109"/>
          <p:cNvGraphicFramePr>
            <a:graphicFrameLocks noGrp="1"/>
          </p:cNvGraphicFramePr>
          <p:nvPr/>
        </p:nvGraphicFramePr>
        <p:xfrm>
          <a:off x="722376" y="4407408"/>
          <a:ext cx="1243584" cy="1682496"/>
        </p:xfrm>
        <a:graphic>
          <a:graphicData uri="http://schemas.openxmlformats.org/drawingml/2006/table">
            <a:tbl>
              <a:tblPr firstRow="0" bandRow="0"/>
              <a:tblGrid>
                <a:gridCol w="1243584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/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Lowest cash point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Monthly break-even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All losses recovered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1" name="Table 110"/>
          <p:cNvGraphicFramePr>
            <a:graphicFrameLocks noGrp="1"/>
          </p:cNvGraphicFramePr>
          <p:nvPr/>
        </p:nvGraphicFramePr>
        <p:xfrm>
          <a:off x="1965960" y="4407408"/>
          <a:ext cx="1143000" cy="1682496"/>
        </p:xfrm>
        <a:graphic>
          <a:graphicData uri="http://schemas.openxmlformats.org/drawingml/2006/table">
            <a:tbl>
              <a:tblPr firstRow="0" bandRow="0"/>
              <a:tblGrid>
                <a:gridCol w="1143000"/>
              </a:tblGrid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5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Fast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r"/>
                      <a:r>
                        <a:rPr sz="115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−$1,800 (month 2)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r"/>
                      <a:r>
                        <a:rPr sz="115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Month 3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r"/>
                      <a:r>
                        <a:rPr sz="115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Month 6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3108960" y="4407408"/>
          <a:ext cx="1143000" cy="1682496"/>
        </p:xfrm>
        <a:graphic>
          <a:graphicData uri="http://schemas.openxmlformats.org/drawingml/2006/table">
            <a:tbl>
              <a:tblPr firstRow="0" bandRow="0"/>
              <a:tblGrid>
                <a:gridCol w="1143000"/>
              </a:tblGrid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115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Planned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r"/>
                      <a:r>
                        <a:rPr sz="115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−$2,180 (month 3)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r"/>
                      <a:r>
                        <a:rPr sz="115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Month 4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r"/>
                      <a:r>
                        <a:rPr sz="115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Month 8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4480560" y="2934521"/>
            <a:ext cx="7132320" cy="3319975"/>
            <a:chOff x="4480560" y="2934521"/>
            <a:chExt cx="7132320" cy="3319975"/>
          </a:xfrm>
        </p:grpSpPr>
        <p:cxnSp>
          <p:nvCxnSpPr>
            <p:cNvPr id="113" name="Connector 112"/>
            <p:cNvCxnSpPr/>
            <p:nvPr/>
          </p:nvCxnSpPr>
          <p:spPr>
            <a:xfrm>
              <a:off x="5120640" y="3035105"/>
              <a:ext cx="6126480" cy="0"/>
            </a:xfrm>
            <a:prstGeom prst="line">
              <a:avLst/>
            </a:prstGeom>
            <a:ln w="6350">
              <a:solidFill>
                <a:srgbClr val="DDE5ED"/>
              </a:solidFill>
            </a:ln>
            <a:effectLst/>
          </p:spPr>
        </p:cxnSp>
        <p:sp>
          <p:nvSpPr>
            <p:cNvPr id="114" name="TextBox 113"/>
            <p:cNvSpPr txBox="1"/>
            <p:nvPr/>
          </p:nvSpPr>
          <p:spPr>
            <a:xfrm>
              <a:off x="4480560" y="2934521"/>
              <a:ext cx="54864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+$3k</a:t>
              </a:r>
            </a:p>
          </p:txBody>
        </p:sp>
        <p:cxnSp>
          <p:nvCxnSpPr>
            <p:cNvPr id="115" name="Connector 114"/>
            <p:cNvCxnSpPr/>
            <p:nvPr/>
          </p:nvCxnSpPr>
          <p:spPr>
            <a:xfrm>
              <a:off x="5120640" y="3527474"/>
              <a:ext cx="6126480" cy="0"/>
            </a:xfrm>
            <a:prstGeom prst="line">
              <a:avLst/>
            </a:prstGeom>
            <a:ln w="6350">
              <a:solidFill>
                <a:srgbClr val="DDE5ED"/>
              </a:solidFill>
            </a:ln>
            <a:effectLst/>
          </p:spPr>
        </p:cxnSp>
        <p:sp>
          <p:nvSpPr>
            <p:cNvPr id="116" name="TextBox 115"/>
            <p:cNvSpPr txBox="1"/>
            <p:nvPr/>
          </p:nvSpPr>
          <p:spPr>
            <a:xfrm>
              <a:off x="4480560" y="3426890"/>
              <a:ext cx="54864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+$2k</a:t>
              </a:r>
            </a:p>
          </p:txBody>
        </p:sp>
        <p:cxnSp>
          <p:nvCxnSpPr>
            <p:cNvPr id="117" name="Connector 116"/>
            <p:cNvCxnSpPr/>
            <p:nvPr/>
          </p:nvCxnSpPr>
          <p:spPr>
            <a:xfrm>
              <a:off x="5120640" y="4019843"/>
              <a:ext cx="6126480" cy="0"/>
            </a:xfrm>
            <a:prstGeom prst="line">
              <a:avLst/>
            </a:prstGeom>
            <a:ln w="6350">
              <a:solidFill>
                <a:srgbClr val="DDE5ED"/>
              </a:solidFill>
            </a:ln>
            <a:effectLst/>
          </p:spPr>
        </p:cxnSp>
        <p:sp>
          <p:nvSpPr>
            <p:cNvPr id="118" name="TextBox 117"/>
            <p:cNvSpPr txBox="1"/>
            <p:nvPr/>
          </p:nvSpPr>
          <p:spPr>
            <a:xfrm>
              <a:off x="4480560" y="3919259"/>
              <a:ext cx="54864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+$1k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4480560" y="4411628"/>
              <a:ext cx="54864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$0</a:t>
              </a:r>
            </a:p>
          </p:txBody>
        </p:sp>
        <p:cxnSp>
          <p:nvCxnSpPr>
            <p:cNvPr id="120" name="Connector 119"/>
            <p:cNvCxnSpPr/>
            <p:nvPr/>
          </p:nvCxnSpPr>
          <p:spPr>
            <a:xfrm>
              <a:off x="5120640" y="5004582"/>
              <a:ext cx="6126480" cy="0"/>
            </a:xfrm>
            <a:prstGeom prst="line">
              <a:avLst/>
            </a:prstGeom>
            <a:ln w="6350">
              <a:solidFill>
                <a:srgbClr val="DDE5ED"/>
              </a:solidFill>
            </a:ln>
            <a:effectLst/>
          </p:spPr>
        </p:cxnSp>
        <p:sp>
          <p:nvSpPr>
            <p:cNvPr id="121" name="TextBox 120"/>
            <p:cNvSpPr txBox="1"/>
            <p:nvPr/>
          </p:nvSpPr>
          <p:spPr>
            <a:xfrm>
              <a:off x="4480560" y="4903998"/>
              <a:ext cx="54864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−$1k</a:t>
              </a:r>
            </a:p>
          </p:txBody>
        </p:sp>
        <p:cxnSp>
          <p:nvCxnSpPr>
            <p:cNvPr id="122" name="Connector 121"/>
            <p:cNvCxnSpPr/>
            <p:nvPr/>
          </p:nvCxnSpPr>
          <p:spPr>
            <a:xfrm>
              <a:off x="5120640" y="5496951"/>
              <a:ext cx="6126480" cy="0"/>
            </a:xfrm>
            <a:prstGeom prst="line">
              <a:avLst/>
            </a:prstGeom>
            <a:ln w="6350">
              <a:solidFill>
                <a:srgbClr val="DDE5ED"/>
              </a:solidFill>
            </a:ln>
            <a:effectLst/>
          </p:spPr>
        </p:cxnSp>
        <p:sp>
          <p:nvSpPr>
            <p:cNvPr id="123" name="TextBox 122"/>
            <p:cNvSpPr txBox="1"/>
            <p:nvPr/>
          </p:nvSpPr>
          <p:spPr>
            <a:xfrm>
              <a:off x="4480560" y="5396367"/>
              <a:ext cx="54864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−$2k</a:t>
              </a:r>
            </a:p>
          </p:txBody>
        </p:sp>
        <p:cxnSp>
          <p:nvCxnSpPr>
            <p:cNvPr id="124" name="Connector 123"/>
            <p:cNvCxnSpPr/>
            <p:nvPr/>
          </p:nvCxnSpPr>
          <p:spPr>
            <a:xfrm>
              <a:off x="5120640" y="5989320"/>
              <a:ext cx="6126480" cy="0"/>
            </a:xfrm>
            <a:prstGeom prst="line">
              <a:avLst/>
            </a:prstGeom>
            <a:ln w="6350">
              <a:solidFill>
                <a:srgbClr val="DDE5ED"/>
              </a:solidFill>
            </a:ln>
            <a:effectLst/>
          </p:spPr>
        </p:cxnSp>
        <p:sp>
          <p:nvSpPr>
            <p:cNvPr id="125" name="TextBox 124"/>
            <p:cNvSpPr txBox="1"/>
            <p:nvPr/>
          </p:nvSpPr>
          <p:spPr>
            <a:xfrm>
              <a:off x="4480560" y="5888736"/>
              <a:ext cx="54864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−$3k</a:t>
              </a:r>
            </a:p>
          </p:txBody>
        </p:sp>
        <p:cxnSp>
          <p:nvCxnSpPr>
            <p:cNvPr id="126" name="Connector 125"/>
            <p:cNvCxnSpPr/>
            <p:nvPr/>
          </p:nvCxnSpPr>
          <p:spPr>
            <a:xfrm>
              <a:off x="5120640" y="4512212"/>
              <a:ext cx="6126480" cy="0"/>
            </a:xfrm>
            <a:prstGeom prst="line">
              <a:avLst/>
            </a:prstGeom>
            <a:ln w="12700">
              <a:solidFill>
                <a:srgbClr val="101820"/>
              </a:solidFill>
            </a:ln>
            <a:effectLst/>
          </p:spPr>
        </p:cxnSp>
        <p:sp>
          <p:nvSpPr>
            <p:cNvPr id="127" name="TextBox 126"/>
            <p:cNvSpPr txBox="1"/>
            <p:nvPr/>
          </p:nvSpPr>
          <p:spPr>
            <a:xfrm>
              <a:off x="4754880" y="6053328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Start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5775960" y="6053328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Launch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6797040" y="6053328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M2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7818120" y="6053328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M4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8839200" y="6053328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M6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9860280" y="6053328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M8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10881360" y="6053328"/>
              <a:ext cx="73152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000" b="0" lang="en-US">
                  <a:solidFill>
                    <a:srgbClr val="5A6672"/>
                  </a:solidFill>
                  <a:latin typeface="Inter"/>
                  <a:cs typeface="Inter"/>
                </a:rPr>
                <a:t>M10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732520" y="2414016"/>
            <a:ext cx="3154680" cy="219456"/>
            <a:chOff x="8732520" y="2414016"/>
            <a:chExt cx="3154680" cy="219456"/>
          </a:xfrm>
        </p:grpSpPr>
        <p:cxnSp>
          <p:nvCxnSpPr>
            <p:cNvPr id="134" name="Connector 133"/>
            <p:cNvCxnSpPr/>
            <p:nvPr/>
          </p:nvCxnSpPr>
          <p:spPr>
            <a:xfrm>
              <a:off x="8732520" y="2523744"/>
              <a:ext cx="292608" cy="0"/>
            </a:xfrm>
            <a:prstGeom prst="line">
              <a:avLst/>
            </a:prstGeom>
            <a:ln w="38100">
              <a:solidFill>
                <a:srgbClr val="298FC2"/>
              </a:solidFill>
            </a:ln>
            <a:effectLst/>
          </p:spPr>
        </p:cxnSp>
        <p:sp>
          <p:nvSpPr>
            <p:cNvPr id="135" name="TextBox 134"/>
            <p:cNvSpPr txBox="1"/>
            <p:nvPr/>
          </p:nvSpPr>
          <p:spPr>
            <a:xfrm>
              <a:off x="9098280" y="2414016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100" b="0" lang="en-US">
                  <a:solidFill>
                    <a:srgbClr val="101820"/>
                  </a:solidFill>
                  <a:latin typeface="Inter"/>
                  <a:cs typeface="Inter"/>
                </a:rPr>
                <a:t>Fast</a:t>
              </a:r>
            </a:p>
          </p:txBody>
        </p:sp>
        <p:cxnSp>
          <p:nvCxnSpPr>
            <p:cNvPr id="136" name="Connector 135"/>
            <p:cNvCxnSpPr/>
            <p:nvPr/>
          </p:nvCxnSpPr>
          <p:spPr>
            <a:xfrm>
              <a:off x="9646920" y="2523744"/>
              <a:ext cx="292608" cy="0"/>
            </a:xfrm>
            <a:prstGeom prst="line">
              <a:avLst/>
            </a:prstGeom>
            <a:ln w="31750">
              <a:solidFill>
                <a:srgbClr val="101820"/>
              </a:solidFill>
            </a:ln>
            <a:effectLst/>
          </p:spPr>
        </p:cxnSp>
        <p:sp>
          <p:nvSpPr>
            <p:cNvPr id="137" name="TextBox 136"/>
            <p:cNvSpPr txBox="1"/>
            <p:nvPr/>
          </p:nvSpPr>
          <p:spPr>
            <a:xfrm>
              <a:off x="10012680" y="2414016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100" b="0" lang="en-US">
                  <a:solidFill>
                    <a:srgbClr val="101820"/>
                  </a:solidFill>
                  <a:latin typeface="Inter"/>
                  <a:cs typeface="Inter"/>
                </a:rPr>
                <a:t>Planned</a:t>
              </a:r>
            </a:p>
          </p:txBody>
        </p:sp>
        <p:cxnSp>
          <p:nvCxnSpPr>
            <p:cNvPr id="138" name="Connector 137"/>
            <p:cNvCxnSpPr/>
            <p:nvPr/>
          </p:nvCxnSpPr>
          <p:spPr>
            <a:xfrm>
              <a:off x="10789920" y="2523744"/>
              <a:ext cx="292608" cy="0"/>
            </a:xfrm>
            <a:prstGeom prst="line">
              <a:avLst/>
            </a:prstGeom>
            <a:ln w="19050">
              <a:solidFill>
                <a:srgbClr val="A9B1B9"/>
              </a:solidFill>
              <a:prstDash val="dash"/>
            </a:ln>
            <a:effectLst/>
          </p:spPr>
        </p:cxnSp>
        <p:sp>
          <p:nvSpPr>
            <p:cNvPr id="139" name="TextBox 138"/>
            <p:cNvSpPr txBox="1"/>
            <p:nvPr/>
          </p:nvSpPr>
          <p:spPr>
            <a:xfrm>
              <a:off x="11155680" y="2414016"/>
              <a:ext cx="731520" cy="2194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100" b="0" lang="en-US">
                  <a:solidFill>
                    <a:srgbClr val="101820"/>
                  </a:solidFill>
                  <a:latin typeface="Inter"/>
                  <a:cs typeface="Inter"/>
                </a:rPr>
                <a:t>Slow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5120640" y="5070067"/>
            <a:ext cx="510540" cy="68931"/>
            <a:chOff x="5120640" y="5070067"/>
            <a:chExt cx="510540" cy="68931"/>
          </a:xfrm>
        </p:grpSpPr>
        <p:cxnSp>
          <p:nvCxnSpPr>
            <p:cNvPr id="140" name="Connector 139"/>
            <p:cNvCxnSpPr/>
            <p:nvPr/>
          </p:nvCxnSpPr>
          <p:spPr>
            <a:xfrm>
              <a:off x="5120640" y="5070067"/>
              <a:ext cx="510540" cy="68931"/>
            </a:xfrm>
            <a:prstGeom prst="line">
              <a:avLst/>
            </a:prstGeom>
            <a:ln w="31750" cap="rnd">
              <a:solidFill>
                <a:srgbClr val="101820"/>
              </a:solidFill>
            </a:ln>
            <a:effectLst/>
          </p:spPr>
        </p:cxnSp>
      </p:grpSp>
      <p:grpSp>
        <p:nvGrpSpPr>
          <p:cNvPr id="7" name="Group 6"/>
          <p:cNvGrpSpPr/>
          <p:nvPr/>
        </p:nvGrpSpPr>
        <p:grpSpPr>
          <a:xfrm>
            <a:off x="5631180" y="5138998"/>
            <a:ext cx="510540" cy="68932"/>
            <a:chOff x="5631180" y="5138998"/>
            <a:chExt cx="510540" cy="68932"/>
          </a:xfrm>
        </p:grpSpPr>
        <p:cxnSp>
          <p:nvCxnSpPr>
            <p:cNvPr id="141" name="Connector 140"/>
            <p:cNvCxnSpPr/>
            <p:nvPr/>
          </p:nvCxnSpPr>
          <p:spPr>
            <a:xfrm>
              <a:off x="5631180" y="5138998"/>
              <a:ext cx="510540" cy="68932"/>
            </a:xfrm>
            <a:prstGeom prst="line">
              <a:avLst/>
            </a:prstGeom>
            <a:ln w="31750" cap="rnd">
              <a:solidFill>
                <a:srgbClr val="101820"/>
              </a:solidFill>
            </a:ln>
            <a:effectLst/>
          </p:spPr>
        </p:cxnSp>
      </p:grpSp>
      <p:grpSp>
        <p:nvGrpSpPr>
          <p:cNvPr id="8" name="Group 7"/>
          <p:cNvGrpSpPr/>
          <p:nvPr/>
        </p:nvGrpSpPr>
        <p:grpSpPr>
          <a:xfrm>
            <a:off x="6141720" y="5207930"/>
            <a:ext cx="510540" cy="177745"/>
            <a:chOff x="6141720" y="5207930"/>
            <a:chExt cx="510540" cy="177745"/>
          </a:xfrm>
        </p:grpSpPr>
        <p:cxnSp>
          <p:nvCxnSpPr>
            <p:cNvPr id="142" name="Connector 141"/>
            <p:cNvCxnSpPr/>
            <p:nvPr/>
          </p:nvCxnSpPr>
          <p:spPr>
            <a:xfrm>
              <a:off x="6141720" y="5207930"/>
              <a:ext cx="510540" cy="177745"/>
            </a:xfrm>
            <a:prstGeom prst="line">
              <a:avLst/>
            </a:prstGeom>
            <a:ln w="31750" cap="rnd">
              <a:solidFill>
                <a:srgbClr val="101820"/>
              </a:solidFill>
            </a:ln>
            <a:effectLst/>
          </p:spPr>
        </p:cxnSp>
      </p:grpSp>
      <p:grpSp>
        <p:nvGrpSpPr>
          <p:cNvPr id="9" name="Group 8"/>
          <p:cNvGrpSpPr/>
          <p:nvPr/>
        </p:nvGrpSpPr>
        <p:grpSpPr>
          <a:xfrm>
            <a:off x="6652260" y="5385675"/>
            <a:ext cx="510540" cy="131463"/>
            <a:chOff x="6652260" y="5385675"/>
            <a:chExt cx="510540" cy="131463"/>
          </a:xfrm>
        </p:grpSpPr>
        <p:cxnSp>
          <p:nvCxnSpPr>
            <p:cNvPr id="143" name="Connector 142"/>
            <p:cNvCxnSpPr/>
            <p:nvPr/>
          </p:nvCxnSpPr>
          <p:spPr>
            <a:xfrm>
              <a:off x="6652260" y="5385675"/>
              <a:ext cx="510540" cy="131463"/>
            </a:xfrm>
            <a:prstGeom prst="line">
              <a:avLst/>
            </a:prstGeom>
            <a:ln w="31750" cap="rnd">
              <a:solidFill>
                <a:srgbClr val="101820"/>
              </a:solidFill>
            </a:ln>
            <a:effectLst/>
          </p:spPr>
        </p:cxnSp>
      </p:grpSp>
      <p:grpSp>
        <p:nvGrpSpPr>
          <p:cNvPr id="10" name="Group 9"/>
          <p:cNvGrpSpPr/>
          <p:nvPr/>
        </p:nvGrpSpPr>
        <p:grpSpPr>
          <a:xfrm>
            <a:off x="7162800" y="5517138"/>
            <a:ext cx="510540" cy="67454"/>
            <a:chOff x="7162800" y="5517138"/>
            <a:chExt cx="510540" cy="67454"/>
          </a:xfrm>
        </p:grpSpPr>
        <p:cxnSp>
          <p:nvCxnSpPr>
            <p:cNvPr id="144" name="Connector 143"/>
            <p:cNvCxnSpPr/>
            <p:nvPr/>
          </p:nvCxnSpPr>
          <p:spPr>
            <a:xfrm>
              <a:off x="7162800" y="5517138"/>
              <a:ext cx="510540" cy="67454"/>
            </a:xfrm>
            <a:prstGeom prst="line">
              <a:avLst/>
            </a:prstGeom>
            <a:ln w="31750" cap="rnd">
              <a:solidFill>
                <a:srgbClr val="101820"/>
              </a:solidFill>
            </a:ln>
            <a:effectLst/>
          </p:spPr>
        </p:cxnSp>
      </p:grpSp>
      <p:grpSp>
        <p:nvGrpSpPr>
          <p:cNvPr id="11" name="Group 10"/>
          <p:cNvGrpSpPr/>
          <p:nvPr/>
        </p:nvGrpSpPr>
        <p:grpSpPr>
          <a:xfrm>
            <a:off x="7673340" y="5579176"/>
            <a:ext cx="510540" cy="5416"/>
            <a:chOff x="7673340" y="5579176"/>
            <a:chExt cx="510540" cy="5416"/>
          </a:xfrm>
        </p:grpSpPr>
        <p:cxnSp>
          <p:nvCxnSpPr>
            <p:cNvPr id="145" name="Connector 144"/>
            <p:cNvCxnSpPr/>
            <p:nvPr/>
          </p:nvCxnSpPr>
          <p:spPr>
            <a:xfrm flipV="1">
              <a:off x="7673340" y="5579176"/>
              <a:ext cx="510540" cy="5416"/>
            </a:xfrm>
            <a:prstGeom prst="line">
              <a:avLst/>
            </a:prstGeom>
            <a:ln w="31750" cap="rnd">
              <a:solidFill>
                <a:srgbClr val="101820"/>
              </a:solidFill>
            </a:ln>
            <a:effectLst/>
          </p:spPr>
        </p:cxnSp>
      </p:grpSp>
      <p:grpSp>
        <p:nvGrpSpPr>
          <p:cNvPr id="12" name="Group 11"/>
          <p:cNvGrpSpPr/>
          <p:nvPr/>
        </p:nvGrpSpPr>
        <p:grpSpPr>
          <a:xfrm>
            <a:off x="8183880" y="5427034"/>
            <a:ext cx="510540" cy="152142"/>
            <a:chOff x="8183880" y="5427034"/>
            <a:chExt cx="510540" cy="152142"/>
          </a:xfrm>
        </p:grpSpPr>
        <p:cxnSp>
          <p:nvCxnSpPr>
            <p:cNvPr id="146" name="Connector 145"/>
            <p:cNvCxnSpPr/>
            <p:nvPr/>
          </p:nvCxnSpPr>
          <p:spPr>
            <a:xfrm flipV="1">
              <a:off x="8183880" y="5427034"/>
              <a:ext cx="510540" cy="152142"/>
            </a:xfrm>
            <a:prstGeom prst="line">
              <a:avLst/>
            </a:prstGeom>
            <a:ln w="31750" cap="rnd">
              <a:solidFill>
                <a:srgbClr val="101820"/>
              </a:solidFill>
            </a:ln>
            <a:effectLst/>
          </p:spPr>
        </p:cxnSp>
      </p:grpSp>
      <p:grpSp>
        <p:nvGrpSpPr>
          <p:cNvPr id="13" name="Group 12"/>
          <p:cNvGrpSpPr/>
          <p:nvPr/>
        </p:nvGrpSpPr>
        <p:grpSpPr>
          <a:xfrm>
            <a:off x="8694420" y="5192667"/>
            <a:ext cx="510540" cy="234367"/>
            <a:chOff x="8694420" y="5192667"/>
            <a:chExt cx="510540" cy="234367"/>
          </a:xfrm>
        </p:grpSpPr>
        <p:cxnSp>
          <p:nvCxnSpPr>
            <p:cNvPr id="147" name="Connector 146"/>
            <p:cNvCxnSpPr/>
            <p:nvPr/>
          </p:nvCxnSpPr>
          <p:spPr>
            <a:xfrm flipV="1">
              <a:off x="8694420" y="5192667"/>
              <a:ext cx="510540" cy="234367"/>
            </a:xfrm>
            <a:prstGeom prst="line">
              <a:avLst/>
            </a:prstGeom>
            <a:ln w="31750" cap="rnd">
              <a:solidFill>
                <a:srgbClr val="101820"/>
              </a:solidFill>
            </a:ln>
            <a:effectLst/>
          </p:spPr>
        </p:cxnSp>
      </p:grpSp>
      <p:grpSp>
        <p:nvGrpSpPr>
          <p:cNvPr id="14" name="Group 13"/>
          <p:cNvGrpSpPr/>
          <p:nvPr/>
        </p:nvGrpSpPr>
        <p:grpSpPr>
          <a:xfrm>
            <a:off x="9204960" y="4866226"/>
            <a:ext cx="510540" cy="326441"/>
            <a:chOff x="9204960" y="4866226"/>
            <a:chExt cx="510540" cy="326441"/>
          </a:xfrm>
        </p:grpSpPr>
        <p:cxnSp>
          <p:nvCxnSpPr>
            <p:cNvPr id="148" name="Connector 147"/>
            <p:cNvCxnSpPr/>
            <p:nvPr/>
          </p:nvCxnSpPr>
          <p:spPr>
            <a:xfrm flipV="1">
              <a:off x="9204960" y="4866226"/>
              <a:ext cx="510540" cy="326441"/>
            </a:xfrm>
            <a:prstGeom prst="line">
              <a:avLst/>
            </a:prstGeom>
            <a:ln w="31750" cap="rnd">
              <a:solidFill>
                <a:srgbClr val="101820"/>
              </a:solidFill>
            </a:ln>
            <a:effectLst/>
          </p:spPr>
        </p:cxnSp>
      </p:grpSp>
      <p:grpSp>
        <p:nvGrpSpPr>
          <p:cNvPr id="15" name="Group 14"/>
          <p:cNvGrpSpPr/>
          <p:nvPr/>
        </p:nvGrpSpPr>
        <p:grpSpPr>
          <a:xfrm>
            <a:off x="9715500" y="4448204"/>
            <a:ext cx="510540" cy="418022"/>
            <a:chOff x="9715500" y="4448204"/>
            <a:chExt cx="510540" cy="418022"/>
          </a:xfrm>
        </p:grpSpPr>
        <p:cxnSp>
          <p:nvCxnSpPr>
            <p:cNvPr id="149" name="Connector 148"/>
            <p:cNvCxnSpPr/>
            <p:nvPr/>
          </p:nvCxnSpPr>
          <p:spPr>
            <a:xfrm flipV="1">
              <a:off x="9715500" y="4448204"/>
              <a:ext cx="510540" cy="418022"/>
            </a:xfrm>
            <a:prstGeom prst="line">
              <a:avLst/>
            </a:prstGeom>
            <a:ln w="31750" cap="rnd">
              <a:solidFill>
                <a:srgbClr val="101820"/>
              </a:solidFill>
            </a:ln>
            <a:effectLst/>
          </p:spPr>
        </p:cxnSp>
      </p:grpSp>
      <p:grpSp>
        <p:nvGrpSpPr>
          <p:cNvPr id="16" name="Group 15"/>
          <p:cNvGrpSpPr/>
          <p:nvPr/>
        </p:nvGrpSpPr>
        <p:grpSpPr>
          <a:xfrm>
            <a:off x="10226040" y="3975530"/>
            <a:ext cx="510540" cy="472674"/>
            <a:chOff x="10226040" y="3975530"/>
            <a:chExt cx="510540" cy="472674"/>
          </a:xfrm>
        </p:grpSpPr>
        <p:cxnSp>
          <p:nvCxnSpPr>
            <p:cNvPr id="150" name="Connector 149"/>
            <p:cNvCxnSpPr/>
            <p:nvPr/>
          </p:nvCxnSpPr>
          <p:spPr>
            <a:xfrm flipV="1">
              <a:off x="10226040" y="3975530"/>
              <a:ext cx="510540" cy="472674"/>
            </a:xfrm>
            <a:prstGeom prst="line">
              <a:avLst/>
            </a:prstGeom>
            <a:ln w="31750" cap="rnd">
              <a:solidFill>
                <a:srgbClr val="101820"/>
              </a:solidFill>
            </a:ln>
            <a:effectLst/>
          </p:spPr>
        </p:cxnSp>
      </p:grpSp>
      <p:grpSp>
        <p:nvGrpSpPr>
          <p:cNvPr id="17" name="Group 16"/>
          <p:cNvGrpSpPr/>
          <p:nvPr/>
        </p:nvGrpSpPr>
        <p:grpSpPr>
          <a:xfrm>
            <a:off x="10736580" y="3466420"/>
            <a:ext cx="510540" cy="509110"/>
            <a:chOff x="10736580" y="3466420"/>
            <a:chExt cx="510540" cy="509110"/>
          </a:xfrm>
        </p:grpSpPr>
        <p:cxnSp>
          <p:nvCxnSpPr>
            <p:cNvPr id="151" name="Connector 150"/>
            <p:cNvCxnSpPr/>
            <p:nvPr/>
          </p:nvCxnSpPr>
          <p:spPr>
            <a:xfrm flipV="1">
              <a:off x="10736580" y="3466420"/>
              <a:ext cx="510540" cy="509110"/>
            </a:xfrm>
            <a:prstGeom prst="line">
              <a:avLst/>
            </a:prstGeom>
            <a:ln w="31750" cap="rnd">
              <a:solidFill>
                <a:srgbClr val="101820"/>
              </a:solidFill>
            </a:ln>
            <a:effectLst/>
          </p:spPr>
        </p:cxnSp>
      </p:grpSp>
      <p:grpSp>
        <p:nvGrpSpPr>
          <p:cNvPr id="18" name="Group 17"/>
          <p:cNvGrpSpPr/>
          <p:nvPr/>
        </p:nvGrpSpPr>
        <p:grpSpPr>
          <a:xfrm>
            <a:off x="7604760" y="5516012"/>
            <a:ext cx="137160" cy="137160"/>
            <a:chOff x="7604760" y="5516012"/>
            <a:chExt cx="137160" cy="137160"/>
          </a:xfrm>
        </p:grpSpPr>
        <p:sp>
          <p:nvSpPr>
            <p:cNvPr id="152" name="Oval 151"/>
            <p:cNvSpPr/>
            <p:nvPr/>
          </p:nvSpPr>
          <p:spPr>
            <a:xfrm>
              <a:off x="7604760" y="5516012"/>
              <a:ext cx="137160" cy="137160"/>
            </a:xfrm>
            <a:prstGeom prst="ellipse">
              <a:avLst/>
            </a:prstGeom>
            <a:solidFill>
              <a:srgbClr val="101820"/>
            </a:solidFill>
            <a:ln w="1270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115300" y="5510596"/>
            <a:ext cx="137160" cy="137160"/>
            <a:chOff x="8115300" y="5510596"/>
            <a:chExt cx="137160" cy="137160"/>
          </a:xfrm>
        </p:grpSpPr>
        <p:sp>
          <p:nvSpPr>
            <p:cNvPr id="153" name="Oval 152"/>
            <p:cNvSpPr/>
            <p:nvPr/>
          </p:nvSpPr>
          <p:spPr>
            <a:xfrm>
              <a:off x="8115300" y="5510596"/>
              <a:ext cx="137160" cy="137160"/>
            </a:xfrm>
            <a:prstGeom prst="ellipse">
              <a:avLst/>
            </a:prstGeom>
            <a:solidFill>
              <a:srgbClr val="101820"/>
            </a:solidFill>
            <a:ln w="1270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0157460" y="4379624"/>
            <a:ext cx="137160" cy="137160"/>
            <a:chOff x="10157460" y="4379624"/>
            <a:chExt cx="137160" cy="137160"/>
          </a:xfrm>
        </p:grpSpPr>
        <p:sp>
          <p:nvSpPr>
            <p:cNvPr id="154" name="Oval 153"/>
            <p:cNvSpPr/>
            <p:nvPr/>
          </p:nvSpPr>
          <p:spPr>
            <a:xfrm>
              <a:off x="10157460" y="4379624"/>
              <a:ext cx="137160" cy="137160"/>
            </a:xfrm>
            <a:prstGeom prst="ellipse">
              <a:avLst/>
            </a:prstGeom>
            <a:solidFill>
              <a:srgbClr val="101820"/>
            </a:solidFill>
            <a:ln w="1270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120640" y="5070067"/>
            <a:ext cx="510540" cy="68931"/>
            <a:chOff x="5120640" y="5070067"/>
            <a:chExt cx="510540" cy="68931"/>
          </a:xfrm>
        </p:grpSpPr>
        <p:cxnSp>
          <p:nvCxnSpPr>
            <p:cNvPr id="155" name="Connector 154"/>
            <p:cNvCxnSpPr/>
            <p:nvPr/>
          </p:nvCxnSpPr>
          <p:spPr>
            <a:xfrm>
              <a:off x="5120640" y="5070067"/>
              <a:ext cx="510540" cy="68931"/>
            </a:xfrm>
            <a:prstGeom prst="line">
              <a:avLst/>
            </a:prstGeom>
            <a:ln w="38100" cap="rnd">
              <a:solidFill>
                <a:srgbClr val="298FC2"/>
              </a:solidFill>
            </a:ln>
            <a:effectLst/>
          </p:spPr>
        </p:cxnSp>
      </p:grpSp>
      <p:grpSp>
        <p:nvGrpSpPr>
          <p:cNvPr id="22" name="Group 21"/>
          <p:cNvGrpSpPr/>
          <p:nvPr/>
        </p:nvGrpSpPr>
        <p:grpSpPr>
          <a:xfrm>
            <a:off x="5631180" y="5138998"/>
            <a:ext cx="510540" cy="68932"/>
            <a:chOff x="5631180" y="5138998"/>
            <a:chExt cx="510540" cy="68932"/>
          </a:xfrm>
        </p:grpSpPr>
        <p:cxnSp>
          <p:nvCxnSpPr>
            <p:cNvPr id="156" name="Connector 155"/>
            <p:cNvCxnSpPr/>
            <p:nvPr/>
          </p:nvCxnSpPr>
          <p:spPr>
            <a:xfrm>
              <a:off x="5631180" y="5138998"/>
              <a:ext cx="510540" cy="68932"/>
            </a:xfrm>
            <a:prstGeom prst="line">
              <a:avLst/>
            </a:prstGeom>
            <a:ln w="38100" cap="rnd">
              <a:solidFill>
                <a:srgbClr val="298FC2"/>
              </a:solidFill>
            </a:ln>
            <a:effectLst/>
          </p:spPr>
        </p:cxnSp>
      </p:grpSp>
      <p:grpSp>
        <p:nvGrpSpPr>
          <p:cNvPr id="23" name="Group 22"/>
          <p:cNvGrpSpPr/>
          <p:nvPr/>
        </p:nvGrpSpPr>
        <p:grpSpPr>
          <a:xfrm>
            <a:off x="6141720" y="5207930"/>
            <a:ext cx="510540" cy="140818"/>
            <a:chOff x="6141720" y="5207930"/>
            <a:chExt cx="510540" cy="140818"/>
          </a:xfrm>
        </p:grpSpPr>
        <p:cxnSp>
          <p:nvCxnSpPr>
            <p:cNvPr id="157" name="Connector 156"/>
            <p:cNvCxnSpPr/>
            <p:nvPr/>
          </p:nvCxnSpPr>
          <p:spPr>
            <a:xfrm>
              <a:off x="6141720" y="5207930"/>
              <a:ext cx="510540" cy="140818"/>
            </a:xfrm>
            <a:prstGeom prst="line">
              <a:avLst/>
            </a:prstGeom>
            <a:ln w="38100" cap="rnd">
              <a:solidFill>
                <a:srgbClr val="298FC2"/>
              </a:solidFill>
            </a:ln>
            <a:effectLst/>
          </p:spPr>
        </p:cxnSp>
      </p:grpSp>
      <p:grpSp>
        <p:nvGrpSpPr>
          <p:cNvPr id="24" name="Group 23"/>
          <p:cNvGrpSpPr/>
          <p:nvPr/>
        </p:nvGrpSpPr>
        <p:grpSpPr>
          <a:xfrm>
            <a:off x="6652260" y="5348748"/>
            <a:ext cx="510540" cy="49729"/>
            <a:chOff x="6652260" y="5348748"/>
            <a:chExt cx="510540" cy="49729"/>
          </a:xfrm>
        </p:grpSpPr>
        <p:cxnSp>
          <p:nvCxnSpPr>
            <p:cNvPr id="158" name="Connector 157"/>
            <p:cNvCxnSpPr/>
            <p:nvPr/>
          </p:nvCxnSpPr>
          <p:spPr>
            <a:xfrm>
              <a:off x="6652260" y="5348748"/>
              <a:ext cx="510540" cy="49729"/>
            </a:xfrm>
            <a:prstGeom prst="line">
              <a:avLst/>
            </a:prstGeom>
            <a:ln w="38100" cap="rnd">
              <a:solidFill>
                <a:srgbClr val="298FC2"/>
              </a:solidFill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7162800" y="5319698"/>
            <a:ext cx="510540" cy="78779"/>
            <a:chOff x="7162800" y="5319698"/>
            <a:chExt cx="510540" cy="78779"/>
          </a:xfrm>
        </p:grpSpPr>
        <p:cxnSp>
          <p:nvCxnSpPr>
            <p:cNvPr id="159" name="Connector 158"/>
            <p:cNvCxnSpPr/>
            <p:nvPr/>
          </p:nvCxnSpPr>
          <p:spPr>
            <a:xfrm flipV="1">
              <a:off x="7162800" y="5319698"/>
              <a:ext cx="510540" cy="78779"/>
            </a:xfrm>
            <a:prstGeom prst="line">
              <a:avLst/>
            </a:prstGeom>
            <a:ln w="38100" cap="rnd">
              <a:solidFill>
                <a:srgbClr val="298FC2"/>
              </a:solidFill>
            </a:ln>
            <a:effectLst/>
          </p:spPr>
        </p:cxnSp>
      </p:grpSp>
      <p:grpSp>
        <p:nvGrpSpPr>
          <p:cNvPr id="26" name="Group 25"/>
          <p:cNvGrpSpPr/>
          <p:nvPr/>
        </p:nvGrpSpPr>
        <p:grpSpPr>
          <a:xfrm>
            <a:off x="7673340" y="5094193"/>
            <a:ext cx="510540" cy="225505"/>
            <a:chOff x="7673340" y="5094193"/>
            <a:chExt cx="510540" cy="225505"/>
          </a:xfrm>
        </p:grpSpPr>
        <p:cxnSp>
          <p:nvCxnSpPr>
            <p:cNvPr id="160" name="Connector 159"/>
            <p:cNvCxnSpPr/>
            <p:nvPr/>
          </p:nvCxnSpPr>
          <p:spPr>
            <a:xfrm flipV="1">
              <a:off x="7673340" y="5094193"/>
              <a:ext cx="510540" cy="225505"/>
            </a:xfrm>
            <a:prstGeom prst="line">
              <a:avLst/>
            </a:prstGeom>
            <a:ln w="38100" cap="rnd">
              <a:solidFill>
                <a:srgbClr val="298FC2"/>
              </a:solidFill>
            </a:ln>
            <a:effectLst/>
          </p:spPr>
        </p:cxnSp>
      </p:grpSp>
      <p:grpSp>
        <p:nvGrpSpPr>
          <p:cNvPr id="27" name="Group 26"/>
          <p:cNvGrpSpPr/>
          <p:nvPr/>
        </p:nvGrpSpPr>
        <p:grpSpPr>
          <a:xfrm>
            <a:off x="8183880" y="4576220"/>
            <a:ext cx="510540" cy="517973"/>
            <a:chOff x="8183880" y="4576220"/>
            <a:chExt cx="510540" cy="517973"/>
          </a:xfrm>
        </p:grpSpPr>
        <p:cxnSp>
          <p:nvCxnSpPr>
            <p:cNvPr id="161" name="Connector 160"/>
            <p:cNvCxnSpPr/>
            <p:nvPr/>
          </p:nvCxnSpPr>
          <p:spPr>
            <a:xfrm flipV="1">
              <a:off x="8183880" y="4576220"/>
              <a:ext cx="510540" cy="517973"/>
            </a:xfrm>
            <a:prstGeom prst="line">
              <a:avLst/>
            </a:prstGeom>
            <a:ln w="38100" cap="rnd">
              <a:solidFill>
                <a:srgbClr val="298FC2"/>
              </a:solidFill>
            </a:ln>
            <a:effectLst/>
          </p:spPr>
        </p:cxnSp>
      </p:grpSp>
      <p:grpSp>
        <p:nvGrpSpPr>
          <p:cNvPr id="28" name="Group 27"/>
          <p:cNvGrpSpPr/>
          <p:nvPr/>
        </p:nvGrpSpPr>
        <p:grpSpPr>
          <a:xfrm>
            <a:off x="8694420" y="3847514"/>
            <a:ext cx="510540" cy="728706"/>
            <a:chOff x="8694420" y="3847514"/>
            <a:chExt cx="510540" cy="728706"/>
          </a:xfrm>
        </p:grpSpPr>
        <p:cxnSp>
          <p:nvCxnSpPr>
            <p:cNvPr id="162" name="Connector 161"/>
            <p:cNvCxnSpPr/>
            <p:nvPr/>
          </p:nvCxnSpPr>
          <p:spPr>
            <a:xfrm flipV="1">
              <a:off x="8694420" y="3847514"/>
              <a:ext cx="510540" cy="728706"/>
            </a:xfrm>
            <a:prstGeom prst="line">
              <a:avLst/>
            </a:prstGeom>
            <a:ln w="38100" cap="rnd">
              <a:solidFill>
                <a:srgbClr val="298FC2"/>
              </a:solidFill>
            </a:ln>
            <a:effectLst/>
          </p:spPr>
        </p:cxnSp>
      </p:grpSp>
      <p:grpSp>
        <p:nvGrpSpPr>
          <p:cNvPr id="29" name="Group 28"/>
          <p:cNvGrpSpPr/>
          <p:nvPr/>
        </p:nvGrpSpPr>
        <p:grpSpPr>
          <a:xfrm>
            <a:off x="9204960" y="2935646"/>
            <a:ext cx="510540" cy="911868"/>
            <a:chOff x="9204960" y="2935646"/>
            <a:chExt cx="510540" cy="911868"/>
          </a:xfrm>
        </p:grpSpPr>
        <p:cxnSp>
          <p:nvCxnSpPr>
            <p:cNvPr id="163" name="Connector 162"/>
            <p:cNvCxnSpPr/>
            <p:nvPr/>
          </p:nvCxnSpPr>
          <p:spPr>
            <a:xfrm flipV="1">
              <a:off x="9204960" y="2935646"/>
              <a:ext cx="510540" cy="911868"/>
            </a:xfrm>
            <a:prstGeom prst="line">
              <a:avLst/>
            </a:prstGeom>
            <a:ln w="38100" cap="rnd">
              <a:solidFill>
                <a:srgbClr val="298FC2"/>
              </a:solidFill>
            </a:ln>
            <a:effectLst/>
          </p:spPr>
        </p:cxnSp>
      </p:grpSp>
      <p:grpSp>
        <p:nvGrpSpPr>
          <p:cNvPr id="30" name="Group 29"/>
          <p:cNvGrpSpPr/>
          <p:nvPr/>
        </p:nvGrpSpPr>
        <p:grpSpPr>
          <a:xfrm>
            <a:off x="7094220" y="5329897"/>
            <a:ext cx="137160" cy="137160"/>
            <a:chOff x="7094220" y="5329897"/>
            <a:chExt cx="137160" cy="137160"/>
          </a:xfrm>
        </p:grpSpPr>
        <p:sp>
          <p:nvSpPr>
            <p:cNvPr id="164" name="Oval 163"/>
            <p:cNvSpPr/>
            <p:nvPr/>
          </p:nvSpPr>
          <p:spPr>
            <a:xfrm>
              <a:off x="7094220" y="5329897"/>
              <a:ext cx="137160" cy="137160"/>
            </a:xfrm>
            <a:prstGeom prst="ellipse">
              <a:avLst/>
            </a:prstGeom>
            <a:solidFill>
              <a:srgbClr val="298FC2"/>
            </a:solidFill>
            <a:ln w="1270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604760" y="5251118"/>
            <a:ext cx="137160" cy="137160"/>
            <a:chOff x="7604760" y="5251118"/>
            <a:chExt cx="137160" cy="137160"/>
          </a:xfrm>
        </p:grpSpPr>
        <p:sp>
          <p:nvSpPr>
            <p:cNvPr id="165" name="Oval 164"/>
            <p:cNvSpPr/>
            <p:nvPr/>
          </p:nvSpPr>
          <p:spPr>
            <a:xfrm>
              <a:off x="7604760" y="5251118"/>
              <a:ext cx="137160" cy="137160"/>
            </a:xfrm>
            <a:prstGeom prst="ellipse">
              <a:avLst/>
            </a:prstGeom>
            <a:solidFill>
              <a:srgbClr val="298FC2"/>
            </a:solidFill>
            <a:ln w="1270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9136380" y="3778934"/>
            <a:ext cx="137160" cy="137160"/>
            <a:chOff x="9136380" y="3778934"/>
            <a:chExt cx="137160" cy="137160"/>
          </a:xfrm>
        </p:grpSpPr>
        <p:sp>
          <p:nvSpPr>
            <p:cNvPr id="166" name="Oval 165"/>
            <p:cNvSpPr/>
            <p:nvPr/>
          </p:nvSpPr>
          <p:spPr>
            <a:xfrm>
              <a:off x="9136380" y="3778934"/>
              <a:ext cx="137160" cy="137160"/>
            </a:xfrm>
            <a:prstGeom prst="ellipse">
              <a:avLst/>
            </a:prstGeom>
            <a:solidFill>
              <a:srgbClr val="298FC2"/>
            </a:solidFill>
            <a:ln w="1270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9633204" y="2661326"/>
            <a:ext cx="1307592" cy="201168"/>
            <a:chOff x="9633204" y="2661326"/>
            <a:chExt cx="1307592" cy="201168"/>
          </a:xfrm>
        </p:grpSpPr>
        <p:sp>
          <p:nvSpPr>
            <p:cNvPr id="167" name="Isosceles Triangle 166"/>
            <p:cNvSpPr/>
            <p:nvPr/>
          </p:nvSpPr>
          <p:spPr>
            <a:xfrm>
              <a:off x="9633204" y="2661326"/>
              <a:ext cx="164592" cy="201168"/>
            </a:xfrm>
            <a:prstGeom prst="triangl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9843516" y="2661326"/>
              <a:ext cx="1097280" cy="20116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050" b="1" lang="en-US">
                  <a:solidFill>
                    <a:srgbClr val="298FC2"/>
                  </a:solidFill>
                  <a:latin typeface="Inter"/>
                  <a:cs typeface="Inter"/>
                </a:rPr>
                <a:t>keeps rising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5" name="Freeform 34"/>
            <p:cNvSpPr/>
            <p:nvPr/>
          </p:nvSpPr>
          <p:spPr>
            <a:xfrm>
              <a:off x="5120640" y="5070067"/>
              <a:ext cx="6126480" cy="794191"/>
            </a:xfrm>
            <a:custGeom>
              <a:avLst/>
              <a:gdLst/>
              <a:ahLst/>
              <a:cxnLst/>
              <a:rect l="l" t="t" r="r" b="b"/>
              <a:pathLst>
                <a:path w="6126480" h="794191">
                  <a:moveTo>
                    <a:pt x="0" y="0"/>
                  </a:moveTo>
                  <a:lnTo>
                    <a:pt x="510540" y="68931"/>
                  </a:lnTo>
                  <a:lnTo>
                    <a:pt x="1021080" y="137863"/>
                  </a:lnTo>
                  <a:lnTo>
                    <a:pt x="1531620" y="333826"/>
                  </a:lnTo>
                  <a:lnTo>
                    <a:pt x="2042160" y="505663"/>
                  </a:lnTo>
                  <a:lnTo>
                    <a:pt x="2552700" y="646480"/>
                  </a:lnTo>
                  <a:lnTo>
                    <a:pt x="3063240" y="750863"/>
                  </a:lnTo>
                  <a:lnTo>
                    <a:pt x="3573780" y="781882"/>
                  </a:lnTo>
                  <a:lnTo>
                    <a:pt x="4084320" y="794191"/>
                  </a:lnTo>
                  <a:lnTo>
                    <a:pt x="4594860" y="760710"/>
                  </a:lnTo>
                  <a:lnTo>
                    <a:pt x="5105400" y="681439"/>
                  </a:lnTo>
                  <a:lnTo>
                    <a:pt x="5615940" y="574595"/>
                  </a:lnTo>
                  <a:lnTo>
                    <a:pt x="6126480" y="467750"/>
                  </a:lnTo>
                </a:path>
              </a:pathLst>
            </a:custGeom>
            <a:noFill/>
            <a:ln w="19050">
              <a:solidFill>
                <a:srgbClr val="A9B1B9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9372600" y="5010912"/>
            <a:ext cx="1874520" cy="420624"/>
            <a:chOff x="9372600" y="5010912"/>
            <a:chExt cx="1874520" cy="420624"/>
          </a:xfrm>
        </p:grpSpPr>
        <p:sp>
          <p:nvSpPr>
            <p:cNvPr id="169" name="TextBox 168"/>
            <p:cNvSpPr txBox="1"/>
            <p:nvPr/>
          </p:nvSpPr>
          <p:spPr>
            <a:xfrm>
              <a:off x="9372600" y="5010912"/>
              <a:ext cx="1874520" cy="420624"/>
            </a:xfrm>
            <a:prstGeom prst="rect">
              <a:avLst/>
            </a:prstGeom>
            <a:noFill/>
          </p:spPr>
          <p:txBody>
            <a:bodyPr wrap="square" lIns="0" rIns="0" tIns="0" bIns="0" anchor="b">
              <a:noAutofit/>
            </a:bodyPr>
            <a:lstStyle/>
            <a:p>
              <a:pPr algn="r"/>
              <a:r>
                <a:rPr sz="1050" b="0" lang="en-US">
                  <a:solidFill>
                    <a:srgbClr val="5A6672"/>
                  </a:solidFill>
                  <a:latin typeface="Inter"/>
                  <a:cs typeface="Inter"/>
                </a:rPr>
                <a:t>Slow case: profitable</a:t>
              </a:r>
            </a:p>
            <a:p>
              <a:pPr algn="r"/>
              <a:r>
                <a:rPr sz="1050" b="0" lang="en-US">
                  <a:solidFill>
                    <a:srgbClr val="5A6672"/>
                  </a:solidFill>
                  <a:latin typeface="Inter"/>
                  <a:cs typeface="Inter"/>
                </a:rPr>
                <a:t>every month from month 7</a:t>
              </a:r>
            </a:p>
          </p:txBody>
        </p:sp>
      </p:grp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125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76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125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1"/>
                            </p:stCondLst>
                            <p:childTnLst>
                              <p:par>
                                <p:cTn id="8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1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01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Funding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What $7,500 makes possible.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554480" y="3995928"/>
            <a:ext cx="1828800" cy="731520"/>
            <a:chOff x="1554480" y="3995928"/>
            <a:chExt cx="1828800" cy="731520"/>
          </a:xfrm>
        </p:grpSpPr>
        <p:sp>
          <p:nvSpPr>
            <p:cNvPr id="103" name="TextBox 102"/>
            <p:cNvSpPr txBox="1"/>
            <p:nvPr/>
          </p:nvSpPr>
          <p:spPr>
            <a:xfrm>
              <a:off x="1554480" y="3995928"/>
              <a:ext cx="1828800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3200" b="1" lang="en-US">
                  <a:solidFill>
                    <a:srgbClr val="101820"/>
                  </a:solidFill>
                  <a:latin typeface="Comfortaa"/>
                  <a:cs typeface="Comfortaa"/>
                </a:rPr>
                <a:t>$7,500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1554480" y="4471416"/>
              <a:ext cx="182880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≈ 11.25M IQD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868680" y="2743200"/>
            <a:ext cx="3200400" cy="3200400"/>
            <a:chOff x="868680" y="2743200"/>
            <a:chExt cx="3200400" cy="3200400"/>
          </a:xfrm>
        </p:grpSpPr>
        <p:sp>
          <p:nvSpPr>
            <p:cNvPr id="105" name="Block Arc 104"/>
            <p:cNvSpPr/>
            <p:nvPr/>
          </p:nvSpPr>
          <p:spPr>
            <a:xfrm>
              <a:off x="868680" y="2743200"/>
              <a:ext cx="3200400" cy="3200400"/>
            </a:xfrm>
            <a:prstGeom prst="blockArc">
              <a:avLst>
                <a:gd name="adj1" fmla="val 16200000"/>
                <a:gd name="adj2" fmla="val 936000"/>
                <a:gd name="adj3" fmla="val 20000"/>
              </a:avLst>
            </a:prstGeom>
            <a:solidFill>
              <a:srgbClr val="10182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389120" y="2788920"/>
            <a:ext cx="3108960" cy="274320"/>
            <a:chOff x="4389120" y="2788920"/>
            <a:chExt cx="3108960" cy="274320"/>
          </a:xfrm>
        </p:grpSpPr>
        <p:sp>
          <p:nvSpPr>
            <p:cNvPr id="106" name="Rounded Rectangle 105"/>
            <p:cNvSpPr/>
            <p:nvPr/>
          </p:nvSpPr>
          <p:spPr>
            <a:xfrm>
              <a:off x="4389120" y="2825496"/>
              <a:ext cx="201168" cy="201168"/>
            </a:xfrm>
            <a:prstGeom prst="roundRect">
              <a:avLst>
                <a:gd name="adj" fmla="val 18181"/>
              </a:avLst>
            </a:prstGeom>
            <a:solidFill>
              <a:srgbClr val="10182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4681728" y="2788920"/>
              <a:ext cx="22402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101820"/>
                  </a:solidFill>
                  <a:latin typeface="Inter"/>
                  <a:cs typeface="Inter"/>
                </a:rPr>
                <a:t>Launch gap (until break-even)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6903720" y="2788920"/>
              <a:ext cx="59436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$2,200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68680" y="2743200"/>
            <a:ext cx="3200400" cy="3200400"/>
            <a:chOff x="868680" y="2743200"/>
            <a:chExt cx="3200400" cy="3200400"/>
          </a:xfrm>
        </p:grpSpPr>
        <p:sp>
          <p:nvSpPr>
            <p:cNvPr id="109" name="Block Arc 108"/>
            <p:cNvSpPr/>
            <p:nvPr/>
          </p:nvSpPr>
          <p:spPr>
            <a:xfrm>
              <a:off x="868680" y="2743200"/>
              <a:ext cx="3200400" cy="3200400"/>
            </a:xfrm>
            <a:prstGeom prst="blockArc">
              <a:avLst>
                <a:gd name="adj1" fmla="val 936000"/>
                <a:gd name="adj2" fmla="val 8136000"/>
                <a:gd name="adj3" fmla="val 20000"/>
              </a:avLst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389120" y="3227832"/>
            <a:ext cx="3108960" cy="274320"/>
            <a:chOff x="4389120" y="3227832"/>
            <a:chExt cx="3108960" cy="274320"/>
          </a:xfrm>
        </p:grpSpPr>
        <p:sp>
          <p:nvSpPr>
            <p:cNvPr id="110" name="Rounded Rectangle 109"/>
            <p:cNvSpPr/>
            <p:nvPr/>
          </p:nvSpPr>
          <p:spPr>
            <a:xfrm>
              <a:off x="4389120" y="3264408"/>
              <a:ext cx="201168" cy="201168"/>
            </a:xfrm>
            <a:prstGeom prst="roundRect">
              <a:avLst>
                <a:gd name="adj" fmla="val 18181"/>
              </a:avLst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681728" y="3227832"/>
              <a:ext cx="22402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101820"/>
                  </a:solidFill>
                  <a:latin typeface="Inter"/>
                  <a:cs typeface="Inter"/>
                </a:rPr>
                <a:t>Growth marketing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6903720" y="3227832"/>
              <a:ext cx="59436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$2,500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868680" y="2743200"/>
            <a:ext cx="3200400" cy="3200400"/>
            <a:chOff x="868680" y="2743200"/>
            <a:chExt cx="3200400" cy="3200400"/>
          </a:xfrm>
        </p:grpSpPr>
        <p:sp>
          <p:nvSpPr>
            <p:cNvPr id="113" name="Block Arc 112"/>
            <p:cNvSpPr/>
            <p:nvPr/>
          </p:nvSpPr>
          <p:spPr>
            <a:xfrm>
              <a:off x="868680" y="2743200"/>
              <a:ext cx="3200400" cy="3200400"/>
            </a:xfrm>
            <a:prstGeom prst="blockArc">
              <a:avLst>
                <a:gd name="adj1" fmla="val 8136000"/>
                <a:gd name="adj2" fmla="val 11016000"/>
                <a:gd name="adj3" fmla="val 20000"/>
              </a:avLst>
            </a:prstGeom>
            <a:solidFill>
              <a:srgbClr val="5A667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389120" y="3666744"/>
            <a:ext cx="3108960" cy="274320"/>
            <a:chOff x="4389120" y="3666744"/>
            <a:chExt cx="3108960" cy="274320"/>
          </a:xfrm>
        </p:grpSpPr>
        <p:sp>
          <p:nvSpPr>
            <p:cNvPr id="114" name="Rounded Rectangle 113"/>
            <p:cNvSpPr/>
            <p:nvPr/>
          </p:nvSpPr>
          <p:spPr>
            <a:xfrm>
              <a:off x="4389120" y="3703320"/>
              <a:ext cx="201168" cy="201168"/>
            </a:xfrm>
            <a:prstGeom prst="roundRect">
              <a:avLst>
                <a:gd name="adj" fmla="val 18181"/>
              </a:avLst>
            </a:prstGeom>
            <a:solidFill>
              <a:srgbClr val="5A667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4681728" y="3666744"/>
              <a:ext cx="22402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101820"/>
                  </a:solidFill>
                  <a:latin typeface="Inter"/>
                  <a:cs typeface="Inter"/>
                </a:rPr>
                <a:t>Registration &amp; legal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6903720" y="3666744"/>
              <a:ext cx="59436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$1,000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68680" y="2743200"/>
            <a:ext cx="3200400" cy="3200400"/>
            <a:chOff x="868680" y="2743200"/>
            <a:chExt cx="3200400" cy="3200400"/>
          </a:xfrm>
        </p:grpSpPr>
        <p:sp>
          <p:nvSpPr>
            <p:cNvPr id="117" name="Block Arc 116"/>
            <p:cNvSpPr/>
            <p:nvPr/>
          </p:nvSpPr>
          <p:spPr>
            <a:xfrm>
              <a:off x="868680" y="2743200"/>
              <a:ext cx="3200400" cy="3200400"/>
            </a:xfrm>
            <a:prstGeom prst="blockArc">
              <a:avLst>
                <a:gd name="adj1" fmla="val 11016000"/>
                <a:gd name="adj2" fmla="val 13608000"/>
                <a:gd name="adj3" fmla="val 20000"/>
              </a:avLst>
            </a:prstGeom>
            <a:solidFill>
              <a:srgbClr val="94C7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389120" y="4105656"/>
            <a:ext cx="3108960" cy="274320"/>
            <a:chOff x="4389120" y="4105656"/>
            <a:chExt cx="3108960" cy="274320"/>
          </a:xfrm>
        </p:grpSpPr>
        <p:sp>
          <p:nvSpPr>
            <p:cNvPr id="118" name="Rounded Rectangle 117"/>
            <p:cNvSpPr/>
            <p:nvPr/>
          </p:nvSpPr>
          <p:spPr>
            <a:xfrm>
              <a:off x="4389120" y="4142232"/>
              <a:ext cx="201168" cy="201168"/>
            </a:xfrm>
            <a:prstGeom prst="roundRect">
              <a:avLst>
                <a:gd name="adj" fmla="val 18181"/>
              </a:avLst>
            </a:prstGeom>
            <a:solidFill>
              <a:srgbClr val="94C7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4681728" y="4105656"/>
              <a:ext cx="22402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101820"/>
                  </a:solidFill>
                  <a:latin typeface="Inter"/>
                  <a:cs typeface="Inter"/>
                </a:rPr>
                <a:t>Merchant kits &amp; packaging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903720" y="4105656"/>
              <a:ext cx="59436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$900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868680" y="2743200"/>
            <a:ext cx="3200400" cy="3200400"/>
            <a:chOff x="868680" y="2743200"/>
            <a:chExt cx="3200400" cy="3200400"/>
          </a:xfrm>
        </p:grpSpPr>
        <p:sp>
          <p:nvSpPr>
            <p:cNvPr id="121" name="Block Arc 120"/>
            <p:cNvSpPr/>
            <p:nvPr/>
          </p:nvSpPr>
          <p:spPr>
            <a:xfrm>
              <a:off x="868680" y="2743200"/>
              <a:ext cx="3200400" cy="3200400"/>
            </a:xfrm>
            <a:prstGeom prst="blockArc">
              <a:avLst>
                <a:gd name="adj1" fmla="val 13608000"/>
                <a:gd name="adj2" fmla="val 15912000"/>
                <a:gd name="adj3" fmla="val 20000"/>
              </a:avLst>
            </a:prstGeom>
            <a:solidFill>
              <a:srgbClr val="DDE5ED"/>
            </a:solidFill>
            <a:ln w="9525">
              <a:solidFill>
                <a:srgbClr val="A9B1B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389120" y="4544568"/>
            <a:ext cx="3108960" cy="274320"/>
            <a:chOff x="4389120" y="4544568"/>
            <a:chExt cx="3108960" cy="274320"/>
          </a:xfrm>
        </p:grpSpPr>
        <p:sp>
          <p:nvSpPr>
            <p:cNvPr id="122" name="Rounded Rectangle 121"/>
            <p:cNvSpPr/>
            <p:nvPr/>
          </p:nvSpPr>
          <p:spPr>
            <a:xfrm>
              <a:off x="4389120" y="4581144"/>
              <a:ext cx="201168" cy="201168"/>
            </a:xfrm>
            <a:prstGeom prst="roundRect">
              <a:avLst>
                <a:gd name="adj" fmla="val 18181"/>
              </a:avLst>
            </a:prstGeom>
            <a:solidFill>
              <a:srgbClr val="DDE5ED"/>
            </a:solidFill>
            <a:ln w="9525">
              <a:solidFill>
                <a:srgbClr val="A9B1B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4681728" y="4544568"/>
              <a:ext cx="22402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101820"/>
                  </a:solidFill>
                  <a:latin typeface="Inter"/>
                  <a:cs typeface="Inter"/>
                </a:rPr>
                <a:t>Reserve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6903720" y="4544568"/>
              <a:ext cx="59436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$800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868680" y="2743200"/>
            <a:ext cx="3200400" cy="3200400"/>
            <a:chOff x="868680" y="2743200"/>
            <a:chExt cx="3200400" cy="3200400"/>
          </a:xfrm>
        </p:grpSpPr>
        <p:sp>
          <p:nvSpPr>
            <p:cNvPr id="125" name="Block Arc 124"/>
            <p:cNvSpPr/>
            <p:nvPr/>
          </p:nvSpPr>
          <p:spPr>
            <a:xfrm>
              <a:off x="868680" y="2743200"/>
              <a:ext cx="3200400" cy="3200400"/>
            </a:xfrm>
            <a:prstGeom prst="blockArc">
              <a:avLst>
                <a:gd name="adj1" fmla="val 15912000"/>
                <a:gd name="adj2" fmla="val 16200000"/>
                <a:gd name="adj3" fmla="val 20000"/>
              </a:avLst>
            </a:prstGeom>
            <a:solidFill>
              <a:srgbClr val="FFA3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389120" y="4983480"/>
            <a:ext cx="3108960" cy="274320"/>
            <a:chOff x="4389120" y="4983480"/>
            <a:chExt cx="3108960" cy="274320"/>
          </a:xfrm>
        </p:grpSpPr>
        <p:sp>
          <p:nvSpPr>
            <p:cNvPr id="126" name="Rounded Rectangle 125"/>
            <p:cNvSpPr/>
            <p:nvPr/>
          </p:nvSpPr>
          <p:spPr>
            <a:xfrm>
              <a:off x="4389120" y="5020056"/>
              <a:ext cx="201168" cy="201168"/>
            </a:xfrm>
            <a:prstGeom prst="roundRect">
              <a:avLst>
                <a:gd name="adj" fmla="val 18181"/>
              </a:avLst>
            </a:prstGeom>
            <a:solidFill>
              <a:srgbClr val="FFA3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4681728" y="4983480"/>
              <a:ext cx="22402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101820"/>
                  </a:solidFill>
                  <a:latin typeface="Inter"/>
                  <a:cs typeface="Inter"/>
                </a:rPr>
                <a:t>Pilot test (10–20 orders)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903720" y="4983480"/>
              <a:ext cx="59436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$100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863840" y="2560320"/>
            <a:ext cx="3602736" cy="274320"/>
            <a:chOff x="7863840" y="2560320"/>
            <a:chExt cx="3602736" cy="274320"/>
          </a:xfrm>
        </p:grpSpPr>
        <p:sp>
          <p:nvSpPr>
            <p:cNvPr id="129" name="TextBox 128"/>
            <p:cNvSpPr txBox="1"/>
            <p:nvPr/>
          </p:nvSpPr>
          <p:spPr>
            <a:xfrm>
              <a:off x="7863840" y="2560320"/>
              <a:ext cx="3602736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101820"/>
                  </a:solidFill>
                  <a:latin typeface="Inter"/>
                  <a:cs typeface="Inter"/>
                </a:rPr>
                <a:t>Each amount has a job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863840" y="2926080"/>
            <a:ext cx="3602736" cy="868680"/>
            <a:chOff x="7863840" y="2926080"/>
            <a:chExt cx="3602736" cy="868680"/>
          </a:xfrm>
        </p:grpSpPr>
        <p:sp>
          <p:nvSpPr>
            <p:cNvPr id="130" name="Rounded Rectangle 129"/>
            <p:cNvSpPr/>
            <p:nvPr/>
          </p:nvSpPr>
          <p:spPr>
            <a:xfrm>
              <a:off x="7863840" y="2926080"/>
              <a:ext cx="3602736" cy="868680"/>
            </a:xfrm>
            <a:prstGeom prst="roundRect">
              <a:avLst>
                <a:gd name="adj" fmla="val 14736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7863840" y="3054096"/>
              <a:ext cx="201168" cy="612648"/>
            </a:xfrm>
            <a:prstGeom prst="rect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8119872" y="2990088"/>
              <a:ext cx="329184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298FC2"/>
                  </a:solidFill>
                  <a:latin typeface="Inter"/>
                  <a:cs typeface="Inter"/>
                </a:rPr>
                <a:t>$7,500 — Grow fast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8119872" y="3264408"/>
              <a:ext cx="3291840" cy="49377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100" b="0" lang="en-US">
                  <a:solidFill>
                    <a:srgbClr val="5A6672"/>
                  </a:solidFill>
                  <a:latin typeface="Inter"/>
                  <a:cs typeface="Inter"/>
                </a:rPr>
                <a:t>+ growth marketing and founding-store kits → aims for the fast case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863840" y="3867912"/>
            <a:ext cx="3602736" cy="868680"/>
            <a:chOff x="7863840" y="3867912"/>
            <a:chExt cx="3602736" cy="868680"/>
          </a:xfrm>
        </p:grpSpPr>
        <p:sp>
          <p:nvSpPr>
            <p:cNvPr id="134" name="Rounded Rectangle 133"/>
            <p:cNvSpPr/>
            <p:nvPr/>
          </p:nvSpPr>
          <p:spPr>
            <a:xfrm>
              <a:off x="7863840" y="3867912"/>
              <a:ext cx="3602736" cy="868680"/>
            </a:xfrm>
            <a:prstGeom prst="roundRect">
              <a:avLst>
                <a:gd name="adj" fmla="val 14736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7863840" y="3995928"/>
              <a:ext cx="128016" cy="612648"/>
            </a:xfrm>
            <a:prstGeom prst="rect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8119872" y="3931920"/>
              <a:ext cx="329184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298FC2"/>
                  </a:solidFill>
                  <a:latin typeface="Inter"/>
                  <a:cs typeface="Inter"/>
                </a:rPr>
                <a:t>$4,500 — Launch properly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8119872" y="4206240"/>
              <a:ext cx="3291840" cy="49377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100" b="0" lang="en-US">
                  <a:solidFill>
                    <a:srgbClr val="5A6672"/>
                  </a:solidFill>
                  <a:latin typeface="Inter"/>
                  <a:cs typeface="Inter"/>
                </a:rPr>
                <a:t>+ hand-run pilot, company registration (unlocks the courier contract and card payments), larger reserve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863840" y="4809744"/>
            <a:ext cx="3602736" cy="868680"/>
            <a:chOff x="7863840" y="4809744"/>
            <a:chExt cx="3602736" cy="868680"/>
          </a:xfrm>
        </p:grpSpPr>
        <p:sp>
          <p:nvSpPr>
            <p:cNvPr id="138" name="Rounded Rectangle 137"/>
            <p:cNvSpPr/>
            <p:nvPr/>
          </p:nvSpPr>
          <p:spPr>
            <a:xfrm>
              <a:off x="7863840" y="4809744"/>
              <a:ext cx="3602736" cy="868680"/>
            </a:xfrm>
            <a:prstGeom prst="roundRect">
              <a:avLst>
                <a:gd name="adj" fmla="val 14736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7863840" y="4937760"/>
              <a:ext cx="54864" cy="612648"/>
            </a:xfrm>
            <a:prstGeom prst="rect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8119872" y="4873752"/>
              <a:ext cx="3291840" cy="25603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500" b="1" lang="en-US">
                  <a:solidFill>
                    <a:srgbClr val="298FC2"/>
                  </a:solidFill>
                  <a:latin typeface="Inter"/>
                  <a:cs typeface="Inter"/>
                </a:rPr>
                <a:t>$2,500 — Reach break-even safely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8119872" y="5148072"/>
              <a:ext cx="3291840" cy="49377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100" b="0" lang="en-US">
                  <a:solidFill>
                    <a:srgbClr val="5A6672"/>
                  </a:solidFill>
                  <a:latin typeface="Inter"/>
                  <a:cs typeface="Inter"/>
                </a:rPr>
                <a:t>Covers the cash gap until monthly break-even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863840" y="5815584"/>
            <a:ext cx="3602736" cy="566928"/>
            <a:chOff x="7863840" y="5815584"/>
            <a:chExt cx="3602736" cy="566928"/>
          </a:xfrm>
        </p:grpSpPr>
        <p:sp>
          <p:nvSpPr>
            <p:cNvPr id="142" name="Rounded Rectangle 141"/>
            <p:cNvSpPr/>
            <p:nvPr/>
          </p:nvSpPr>
          <p:spPr>
            <a:xfrm>
              <a:off x="7863840" y="5815584"/>
              <a:ext cx="3602736" cy="566928"/>
            </a:xfrm>
            <a:prstGeom prst="roundRect">
              <a:avLst>
                <a:gd name="adj" fmla="val 19354"/>
              </a:avLst>
            </a:prstGeom>
            <a:solidFill>
              <a:srgbClr val="E5F2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43" name="Picture 142" descr="code_298FC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10144" y="5971032"/>
              <a:ext cx="256032" cy="256032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8357616" y="5833872"/>
              <a:ext cx="3035808" cy="53035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No salaries. No developers. I build the platform myself.</a:t>
              </a:r>
            </a:p>
          </p:txBody>
        </p:sp>
      </p:grp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2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Funding is done — what now?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Grant → pilot → launch → break-even.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97280" y="4023360"/>
            <a:ext cx="9966960" cy="0"/>
            <a:chOff x="1097280" y="4023360"/>
            <a:chExt cx="9966960" cy="0"/>
          </a:xfrm>
        </p:grpSpPr>
        <p:cxnSp>
          <p:nvCxnSpPr>
            <p:cNvPr id="103" name="Connector 102"/>
            <p:cNvCxnSpPr/>
            <p:nvPr/>
          </p:nvCxnSpPr>
          <p:spPr>
            <a:xfrm>
              <a:off x="1097280" y="4023360"/>
              <a:ext cx="9966960" cy="0"/>
            </a:xfrm>
            <a:prstGeom prst="line">
              <a:avLst/>
            </a:prstGeom>
            <a:ln w="38100">
              <a:solidFill>
                <a:srgbClr val="DDE5ED"/>
              </a:solidFill>
            </a:ln>
            <a:effectLst/>
          </p:spPr>
        </p:cxnSp>
      </p:grpSp>
      <p:grpSp>
        <p:nvGrpSpPr>
          <p:cNvPr id="3" name="Group 2"/>
          <p:cNvGrpSpPr/>
          <p:nvPr/>
        </p:nvGrpSpPr>
        <p:grpSpPr>
          <a:xfrm>
            <a:off x="1591056" y="3831336"/>
            <a:ext cx="384048" cy="384048"/>
            <a:chOff x="1591056" y="3831336"/>
            <a:chExt cx="384048" cy="384048"/>
          </a:xfrm>
        </p:grpSpPr>
        <p:sp>
          <p:nvSpPr>
            <p:cNvPr id="104" name="Oval 103"/>
            <p:cNvSpPr/>
            <p:nvPr/>
          </p:nvSpPr>
          <p:spPr>
            <a:xfrm>
              <a:off x="1591056" y="3831336"/>
              <a:ext cx="384048" cy="384048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1591056" y="3831336"/>
              <a:ext cx="384048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FFFFFF"/>
                  </a:solidFill>
                  <a:latin typeface="Inter"/>
                  <a:cs typeface="Inter"/>
                </a:rPr>
                <a:t>1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777240" y="3383280"/>
            <a:ext cx="2011680" cy="274320"/>
            <a:chOff x="777240" y="3383280"/>
            <a:chExt cx="2011680" cy="274320"/>
          </a:xfrm>
        </p:grpSpPr>
        <p:sp>
          <p:nvSpPr>
            <p:cNvPr id="106" name="TextBox 105"/>
            <p:cNvSpPr txBox="1"/>
            <p:nvPr/>
          </p:nvSpPr>
          <p:spPr>
            <a:xfrm>
              <a:off x="777240" y="3383280"/>
              <a:ext cx="20116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298FC2"/>
                  </a:solidFill>
                  <a:latin typeface="Inter"/>
                  <a:cs typeface="Inter"/>
                </a:rPr>
                <a:t>First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77240" y="4343400"/>
            <a:ext cx="2011680" cy="1417320"/>
            <a:chOff x="777240" y="4343400"/>
            <a:chExt cx="2011680" cy="1417320"/>
          </a:xfrm>
        </p:grpSpPr>
        <p:sp>
          <p:nvSpPr>
            <p:cNvPr id="107" name="Rounded Rectangle 106"/>
            <p:cNvSpPr/>
            <p:nvPr/>
          </p:nvSpPr>
          <p:spPr>
            <a:xfrm>
              <a:off x="777240" y="4343400"/>
              <a:ext cx="2011680" cy="1417320"/>
            </a:xfrm>
            <a:prstGeom prst="roundRect">
              <a:avLst>
                <a:gd name="adj" fmla="val 9032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868680" y="4462272"/>
              <a:ext cx="1865376" cy="640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400" b="1" lang="en-US">
                  <a:solidFill>
                    <a:srgbClr val="101820"/>
                  </a:solidFill>
                  <a:latin typeface="Inter"/>
                  <a:cs typeface="Inter"/>
                </a:rPr>
                <a:t>Register the company &amp; sign the courier contract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868680" y="5138928"/>
              <a:ext cx="1865376" cy="5486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150" b="0" lang="en-US">
                  <a:solidFill>
                    <a:srgbClr val="5A6672"/>
                  </a:solidFill>
                  <a:latin typeface="Inter"/>
                  <a:cs typeface="Inter"/>
                </a:rPr>
                <a:t>Rates already quoted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785616" y="3831336"/>
            <a:ext cx="384048" cy="384048"/>
            <a:chOff x="3785616" y="3831336"/>
            <a:chExt cx="384048" cy="384048"/>
          </a:xfrm>
        </p:grpSpPr>
        <p:sp>
          <p:nvSpPr>
            <p:cNvPr id="110" name="Oval 109"/>
            <p:cNvSpPr/>
            <p:nvPr/>
          </p:nvSpPr>
          <p:spPr>
            <a:xfrm>
              <a:off x="3785616" y="3831336"/>
              <a:ext cx="384048" cy="384048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3785616" y="3831336"/>
              <a:ext cx="384048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FFFFFF"/>
                  </a:solidFill>
                  <a:latin typeface="Inter"/>
                  <a:cs typeface="Inter"/>
                </a:rPr>
                <a:t>2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971800" y="3383280"/>
            <a:ext cx="2011680" cy="274320"/>
            <a:chOff x="2971800" y="3383280"/>
            <a:chExt cx="2011680" cy="274320"/>
          </a:xfrm>
        </p:grpSpPr>
        <p:sp>
          <p:nvSpPr>
            <p:cNvPr id="112" name="TextBox 111"/>
            <p:cNvSpPr txBox="1"/>
            <p:nvPr/>
          </p:nvSpPr>
          <p:spPr>
            <a:xfrm>
              <a:off x="2971800" y="3383280"/>
              <a:ext cx="20116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298FC2"/>
                  </a:solidFill>
                  <a:latin typeface="Inter"/>
                  <a:cs typeface="Inter"/>
                </a:rPr>
                <a:t>Next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971800" y="4343400"/>
            <a:ext cx="2011680" cy="1417320"/>
            <a:chOff x="2971800" y="4343400"/>
            <a:chExt cx="2011680" cy="1417320"/>
          </a:xfrm>
        </p:grpSpPr>
        <p:sp>
          <p:nvSpPr>
            <p:cNvPr id="113" name="Rounded Rectangle 112"/>
            <p:cNvSpPr/>
            <p:nvPr/>
          </p:nvSpPr>
          <p:spPr>
            <a:xfrm>
              <a:off x="2971800" y="4343400"/>
              <a:ext cx="2011680" cy="1417320"/>
            </a:xfrm>
            <a:prstGeom prst="roundRect">
              <a:avLst>
                <a:gd name="adj" fmla="val 9032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3063240" y="4462272"/>
              <a:ext cx="1865376" cy="640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400" b="1" lang="en-US">
                  <a:solidFill>
                    <a:srgbClr val="101820"/>
                  </a:solidFill>
                  <a:latin typeface="Inter"/>
                  <a:cs typeface="Inter"/>
                </a:rPr>
                <a:t>Hand-run pilot:</a:t>
              </a:r>
            </a:p>
            <a:p>
              <a:pPr algn="l"/>
              <a:r>
                <a:rPr sz="1400" b="1" lang="en-US">
                  <a:solidFill>
                    <a:srgbClr val="101820"/>
                  </a:solidFill>
                  <a:latin typeface="Inter"/>
                  <a:cs typeface="Inter"/>
                </a:rPr>
                <a:t>10–20 real orders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3063240" y="5138928"/>
              <a:ext cx="1865376" cy="5486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150" b="0" lang="en-US">
                  <a:solidFill>
                    <a:srgbClr val="5A6672"/>
                  </a:solidFill>
                  <a:latin typeface="Inter"/>
                  <a:cs typeface="Inter"/>
                </a:rPr>
                <a:t>Measure real order size and costs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980176" y="3831336"/>
            <a:ext cx="384048" cy="384048"/>
            <a:chOff x="5980176" y="3831336"/>
            <a:chExt cx="384048" cy="384048"/>
          </a:xfrm>
        </p:grpSpPr>
        <p:sp>
          <p:nvSpPr>
            <p:cNvPr id="116" name="Oval 115"/>
            <p:cNvSpPr/>
            <p:nvPr/>
          </p:nvSpPr>
          <p:spPr>
            <a:xfrm>
              <a:off x="5980176" y="3831336"/>
              <a:ext cx="384048" cy="384048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980176" y="3831336"/>
              <a:ext cx="384048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FFFFFF"/>
                  </a:solidFill>
                  <a:latin typeface="Inter"/>
                  <a:cs typeface="Inter"/>
                </a:rPr>
                <a:t>3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166360" y="3383280"/>
            <a:ext cx="2011680" cy="274320"/>
            <a:chOff x="5166360" y="3383280"/>
            <a:chExt cx="2011680" cy="274320"/>
          </a:xfrm>
        </p:grpSpPr>
        <p:sp>
          <p:nvSpPr>
            <p:cNvPr id="118" name="TextBox 117"/>
            <p:cNvSpPr txBox="1"/>
            <p:nvPr/>
          </p:nvSpPr>
          <p:spPr>
            <a:xfrm>
              <a:off x="5166360" y="3383280"/>
              <a:ext cx="20116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298FC2"/>
                  </a:solidFill>
                  <a:latin typeface="Inter"/>
                  <a:cs typeface="Inter"/>
                </a:rPr>
                <a:t>Launch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5166360" y="4343400"/>
            <a:ext cx="2011680" cy="1417320"/>
            <a:chOff x="5166360" y="4343400"/>
            <a:chExt cx="2011680" cy="1417320"/>
          </a:xfrm>
        </p:grpSpPr>
        <p:sp>
          <p:nvSpPr>
            <p:cNvPr id="119" name="Rounded Rectangle 118"/>
            <p:cNvSpPr/>
            <p:nvPr/>
          </p:nvSpPr>
          <p:spPr>
            <a:xfrm>
              <a:off x="5166360" y="4343400"/>
              <a:ext cx="2011680" cy="1417320"/>
            </a:xfrm>
            <a:prstGeom prst="roundRect">
              <a:avLst>
                <a:gd name="adj" fmla="val 9032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257800" y="4462272"/>
              <a:ext cx="1865376" cy="640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400" b="1" lang="en-US">
                  <a:solidFill>
                    <a:srgbClr val="101820"/>
                  </a:solidFill>
                  <a:latin typeface="Inter"/>
                  <a:cs typeface="Inter"/>
                </a:rPr>
                <a:t>20 founding stores go live in Duhok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5257800" y="5138928"/>
              <a:ext cx="1865376" cy="5486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150" b="0" lang="en-US">
                  <a:solidFill>
                    <a:srgbClr val="5A6672"/>
                  </a:solidFill>
                  <a:latin typeface="Inter"/>
                  <a:cs typeface="Inter"/>
                </a:rPr>
                <a:t>Cash on delivery; card soon after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8174736" y="3831336"/>
            <a:ext cx="384048" cy="384048"/>
            <a:chOff x="8174736" y="3831336"/>
            <a:chExt cx="384048" cy="384048"/>
          </a:xfrm>
        </p:grpSpPr>
        <p:sp>
          <p:nvSpPr>
            <p:cNvPr id="122" name="Oval 121"/>
            <p:cNvSpPr/>
            <p:nvPr/>
          </p:nvSpPr>
          <p:spPr>
            <a:xfrm>
              <a:off x="8174736" y="3831336"/>
              <a:ext cx="384048" cy="384048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8174736" y="3831336"/>
              <a:ext cx="384048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FFFFFF"/>
                  </a:solidFill>
                  <a:latin typeface="Inter"/>
                  <a:cs typeface="Inter"/>
                </a:rPr>
                <a:t>4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360920" y="3383280"/>
            <a:ext cx="2011680" cy="274320"/>
            <a:chOff x="7360920" y="3383280"/>
            <a:chExt cx="2011680" cy="274320"/>
          </a:xfrm>
        </p:grpSpPr>
        <p:sp>
          <p:nvSpPr>
            <p:cNvPr id="124" name="TextBox 123"/>
            <p:cNvSpPr txBox="1"/>
            <p:nvPr/>
          </p:nvSpPr>
          <p:spPr>
            <a:xfrm>
              <a:off x="7360920" y="3383280"/>
              <a:ext cx="20116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298FC2"/>
                  </a:solidFill>
                  <a:latin typeface="Inter"/>
                  <a:cs typeface="Inter"/>
                </a:rPr>
                <a:t>Month 4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360920" y="4343400"/>
            <a:ext cx="2011680" cy="1417320"/>
            <a:chOff x="7360920" y="4343400"/>
            <a:chExt cx="2011680" cy="1417320"/>
          </a:xfrm>
        </p:grpSpPr>
        <p:sp>
          <p:nvSpPr>
            <p:cNvPr id="125" name="Rounded Rectangle 124"/>
            <p:cNvSpPr/>
            <p:nvPr/>
          </p:nvSpPr>
          <p:spPr>
            <a:xfrm>
              <a:off x="7360920" y="4343400"/>
              <a:ext cx="2011680" cy="1417320"/>
            </a:xfrm>
            <a:prstGeom prst="roundRect">
              <a:avLst>
                <a:gd name="adj" fmla="val 9032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7452360" y="4462272"/>
              <a:ext cx="1865376" cy="640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400" b="1" lang="en-US">
                  <a:solidFill>
                    <a:srgbClr val="101820"/>
                  </a:solidFill>
                  <a:latin typeface="Inter"/>
                  <a:cs typeface="Inter"/>
                </a:rPr>
                <a:t>Monthly break-even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7452360" y="5138928"/>
              <a:ext cx="1865376" cy="5486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150" b="0" lang="en-US">
                  <a:solidFill>
                    <a:srgbClr val="5A6672"/>
                  </a:solidFill>
                  <a:latin typeface="Inter"/>
                  <a:cs typeface="Inter"/>
                </a:rPr>
                <a:t>About 600 orders a month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0232136" y="3831336"/>
            <a:ext cx="384048" cy="384048"/>
            <a:chOff x="10232136" y="3831336"/>
            <a:chExt cx="384048" cy="384048"/>
          </a:xfrm>
        </p:grpSpPr>
        <p:sp>
          <p:nvSpPr>
            <p:cNvPr id="128" name="Oval 127"/>
            <p:cNvSpPr/>
            <p:nvPr/>
          </p:nvSpPr>
          <p:spPr>
            <a:xfrm>
              <a:off x="10232136" y="3831336"/>
              <a:ext cx="384048" cy="384048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0232136" y="3831336"/>
              <a:ext cx="384048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FFFFFF"/>
                  </a:solidFill>
                  <a:latin typeface="Inter"/>
                  <a:cs typeface="Inter"/>
                </a:rPr>
                <a:t>5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418320" y="3383280"/>
            <a:ext cx="2011680" cy="274320"/>
            <a:chOff x="9418320" y="3383280"/>
            <a:chExt cx="2011680" cy="274320"/>
          </a:xfrm>
        </p:grpSpPr>
        <p:sp>
          <p:nvSpPr>
            <p:cNvPr id="130" name="TextBox 129"/>
            <p:cNvSpPr txBox="1"/>
            <p:nvPr/>
          </p:nvSpPr>
          <p:spPr>
            <a:xfrm>
              <a:off x="9418320" y="3383280"/>
              <a:ext cx="20116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300" b="1" lang="en-US">
                  <a:solidFill>
                    <a:srgbClr val="298FC2"/>
                  </a:solidFill>
                  <a:latin typeface="Inter"/>
                  <a:cs typeface="Inter"/>
                </a:rPr>
                <a:t>Month 7+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9418320" y="4343400"/>
            <a:ext cx="2011680" cy="1417320"/>
            <a:chOff x="9418320" y="4343400"/>
            <a:chExt cx="2011680" cy="1417320"/>
          </a:xfrm>
        </p:grpSpPr>
        <p:sp>
          <p:nvSpPr>
            <p:cNvPr id="131" name="Rounded Rectangle 130"/>
            <p:cNvSpPr/>
            <p:nvPr/>
          </p:nvSpPr>
          <p:spPr>
            <a:xfrm>
              <a:off x="9418320" y="4343400"/>
              <a:ext cx="2011680" cy="1417320"/>
            </a:xfrm>
            <a:prstGeom prst="roundRect">
              <a:avLst>
                <a:gd name="adj" fmla="val 9032"/>
              </a:avLst>
            </a:prstGeom>
            <a:solidFill>
              <a:srgbClr val="FFFFFF"/>
            </a:solidFill>
            <a:ln w="12700">
              <a:solidFill>
                <a:srgbClr val="DDE5ED"/>
              </a:solidFill>
            </a:ln>
            <a:effectLst>
              <a:outerShdw blurRad="101600" dist="25400" dir="5400000" algn="t" rotWithShape="0">
                <a:srgbClr val="101820">
                  <a:alpha val="9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9509760" y="4462272"/>
              <a:ext cx="1865376" cy="64008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400" b="1" lang="en-US">
                  <a:solidFill>
                    <a:srgbClr val="101820"/>
                  </a:solidFill>
                  <a:latin typeface="Inter"/>
                  <a:cs typeface="Inter"/>
                </a:rPr>
                <a:t>Erbil · Mosul · Sulaymaniyah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9509760" y="5138928"/>
              <a:ext cx="1865376" cy="5486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150" b="0" lang="en-US">
                  <a:solidFill>
                    <a:srgbClr val="5A6672"/>
                  </a:solidFill>
                  <a:latin typeface="Inter"/>
                  <a:cs typeface="Inter"/>
                </a:rPr>
                <a:t>Then all of Iraq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22376" y="5989320"/>
            <a:ext cx="10753344" cy="320040"/>
            <a:chOff x="722376" y="5989320"/>
            <a:chExt cx="10753344" cy="320040"/>
          </a:xfrm>
        </p:grpSpPr>
        <p:pic>
          <p:nvPicPr>
            <p:cNvPr id="134" name="Picture 133" descr="chart-column_298FC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2376" y="6035040"/>
              <a:ext cx="237744" cy="237744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1051560" y="5989320"/>
              <a:ext cx="10424160" cy="32004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We report monthly: delivered orders · sales volume · active stores · repeat orders · delivery time</a:t>
              </a:r>
            </a:p>
          </p:txBody>
        </p:sp>
      </p:grp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Appendix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Fee schedule: lighter as prices rise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2376" y="2423160"/>
            <a:ext cx="10744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en-US">
                <a:solidFill>
                  <a:srgbClr val="5A6672"/>
                </a:solidFill>
                <a:latin typeface="Inter"/>
                <a:cs typeface="Inter"/>
              </a:rPr>
              <a:t>5% on the first 10,000 IQD · 3% on 10,001–100,000 · 1.5% above 100,000 — marginal, like tax brackets: a higher price never pays a lower fee.</a:t>
            </a:r>
          </a:p>
        </p:txBody>
      </p:sp>
      <p:graphicFrame>
        <p:nvGraphicFramePr>
          <p:cNvPr id="104" name="Table 103"/>
          <p:cNvGraphicFramePr>
            <a:graphicFrameLocks noGrp="1"/>
          </p:cNvGraphicFramePr>
          <p:nvPr/>
        </p:nvGraphicFramePr>
        <p:xfrm>
          <a:off x="722376" y="3108960"/>
          <a:ext cx="10744200" cy="2962656"/>
        </p:xfrm>
        <a:graphic>
          <a:graphicData uri="http://schemas.openxmlformats.org/drawingml/2006/table">
            <a:tbl>
              <a:tblPr firstRow="0" bandRow="0"/>
              <a:tblGrid>
                <a:gridCol w="3581400"/>
                <a:gridCol w="3581400"/>
                <a:gridCol w="35814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Item price (IQD)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Cheapify fee (IQD)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Effective rate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5,000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250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5.0%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10,000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500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5.0%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25,000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950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3.8%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45,000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1,550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3.4%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100,000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3,200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3.2%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150,000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3,950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2.6%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350,000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6,950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2.0%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1,200,000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19,700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1.6%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Appendix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Unit economics per order</a:t>
            </a: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722376" y="2423160"/>
          <a:ext cx="10744200" cy="2121408"/>
        </p:xfrm>
        <a:graphic>
          <a:graphicData uri="http://schemas.openxmlformats.org/drawingml/2006/table">
            <a:tbl>
              <a:tblPr firstRow="0" bandRow="0"/>
              <a:tblGrid>
                <a:gridCol w="8595360"/>
                <a:gridCol w="2148840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Per 25,000 IQD order (Duhok city)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IQD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Platform fee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+950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Delivery margin (3,000 charged − 2,500 courier)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+500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WhatsApp notifications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−90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Login codes (OTP)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−25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Returns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−20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Failed-delivery re-attempts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−200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Kept per delivered order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+1,115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TextBox 103"/>
          <p:cNvSpPr txBox="1"/>
          <p:nvPr/>
        </p:nvSpPr>
        <p:spPr>
          <a:xfrm>
            <a:off x="722376" y="4608576"/>
            <a:ext cx="10744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lang="en-US">
                <a:solidFill>
                  <a:srgbClr val="101820"/>
                </a:solidFill>
                <a:latin typeface="Inter"/>
                <a:cs typeface="Inter"/>
              </a:rPr>
              <a:t>Break-even (monthly costs 652,000 IQD after launch, incl. a capped 225,000 incentive pool)</a:t>
            </a:r>
          </a:p>
        </p:txBody>
      </p:sp>
      <p:graphicFrame>
        <p:nvGraphicFramePr>
          <p:cNvPr id="105" name="Table 104"/>
          <p:cNvGraphicFramePr>
            <a:graphicFrameLocks noGrp="1"/>
          </p:cNvGraphicFramePr>
          <p:nvPr/>
        </p:nvGraphicFramePr>
        <p:xfrm>
          <a:off x="722376" y="4901184"/>
          <a:ext cx="10744200" cy="1325880"/>
        </p:xfrm>
        <a:graphic>
          <a:graphicData uri="http://schemas.openxmlformats.org/drawingml/2006/table">
            <a:tbl>
              <a:tblPr firstRow="0" bandRow="0"/>
              <a:tblGrid>
                <a:gridCol w="5198806"/>
                <a:gridCol w="2426110"/>
                <a:gridCol w="3119284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Case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Kept per order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Break-even orders / month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Base case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1,115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~585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Courier contract not signed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615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~1,060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Average order 20,000 IQD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965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~676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Incentive pool doubled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1,115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~787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Appendix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Three growth scenarios</a:t>
            </a: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722376" y="2560320"/>
          <a:ext cx="10744201" cy="1828800"/>
        </p:xfrm>
        <a:graphic>
          <a:graphicData uri="http://schemas.openxmlformats.org/drawingml/2006/table">
            <a:tbl>
              <a:tblPr firstRow="0" bandRow="0"/>
              <a:tblGrid>
                <a:gridCol w="2354893"/>
                <a:gridCol w="2060532"/>
                <a:gridCol w="2207712"/>
                <a:gridCol w="2060532"/>
                <a:gridCol w="206053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Scenario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Orders by month 6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Lowest cash point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Monthly break-even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All losses recovered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Fast (2× plan)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2,700 / month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−$1,800 (month 2)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Month 3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Month 6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Planning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1,350 / month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−$2,180 (month 3)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Month 4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Month 8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Slow (half of plan)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675 / month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−$2,750 (month 6)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Month 7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~Month 20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TextBox 103"/>
          <p:cNvSpPr txBox="1"/>
          <p:nvPr/>
        </p:nvSpPr>
        <p:spPr>
          <a:xfrm>
            <a:off x="722376" y="4572000"/>
            <a:ext cx="10744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en-US">
                <a:solidFill>
                  <a:srgbClr val="5A6672"/>
                </a:solidFill>
                <a:latin typeface="Inter"/>
                <a:cs typeface="Inter"/>
              </a:rPr>
              <a:t>Includes 1.7M IQD startup costs and two build months before launch. USD at 1,500 IQD.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Appendix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Survey: what 199 people told us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22376" y="2514600"/>
            <a:ext cx="10753344" cy="3840480"/>
            <a:chOff x="722376" y="2514600"/>
            <a:chExt cx="10753344" cy="3840480"/>
          </a:xfrm>
        </p:grpSpPr>
        <p:sp>
          <p:nvSpPr>
            <p:cNvPr id="103" name="TextBox 102"/>
            <p:cNvSpPr txBox="1"/>
            <p:nvPr/>
          </p:nvSpPr>
          <p:spPr>
            <a:xfrm>
              <a:off x="722376" y="2514600"/>
              <a:ext cx="5212080" cy="3108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600" b="1" lang="en-US">
                  <a:solidFill>
                    <a:srgbClr val="298FC2"/>
                  </a:solidFill>
                  <a:latin typeface="Inter"/>
                  <a:cs typeface="Inter"/>
                </a:rPr>
                <a:t>Shoppers (179)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722376" y="2926080"/>
              <a:ext cx="5212080" cy="31089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900"/>
                </a:spcAft>
              </a:pPr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97% notice price gaps on the same item (39% often see large gaps)</a:t>
              </a:r>
            </a:p>
            <a:p>
              <a:pPr algn="l">
                <a:lnSpc>
                  <a:spcPct val="110000"/>
                </a:lnSpc>
                <a:spcAft>
                  <a:spcPts val="900"/>
                </a:spcAft>
              </a:pPr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88% would use a side-by-side app · 10% maybe · 2% prefer DMs</a:t>
              </a:r>
            </a:p>
            <a:p>
              <a:pPr algn="l">
                <a:lnSpc>
                  <a:spcPct val="110000"/>
                </a:lnSpc>
                <a:spcAft>
                  <a:spcPts val="900"/>
                </a:spcAft>
              </a:pPr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Top annoyances: untrusted / duplicate pages ~52% · found it cheaper after buying ~47% · DM just to ask the price ~46% · delivery delays ~27%</a:t>
              </a:r>
            </a:p>
            <a:p>
              <a:pPr algn="l">
                <a:lnSpc>
                  <a:spcPct val="110000"/>
                </a:lnSpc>
                <a:spcAft>
                  <a:spcPts val="900"/>
                </a:spcAft>
              </a:pPr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~52 usable beta-waitlist contacts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6263640" y="2514600"/>
              <a:ext cx="5212080" cy="3108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600" b="1" lang="en-US">
                  <a:solidFill>
                    <a:srgbClr val="298FC2"/>
                  </a:solidFill>
                  <a:latin typeface="Inter"/>
                  <a:cs typeface="Inter"/>
                </a:rPr>
                <a:t>Merchants (20)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263640" y="2926080"/>
              <a:ext cx="5212080" cy="31089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900"/>
                </a:spcAft>
              </a:pPr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85% sell on Instagram / Facebook</a:t>
              </a:r>
            </a:p>
            <a:p>
              <a:pPr algn="l">
                <a:lnSpc>
                  <a:spcPct val="110000"/>
                </a:lnSpc>
                <a:spcAft>
                  <a:spcPts val="900"/>
                </a:spcAft>
              </a:pPr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75% would try Cheapify · 15% maybe (depends on commission) · 10% no</a:t>
              </a:r>
            </a:p>
            <a:p>
              <a:pPr algn="l">
                <a:lnSpc>
                  <a:spcPct val="110000"/>
                </a:lnSpc>
                <a:spcAft>
                  <a:spcPts val="900"/>
                </a:spcAft>
              </a:pPr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Top headaches: “price?” DMs 55% · price conflicts 45% · cost of own app/site 35% · manual delivery coordination 35%</a:t>
              </a:r>
            </a:p>
            <a:p>
              <a:pPr algn="l">
                <a:lnSpc>
                  <a:spcPct val="110000"/>
                </a:lnSpc>
                <a:spcAft>
                  <a:spcPts val="900"/>
                </a:spcAft>
              </a:pPr>
              <a:r>
                <a:rPr sz="1300" b="0" lang="en-US">
                  <a:solidFill>
                    <a:srgbClr val="101820"/>
                  </a:solidFill>
                  <a:latin typeface="Inter"/>
                  <a:cs typeface="Inter"/>
                </a:rPr>
                <a:t>~8 valid pilot-store leads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722376" y="5989320"/>
              <a:ext cx="10744200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100" b="0" lang="en-US">
                  <a:solidFill>
                    <a:srgbClr val="5A6672"/>
                  </a:solidFill>
                  <a:latin typeface="Inter"/>
                  <a:cs typeface="Inter"/>
                </a:rPr>
                <a:t>Limits: self-selected sample; only 10 Kurdish-language responses; stated intent is not purchases — the hand-run pilot measures real behavior.</a:t>
              </a:r>
            </a:p>
          </p:txBody>
        </p:sp>
      </p:grp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Appendix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Six documented price cases</a:t>
            </a: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722376" y="2514600"/>
          <a:ext cx="10744201" cy="3200400"/>
        </p:xfrm>
        <a:graphic>
          <a:graphicData uri="http://schemas.openxmlformats.org/drawingml/2006/table">
            <a:tbl>
              <a:tblPr firstRow="0" bandRow="0"/>
              <a:tblGrid>
                <a:gridCol w="2686050"/>
                <a:gridCol w="1902619"/>
                <a:gridCol w="1902619"/>
                <a:gridCol w="1343025"/>
                <a:gridCol w="290988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Product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Lowest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Highest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Gap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Where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Anker power bank 25K 165W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90,000 (Instagram)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200,000 (Miswag)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+122%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Instagram, iBazzar, Miswag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ASUS VA24EHF monitor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135,000 (Elryan)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163,350 (Miswag)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+21%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Elryan, Miswag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Hoco HX80 coffee maker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25,000 (Instagram)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35,280 (Miswag)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+41%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Instagram, Miswag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Newal 2000W vacuum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95,000 (Instagram)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133,250 (Miswag)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+40%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Instagram, Miswag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Xiaomi 165W power bank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60,000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70,000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+17%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Same app (iBazzar)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Coffee machines (two posts)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No price shown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Instagram: “call / DM to order”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TextBox 103"/>
          <p:cNvSpPr txBox="1"/>
          <p:nvPr/>
        </p:nvSpPr>
        <p:spPr>
          <a:xfrm>
            <a:off x="722376" y="5897880"/>
            <a:ext cx="10744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en-US">
                <a:solidFill>
                  <a:srgbClr val="5A6672"/>
                </a:solidFill>
                <a:latin typeface="Inter"/>
                <a:cs typeface="Inter"/>
              </a:rPr>
              <a:t>Screenshots Sep–Oct 2026; Instagram posts dated Apr–Oct 2026.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Appendix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Top risks and how we handle them</a:t>
            </a: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722376" y="2514600"/>
          <a:ext cx="10744200" cy="3840480"/>
        </p:xfrm>
        <a:graphic>
          <a:graphicData uri="http://schemas.openxmlformats.org/drawingml/2006/table">
            <a:tbl>
              <a:tblPr firstRow="0" bandRow="0"/>
              <a:tblGrid>
                <a:gridCol w="3174423"/>
                <a:gridCol w="7569777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Risk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How we handle it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Buyers and sellers bypass the app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Low fee (~3.8%), no contact details on parcels, credits and ratings count only on-platform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Slower growth than planned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Plan is already conservative; half-speed case capped at ~$2,750; hand-run pilot tests demand before spending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Courier contract delayed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Registration first (budgeted); second courier quote as fallback; without the margin, break-even ≈ 1,060 orders/month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Failed deliveries ("not at home")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One free re-attempt; 3 failures remove cash-on-delivery; WhatsApp reminder before delivery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Courier transfers cash late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Contract sets a transfer deadline (target 24 h); merchants are paid only after the money arrives; card payments reduce cash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Appendix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How an order flows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22376" y="2779776"/>
            <a:ext cx="10744200" cy="3118104"/>
            <a:chOff x="722376" y="2779776"/>
            <a:chExt cx="10744200" cy="3118104"/>
          </a:xfrm>
        </p:grpSpPr>
        <p:cxnSp>
          <p:nvCxnSpPr>
            <p:cNvPr id="103" name="Connector 102"/>
            <p:cNvCxnSpPr/>
            <p:nvPr/>
          </p:nvCxnSpPr>
          <p:spPr>
            <a:xfrm>
              <a:off x="1463040" y="3017520"/>
              <a:ext cx="9272016" cy="0"/>
            </a:xfrm>
            <a:prstGeom prst="line">
              <a:avLst/>
            </a:prstGeom>
            <a:ln w="38100">
              <a:solidFill>
                <a:srgbClr val="DDE5ED"/>
              </a:solidFill>
            </a:ln>
            <a:effectLst/>
          </p:spPr>
        </p:cxnSp>
        <p:sp>
          <p:nvSpPr>
            <p:cNvPr id="104" name="Oval 103"/>
            <p:cNvSpPr/>
            <p:nvPr/>
          </p:nvSpPr>
          <p:spPr>
            <a:xfrm>
              <a:off x="1225296" y="2779776"/>
              <a:ext cx="475488" cy="475488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1225296" y="2779776"/>
              <a:ext cx="475488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FFFFFF"/>
                  </a:solidFill>
                  <a:latin typeface="Inter"/>
                  <a:cs typeface="Inter"/>
                </a:rPr>
                <a:t>1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749808" y="3429000"/>
              <a:ext cx="1426464" cy="7315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Checkout (cash or card)</a:t>
              </a:r>
            </a:p>
          </p:txBody>
        </p:sp>
        <p:sp>
          <p:nvSpPr>
            <p:cNvPr id="107" name="Oval 106"/>
            <p:cNvSpPr/>
            <p:nvPr/>
          </p:nvSpPr>
          <p:spPr>
            <a:xfrm>
              <a:off x="2770632" y="2779776"/>
              <a:ext cx="475488" cy="475488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770632" y="2779776"/>
              <a:ext cx="475488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FFFFFF"/>
                  </a:solidFill>
                  <a:latin typeface="Inter"/>
                  <a:cs typeface="Inter"/>
                </a:rPr>
                <a:t>2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2295144" y="3429000"/>
              <a:ext cx="1426464" cy="7315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Merchant accepts</a:t>
              </a:r>
            </a:p>
          </p:txBody>
        </p:sp>
        <p:sp>
          <p:nvSpPr>
            <p:cNvPr id="110" name="Oval 109"/>
            <p:cNvSpPr/>
            <p:nvPr/>
          </p:nvSpPr>
          <p:spPr>
            <a:xfrm>
              <a:off x="4315968" y="2779776"/>
              <a:ext cx="475488" cy="475488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315968" y="2779776"/>
              <a:ext cx="475488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FFFFFF"/>
                  </a:solidFill>
                  <a:latin typeface="Inter"/>
                  <a:cs typeface="Inter"/>
                </a:rPr>
                <a:t>3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3840480" y="3429000"/>
              <a:ext cx="1426464" cy="7315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Sealed package + waybill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5861304" y="2779776"/>
              <a:ext cx="475488" cy="475488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5861304" y="2779776"/>
              <a:ext cx="475488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FFFFFF"/>
                  </a:solidFill>
                  <a:latin typeface="Inter"/>
                  <a:cs typeface="Inter"/>
                </a:rPr>
                <a:t>4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385816" y="3429000"/>
              <a:ext cx="1426464" cy="7315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Courier pickup</a:t>
              </a:r>
            </a:p>
          </p:txBody>
        </p:sp>
        <p:sp>
          <p:nvSpPr>
            <p:cNvPr id="116" name="Oval 115"/>
            <p:cNvSpPr/>
            <p:nvPr/>
          </p:nvSpPr>
          <p:spPr>
            <a:xfrm>
              <a:off x="7406640" y="2779776"/>
              <a:ext cx="475488" cy="475488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406640" y="2779776"/>
              <a:ext cx="475488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FFFFFF"/>
                  </a:solidFill>
                  <a:latin typeface="Inter"/>
                  <a:cs typeface="Inter"/>
                </a:rPr>
                <a:t>5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6931152" y="3429000"/>
              <a:ext cx="1426464" cy="7315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Delivery (cash collected)</a:t>
              </a:r>
            </a:p>
          </p:txBody>
        </p:sp>
        <p:sp>
          <p:nvSpPr>
            <p:cNvPr id="119" name="Oval 118"/>
            <p:cNvSpPr/>
            <p:nvPr/>
          </p:nvSpPr>
          <p:spPr>
            <a:xfrm>
              <a:off x="8951976" y="2779776"/>
              <a:ext cx="475488" cy="475488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8951976" y="2779776"/>
              <a:ext cx="475488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FFFFFF"/>
                  </a:solidFill>
                  <a:latin typeface="Inter"/>
                  <a:cs typeface="Inter"/>
                </a:rPr>
                <a:t>6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8476488" y="3429000"/>
              <a:ext cx="1426464" cy="7315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Courier transfers to Cheapify</a:t>
              </a:r>
            </a:p>
          </p:txBody>
        </p:sp>
        <p:sp>
          <p:nvSpPr>
            <p:cNvPr id="122" name="Oval 121"/>
            <p:cNvSpPr/>
            <p:nvPr/>
          </p:nvSpPr>
          <p:spPr>
            <a:xfrm>
              <a:off x="10497312" y="2779776"/>
              <a:ext cx="475488" cy="475488"/>
            </a:xfrm>
            <a:prstGeom prst="ellipse">
              <a:avLst/>
            </a:prstGeom>
            <a:solidFill>
              <a:srgbClr val="298F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0497312" y="2779776"/>
              <a:ext cx="475488" cy="47548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400" b="1" lang="en-US">
                  <a:solidFill>
                    <a:srgbClr val="FFFFFF"/>
                  </a:solidFill>
                  <a:latin typeface="Inter"/>
                  <a:cs typeface="Inter"/>
                </a:rPr>
                <a:t>7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0021824" y="3429000"/>
              <a:ext cx="1426464" cy="7315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/>
              <a:r>
                <a:rPr sz="1300" b="1" lang="en-US">
                  <a:solidFill>
                    <a:srgbClr val="101820"/>
                  </a:solidFill>
                  <a:latin typeface="Inter"/>
                  <a:cs typeface="Inter"/>
                </a:rPr>
                <a:t>Merchant paid after 48 h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722376" y="4526280"/>
              <a:ext cx="1074420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Returns: 48 hours — faulty item: merchant pays the return; change of mind: customer pays 3,000 IQD.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722376" y="4892040"/>
              <a:ext cx="1074420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Refunds: card → back to the card; cash orders → Cheapify credit, or electronic transfer for faulty items.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722376" y="5257800"/>
              <a:ext cx="1074420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Failed delivery: one free re-attempt, then back to the merchant.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722376" y="5623560"/>
              <a:ext cx="1074420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/>
              <a:r>
                <a:rPr sz="1200" b="0" lang="en-US">
                  <a:solidFill>
                    <a:srgbClr val="5A6672"/>
                  </a:solidFill>
                  <a:latin typeface="Inter"/>
                  <a:cs typeface="Inter"/>
                </a:rPr>
                <a:t>Packaging: opaque and sealed; tamper tape on orders ≥ 50,000 IQD.</a:t>
              </a:r>
            </a:p>
          </p:txBody>
        </p:sp>
      </p:grp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8" name="Google Shape;98;p14" title="Center_for_Academic_and_Professional_Advanc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9593" y="351575"/>
            <a:ext cx="3178503" cy="9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title="german cooperation deutsche zusammenarbe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436205"/>
            <a:ext cx="1428202" cy="8000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722376" y="1517904"/>
            <a:ext cx="274320" cy="45720"/>
          </a:xfrm>
          <a:prstGeom prst="rect">
            <a:avLst/>
          </a:prstGeom>
          <a:solidFill>
            <a:srgbClr val="298F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" y="14264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lang="en-US">
                <a:solidFill>
                  <a:srgbClr val="5A6672"/>
                </a:solidFill>
                <a:latin typeface="Inter"/>
                <a:cs typeface="Inter"/>
              </a:rPr>
              <a:t>Appendix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" y="17007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 lang="en-US">
                <a:solidFill>
                  <a:srgbClr val="101820"/>
                </a:solidFill>
                <a:latin typeface="Comfortaa"/>
                <a:cs typeface="Comfortaa"/>
              </a:rPr>
              <a:t>How we sized Duhok</a:t>
            </a: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722376" y="2514600"/>
          <a:ext cx="10744200" cy="2944368"/>
        </p:xfrm>
        <a:graphic>
          <a:graphicData uri="http://schemas.openxmlformats.org/drawingml/2006/table">
            <a:tbl>
              <a:tblPr firstRow="0" bandRow="0"/>
              <a:tblGrid>
                <a:gridCol w="2628900"/>
                <a:gridCol w="1828800"/>
                <a:gridCol w="4114800"/>
                <a:gridCol w="21717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Figure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Value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How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Source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DDE5E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Launch-area population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1,062,224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Duhok 497,029 + Zakho 398,876 + Semel 166,319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2024 census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Duhok governorate population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1,599,871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2024 census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Launch-area internet users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≈ 0.89M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1,062,224 × 83.8%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DataReportal rate (Iraq)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Launch-area online shopping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≈ $30M / year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2.30% of Iraq's population × $1.32B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ECDB Iraq 2025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Break-even sales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≈ $117,000 / year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585 orders × 25,000 IQD × 12 ÷ 1,500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Cheapify model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Share needed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≈ 0.4%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$117,000 ÷ $30M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US">
                          <a:solidFill>
                            <a:srgbClr val="101820"/>
                          </a:solidFill>
                          <a:latin typeface="Inter"/>
                          <a:cs typeface="Inter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E5ED"/>
                      </a:solidFill>
                      <a:prstDash val="solid"/>
                    </a:lnL>
                    <a:lnR w="9525" cap="flat" cmpd="sng" algn="ctr">
                      <a:solidFill>
                        <a:srgbClr val="DDE5ED"/>
                      </a:solidFill>
                      <a:prstDash val="solid"/>
                    </a:lnR>
                    <a:lnT w="9525" cap="flat" cmpd="sng" algn="ctr">
                      <a:solidFill>
                        <a:srgbClr val="DDE5ED"/>
                      </a:solidFill>
                      <a:prstDash val="solid"/>
                    </a:lnT>
                    <a:lnB w="9525" cap="flat" cmpd="sng" algn="ctr">
                      <a:solidFill>
                        <a:srgbClr val="DD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TextBox 103"/>
          <p:cNvSpPr txBox="1"/>
          <p:nvPr/>
        </p:nvSpPr>
        <p:spPr>
          <a:xfrm>
            <a:off x="722376" y="557784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en-US">
                <a:solidFill>
                  <a:srgbClr val="5A6672"/>
                </a:solidFill>
                <a:latin typeface="Inter"/>
                <a:cs typeface="Inter"/>
              </a:rPr>
              <a:t>No official Duhok internet or e-commerce figures exist; estimates use Iraq-wide rates. Duhok is 80% urban, so these are likely conservative.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