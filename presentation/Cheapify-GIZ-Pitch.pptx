
<file path=[Content_Types].xml><?xml version="1.0" encoding="utf-8"?>
<Types xmlns="http://schemas.openxmlformats.org/package/2006/content-types">
  <Default Extension="xml" ContentType="application/xml"/>
  <Default Extension="jpg" ContentType="image/jpeg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23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.xml" ContentType="application/vnd.openxmlformats-officedocument.presentationml.notesSlide+xml"/>
  <Override PartName="/ppt/slideLayouts/slideLayout1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3.xml" ContentType="application/vnd.openxmlformats-officedocument.presentationml.slide+xml"/>
  <Override PartName="/ppt/theme/theme2.xml" ContentType="application/vnd.openxmlformats-officedocument.theme+xml"/>
  <Override PartName="/ppt/theme/theme1.xml" ContentType="application/vnd.openxmlformats-officedocument.theme+xml"/>
  <Override PartName="/ppt/slides/slide3.xml" ContentType="application/vnd.openxmlformats-officedocument.presentationml.slide+xml"/>
  <Override PartName="/ppt/notesSlides/notesSlide22.xml" ContentType="application/vnd.openxmlformats-officedocument.presentationml.notesSlide+xml"/>
  <Override PartName="/ppt/slideLayouts/slideLayout4.xml" ContentType="application/vnd.openxmlformats-officedocument.presentationml.slideLayout+xml"/>
  <Override PartName="/ppt/notesSlides/notesSlide20.xml" ContentType="application/vnd.openxmlformats-officedocument.presentationml.notesSlide+xml"/>
  <Override PartName="/ppt/notesSlides/notesSlide10.xml" ContentType="application/vnd.openxmlformats-officedocument.presentationml.notesSlide+xml"/>
  <Override PartName="/ppt/slides/slide21.xml" ContentType="application/vnd.openxmlformats-officedocument.presentationml.slide+xml"/>
  <Override PartName="/ppt/slideLayouts/slideLayout1.xml" ContentType="application/vnd.openxmlformats-officedocument.presentationml.slideLayout+xml"/>
  <Override PartName="/ppt/slides/slide12.xml" ContentType="application/vnd.openxmlformats-officedocument.presentationml.slide+xml"/>
  <Override PartName="/ppt/slideLayouts/slideLayout5.xml" ContentType="application/vnd.openxmlformats-officedocument.presentationml.slideLayout+xml"/>
  <Override PartName="/ppt/slides/slide7.xml" ContentType="application/vnd.openxmlformats-officedocument.presentationml.slide+xml"/>
  <Override PartName="/ppt/notesSlides/notesSlide4.xml" ContentType="application/vnd.openxmlformats-officedocument.presentationml.notesSlide+xml"/>
  <Override PartName="/ppt/tableStyles.xml" ContentType="application/vnd.openxmlformats-officedocument.presentationml.tableStyles+xml"/>
  <Override PartName="/docProps/app.xml" ContentType="application/vnd.openxmlformats-officedocument.extended-properties+xml"/>
  <Override PartName="/ppt/slides/slide17.xml" ContentType="application/vnd.openxmlformats-officedocument.presentationml.slide+xml"/>
  <Override PartName="/ppt/viewProps.xml" ContentType="application/vnd.openxmlformats-officedocument.presentationml.viewProps+xml"/>
  <Override PartName="/ppt/notesSlides/notesSlide7.xml" ContentType="application/vnd.openxmlformats-officedocument.presentationml.notesSlide+xml"/>
  <Override PartName="/ppt/presentation.xml" ContentType="application/vnd.openxmlformats-officedocument.presentationml.presentation.main+xml"/>
  <Override PartName="/ppt/slides/slide8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docProps/core.xml" ContentType="application/vnd.openxmlformats-package.core-properties+xml"/>
  <Override PartName="/ppt/slideLayouts/slideLayout8.xml" ContentType="application/vnd.openxmlformats-officedocument.presentationml.slideLayout+xml"/>
  <Override PartName="/ppt/slideLayouts/slideLayout2.xml" ContentType="application/vnd.openxmlformats-officedocument.presentationml.slideLayout+xml"/>
  <Override PartName="/ppt/presProps.xml" ContentType="application/vnd.openxmlformats-officedocument.presentationml.presProps+xml"/>
  <Override PartName="/ppt/theme/theme3.xml" ContentType="application/vnd.openxmlformats-officedocument.theme+xml"/>
  <Override PartName="/ppt/slideLayouts/slideLayout6.xml" ContentType="application/vnd.openxmlformats-officedocument.presentationml.slideLayout+xml"/>
  <Override PartName="/ppt/notesSlides/notesSlide11.xml" ContentType="application/vnd.openxmlformats-officedocument.presentationml.notesSlide+xml"/>
  <Override PartName="/ppt/slides/slide10.xml" ContentType="application/vnd.openxmlformats-officedocument.presentationml.slide+xml"/>
  <Override PartName="/ppt/slideLayouts/slideLayout11.xml" ContentType="application/vnd.openxmlformats-officedocument.presentationml.slideLayout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9.xml" ContentType="application/vnd.openxmlformats-officedocument.presentationml.slide+xml"/>
  <Override PartName="/ppt/slides/slide20.xml" ContentType="application/vnd.openxmlformats-officedocument.presentationml.slide+xml"/>
  <Override PartName="/ppt/slides/slide11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4.xml" ContentType="application/vnd.openxmlformats-officedocument.presentationml.slide+xml"/>
  <Override PartName="/ppt/slideLayouts/slideLayout7.xml" ContentType="application/vnd.openxmlformats-officedocument.presentationml.slideLayout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8.xml" ContentType="application/vnd.openxmlformats-officedocument.presentationml.slide+xml"/>
  <Override PartName="/ppt/notesSlides/notesSlide17.xml" ContentType="application/vnd.openxmlformats-officedocument.presentationml.notesSlide+xml"/>
  <Override PartName="/ppt/handoutMasters/handoutMaster1.xml" ContentType="application/vnd.openxmlformats-officedocument.presentationml.handoutMaster+xml"/>
  <Override PartName="/ppt/slides/slide22.xml" ContentType="application/vnd.openxmlformats-officedocument.presentationml.slide+xml"/>
  <Override PartName="/ppt/slides/slide19.xml" ContentType="application/vnd.openxmlformats-officedocument.presentationml.slide+xml"/>
  <Override PartName="/ppt/slides/slide23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autoCompressPictures="0" embedTrueTypeFonts="1" saveSubsetFonts="1" strictFirstAndLastChars="0">
  <p:sldMasterIdLst>
    <p:sldMasterId id="2147483648" r:id="rId1"/>
  </p:sldMasterIdLst>
  <p:notesMasterIdLst>
    <p:notesMasterId r:id="rId28"/>
  </p:notesMasterIdLst>
  <p:handoutMasterIdLst>
    <p:handoutMasterId r:id="rId29"/>
  </p:handout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theme" Target="theme/theme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notesMaster" Target="notesMasters/notesMaster1.xml"/><Relationship Id="rId29" Type="http://schemas.openxmlformats.org/officeDocument/2006/relationships/handoutMaster" Target="handoutMasters/handoutMaster1.xml"/><Relationship Id="rId30" Type="http://schemas.openxmlformats.org/officeDocument/2006/relationships/presProps" Target="presProps.xml" /><Relationship Id="rId31" Type="http://schemas.openxmlformats.org/officeDocument/2006/relationships/tableStyles" Target="tableStyles.xml" /><Relationship Id="rId32" Type="http://schemas.openxmlformats.org/officeDocument/2006/relationships/viewProps" Target="viewProps.xml" /></Relationships>
</file>

<file path=ppt/handoutMasters/_rels/handout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0637018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6"/>
          </a:xfrm>
          <a:prstGeom prst="rect">
            <a:avLst/>
          </a:prstGeom>
        </p:spPr>
        <p:txBody>
          <a:bodyPr vert="horz" lIns="91440" tIns="45720" rIns="91440" bIns="45720" anchor="t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241407578" name="Date Placeholder 2"/>
          <p:cNvSpPr>
            <a:spLocks noGrp="1"/>
          </p:cNvSpPr>
          <p:nvPr>
            <p:ph type="dt" idx="3"/>
          </p:nvPr>
        </p:nvSpPr>
        <p:spPr bwMode="auto">
          <a:xfrm>
            <a:off x="3886200" y="0"/>
            <a:ext cx="2971800" cy="458786"/>
          </a:xfrm>
          <a:prstGeom prst="rect">
            <a:avLst/>
          </a:prstGeom>
        </p:spPr>
        <p:txBody>
          <a:bodyPr vert="horz" lIns="91440" tIns="45720" rIns="91440" bIns="45720" anchor="t"/>
          <a:lstStyle>
            <a:lvl1pPr algn="r">
              <a:defRPr sz="1200"/>
            </a:lvl1pPr>
          </a:lstStyle>
          <a:p>
            <a:pPr>
              <a:defRPr/>
            </a:pPr>
            <a:fld id="{A6E6F948-A29C-01EC-312A-0A97FE8237EE}" type="datetimeFigureOut">
              <a:rPr lang="en-US"/>
              <a:t/>
            </a:fld>
            <a:endParaRPr/>
          </a:p>
        </p:txBody>
      </p:sp>
      <p:sp>
        <p:nvSpPr>
          <p:cNvPr id="1094072731" name="Footer Placeholder 3"/>
          <p:cNvSpPr>
            <a:spLocks noGrp="1"/>
          </p:cNvSpPr>
          <p:nvPr>
            <p:ph type="ftr" sz="quarter" idx="2"/>
          </p:nvPr>
        </p:nvSpPr>
        <p:spPr bwMode="auto">
          <a:xfrm>
            <a:off x="0" y="8685213"/>
            <a:ext cx="2971800" cy="458786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280744398" name="Slide Number Placeholder 4"/>
          <p:cNvSpPr>
            <a:spLocks noGrp="1"/>
          </p:cNvSpPr>
          <p:nvPr>
            <p:ph type="sldNum" sz="quarter" idx="3"/>
          </p:nvPr>
        </p:nvSpPr>
        <p:spPr bwMode="auto">
          <a:xfrm>
            <a:off x="3886200" y="8685213"/>
            <a:ext cx="2971800" cy="458786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r">
              <a:defRPr sz="1200"/>
            </a:lvl1pPr>
          </a:lstStyle>
          <a:p>
            <a:pPr>
              <a:defRPr/>
            </a:pPr>
            <a:fld id="{DC0C5C09-8CA3-C3B0-3975-78C2A5BA810F}" type="slidenum">
              <a:rPr/>
              <a:t/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0126901" name="Google Shape;3;n"/>
          <p:cNvSpPr/>
          <p:nvPr>
            <p:ph type="sldImg" idx="2"/>
          </p:nvPr>
        </p:nvSpPr>
        <p:spPr bwMode="auto"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91731719" name="Google Shape;4;n"/>
          <p:cNvSpPr txBox="1"/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pPr>
              <a:defRPr/>
            </a:pPr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 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 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 ?>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 ?>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 ?>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 ?>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 ?>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 ?>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 ?>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 ?>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0382404" name="Google Shape;81;p1:notes"/>
          <p:cNvSpPr txBox="1"/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defRPr/>
            </a:pPr>
            <a:r>
              <a:rPr/>
              <a:t>Time: ~8s</a:t>
            </a:r>
            <a:endParaRPr/>
          </a:p>
          <a:p>
            <a:pPr>
              <a:defRPr/>
            </a:pPr>
            <a:r>
              <a:rPr/>
              <a:t>Good morning. I'm Shakir Bashar, a computer engineer — and this is Cheapify: the bright side of choosing.</a:t>
            </a:r>
            <a:endParaRPr/>
          </a:p>
        </p:txBody>
      </p:sp>
      <p:sp>
        <p:nvSpPr>
          <p:cNvPr id="333896155" name="Google Shape;82;p1:notes"/>
          <p:cNvSpPr/>
          <p:nvPr>
            <p:ph type="sldImg" idx="2"/>
          </p:nvPr>
        </p:nvSpPr>
        <p:spPr bwMode="auto"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8570126" name="Google Shape;95;p2:notes"/>
          <p:cNvSpPr txBox="1"/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defRPr/>
            </a:pPr>
            <a:r>
              <a:rPr/>
              <a:t>Time: ~23s</a:t>
            </a:r>
            <a:endParaRPr/>
          </a:p>
          <a:p>
            <a:pPr>
              <a:defRPr/>
            </a:pPr>
            <a:r>
              <a:rPr/>
              <a:t>This is one power bank — the Anker 25,000, 165 watt. Same model. On one app's search page, it's listed at 100,000 dinars… [click] and right beside it, at 200,000. [click] Across Instagram and shopping apps, we found it anywhere from 90,000 to 200,000 dinars. [click] That's 122 percent more — for the exact same product.</a:t>
            </a:r>
            <a:endParaRPr/>
          </a:p>
          <a:p>
            <a:pPr>
              <a:defRPr/>
            </a:pPr>
            <a:endParaRPr/>
          </a:p>
          <a:p>
            <a:pPr>
              <a:defRPr/>
            </a:pPr>
            <a:r>
              <a:rPr/>
              <a:t>Key numbers:</a:t>
            </a:r>
            <a:endParaRPr/>
          </a:p>
          <a:p>
            <a:pPr>
              <a:defRPr/>
            </a:pPr>
            <a:r>
              <a:rPr/>
              <a:t>100,000 vs 200,000 IQD — Price evidence screenshots (Sep–Oct 2026)</a:t>
            </a:r>
            <a:endParaRPr/>
          </a:p>
          <a:p>
            <a:pPr>
              <a:defRPr/>
            </a:pPr>
            <a:r>
              <a:rPr/>
              <a:t>90,000 – 200,000 IQD — Price evidence screenshots (Sep–Oct 2026)</a:t>
            </a:r>
            <a:endParaRPr/>
          </a:p>
          <a:p>
            <a:pPr>
              <a:defRPr/>
            </a:pPr>
            <a:r>
              <a:rPr/>
              <a:t>+122% — Price evidence screenshots (Sep–Oct 2026)</a:t>
            </a:r>
            <a:endParaRPr/>
          </a:p>
          <a:p>
            <a:pPr>
              <a:defRPr/>
            </a:pPr>
            <a:r>
              <a:rPr/>
              <a:t>≈ 110,000 IQD — Price evidence screenshots (Sep–Oct 2026)</a:t>
            </a:r>
            <a:endParaRPr/>
          </a:p>
        </p:txBody>
      </p:sp>
      <p:sp>
        <p:nvSpPr>
          <p:cNvPr id="1376292533" name="Google Shape;96;p2:notes"/>
          <p:cNvSpPr/>
          <p:nvPr>
            <p:ph type="sldImg" idx="2"/>
          </p:nvPr>
        </p:nvSpPr>
        <p:spPr bwMode="auto"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Sp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8552311" name="Slide Image Placeholder 1"/>
          <p:cNvSpPr>
            <a:spLocks noGrp="1"/>
          </p:cNvSpPr>
          <p:nvPr>
            <p:ph type="sldImg" idx="2"/>
          </p:nvPr>
        </p:nvSpPr>
        <p:spPr bwMode="auto"/>
      </p:sp>
      <p:sp>
        <p:nvSpPr>
          <p:cNvPr id="3136659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Time: ~27s</a:t>
            </a:r>
            <a:endParaRPr/>
          </a:p>
          <a:p>
            <a:pPr>
              <a:defRPr/>
            </a:pPr>
            <a:r>
              <a:rPr/>
              <a:t>And it's not one product — it's the whole market. [click] Apps list the same item twice, at two prices. [click] Instagram pages hide the price — under the post, someone asks: “How much is it?” [click] And a marketplace sells a vacuum as a 35 percent “deal” — Instagram has it for 95,000. [click] In our survey of 199 people, 97 percent of shoppers see these gaps.</a:t>
            </a:r>
            <a:endParaRPr/>
          </a:p>
          <a:p>
            <a:pPr>
              <a:defRPr/>
            </a:pPr>
            <a:endParaRPr/>
          </a:p>
          <a:p>
            <a:pPr>
              <a:defRPr/>
            </a:pPr>
            <a:r>
              <a:rPr/>
              <a:t>Key numbers:</a:t>
            </a:r>
            <a:endParaRPr/>
          </a:p>
          <a:p>
            <a:pPr>
              <a:defRPr/>
            </a:pPr>
            <a:r>
              <a:rPr/>
              <a:t>97% — Cheapify market survey, n=199 (Sep–Oct 2026)</a:t>
            </a:r>
            <a:endParaRPr/>
          </a:p>
          <a:p>
            <a:pPr>
              <a:defRPr/>
            </a:pPr>
            <a:r>
              <a:rPr/>
              <a:t>55% — Cheapify market survey, n=199 (Sep–Oct 2026)</a:t>
            </a:r>
            <a:endParaRPr/>
          </a:p>
          <a:p>
            <a:pPr>
              <a:defRPr/>
            </a:pPr>
            <a:r>
              <a:rPr/>
              <a:t>199 — Cheapify market survey, n=199 (Sep–Oct 2026)</a:t>
            </a:r>
            <a:endParaRPr/>
          </a:p>
          <a:p>
            <a:pPr>
              <a:defRPr/>
            </a:pPr>
            <a:r>
              <a:rPr/>
              <a:t>95,000 vs 133,250 IQD — Price evidence screenshots (Sep–Oct 2026)</a:t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Sp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4440207" name="Slide Image Placeholder 1"/>
          <p:cNvSpPr>
            <a:spLocks noGrp="1"/>
          </p:cNvSpPr>
          <p:nvPr>
            <p:ph type="sldImg" idx="2"/>
          </p:nvPr>
        </p:nvSpPr>
        <p:spPr bwMode="auto"/>
      </p:sp>
      <p:sp>
        <p:nvSpPr>
          <p:cNvPr id="140559079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Time: ~24s</a:t>
            </a:r>
            <a:endParaRPr/>
          </a:p>
          <a:p>
            <a:pPr>
              <a:defRPr/>
            </a:pPr>
            <a:r>
              <a:rPr/>
              <a:t>Today, one product is scattered across pages and apps. Cheapify's rule is simple: [click] one product, one page. [click] Every seller of that product sits on it, showing the doorstep total — item plus delivery. [click] Then our Best Value ranking picks the winner: lowest doorstep total, then fastest delivery, then seller rating. And the ranking can never be bought.</a:t>
            </a:r>
            <a:endParaRPr/>
          </a:p>
          <a:p>
            <a:pPr>
              <a:defRPr/>
            </a:pPr>
            <a:endParaRPr/>
          </a:p>
          <a:p>
            <a:pPr>
              <a:defRPr/>
            </a:pPr>
            <a:r>
              <a:rPr/>
              <a:t>Key numbers:</a:t>
            </a:r>
            <a:endParaRPr/>
          </a:p>
          <a:p>
            <a:pPr>
              <a:defRPr/>
            </a:pPr>
            <a:r>
              <a:rPr/>
              <a:t>Doorstep total — Fast Delivery (Duhok) courier quote, Oct 2026</a:t>
            </a:r>
            <a:endParaRPr/>
          </a:p>
          <a:p>
            <a:pPr>
              <a:defRPr/>
            </a:pPr>
            <a:r>
              <a:rPr/>
              <a:t>3,000 IQD — Fast Delivery (Duhok) courier quote, Oct 2026</a:t>
            </a:r>
            <a:endParaRPr/>
          </a:p>
          <a:p>
            <a:pPr>
              <a:defRPr/>
            </a:pPr>
            <a:r>
              <a:rPr/>
              <a:t>3 ranking rules — Cheapify go-to-market plan</a:t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Sp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49910964" name="Slide Image Placeholder 1"/>
          <p:cNvSpPr>
            <a:spLocks noGrp="1"/>
          </p:cNvSpPr>
          <p:nvPr>
            <p:ph type="sldImg" idx="2"/>
          </p:nvPr>
        </p:nvSpPr>
        <p:spPr bwMode="auto"/>
      </p:sp>
      <p:sp>
        <p:nvSpPr>
          <p:cNvPr id="1089570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Time: ~20s</a:t>
            </a:r>
            <a:endParaRPr/>
          </a:p>
          <a:p>
            <a:pPr>
              <a:defRPr/>
            </a:pPr>
            <a:r>
              <a:rPr/>
              <a:t>For shoppers: [click] every price side by side, an order in thirty seconds, and cash on delivery — or card. For merchants: [click] real orders instead of “price?” messages, a free dashboard for stock and payouts, and a fair fee — about 3.8 percent on a typical order.</a:t>
            </a:r>
            <a:endParaRPr/>
          </a:p>
          <a:p>
            <a:pPr>
              <a:defRPr/>
            </a:pPr>
            <a:endParaRPr/>
          </a:p>
          <a:p>
            <a:pPr>
              <a:defRPr/>
            </a:pPr>
            <a:r>
              <a:rPr/>
              <a:t>Key numbers:</a:t>
            </a:r>
            <a:endParaRPr/>
          </a:p>
          <a:p>
            <a:pPr>
              <a:defRPr/>
            </a:pPr>
            <a:r>
              <a:rPr/>
              <a:t>≈ 3.8% — Cheapify financial model</a:t>
            </a:r>
            <a:endParaRPr/>
          </a:p>
          <a:p>
            <a:pPr>
              <a:defRPr/>
            </a:pPr>
            <a:r>
              <a:rPr/>
              <a:t>30 seconds — Cheapify go-to-market plan</a:t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Sp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93466961" name="Slide Image Placeholder 1"/>
          <p:cNvSpPr>
            <a:spLocks noGrp="1"/>
          </p:cNvSpPr>
          <p:nvPr>
            <p:ph type="sldImg" idx="2"/>
          </p:nvPr>
        </p:nvSpPr>
        <p:spPr bwMode="auto"/>
      </p:sp>
      <p:sp>
        <p:nvSpPr>
          <p:cNvPr id="172268024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Time: ~24s</a:t>
            </a:r>
            <a:endParaRPr/>
          </a:p>
          <a:p>
            <a:pPr>
              <a:defRPr/>
            </a:pPr>
            <a:r>
              <a:rPr/>
              <a:t>We launch in Duhok city, Semel and Zakho. [click] Duhok governorate has 1.6 million people; [click] our launch area alone has about 1.06 million — roughly 890,000 online, spending about 30 million dollars a year shopping online. We need just 0.4 percent of that to break even. [click] Then Erbil, Mosul and Sulaymaniyah — then all of Iraq.</a:t>
            </a:r>
            <a:endParaRPr/>
          </a:p>
          <a:p>
            <a:pPr>
              <a:defRPr/>
            </a:pPr>
            <a:endParaRPr/>
          </a:p>
          <a:p>
            <a:pPr>
              <a:defRPr/>
            </a:pPr>
            <a:r>
              <a:rPr/>
              <a:t>Key numbers:</a:t>
            </a:r>
            <a:endParaRPr/>
          </a:p>
          <a:p>
            <a:pPr>
              <a:defRPr/>
            </a:pPr>
            <a:r>
              <a:rPr/>
              <a:t>46.1M · 1.60M · 1.06M — 2024 national census, Iraqi Ministry of Planning</a:t>
            </a:r>
            <a:endParaRPr/>
          </a:p>
          <a:p>
            <a:pPr>
              <a:defRPr/>
            </a:pPr>
            <a:r>
              <a:rPr/>
              <a:t>39.6M — DataReportal, Digital 2026: Iraq</a:t>
            </a:r>
            <a:endParaRPr/>
          </a:p>
          <a:p>
            <a:pPr>
              <a:defRPr/>
            </a:pPr>
            <a:r>
              <a:rPr/>
              <a:t>$1.32B — ECDB, Iraq e-commerce 2025</a:t>
            </a:r>
            <a:endParaRPr/>
          </a:p>
          <a:p>
            <a:pPr>
              <a:defRPr/>
            </a:pPr>
            <a:r>
              <a:rPr/>
              <a:t>≈ 0.89M · ≈ $30M — 2024 national census, Iraqi Ministry of Planning</a:t>
            </a:r>
            <a:endParaRPr/>
          </a:p>
          <a:p>
            <a:pPr>
              <a:defRPr/>
            </a:pPr>
            <a:r>
              <a:rPr/>
              <a:t>≈ 0.4% — Cheapify financial model</a:t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Sp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6667758" name="Slide Image Placeholder 1"/>
          <p:cNvSpPr>
            <a:spLocks noGrp="1"/>
          </p:cNvSpPr>
          <p:nvPr>
            <p:ph type="sldImg" idx="2"/>
          </p:nvPr>
        </p:nvSpPr>
        <p:spPr bwMode="auto"/>
      </p:sp>
      <p:sp>
        <p:nvSpPr>
          <p:cNvPr id="205495036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Time: ~22s</a:t>
            </a:r>
            <a:endParaRPr/>
          </a:p>
          <a:p>
            <a:pPr>
              <a:defRPr/>
            </a:pPr>
            <a:r>
              <a:rPr/>
              <a:t>Who exactly? Young professionals with no time for DMs, families who want savings and reliable delivery, and students who refuse to overpay — 88 percent of surveyed shoppers would use an app like this. [click] And Duhok's social-media shops: 85 percent sell on Instagram or Facebook, and 75 percent want to try Cheapify.</a:t>
            </a:r>
            <a:endParaRPr/>
          </a:p>
          <a:p>
            <a:pPr>
              <a:defRPr/>
            </a:pPr>
            <a:endParaRPr/>
          </a:p>
          <a:p>
            <a:pPr>
              <a:defRPr/>
            </a:pPr>
            <a:r>
              <a:rPr/>
              <a:t>Key numbers:</a:t>
            </a:r>
            <a:endParaRPr/>
          </a:p>
          <a:p>
            <a:pPr>
              <a:defRPr/>
            </a:pPr>
            <a:r>
              <a:rPr/>
              <a:t>88% — Cheapify market survey, n=199 (Sep–Oct 2026)</a:t>
            </a:r>
            <a:endParaRPr/>
          </a:p>
          <a:p>
            <a:pPr>
              <a:defRPr/>
            </a:pPr>
            <a:r>
              <a:rPr/>
              <a:t>85% — Cheapify market survey, n=199 (Sep–Oct 2026)</a:t>
            </a:r>
            <a:endParaRPr/>
          </a:p>
          <a:p>
            <a:pPr>
              <a:defRPr/>
            </a:pPr>
            <a:r>
              <a:rPr/>
              <a:t>75% — Cheapify market survey, n=199 (Sep–Oct 2026)</a:t>
            </a:r>
            <a:endParaRPr/>
          </a:p>
          <a:p>
            <a:pPr>
              <a:defRPr/>
            </a:pPr>
            <a:r>
              <a:rPr/>
              <a:t>~8 — Cheapify market survey, n=199 (Sep–Oct 2026)</a:t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Sp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831951" name="Slide Image Placeholder 1"/>
          <p:cNvSpPr>
            <a:spLocks noGrp="1"/>
          </p:cNvSpPr>
          <p:nvPr>
            <p:ph type="sldImg" idx="2"/>
          </p:nvPr>
        </p:nvSpPr>
        <p:spPr bwMode="auto"/>
      </p:sp>
      <p:sp>
        <p:nvSpPr>
          <p:cNvPr id="114795067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Time: ~23s</a:t>
            </a:r>
            <a:endParaRPr/>
          </a:p>
          <a:p>
            <a:pPr>
              <a:defRPr/>
            </a:pPr>
            <a:r>
              <a:rPr/>
              <a:t>Here's how it works. A shopper searches. [click] Sees every seller on one page, Best Value on top. [click] Orders in thirty seconds — cash on delivery, or card. [click] The merchant gets a ready order, packs it, and the courier picks it up. [click] 48 hours after delivery, the merchant is paid automatically, minus our fee.</a:t>
            </a:r>
            <a:endParaRPr/>
          </a:p>
          <a:p>
            <a:pPr>
              <a:defRPr/>
            </a:pPr>
            <a:endParaRPr/>
          </a:p>
          <a:p>
            <a:pPr>
              <a:defRPr/>
            </a:pPr>
            <a:r>
              <a:rPr/>
              <a:t>Key numbers:</a:t>
            </a:r>
            <a:endParaRPr/>
          </a:p>
          <a:p>
            <a:pPr>
              <a:defRPr/>
            </a:pPr>
            <a:r>
              <a:rPr/>
              <a:t>30 seconds — Cheapify go-to-market plan</a:t>
            </a:r>
            <a:endParaRPr/>
          </a:p>
          <a:p>
            <a:pPr>
              <a:defRPr/>
            </a:pPr>
            <a:r>
              <a:rPr/>
              <a:t>48 hours — Cheapify financial model</a:t>
            </a:r>
            <a:endParaRPr/>
          </a:p>
          <a:p>
            <a:pPr>
              <a:defRPr/>
            </a:pPr>
            <a:r>
              <a:rPr/>
              <a:t>2,960 IQD — Cheapify financial model</a:t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Sp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4800295" name="Slide Image Placeholder 1"/>
          <p:cNvSpPr>
            <a:spLocks noGrp="1"/>
          </p:cNvSpPr>
          <p:nvPr>
            <p:ph type="sldImg" idx="2"/>
          </p:nvPr>
        </p:nvSpPr>
        <p:spPr bwMode="auto"/>
      </p:sp>
      <p:sp>
        <p:nvSpPr>
          <p:cNvPr id="134048446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Time: ~22s</a:t>
            </a:r>
            <a:endParaRPr/>
          </a:p>
          <a:p>
            <a:pPr>
              <a:defRPr/>
            </a:pPr>
            <a:r>
              <a:rPr/>
              <a:t>We only earn when an order is delivered. On a 25,000-dinar order, the shopper pays 28,000. [click] 24,050 goes to the merchant, [click] 2,500 to the courier, [click] 1,450 to us. [click] Our fee gets lighter as prices rise. [click] After about 335 in costs — messages, returns, re-deliveries — we keep 1,115 dinars per order.</a:t>
            </a:r>
            <a:endParaRPr/>
          </a:p>
          <a:p>
            <a:pPr>
              <a:defRPr/>
            </a:pPr>
            <a:endParaRPr/>
          </a:p>
          <a:p>
            <a:pPr>
              <a:defRPr/>
            </a:pPr>
            <a:r>
              <a:rPr/>
              <a:t>Key numbers:</a:t>
            </a:r>
            <a:endParaRPr/>
          </a:p>
          <a:p>
            <a:pPr>
              <a:defRPr/>
            </a:pPr>
            <a:r>
              <a:rPr/>
              <a:t>28,000 IQD — Cheapify financial model</a:t>
            </a:r>
            <a:endParaRPr/>
          </a:p>
          <a:p>
            <a:pPr>
              <a:defRPr/>
            </a:pPr>
            <a:r>
              <a:rPr/>
              <a:t>24,050 · 2,500 · 1,450 — Cheapify financial model</a:t>
            </a:r>
            <a:endParaRPr/>
          </a:p>
          <a:p>
            <a:pPr>
              <a:defRPr/>
            </a:pPr>
            <a:r>
              <a:rPr/>
              <a:t>5% · 3% · 1.5% — Cheapify financial model</a:t>
            </a:r>
            <a:endParaRPr/>
          </a:p>
          <a:p>
            <a:pPr>
              <a:defRPr/>
            </a:pPr>
            <a:r>
              <a:rPr/>
              <a:t>335 IQD — Cheapify financial model</a:t>
            </a:r>
            <a:endParaRPr/>
          </a:p>
          <a:p>
            <a:pPr>
              <a:defRPr/>
            </a:pPr>
            <a:r>
              <a:rPr/>
              <a:t>1,115 IQD — Cheapify financial model</a:t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Sp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44537489" name="Slide Image Placeholder 1"/>
          <p:cNvSpPr>
            <a:spLocks noGrp="1"/>
          </p:cNvSpPr>
          <p:nvPr>
            <p:ph type="sldImg" idx="2"/>
          </p:nvPr>
        </p:nvSpPr>
        <p:spPr bwMode="auto"/>
      </p:sp>
      <p:sp>
        <p:nvSpPr>
          <p:cNvPr id="94560134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Time: ~21s</a:t>
            </a:r>
            <a:endParaRPr/>
          </a:p>
          <a:p>
            <a:pPr>
              <a:defRPr/>
            </a:pPr>
            <a:r>
              <a:rPr/>
              <a:t>Look at today's options. [click] On Instagram, prices are often hidden. Miswag, iBazzar and Elryan show prices — but the same product shows up in several listings, and Elryan sells only its own stock. [click] Only Cheapify puts every seller of a product on one page — and compares them for you.</a:t>
            </a:r>
            <a:endParaRPr/>
          </a:p>
          <a:p>
            <a:pPr>
              <a:defRPr/>
            </a:pPr>
            <a:endParaRPr/>
          </a:p>
          <a:p>
            <a:pPr>
              <a:defRPr/>
            </a:pPr>
            <a:r>
              <a:rPr/>
              <a:t>Key numbers:</a:t>
            </a:r>
            <a:endParaRPr/>
          </a:p>
          <a:p>
            <a:pPr>
              <a:defRPr/>
            </a:pPr>
            <a:r>
              <a:rPr/>
              <a:t>4 platforms — Price evidence screenshots (Sep–Oct 2026)</a:t>
            </a:r>
            <a:endParaRPr/>
          </a:p>
          <a:p>
            <a:pPr>
              <a:defRPr/>
            </a:pPr>
            <a:r>
              <a:rPr/>
              <a:t>4 criteria — Price evidence screenshots (Sep–Oct 2026)</a:t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Sp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498765" name="Slide Image Placeholder 1"/>
          <p:cNvSpPr>
            <a:spLocks noGrp="1"/>
          </p:cNvSpPr>
          <p:nvPr>
            <p:ph type="sldImg" idx="2"/>
          </p:nvPr>
        </p:nvSpPr>
        <p:spPr bwMode="auto"/>
      </p:sp>
      <p:sp>
        <p:nvSpPr>
          <p:cNvPr id="434672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Time: ~23s</a:t>
            </a:r>
            <a:endParaRPr/>
          </a:p>
          <a:p>
            <a:pPr>
              <a:defRPr/>
            </a:pPr>
            <a:r>
              <a:rPr/>
              <a:t>We grow on two sides. [click] Stores: I sign the first 20 in person, with zero commission in month one and free ads — and they bring their own followers. [click] Shoppers: targeted ads across Duhok, short videos, campus and workplace deals, and referrals. [click] Then the loop: more stores, lower prices, more shoppers, more orders.</a:t>
            </a:r>
            <a:endParaRPr/>
          </a:p>
          <a:p>
            <a:pPr>
              <a:defRPr/>
            </a:pPr>
            <a:endParaRPr/>
          </a:p>
          <a:p>
            <a:pPr>
              <a:defRPr/>
            </a:pPr>
            <a:r>
              <a:rPr/>
              <a:t>Key numbers:</a:t>
            </a:r>
            <a:endParaRPr/>
          </a:p>
          <a:p>
            <a:pPr>
              <a:defRPr/>
            </a:pPr>
            <a:r>
              <a:rPr/>
              <a:t>20 — Cheapify go-to-market plan</a:t>
            </a:r>
            <a:endParaRPr/>
          </a:p>
          <a:p>
            <a:pPr>
              <a:defRPr/>
            </a:pPr>
            <a:r>
              <a:rPr/>
              <a:t>0% — Cheapify go-to-market plan</a:t>
            </a:r>
            <a:endParaRPr/>
          </a:p>
          <a:p>
            <a:pPr>
              <a:defRPr/>
            </a:pPr>
            <a:r>
              <a:rPr/>
              <a:t>~52 — Cheapify market survey, n=199 (Sep–Oct 2026)</a:t>
            </a:r>
            <a:endParaRPr/>
          </a:p>
          <a:p>
            <a:pPr>
              <a:defRPr/>
            </a:pPr>
            <a:r>
              <a:rPr/>
              <a:t>~8 — Cheapify market survey, n=199 (Sep–Oct 2026)</a:t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Sp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3055871" name="Slide Image Placeholder 1"/>
          <p:cNvSpPr>
            <a:spLocks noGrp="1"/>
          </p:cNvSpPr>
          <p:nvPr>
            <p:ph type="sldImg" idx="2"/>
          </p:nvPr>
        </p:nvSpPr>
        <p:spPr bwMode="auto"/>
      </p:sp>
      <p:sp>
        <p:nvSpPr>
          <p:cNvPr id="117541374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Time: ~26s</a:t>
            </a:r>
            <a:endParaRPr/>
          </a:p>
          <a:p>
            <a:pPr>
              <a:defRPr/>
            </a:pPr>
            <a:r>
              <a:rPr/>
              <a:t>We break even at about 585 orders a month — around 20 a day. [click] On our planned pace, the lowest cash point is about 2,200 dollars; we break even in month four and recover everything by month eight. [click] With a strong growth push: month three and month six. [click] Even if growth is slow, we're profitable every month from month seven.</a:t>
            </a:r>
            <a:endParaRPr/>
          </a:p>
          <a:p>
            <a:pPr>
              <a:defRPr/>
            </a:pPr>
            <a:endParaRPr/>
          </a:p>
          <a:p>
            <a:pPr>
              <a:defRPr/>
            </a:pPr>
            <a:r>
              <a:rPr/>
              <a:t>Key numbers:</a:t>
            </a:r>
            <a:endParaRPr/>
          </a:p>
          <a:p>
            <a:pPr>
              <a:defRPr/>
            </a:pPr>
            <a:r>
              <a:rPr/>
              <a:t>≈ 585 orders / month — Cheapify financial model</a:t>
            </a:r>
            <a:endParaRPr/>
          </a:p>
          <a:p>
            <a:pPr>
              <a:defRPr/>
            </a:pPr>
            <a:r>
              <a:rPr/>
              <a:t>1,115 IQD — Cheapify financial model</a:t>
            </a:r>
            <a:endParaRPr/>
          </a:p>
          <a:p>
            <a:pPr>
              <a:defRPr/>
            </a:pPr>
            <a:r>
              <a:rPr/>
              <a:t>−$2,180 (month 3) — Cheapify financial model</a:t>
            </a:r>
            <a:endParaRPr/>
          </a:p>
          <a:p>
            <a:pPr>
              <a:defRPr/>
            </a:pPr>
            <a:r>
              <a:rPr/>
              <a:t>−$1,800 (month 2) — Cheapify financial model</a:t>
            </a:r>
            <a:endParaRPr/>
          </a:p>
          <a:p>
            <a:pPr>
              <a:defRPr/>
            </a:pPr>
            <a:r>
              <a:rPr/>
              <a:t>652,000 IQD — Cheapify financial model</a:t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Sp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6898383" name="Slide Image Placeholder 1"/>
          <p:cNvSpPr>
            <a:spLocks noGrp="1"/>
          </p:cNvSpPr>
          <p:nvPr>
            <p:ph type="sldImg" idx="2"/>
          </p:nvPr>
        </p:nvSpPr>
        <p:spPr bwMode="auto"/>
      </p:sp>
      <p:sp>
        <p:nvSpPr>
          <p:cNvPr id="18086173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Time: ~29s</a:t>
            </a:r>
            <a:endParaRPr/>
          </a:p>
          <a:p>
            <a:pPr>
              <a:defRPr/>
            </a:pPr>
            <a:r>
              <a:rPr/>
              <a:t>We're asking for 7,500 dollars, and every dollar has a job. [click] Cash gap, growth, registration, store kits, pilot, reserve. [click] 2,500 carries us safely to break-even. [click] 4,500 adds the pilot and registers the company — unlocking the courier contract and card payments. [click] 7,500 adds a real growth push, aiming for the fast case. [click] And none of it goes to salaries or developers — I build the platform myself.</a:t>
            </a:r>
            <a:endParaRPr/>
          </a:p>
          <a:p>
            <a:pPr>
              <a:defRPr/>
            </a:pPr>
            <a:endParaRPr/>
          </a:p>
          <a:p>
            <a:pPr>
              <a:defRPr/>
            </a:pPr>
            <a:r>
              <a:rPr/>
              <a:t>Key numbers:</a:t>
            </a:r>
            <a:endParaRPr/>
          </a:p>
          <a:p>
            <a:pPr>
              <a:defRPr/>
            </a:pPr>
            <a:r>
              <a:rPr/>
              <a:t>$7,500 (≈ 11.25M IQD) — Cheapify financial model</a:t>
            </a:r>
            <a:endParaRPr/>
          </a:p>
          <a:p>
            <a:pPr>
              <a:defRPr/>
            </a:pPr>
            <a:r>
              <a:rPr/>
              <a:t>$4,500 · $2,500 — Cheapify financial model</a:t>
            </a:r>
            <a:endParaRPr/>
          </a:p>
          <a:p>
            <a:pPr>
              <a:defRPr/>
            </a:pPr>
            <a:r>
              <a:rPr/>
              <a:t>$2,200 — Cheapify financial model</a:t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Sp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4822429" name="Slide Image Placeholder 1"/>
          <p:cNvSpPr>
            <a:spLocks noGrp="1"/>
          </p:cNvSpPr>
          <p:nvPr>
            <p:ph type="sldImg" idx="2"/>
          </p:nvPr>
        </p:nvSpPr>
        <p:spPr bwMode="auto"/>
      </p:sp>
      <p:sp>
        <p:nvSpPr>
          <p:cNvPr id="74290877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Time: ~16s</a:t>
            </a:r>
            <a:endParaRPr/>
          </a:p>
          <a:p>
            <a:pPr>
              <a:defRPr/>
            </a:pPr>
            <a:r>
              <a:rPr/>
              <a:t>Once funded: [click] we register and sign the courier contract — rates are already quoted. [click] We run 10 to 20 real orders by hand. [click] We launch with 20 founding stores. [click] Break-even by month four, [click] then Erbil, Mosul and Sulaymaniyah.</a:t>
            </a:r>
            <a:endParaRPr/>
          </a:p>
          <a:p>
            <a:pPr>
              <a:defRPr/>
            </a:pPr>
            <a:endParaRPr/>
          </a:p>
          <a:p>
            <a:pPr>
              <a:defRPr/>
            </a:pPr>
            <a:r>
              <a:rPr/>
              <a:t>Key numbers:</a:t>
            </a:r>
            <a:endParaRPr/>
          </a:p>
          <a:p>
            <a:pPr>
              <a:defRPr/>
            </a:pPr>
            <a:r>
              <a:rPr/>
              <a:t>10–20 — Cheapify financial model</a:t>
            </a:r>
            <a:endParaRPr/>
          </a:p>
          <a:p>
            <a:pPr>
              <a:defRPr/>
            </a:pPr>
            <a:r>
              <a:rPr/>
              <a:t>20 — Cheapify go-to-market plan</a:t>
            </a:r>
            <a:endParaRPr/>
          </a:p>
          <a:p>
            <a:pPr>
              <a:defRPr/>
            </a:pPr>
            <a:r>
              <a:rPr/>
              <a:t>Month 4 · ~600 orders — Cheapify financial model</a:t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71267" name="Google Shape;101;p8:notes"/>
          <p:cNvSpPr txBox="1"/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defRPr/>
            </a:pPr>
            <a:r>
              <a:rPr/>
              <a:t>Time: ~4s</a:t>
            </a:r>
            <a:endParaRPr/>
          </a:p>
          <a:p>
            <a:pPr>
              <a:defRPr/>
            </a:pPr>
            <a:r>
              <a:rPr/>
              <a:t>Cheapify — the bright side of choosing. Thank you.</a:t>
            </a:r>
            <a:endParaRPr/>
          </a:p>
        </p:txBody>
      </p:sp>
      <p:sp>
        <p:nvSpPr>
          <p:cNvPr id="1744095102" name="Google Shape;102;p8:notes"/>
          <p:cNvSpPr/>
          <p:nvPr>
            <p:ph type="sldImg" idx="2"/>
          </p:nvPr>
        </p:nvSpPr>
        <p:spPr bwMode="auto"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Sp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29435552" name="Slide Image Placeholder 1"/>
          <p:cNvSpPr>
            <a:spLocks noGrp="1"/>
          </p:cNvSpPr>
          <p:nvPr>
            <p:ph type="sldImg" idx="2"/>
          </p:nvPr>
        </p:nvSpPr>
        <p:spPr bwMode="auto"/>
      </p:sp>
      <p:sp>
        <p:nvSpPr>
          <p:cNvPr id="11685471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Backup for questions.</a:t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Sp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2193539" name="Slide Image Placeholder 1"/>
          <p:cNvSpPr>
            <a:spLocks noGrp="1"/>
          </p:cNvSpPr>
          <p:nvPr>
            <p:ph type="sldImg" idx="2"/>
          </p:nvPr>
        </p:nvSpPr>
        <p:spPr bwMode="auto"/>
      </p:sp>
      <p:sp>
        <p:nvSpPr>
          <p:cNvPr id="11079753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Backup for questions.</a:t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Sp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1002679" name="Slide Image Placeholder 1"/>
          <p:cNvSpPr>
            <a:spLocks noGrp="1"/>
          </p:cNvSpPr>
          <p:nvPr>
            <p:ph type="sldImg" idx="2"/>
          </p:nvPr>
        </p:nvSpPr>
        <p:spPr bwMode="auto"/>
      </p:sp>
      <p:sp>
        <p:nvSpPr>
          <p:cNvPr id="142838576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Backup for questions.</a:t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Sp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0171891" name="Slide Image Placeholder 1"/>
          <p:cNvSpPr>
            <a:spLocks noGrp="1"/>
          </p:cNvSpPr>
          <p:nvPr>
            <p:ph type="sldImg" idx="2"/>
          </p:nvPr>
        </p:nvSpPr>
        <p:spPr bwMode="auto"/>
      </p:sp>
      <p:sp>
        <p:nvSpPr>
          <p:cNvPr id="110467917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Backup for questions.</a:t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Sp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2246370" name="Slide Image Placeholder 1"/>
          <p:cNvSpPr>
            <a:spLocks noGrp="1"/>
          </p:cNvSpPr>
          <p:nvPr>
            <p:ph type="sldImg" idx="2"/>
          </p:nvPr>
        </p:nvSpPr>
        <p:spPr bwMode="auto"/>
      </p:sp>
      <p:sp>
        <p:nvSpPr>
          <p:cNvPr id="23856639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Backup for questions.</a:t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Sp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26478703" name="Slide Image Placeholder 1"/>
          <p:cNvSpPr>
            <a:spLocks noGrp="1"/>
          </p:cNvSpPr>
          <p:nvPr>
            <p:ph type="sldImg" idx="2"/>
          </p:nvPr>
        </p:nvSpPr>
        <p:spPr bwMode="auto"/>
      </p:sp>
      <p:sp>
        <p:nvSpPr>
          <p:cNvPr id="43882899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Backup for questions.</a:t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Sp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09187731" name="Slide Image Placeholder 1"/>
          <p:cNvSpPr>
            <a:spLocks noGrp="1"/>
          </p:cNvSpPr>
          <p:nvPr>
            <p:ph type="sldImg" idx="2"/>
          </p:nvPr>
        </p:nvSpPr>
        <p:spPr bwMode="auto"/>
      </p:sp>
      <p:sp>
        <p:nvSpPr>
          <p:cNvPr id="36309011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Backup for questions.</a:t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Sp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0931152" name="Slide Image Placeholder 1"/>
          <p:cNvSpPr>
            <a:spLocks noGrp="1"/>
          </p:cNvSpPr>
          <p:nvPr>
            <p:ph type="sldImg" idx="2"/>
          </p:nvPr>
        </p:nvSpPr>
        <p:spPr bwMode="auto"/>
      </p:sp>
      <p:sp>
        <p:nvSpPr>
          <p:cNvPr id="5353022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Backup for questions.</a:t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Blank" preserve="0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97041152" name="Google Shape;12;p2"/>
          <p:cNvSpPr txBox="1"/>
          <p:nvPr>
            <p:ph type="dt" idx="10"/>
          </p:nvPr>
        </p:nvSpPr>
        <p:spPr bwMode="auto"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702584949" name="Google Shape;13;p2"/>
          <p:cNvSpPr txBox="1"/>
          <p:nvPr>
            <p:ph type="ftr" idx="11"/>
          </p:nvPr>
        </p:nvSpPr>
        <p:spPr bwMode="auto"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5037315" name="Google Shape;14;p2"/>
          <p:cNvSpPr txBox="1"/>
          <p:nvPr>
            <p:ph type="sldNum" idx="12"/>
          </p:nvPr>
        </p:nvSpPr>
        <p:spPr bwMode="auto"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Title Slide" preserve="0" showMasterPhAnim="0" showMasterSp="1" type="title" userDrawn="1">
  <p:cSld name="TITL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7335755" name="Google Shape;16;p3"/>
          <p:cNvSpPr txBox="1"/>
          <p:nvPr>
            <p:ph type="ctrTitle"/>
          </p:nvPr>
        </p:nvSpPr>
        <p:spPr bwMode="auto"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450390321" name="Google Shape;17;p3"/>
          <p:cNvSpPr txBox="1"/>
          <p:nvPr>
            <p:ph type="subTitle" idx="1"/>
          </p:nvPr>
        </p:nvSpPr>
        <p:spPr bwMode="auto">
          <a:xfrm>
            <a:off x="1371600" y="3886200"/>
            <a:ext cx="6400800" cy="17525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62013886" name="Google Shape;18;p3"/>
          <p:cNvSpPr txBox="1"/>
          <p:nvPr>
            <p:ph type="dt" idx="10"/>
          </p:nvPr>
        </p:nvSpPr>
        <p:spPr bwMode="auto"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453743007" name="Google Shape;19;p3"/>
          <p:cNvSpPr txBox="1"/>
          <p:nvPr>
            <p:ph type="ftr" idx="11"/>
          </p:nvPr>
        </p:nvSpPr>
        <p:spPr bwMode="auto"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655400149" name="Google Shape;20;p3"/>
          <p:cNvSpPr txBox="1"/>
          <p:nvPr>
            <p:ph type="sldNum" idx="12"/>
          </p:nvPr>
        </p:nvSpPr>
        <p:spPr bwMode="auto"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Title and Content" preserve="0" showMasterPhAnim="0" showMasterSp="1" type="obj" userDrawn="1">
  <p:cSld name="OBJEC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8693632" name="Google Shape;22;p4"/>
          <p:cNvSpPr txBox="1"/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30741208" name="Google Shape;23;p4"/>
          <p:cNvSpPr txBox="1"/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604488606" name="Google Shape;24;p4"/>
          <p:cNvSpPr txBox="1"/>
          <p:nvPr>
            <p:ph type="dt" idx="10"/>
          </p:nvPr>
        </p:nvSpPr>
        <p:spPr bwMode="auto"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255198097" name="Google Shape;25;p4"/>
          <p:cNvSpPr txBox="1"/>
          <p:nvPr>
            <p:ph type="ftr" idx="11"/>
          </p:nvPr>
        </p:nvSpPr>
        <p:spPr bwMode="auto"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068200939" name="Google Shape;26;p4"/>
          <p:cNvSpPr txBox="1"/>
          <p:nvPr>
            <p:ph type="sldNum" idx="12"/>
          </p:nvPr>
        </p:nvSpPr>
        <p:spPr bwMode="auto"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Section Header" preserve="0" showMasterPhAnim="0" showMasterSp="1" type="secHead" userDrawn="1">
  <p:cSld name="SECTION_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7556638" name="Google Shape;28;p5"/>
          <p:cNvSpPr txBox="1"/>
          <p:nvPr>
            <p:ph type="title"/>
          </p:nvPr>
        </p:nvSpPr>
        <p:spPr bwMode="auto"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733778722" name="Google Shape;29;p5"/>
          <p:cNvSpPr txBox="1"/>
          <p:nvPr>
            <p:ph type="body" idx="1"/>
          </p:nvPr>
        </p:nvSpPr>
        <p:spPr bwMode="auto"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1134998859" name="Google Shape;30;p5"/>
          <p:cNvSpPr txBox="1"/>
          <p:nvPr>
            <p:ph type="dt" idx="10"/>
          </p:nvPr>
        </p:nvSpPr>
        <p:spPr bwMode="auto"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384726028" name="Google Shape;31;p5"/>
          <p:cNvSpPr txBox="1"/>
          <p:nvPr>
            <p:ph type="ftr" idx="11"/>
          </p:nvPr>
        </p:nvSpPr>
        <p:spPr bwMode="auto"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506052680" name="Google Shape;32;p5"/>
          <p:cNvSpPr txBox="1"/>
          <p:nvPr>
            <p:ph type="sldNum" idx="12"/>
          </p:nvPr>
        </p:nvSpPr>
        <p:spPr bwMode="auto"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Two Content" preserve="0" showMasterPhAnim="0" showMasterSp="1" type="twoObj" userDrawn="1">
  <p:cSld name="TWO_OBJECTS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5807968" name="Google Shape;34;p6"/>
          <p:cNvSpPr txBox="1"/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254030546" name="Google Shape;35;p6"/>
          <p:cNvSpPr txBox="1"/>
          <p:nvPr>
            <p:ph type="body" idx="1"/>
          </p:nvPr>
        </p:nvSpPr>
        <p:spPr bwMode="auto"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pPr>
              <a:defRPr/>
            </a:pPr>
            <a:endParaRPr/>
          </a:p>
        </p:txBody>
      </p:sp>
      <p:sp>
        <p:nvSpPr>
          <p:cNvPr id="1607745486" name="Google Shape;36;p6"/>
          <p:cNvSpPr txBox="1"/>
          <p:nvPr>
            <p:ph type="body" idx="2"/>
          </p:nvPr>
        </p:nvSpPr>
        <p:spPr bwMode="auto"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pPr>
              <a:defRPr/>
            </a:pPr>
            <a:endParaRPr/>
          </a:p>
        </p:txBody>
      </p:sp>
      <p:sp>
        <p:nvSpPr>
          <p:cNvPr id="2058530573" name="Google Shape;37;p6"/>
          <p:cNvSpPr txBox="1"/>
          <p:nvPr>
            <p:ph type="dt" idx="10"/>
          </p:nvPr>
        </p:nvSpPr>
        <p:spPr bwMode="auto"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209796008" name="Google Shape;38;p6"/>
          <p:cNvSpPr txBox="1"/>
          <p:nvPr>
            <p:ph type="ftr" idx="11"/>
          </p:nvPr>
        </p:nvSpPr>
        <p:spPr bwMode="auto"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2100727109" name="Google Shape;39;p6"/>
          <p:cNvSpPr txBox="1"/>
          <p:nvPr>
            <p:ph type="sldNum" idx="12"/>
          </p:nvPr>
        </p:nvSpPr>
        <p:spPr bwMode="auto"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Comparison" preserve="0" showMasterPhAnim="0" showMasterSp="1" type="twoTxTwoObj" userDrawn="1">
  <p:cSld name="TWO_OBJECTS_WITH_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8861080" name="Google Shape;41;p7"/>
          <p:cNvSpPr txBox="1"/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582146615" name="Google Shape;42;p7"/>
          <p:cNvSpPr txBox="1"/>
          <p:nvPr>
            <p:ph type="body" idx="1"/>
          </p:nvPr>
        </p:nvSpPr>
        <p:spPr bwMode="auto"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pPr>
              <a:defRPr/>
            </a:pPr>
            <a:endParaRPr/>
          </a:p>
        </p:txBody>
      </p:sp>
      <p:sp>
        <p:nvSpPr>
          <p:cNvPr id="1450135435" name="Google Shape;43;p7"/>
          <p:cNvSpPr txBox="1"/>
          <p:nvPr>
            <p:ph type="body" idx="2"/>
          </p:nvPr>
        </p:nvSpPr>
        <p:spPr bwMode="auto"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pPr>
              <a:defRPr/>
            </a:pPr>
            <a:endParaRPr/>
          </a:p>
        </p:txBody>
      </p:sp>
      <p:sp>
        <p:nvSpPr>
          <p:cNvPr id="1253624628" name="Google Shape;44;p7"/>
          <p:cNvSpPr txBox="1"/>
          <p:nvPr>
            <p:ph type="body" idx="3"/>
          </p:nvPr>
        </p:nvSpPr>
        <p:spPr bwMode="auto"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pPr>
              <a:defRPr/>
            </a:pPr>
            <a:endParaRPr/>
          </a:p>
        </p:txBody>
      </p:sp>
      <p:sp>
        <p:nvSpPr>
          <p:cNvPr id="586949968" name="Google Shape;45;p7"/>
          <p:cNvSpPr txBox="1"/>
          <p:nvPr>
            <p:ph type="body" idx="4"/>
          </p:nvPr>
        </p:nvSpPr>
        <p:spPr bwMode="auto"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pPr>
              <a:defRPr/>
            </a:pPr>
            <a:endParaRPr/>
          </a:p>
        </p:txBody>
      </p:sp>
      <p:sp>
        <p:nvSpPr>
          <p:cNvPr id="2127741151" name="Google Shape;46;p7"/>
          <p:cNvSpPr txBox="1"/>
          <p:nvPr>
            <p:ph type="dt" idx="10"/>
          </p:nvPr>
        </p:nvSpPr>
        <p:spPr bwMode="auto"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2047255842" name="Google Shape;47;p7"/>
          <p:cNvSpPr txBox="1"/>
          <p:nvPr>
            <p:ph type="ftr" idx="11"/>
          </p:nvPr>
        </p:nvSpPr>
        <p:spPr bwMode="auto"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512647508" name="Google Shape;48;p7"/>
          <p:cNvSpPr txBox="1"/>
          <p:nvPr>
            <p:ph type="sldNum" idx="12"/>
          </p:nvPr>
        </p:nvSpPr>
        <p:spPr bwMode="auto"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Title Only" preserve="0" showMasterPhAnim="0" showMasterSp="1" type="titleOnly" userDrawn="1">
  <p:cSld name="TITLE_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8845805" name="Google Shape;50;p8"/>
          <p:cNvSpPr txBox="1"/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515731081" name="Google Shape;51;p8"/>
          <p:cNvSpPr txBox="1"/>
          <p:nvPr>
            <p:ph type="dt" idx="10"/>
          </p:nvPr>
        </p:nvSpPr>
        <p:spPr bwMode="auto"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439509405" name="Google Shape;52;p8"/>
          <p:cNvSpPr txBox="1"/>
          <p:nvPr>
            <p:ph type="ftr" idx="11"/>
          </p:nvPr>
        </p:nvSpPr>
        <p:spPr bwMode="auto"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851387909" name="Google Shape;53;p8"/>
          <p:cNvSpPr txBox="1"/>
          <p:nvPr>
            <p:ph type="sldNum" idx="12"/>
          </p:nvPr>
        </p:nvSpPr>
        <p:spPr bwMode="auto"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Content with Caption" preserve="0" showMasterPhAnim="0" showMasterSp="1" type="objTx" userDrawn="1">
  <p:cSld name="OBJECT_WITH_CAPTION_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8977902" name="Google Shape;55;p9"/>
          <p:cNvSpPr txBox="1"/>
          <p:nvPr>
            <p:ph type="title"/>
          </p:nvPr>
        </p:nvSpPr>
        <p:spPr bwMode="auto"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2066116029" name="Google Shape;56;p9"/>
          <p:cNvSpPr txBox="1"/>
          <p:nvPr>
            <p:ph type="body" idx="1"/>
          </p:nvPr>
        </p:nvSpPr>
        <p:spPr bwMode="auto"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799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pPr>
              <a:defRPr/>
            </a:pPr>
            <a:endParaRPr/>
          </a:p>
        </p:txBody>
      </p:sp>
      <p:sp>
        <p:nvSpPr>
          <p:cNvPr id="651019057" name="Google Shape;57;p9"/>
          <p:cNvSpPr txBox="1"/>
          <p:nvPr>
            <p:ph type="body" idx="2"/>
          </p:nvPr>
        </p:nvSpPr>
        <p:spPr bwMode="auto"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pPr>
              <a:defRPr/>
            </a:pPr>
            <a:endParaRPr/>
          </a:p>
        </p:txBody>
      </p:sp>
      <p:sp>
        <p:nvSpPr>
          <p:cNvPr id="299974849" name="Google Shape;58;p9"/>
          <p:cNvSpPr txBox="1"/>
          <p:nvPr>
            <p:ph type="dt" idx="10"/>
          </p:nvPr>
        </p:nvSpPr>
        <p:spPr bwMode="auto"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771744657" name="Google Shape;59;p9"/>
          <p:cNvSpPr txBox="1"/>
          <p:nvPr>
            <p:ph type="ftr" idx="11"/>
          </p:nvPr>
        </p:nvSpPr>
        <p:spPr bwMode="auto"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2125752466" name="Google Shape;60;p9"/>
          <p:cNvSpPr txBox="1"/>
          <p:nvPr>
            <p:ph type="sldNum" idx="12"/>
          </p:nvPr>
        </p:nvSpPr>
        <p:spPr bwMode="auto"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Picture with Caption" preserve="0" showMasterPhAnim="0" showMasterSp="1" type="picTx" userDrawn="1">
  <p:cSld name="PICTURE_WITH_CAPTION_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3948484" name="Google Shape;62;p10"/>
          <p:cNvSpPr txBox="1"/>
          <p:nvPr>
            <p:ph type="title"/>
          </p:nvPr>
        </p:nvSpPr>
        <p:spPr bwMode="auto"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976366734" name="Google Shape;63;p10"/>
          <p:cNvSpPr/>
          <p:nvPr>
            <p:ph type="pic" idx="2"/>
          </p:nvPr>
        </p:nvSpPr>
        <p:spPr bwMode="auto"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1471402421" name="Google Shape;64;p10"/>
          <p:cNvSpPr txBox="1"/>
          <p:nvPr>
            <p:ph type="body" idx="1"/>
          </p:nvPr>
        </p:nvSpPr>
        <p:spPr bwMode="auto"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pPr>
              <a:defRPr/>
            </a:pPr>
            <a:endParaRPr/>
          </a:p>
        </p:txBody>
      </p:sp>
      <p:sp>
        <p:nvSpPr>
          <p:cNvPr id="545852998" name="Google Shape;65;p10"/>
          <p:cNvSpPr txBox="1"/>
          <p:nvPr>
            <p:ph type="dt" idx="10"/>
          </p:nvPr>
        </p:nvSpPr>
        <p:spPr bwMode="auto"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89871061" name="Google Shape;66;p10"/>
          <p:cNvSpPr txBox="1"/>
          <p:nvPr>
            <p:ph type="ftr" idx="11"/>
          </p:nvPr>
        </p:nvSpPr>
        <p:spPr bwMode="auto"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460987391" name="Google Shape;67;p10"/>
          <p:cNvSpPr txBox="1"/>
          <p:nvPr>
            <p:ph type="sldNum" idx="12"/>
          </p:nvPr>
        </p:nvSpPr>
        <p:spPr bwMode="auto"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Title and Vertical Text" preserve="0" showMasterPhAnim="0" showMasterSp="1" type="vertTx" userDrawn="1">
  <p:cSld name="VERTICAL_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4540528" name="Google Shape;69;p11"/>
          <p:cNvSpPr txBox="1"/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15431270" name="Google Shape;70;p11"/>
          <p:cNvSpPr txBox="1"/>
          <p:nvPr>
            <p:ph type="body" idx="1"/>
          </p:nvPr>
        </p:nvSpPr>
        <p:spPr bwMode="auto"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705864358" name="Google Shape;71;p11"/>
          <p:cNvSpPr txBox="1"/>
          <p:nvPr>
            <p:ph type="dt" idx="10"/>
          </p:nvPr>
        </p:nvSpPr>
        <p:spPr bwMode="auto"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6837674" name="Google Shape;72;p11"/>
          <p:cNvSpPr txBox="1"/>
          <p:nvPr>
            <p:ph type="ftr" idx="11"/>
          </p:nvPr>
        </p:nvSpPr>
        <p:spPr bwMode="auto"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260285938" name="Google Shape;73;p11"/>
          <p:cNvSpPr txBox="1"/>
          <p:nvPr>
            <p:ph type="sldNum" idx="12"/>
          </p:nvPr>
        </p:nvSpPr>
        <p:spPr bwMode="auto"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Vertical Title and Text" preserve="0" showMasterPhAnim="0" showMasterSp="1" type="vertTitleAndTx" userDrawn="1">
  <p:cSld name="VERTICAL_TITLE_AND_VERTICAL_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7529028" name="Google Shape;75;p12"/>
          <p:cNvSpPr txBox="1"/>
          <p:nvPr>
            <p:ph type="title"/>
          </p:nvPr>
        </p:nvSpPr>
        <p:spPr bwMode="auto"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797742111" name="Google Shape;76;p12"/>
          <p:cNvSpPr txBox="1"/>
          <p:nvPr>
            <p:ph type="body" idx="1"/>
          </p:nvPr>
        </p:nvSpPr>
        <p:spPr bwMode="auto"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180019072" name="Google Shape;77;p12"/>
          <p:cNvSpPr txBox="1"/>
          <p:nvPr>
            <p:ph type="dt" idx="10"/>
          </p:nvPr>
        </p:nvSpPr>
        <p:spPr bwMode="auto"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2001315692" name="Google Shape;78;p12"/>
          <p:cNvSpPr txBox="1"/>
          <p:nvPr>
            <p:ph type="ftr" idx="11"/>
          </p:nvPr>
        </p:nvSpPr>
        <p:spPr bwMode="auto"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161993636" name="Google Shape;79;p12"/>
          <p:cNvSpPr txBox="1"/>
          <p:nvPr>
            <p:ph type="sldNum" idx="12"/>
          </p:nvPr>
        </p:nvSpPr>
        <p:spPr bwMode="auto"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solidFill>
          <a:schemeClr val="lt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11463" name="Google Shape;6;p1"/>
          <p:cNvSpPr txBox="1"/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pPr>
              <a:defRPr/>
            </a:pPr>
            <a:endParaRPr/>
          </a:p>
        </p:txBody>
      </p:sp>
      <p:sp>
        <p:nvSpPr>
          <p:cNvPr id="1670729923" name="Google Shape;7;p1"/>
          <p:cNvSpPr txBox="1"/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799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590346351" name="Google Shape;8;p1"/>
          <p:cNvSpPr txBox="1"/>
          <p:nvPr>
            <p:ph type="dt" idx="10"/>
          </p:nvPr>
        </p:nvSpPr>
        <p:spPr bwMode="auto"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1237497102" name="Google Shape;9;p1"/>
          <p:cNvSpPr txBox="1"/>
          <p:nvPr>
            <p:ph type="ftr" idx="11"/>
          </p:nvPr>
        </p:nvSpPr>
        <p:spPr bwMode="auto"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1227880986" name="Google Shape;10;p1"/>
          <p:cNvSpPr txBox="1"/>
          <p:nvPr>
            <p:ph type="sldNum" idx="12"/>
          </p:nvPr>
        </p:nvSpPr>
        <p:spPr bwMode="auto"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7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8.jp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9.jpg"/><Relationship Id="rId6" Type="http://schemas.openxmlformats.org/officeDocument/2006/relationships/image" Target="../media/image10.jpg"/><Relationship Id="rId7" Type="http://schemas.openxmlformats.org/officeDocument/2006/relationships/image" Target="../media/image11.jp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Relationship Id="rId9" Type="http://schemas.openxmlformats.org/officeDocument/2006/relationships/image" Target="../media/image18.png"/><Relationship Id="rId10" Type="http://schemas.openxmlformats.org/officeDocument/2006/relationships/image" Target="../media/image19.png"/><Relationship Id="rId11" Type="http://schemas.openxmlformats.org/officeDocument/2006/relationships/image" Target="../media/image20.png"/><Relationship Id="rId12" Type="http://schemas.openxmlformats.org/officeDocument/2006/relationships/image" Target="../media/image21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24.png"/><Relationship Id="rId6" Type="http://schemas.openxmlformats.org/officeDocument/2006/relationships/image" Target="../media/image25.png"/><Relationship Id="rId7" Type="http://schemas.openxmlformats.org/officeDocument/2006/relationships/image" Target="../media/image26.png"/><Relationship Id="rId8" Type="http://schemas.openxmlformats.org/officeDocument/2006/relationships/image" Target="../media/image18.png"/><Relationship Id="rId9" Type="http://schemas.openxmlformats.org/officeDocument/2006/relationships/image" Target="../media/image27.png"/><Relationship Id="rId10" Type="http://schemas.openxmlformats.org/officeDocument/2006/relationships/image" Target="../media/image28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29.png"/><Relationship Id="rId7" Type="http://schemas.openxmlformats.org/officeDocument/2006/relationships/image" Target="../media/image12.png"/><Relationship Id="rId8" Type="http://schemas.openxmlformats.org/officeDocument/2006/relationships/image" Target="../media/image30.png"/><Relationship Id="rId9" Type="http://schemas.openxmlformats.org/officeDocument/2006/relationships/image" Target="../media/image31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32.png"/><Relationship Id="rId6" Type="http://schemas.openxmlformats.org/officeDocument/2006/relationships/image" Target="../media/image33.png"/><Relationship Id="rId7" Type="http://schemas.openxmlformats.org/officeDocument/2006/relationships/image" Target="../media/image34.png"/><Relationship Id="rId8" Type="http://schemas.openxmlformats.org/officeDocument/2006/relationships/image" Target="../media/image7.png"/><Relationship Id="rId9" Type="http://schemas.openxmlformats.org/officeDocument/2006/relationships/image" Target="../media/image35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36.png"/><Relationship Id="rId7" Type="http://schemas.openxmlformats.org/officeDocument/2006/relationships/image" Target="../media/image37.png"/><Relationship Id="rId8" Type="http://schemas.openxmlformats.org/officeDocument/2006/relationships/image" Target="../media/image38.png"/><Relationship Id="rId9" Type="http://schemas.openxmlformats.org/officeDocument/2006/relationships/image" Target="../media/image39.png"/><Relationship Id="rId10" Type="http://schemas.openxmlformats.org/officeDocument/2006/relationships/image" Target="../media/image40.png"/><Relationship Id="rId11" Type="http://schemas.openxmlformats.org/officeDocument/2006/relationships/image" Target="../media/image41.png"/><Relationship Id="rId12" Type="http://schemas.openxmlformats.org/officeDocument/2006/relationships/image" Target="../media/image26.png"/><Relationship Id="rId13" Type="http://schemas.openxmlformats.org/officeDocument/2006/relationships/image" Target="../media/image27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2.png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3.png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7.png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2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2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6349222" name="Google Shape;84;p13"/>
          <p:cNvSpPr/>
          <p:nvPr/>
        </p:nvSpPr>
        <p:spPr bwMode="auto">
          <a:xfrm>
            <a:off x="723900" y="5848350"/>
            <a:ext cx="10744200" cy="514350"/>
          </a:xfrm>
          <a:prstGeom prst="roundRect">
            <a:avLst>
              <a:gd name="adj" fmla="val 25925"/>
            </a:avLst>
          </a:prstGeom>
          <a:solidFill>
            <a:srgbClr val="01053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pic>
        <p:nvPicPr>
          <p:cNvPr id="516502841" name="Google Shape;85;p13" descr="image.png"/>
          <p:cNvPicPr/>
          <p:nvPr/>
        </p:nvPicPr>
        <p:blipFill rotWithShape="1">
          <a:blip r:embed="rId3">
            <a:alphaModFix/>
          </a:blip>
          <a:srcRect l="0" t="0" r="0" b="0"/>
          <a:stretch/>
        </p:blipFill>
        <p:spPr bwMode="auto">
          <a:xfrm>
            <a:off x="1066800" y="6000750"/>
            <a:ext cx="209550" cy="209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460383630" name="Google Shape;86;p13" descr="image.png"/>
          <p:cNvPicPr/>
          <p:nvPr/>
        </p:nvPicPr>
        <p:blipFill rotWithShape="1">
          <a:blip r:embed="rId4">
            <a:alphaModFix/>
          </a:blip>
          <a:srcRect l="0" t="0" r="0" b="0"/>
          <a:stretch/>
        </p:blipFill>
        <p:spPr bwMode="auto">
          <a:xfrm>
            <a:off x="1390650" y="6000750"/>
            <a:ext cx="180975" cy="209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9899885" name="Google Shape;87;p13" descr="image.png"/>
          <p:cNvPicPr/>
          <p:nvPr/>
        </p:nvPicPr>
        <p:blipFill rotWithShape="1">
          <a:blip r:embed="rId5">
            <a:alphaModFix/>
          </a:blip>
          <a:srcRect l="0" t="0" r="0" b="0"/>
          <a:stretch/>
        </p:blipFill>
        <p:spPr bwMode="auto">
          <a:xfrm>
            <a:off x="5214937" y="6000750"/>
            <a:ext cx="180975" cy="209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861137080" name="Google Shape;88;p13" descr="image.png"/>
          <p:cNvPicPr/>
          <p:nvPr/>
        </p:nvPicPr>
        <p:blipFill rotWithShape="1">
          <a:blip r:embed="rId6">
            <a:alphaModFix/>
          </a:blip>
          <a:srcRect l="0" t="0" r="0" b="0"/>
          <a:stretch/>
        </p:blipFill>
        <p:spPr bwMode="auto">
          <a:xfrm>
            <a:off x="9115425" y="6000750"/>
            <a:ext cx="209550" cy="209550"/>
          </a:xfrm>
          <a:prstGeom prst="rect">
            <a:avLst/>
          </a:prstGeom>
          <a:noFill/>
          <a:ln>
            <a:noFill/>
          </a:ln>
        </p:spPr>
      </p:pic>
      <p:sp>
        <p:nvSpPr>
          <p:cNvPr id="52653706" name="Google Shape;89;p13"/>
          <p:cNvSpPr txBox="1"/>
          <p:nvPr/>
        </p:nvSpPr>
        <p:spPr bwMode="auto">
          <a:xfrm>
            <a:off x="1685925" y="6010274"/>
            <a:ext cx="1104900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350" b="1" i="0" u="none" strike="noStrike" cap="none">
                <a:solidFill>
                  <a:srgbClr val="FFFFFF"/>
                </a:solidFill>
                <a:latin typeface="Comfortaa"/>
                <a:ea typeface="Comfortaa"/>
                <a:cs typeface="Comfortaa"/>
              </a:rPr>
              <a:t>capa.auk</a:t>
            </a:r>
            <a:endParaRPr/>
          </a:p>
        </p:txBody>
      </p:sp>
      <p:sp>
        <p:nvSpPr>
          <p:cNvPr id="1711137242" name="Google Shape;90;p13"/>
          <p:cNvSpPr txBox="1"/>
          <p:nvPr/>
        </p:nvSpPr>
        <p:spPr bwMode="auto">
          <a:xfrm>
            <a:off x="5510212" y="6010274"/>
            <a:ext cx="1181099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350" b="1" i="0" u="none" strike="noStrike" cap="none">
                <a:solidFill>
                  <a:srgbClr val="FFFFFF"/>
                </a:solidFill>
                <a:latin typeface="Comfortaa"/>
                <a:ea typeface="Comfortaa"/>
                <a:cs typeface="Comfortaa"/>
              </a:rPr>
              <a:t>CAPA AUK</a:t>
            </a:r>
            <a:endParaRPr/>
          </a:p>
        </p:txBody>
      </p:sp>
      <p:sp>
        <p:nvSpPr>
          <p:cNvPr id="2134443574" name="Google Shape;91;p13"/>
          <p:cNvSpPr txBox="1"/>
          <p:nvPr/>
        </p:nvSpPr>
        <p:spPr bwMode="auto">
          <a:xfrm>
            <a:off x="9439275" y="6010274"/>
            <a:ext cx="2107406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350" b="1" i="0" u="none" strike="noStrike" cap="none">
                <a:solidFill>
                  <a:srgbClr val="FFFFFF"/>
                </a:solidFill>
                <a:latin typeface="Comfortaa"/>
                <a:ea typeface="Comfortaa"/>
                <a:cs typeface="Comfortaa"/>
              </a:rPr>
              <a:t>capa@auk.edu.krd</a:t>
            </a:r>
            <a:endParaRPr/>
          </a:p>
        </p:txBody>
      </p:sp>
      <p:pic>
        <p:nvPicPr>
          <p:cNvPr id="611037438" name="Google Shape;92;p13" title="Center_for_Academic_and_Professional_Advancement.png"/>
          <p:cNvPicPr/>
          <p:nvPr/>
        </p:nvPicPr>
        <p:blipFill rotWithShape="1">
          <a:blip r:embed="rId7">
            <a:alphaModFix/>
          </a:blip>
          <a:stretch/>
        </p:blipFill>
        <p:spPr bwMode="auto">
          <a:xfrm>
            <a:off x="7488575" y="351575"/>
            <a:ext cx="4058099" cy="1237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0108534" name="Google Shape;93;p13" title="german cooperation deutsche zusammenarbeit.png"/>
          <p:cNvPicPr/>
          <p:nvPr/>
        </p:nvPicPr>
        <p:blipFill rotWithShape="1">
          <a:blip r:embed="rId8">
            <a:alphaModFix/>
          </a:blip>
          <a:stretch/>
        </p:blipFill>
        <p:spPr bwMode="auto">
          <a:xfrm>
            <a:off x="723901" y="459625"/>
            <a:ext cx="1823430" cy="1021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16960655" name="Picture 93" descr="cheapify-logo.png"/>
          <p:cNvPicPr>
            <a:picLocks noChangeAspect="1"/>
          </p:cNvPicPr>
          <p:nvPr/>
        </p:nvPicPr>
        <p:blipFill rotWithShape="1">
          <a:blip r:embed="rId9"/>
          <a:stretch/>
        </p:blipFill>
        <p:spPr bwMode="auto">
          <a:xfrm>
            <a:off x="5524348" y="1645920"/>
            <a:ext cx="1143000" cy="1469571"/>
          </a:xfrm>
          <a:prstGeom prst="rect">
            <a:avLst/>
          </a:prstGeom>
        </p:spPr>
      </p:pic>
      <p:sp>
        <p:nvSpPr>
          <p:cNvPr id="513567335" name="TextBox 94"/>
          <p:cNvSpPr txBox="1"/>
          <p:nvPr/>
        </p:nvSpPr>
        <p:spPr bwMode="auto">
          <a:xfrm>
            <a:off x="0" y="3154680"/>
            <a:ext cx="12191695" cy="8686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defRPr/>
            </a:pPr>
            <a:r>
              <a:rPr lang="en-US" sz="5400" b="1">
                <a:solidFill>
                  <a:srgbClr val="101820"/>
                </a:solidFill>
                <a:latin typeface="Comfortaa"/>
                <a:cs typeface="Comfortaa"/>
              </a:rPr>
              <a:t>Cheapify</a:t>
            </a:r>
            <a:endParaRPr/>
          </a:p>
        </p:txBody>
      </p:sp>
      <p:sp>
        <p:nvSpPr>
          <p:cNvPr id="2100203805" name="TextBox 95"/>
          <p:cNvSpPr txBox="1"/>
          <p:nvPr/>
        </p:nvSpPr>
        <p:spPr bwMode="auto">
          <a:xfrm>
            <a:off x="0" y="4005072"/>
            <a:ext cx="12191695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defRPr/>
            </a:pPr>
            <a:r>
              <a:rPr lang="en-US" sz="2200" b="0">
                <a:solidFill>
                  <a:srgbClr val="298FC2"/>
                </a:solidFill>
                <a:latin typeface="Comfortaa"/>
                <a:cs typeface="Comfortaa"/>
              </a:rPr>
              <a:t>The bright side of choosing.</a:t>
            </a:r>
            <a:endParaRPr/>
          </a:p>
        </p:txBody>
      </p:sp>
      <p:sp>
        <p:nvSpPr>
          <p:cNvPr id="388861794" name="TextBox 96"/>
          <p:cNvSpPr txBox="1"/>
          <p:nvPr/>
        </p:nvSpPr>
        <p:spPr bwMode="auto">
          <a:xfrm>
            <a:off x="0" y="4736592"/>
            <a:ext cx="12191695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defRPr/>
            </a:pPr>
            <a:r>
              <a:rPr lang="en-US" sz="1400" b="1">
                <a:solidFill>
                  <a:srgbClr val="101820"/>
                </a:solidFill>
                <a:latin typeface="Inter"/>
                <a:cs typeface="Inter"/>
              </a:rPr>
              <a:t>Shakir Bashar · Founder</a:t>
            </a:r>
            <a:endParaRPr/>
          </a:p>
        </p:txBody>
      </p:sp>
      <p:sp>
        <p:nvSpPr>
          <p:cNvPr id="1091544092" name="TextBox 97"/>
          <p:cNvSpPr txBox="1"/>
          <p:nvPr/>
        </p:nvSpPr>
        <p:spPr bwMode="auto">
          <a:xfrm>
            <a:off x="0" y="5029200"/>
            <a:ext cx="12191695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defRPr/>
            </a:pPr>
            <a:r>
              <a:rPr lang="en-US" sz="1200" b="0">
                <a:solidFill>
                  <a:srgbClr val="5A6672"/>
                </a:solidFill>
                <a:latin typeface="Inter"/>
                <a:cs typeface="Inter"/>
              </a:rPr>
              <a:t>Youth Entrepreneurship Program · Final Pitch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fast" p14:dur="500" advClick="1">
        <p:fade thruBlk="0"/>
      </p:transition>
    </mc:Choice>
    <mc:Fallback>
      <p:transition spd="fast" advClick="1">
        <p:fade thruBlk="0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69606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300" fill="hold"/>
                                        <p:tgtEl>
                                          <p:spTgt spid="201696065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300" fill="hold"/>
                                        <p:tgtEl>
                                          <p:spTgt spid="201696065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300"/>
                                        <p:tgtEl>
                                          <p:spTgt spid="20169606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30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35673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5135673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60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02038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1002038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88617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00"/>
                                        <p:tgtEl>
                                          <p:spTgt spid="3888617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15440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00"/>
                                        <p:tgtEl>
                                          <p:spTgt spid="10915440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3567335" grpId="0" animBg="1"/>
      <p:bldP spid="2100203805" grpId="0" animBg="1"/>
      <p:bldP spid="388861794" grpId="0" animBg="1"/>
      <p:bldP spid="1091544092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277576942" name="Google Shape;98;p14" title="Center_for_Academic_and_Professional_Advancement.png"/>
          <p:cNvPicPr/>
          <p:nvPr/>
        </p:nvPicPr>
        <p:blipFill rotWithShape="1">
          <a:blip r:embed="rId3">
            <a:alphaModFix/>
          </a:blip>
          <a:stretch/>
        </p:blipFill>
        <p:spPr bwMode="auto">
          <a:xfrm>
            <a:off x="8289593" y="351575"/>
            <a:ext cx="3178502" cy="9693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876497103" name="Google Shape;99;p14" title="german cooperation deutsche zusammenarbeit.png"/>
          <p:cNvPicPr/>
          <p:nvPr/>
        </p:nvPicPr>
        <p:blipFill rotWithShape="1">
          <a:blip r:embed="rId4">
            <a:alphaModFix/>
          </a:blip>
          <a:stretch/>
        </p:blipFill>
        <p:spPr bwMode="auto">
          <a:xfrm>
            <a:off x="723900" y="436204"/>
            <a:ext cx="1428202" cy="800089"/>
          </a:xfrm>
          <a:prstGeom prst="rect">
            <a:avLst/>
          </a:prstGeom>
          <a:noFill/>
          <a:ln>
            <a:noFill/>
          </a:ln>
        </p:spPr>
      </p:pic>
      <p:sp>
        <p:nvSpPr>
          <p:cNvPr id="668645766" name="Rectangle 99"/>
          <p:cNvSpPr/>
          <p:nvPr/>
        </p:nvSpPr>
        <p:spPr bwMode="auto">
          <a:xfrm>
            <a:off x="722376" y="1517904"/>
            <a:ext cx="274320" cy="45720"/>
          </a:xfrm>
          <a:prstGeom prst="rect">
            <a:avLst/>
          </a:prstGeom>
          <a:solidFill>
            <a:srgbClr val="298FC2"/>
          </a:solidFill>
          <a:ln>
            <a:noFill/>
          </a:ln>
          <a:effectLst/>
        </p:spPr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54589950" name="TextBox 100"/>
          <p:cNvSpPr txBox="1"/>
          <p:nvPr/>
        </p:nvSpPr>
        <p:spPr bwMode="auto">
          <a:xfrm>
            <a:off x="1133856" y="1426464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defRPr/>
            </a:pPr>
            <a:r>
              <a:rPr lang="en-US" sz="1300" b="0">
                <a:solidFill>
                  <a:srgbClr val="5A6672"/>
                </a:solidFill>
                <a:latin typeface="Inter"/>
                <a:cs typeface="Inter"/>
              </a:rPr>
              <a:t>Problem</a:t>
            </a:r>
            <a:endParaRPr/>
          </a:p>
        </p:txBody>
      </p:sp>
      <p:sp>
        <p:nvSpPr>
          <p:cNvPr id="1775770870" name="TextBox 101"/>
          <p:cNvSpPr txBox="1"/>
          <p:nvPr/>
        </p:nvSpPr>
        <p:spPr bwMode="auto">
          <a:xfrm>
            <a:off x="722376" y="1700784"/>
            <a:ext cx="10744200" cy="5669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defRPr/>
            </a:pPr>
            <a:r>
              <a:rPr lang="en-US" sz="3000" b="1">
                <a:solidFill>
                  <a:srgbClr val="101820"/>
                </a:solidFill>
                <a:latin typeface="Comfortaa"/>
                <a:cs typeface="Comfortaa"/>
              </a:rPr>
              <a:t>Same power bank. 100,000 or 200,000 IQD.</a:t>
            </a:r>
            <a:endParaRPr/>
          </a:p>
        </p:txBody>
      </p:sp>
      <p:sp>
        <p:nvSpPr>
          <p:cNvPr id="1227001831" name="TextBox 102"/>
          <p:cNvSpPr txBox="1"/>
          <p:nvPr/>
        </p:nvSpPr>
        <p:spPr bwMode="auto">
          <a:xfrm>
            <a:off x="722376" y="6455664"/>
            <a:ext cx="10744200" cy="23774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defRPr/>
            </a:pPr>
            <a:r>
              <a:rPr lang="en-US" sz="900" b="0">
                <a:solidFill>
                  <a:srgbClr val="5A6672"/>
                </a:solidFill>
                <a:latin typeface="Inter"/>
                <a:cs typeface="Inter"/>
              </a:rPr>
              <a:t>Live app listings captured Oct 20, 2026 (Miswag, iBazzar); Instagram offers from seller posts dated Apr–Oct 2026. Seller names blurred.</a:t>
            </a:r>
            <a:endParaRPr/>
          </a:p>
        </p:txBody>
      </p:sp>
      <p:grpSp>
        <p:nvGrpSpPr>
          <p:cNvPr id="1413112516" name="Group 0"/>
          <p:cNvGrpSpPr/>
          <p:nvPr/>
        </p:nvGrpSpPr>
        <p:grpSpPr bwMode="auto">
          <a:xfrm>
            <a:off x="722376" y="2468880"/>
            <a:ext cx="3749040" cy="3383280"/>
            <a:chOff x="722376" y="2468880"/>
            <a:chExt cx="3749040" cy="3383280"/>
          </a:xfrm>
        </p:grpSpPr>
        <p:sp>
          <p:nvSpPr>
            <p:cNvPr id="104" name="Rounded Rectangle 103"/>
            <p:cNvSpPr/>
            <p:nvPr/>
          </p:nvSpPr>
          <p:spPr bwMode="auto">
            <a:xfrm>
              <a:off x="722376" y="2468880"/>
              <a:ext cx="3749040" cy="3383280"/>
            </a:xfrm>
            <a:prstGeom prst="roundRect">
              <a:avLst>
                <a:gd name="adj" fmla="val 3783"/>
              </a:avLst>
            </a:prstGeom>
            <a:solidFill>
              <a:srgbClr val="FFFFFF"/>
            </a:solidFill>
            <a:ln w="12700">
              <a:solidFill>
                <a:srgbClr val="DDE5ED"/>
              </a:solidFill>
            </a:ln>
            <a:effectLst>
              <a:outerShdw blurRad="101600" dist="25400" dir="5400000" algn="t" rotWithShape="0">
                <a:srgbClr val="101820">
                  <a:alpha val="9000"/>
                </a:srgbClr>
              </a:outerShdw>
            </a:effectLst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05" name="Rounded Rectangle 104"/>
            <p:cNvSpPr/>
            <p:nvPr/>
          </p:nvSpPr>
          <p:spPr bwMode="auto">
            <a:xfrm>
              <a:off x="859536" y="2606040"/>
              <a:ext cx="3474720" cy="2697480"/>
            </a:xfrm>
            <a:prstGeom prst="roundRect">
              <a:avLst>
                <a:gd name="adj" fmla="val 2711"/>
              </a:avLst>
            </a:prstGeom>
            <a:solidFill>
              <a:srgbClr val="F4F6F8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pic>
          <p:nvPicPr>
            <p:cNvPr id="106" name="Picture 105" descr="ev-miswag-anker.jpg"/>
            <p:cNvPicPr>
              <a:picLocks noChangeAspect="1"/>
            </p:cNvPicPr>
            <p:nvPr/>
          </p:nvPicPr>
          <p:blipFill rotWithShape="1">
            <a:blip r:embed="rId5"/>
            <a:stretch/>
          </p:blipFill>
          <p:spPr bwMode="auto">
            <a:xfrm>
              <a:off x="910971" y="2606040"/>
              <a:ext cx="3371850" cy="2697480"/>
            </a:xfrm>
            <a:prstGeom prst="rect">
              <a:avLst/>
            </a:prstGeom>
          </p:spPr>
        </p:pic>
        <p:sp>
          <p:nvSpPr>
            <p:cNvPr id="107" name="TextBox 106"/>
            <p:cNvSpPr txBox="1"/>
            <p:nvPr/>
          </p:nvSpPr>
          <p:spPr bwMode="auto">
            <a:xfrm>
              <a:off x="859536" y="5376672"/>
              <a:ext cx="3474720" cy="3657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defRPr/>
              </a:pPr>
              <a:r>
                <a:rPr lang="en-US" sz="1100" b="0">
                  <a:solidFill>
                    <a:srgbClr val="5A6672"/>
                  </a:solidFill>
                  <a:latin typeface="Inter"/>
                  <a:cs typeface="Inter"/>
                </a:rPr>
                <a:t>Miswag app — same search, same screen (Oct 20, 2026)</a:t>
              </a:r>
              <a:endParaRPr/>
            </a:p>
          </p:txBody>
        </p:sp>
      </p:grpSp>
      <p:grpSp>
        <p:nvGrpSpPr>
          <p:cNvPr id="1806693585" name="Group 1"/>
          <p:cNvGrpSpPr/>
          <p:nvPr/>
        </p:nvGrpSpPr>
        <p:grpSpPr bwMode="auto">
          <a:xfrm>
            <a:off x="1010878" y="4622906"/>
            <a:ext cx="643149" cy="181081"/>
            <a:chOff x="1010878" y="4622906"/>
            <a:chExt cx="643149" cy="181081"/>
          </a:xfrm>
        </p:grpSpPr>
        <p:sp>
          <p:nvSpPr>
            <p:cNvPr id="108" name="Rounded Rectangle 107"/>
            <p:cNvSpPr/>
            <p:nvPr/>
          </p:nvSpPr>
          <p:spPr bwMode="auto">
            <a:xfrm>
              <a:off x="1010878" y="4622906"/>
              <a:ext cx="643149" cy="181081"/>
            </a:xfrm>
            <a:prstGeom prst="roundRect">
              <a:avLst>
                <a:gd name="adj" fmla="val 30298"/>
              </a:avLst>
            </a:prstGeom>
            <a:noFill/>
            <a:ln w="28575">
              <a:solidFill>
                <a:srgbClr val="D22730"/>
              </a:solidFill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</p:grpSp>
      <p:grpSp>
        <p:nvGrpSpPr>
          <p:cNvPr id="253051010" name="Group 2"/>
          <p:cNvGrpSpPr/>
          <p:nvPr/>
        </p:nvGrpSpPr>
        <p:grpSpPr bwMode="auto">
          <a:xfrm>
            <a:off x="2673576" y="4622905"/>
            <a:ext cx="652515" cy="181081"/>
            <a:chOff x="2640605" y="4622906"/>
            <a:chExt cx="652515" cy="181081"/>
          </a:xfrm>
        </p:grpSpPr>
        <p:sp>
          <p:nvSpPr>
            <p:cNvPr id="109" name="Rounded Rectangle 108"/>
            <p:cNvSpPr/>
            <p:nvPr/>
          </p:nvSpPr>
          <p:spPr bwMode="auto">
            <a:xfrm>
              <a:off x="2640605" y="4622906"/>
              <a:ext cx="652515" cy="181081"/>
            </a:xfrm>
            <a:prstGeom prst="roundRect">
              <a:avLst>
                <a:gd name="adj" fmla="val 30298"/>
              </a:avLst>
            </a:prstGeom>
            <a:noFill/>
            <a:ln w="28575">
              <a:solidFill>
                <a:srgbClr val="D22730"/>
              </a:solidFill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</p:grpSp>
      <p:grpSp>
        <p:nvGrpSpPr>
          <p:cNvPr id="1744671963" name="Group 3"/>
          <p:cNvGrpSpPr/>
          <p:nvPr/>
        </p:nvGrpSpPr>
        <p:grpSpPr bwMode="auto">
          <a:xfrm>
            <a:off x="4754880" y="2468880"/>
            <a:ext cx="7086600" cy="2953512"/>
            <a:chOff x="4754880" y="2468880"/>
            <a:chExt cx="7086600" cy="2953512"/>
          </a:xfrm>
        </p:grpSpPr>
        <p:sp>
          <p:nvSpPr>
            <p:cNvPr id="110" name="TextBox 109"/>
            <p:cNvSpPr txBox="1"/>
            <p:nvPr/>
          </p:nvSpPr>
          <p:spPr bwMode="auto">
            <a:xfrm>
              <a:off x="4937760" y="2468880"/>
              <a:ext cx="4572000" cy="256032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defRPr/>
              </a:pPr>
              <a:r>
                <a:rPr lang="en-US" sz="1300" b="1">
                  <a:solidFill>
                    <a:srgbClr val="5A6672"/>
                  </a:solidFill>
                  <a:latin typeface="Inter"/>
                  <a:cs typeface="Inter"/>
                </a:rPr>
                <a:t>Every price we found for this model (IQD)</a:t>
              </a:r>
              <a:endParaRPr/>
            </a:p>
          </p:txBody>
        </p:sp>
        <p:sp>
          <p:nvSpPr>
            <p:cNvPr id="111" name="Oval 110"/>
            <p:cNvSpPr/>
            <p:nvPr/>
          </p:nvSpPr>
          <p:spPr bwMode="auto">
            <a:xfrm>
              <a:off x="9189720" y="2551176"/>
              <a:ext cx="128016" cy="128016"/>
            </a:xfrm>
            <a:prstGeom prst="ellipse">
              <a:avLst/>
            </a:prstGeom>
            <a:solidFill>
              <a:srgbClr val="101820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12" name="TextBox 111"/>
            <p:cNvSpPr txBox="1"/>
            <p:nvPr/>
          </p:nvSpPr>
          <p:spPr bwMode="auto">
            <a:xfrm>
              <a:off x="9372600" y="2487168"/>
              <a:ext cx="822960" cy="25603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defRPr/>
              </a:pPr>
              <a:r>
                <a:rPr lang="en-US" sz="1100" b="0">
                  <a:solidFill>
                    <a:srgbClr val="101820"/>
                  </a:solidFill>
                  <a:latin typeface="Inter"/>
                  <a:cs typeface="Inter"/>
                </a:rPr>
                <a:t>Instagram</a:t>
              </a:r>
              <a:endParaRPr/>
            </a:p>
          </p:txBody>
        </p:sp>
        <p:sp>
          <p:nvSpPr>
            <p:cNvPr id="113" name="Oval 112"/>
            <p:cNvSpPr/>
            <p:nvPr/>
          </p:nvSpPr>
          <p:spPr bwMode="auto">
            <a:xfrm>
              <a:off x="10104120" y="2551176"/>
              <a:ext cx="128016" cy="128016"/>
            </a:xfrm>
            <a:prstGeom prst="ellipse">
              <a:avLst/>
            </a:prstGeom>
            <a:solidFill>
              <a:srgbClr val="298FC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14" name="TextBox 113"/>
            <p:cNvSpPr txBox="1"/>
            <p:nvPr/>
          </p:nvSpPr>
          <p:spPr bwMode="auto">
            <a:xfrm>
              <a:off x="10287000" y="2487168"/>
              <a:ext cx="822960" cy="25603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defRPr/>
              </a:pPr>
              <a:r>
                <a:rPr lang="en-US" sz="1100" b="0">
                  <a:solidFill>
                    <a:srgbClr val="101820"/>
                  </a:solidFill>
                  <a:latin typeface="Inter"/>
                  <a:cs typeface="Inter"/>
                </a:rPr>
                <a:t>Miswag</a:t>
              </a:r>
              <a:endParaRPr/>
            </a:p>
          </p:txBody>
        </p:sp>
        <p:sp>
          <p:nvSpPr>
            <p:cNvPr id="115" name="Oval 114"/>
            <p:cNvSpPr/>
            <p:nvPr/>
          </p:nvSpPr>
          <p:spPr bwMode="auto">
            <a:xfrm>
              <a:off x="10835640" y="2551176"/>
              <a:ext cx="128016" cy="128016"/>
            </a:xfrm>
            <a:prstGeom prst="ellipse">
              <a:avLst/>
            </a:prstGeom>
            <a:solidFill>
              <a:srgbClr val="FFA300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16" name="TextBox 115"/>
            <p:cNvSpPr txBox="1"/>
            <p:nvPr/>
          </p:nvSpPr>
          <p:spPr bwMode="auto">
            <a:xfrm>
              <a:off x="11018520" y="2487168"/>
              <a:ext cx="822960" cy="25603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defRPr/>
              </a:pPr>
              <a:r>
                <a:rPr lang="en-US" sz="1100" b="0">
                  <a:solidFill>
                    <a:srgbClr val="101820"/>
                  </a:solidFill>
                  <a:latin typeface="Inter"/>
                  <a:cs typeface="Inter"/>
                </a:rPr>
                <a:t>iBazzar</a:t>
              </a:r>
              <a:endParaRPr/>
            </a:p>
          </p:txBody>
        </p:sp>
        <p:cxnSp>
          <p:nvCxnSpPr>
            <p:cNvPr id="117" name="Connector 116"/>
            <p:cNvCxnSpPr/>
            <p:nvPr/>
          </p:nvCxnSpPr>
          <p:spPr bwMode="auto">
            <a:xfrm>
              <a:off x="5120640" y="5120640"/>
              <a:ext cx="6126480" cy="0"/>
            </a:xfrm>
            <a:prstGeom prst="line">
              <a:avLst/>
            </a:prstGeom>
            <a:ln w="12700">
              <a:solidFill>
                <a:srgbClr val="A9B1B9"/>
              </a:solidFill>
            </a:ln>
            <a:effectLst/>
          </p:spPr>
        </p:cxnSp>
        <p:cxnSp>
          <p:nvCxnSpPr>
            <p:cNvPr id="118" name="Connector 117"/>
            <p:cNvCxnSpPr/>
            <p:nvPr/>
          </p:nvCxnSpPr>
          <p:spPr bwMode="auto">
            <a:xfrm>
              <a:off x="5120640" y="5120640"/>
              <a:ext cx="0" cy="64008"/>
            </a:xfrm>
            <a:prstGeom prst="line">
              <a:avLst/>
            </a:prstGeom>
            <a:ln w="12700">
              <a:solidFill>
                <a:srgbClr val="A9B1B9"/>
              </a:solidFill>
            </a:ln>
            <a:effectLst/>
          </p:spPr>
        </p:cxnSp>
        <p:sp>
          <p:nvSpPr>
            <p:cNvPr id="119" name="TextBox 118"/>
            <p:cNvSpPr txBox="1"/>
            <p:nvPr/>
          </p:nvSpPr>
          <p:spPr bwMode="auto">
            <a:xfrm>
              <a:off x="4754880" y="5221224"/>
              <a:ext cx="731520" cy="20116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ctr">
                <a:defRPr/>
              </a:pPr>
              <a:r>
                <a:rPr lang="en-US" sz="1000" b="0">
                  <a:solidFill>
                    <a:srgbClr val="5A6672"/>
                  </a:solidFill>
                  <a:latin typeface="Inter"/>
                  <a:cs typeface="Inter"/>
                </a:rPr>
                <a:t>80k</a:t>
              </a:r>
              <a:endParaRPr/>
            </a:p>
          </p:txBody>
        </p:sp>
        <p:cxnSp>
          <p:nvCxnSpPr>
            <p:cNvPr id="120" name="Connector 119"/>
            <p:cNvCxnSpPr/>
            <p:nvPr/>
          </p:nvCxnSpPr>
          <p:spPr bwMode="auto">
            <a:xfrm>
              <a:off x="6063175" y="5120640"/>
              <a:ext cx="0" cy="64008"/>
            </a:xfrm>
            <a:prstGeom prst="line">
              <a:avLst/>
            </a:prstGeom>
            <a:ln w="12700">
              <a:solidFill>
                <a:srgbClr val="A9B1B9"/>
              </a:solidFill>
            </a:ln>
            <a:effectLst/>
          </p:spPr>
        </p:cxnSp>
        <p:sp>
          <p:nvSpPr>
            <p:cNvPr id="121" name="TextBox 120"/>
            <p:cNvSpPr txBox="1"/>
            <p:nvPr/>
          </p:nvSpPr>
          <p:spPr bwMode="auto">
            <a:xfrm>
              <a:off x="5697415" y="5221224"/>
              <a:ext cx="731520" cy="20116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ctr">
                <a:defRPr/>
              </a:pPr>
              <a:r>
                <a:rPr lang="en-US" sz="1000" b="0">
                  <a:solidFill>
                    <a:srgbClr val="5A6672"/>
                  </a:solidFill>
                  <a:latin typeface="Inter"/>
                  <a:cs typeface="Inter"/>
                </a:rPr>
                <a:t>100k</a:t>
              </a:r>
              <a:endParaRPr/>
            </a:p>
          </p:txBody>
        </p:sp>
        <p:cxnSp>
          <p:nvCxnSpPr>
            <p:cNvPr id="122" name="Connector 121"/>
            <p:cNvCxnSpPr/>
            <p:nvPr/>
          </p:nvCxnSpPr>
          <p:spPr bwMode="auto">
            <a:xfrm>
              <a:off x="7005711" y="5120640"/>
              <a:ext cx="0" cy="64008"/>
            </a:xfrm>
            <a:prstGeom prst="line">
              <a:avLst/>
            </a:prstGeom>
            <a:ln w="12700">
              <a:solidFill>
                <a:srgbClr val="A9B1B9"/>
              </a:solidFill>
            </a:ln>
            <a:effectLst/>
          </p:spPr>
        </p:cxnSp>
        <p:sp>
          <p:nvSpPr>
            <p:cNvPr id="123" name="TextBox 122"/>
            <p:cNvSpPr txBox="1"/>
            <p:nvPr/>
          </p:nvSpPr>
          <p:spPr bwMode="auto">
            <a:xfrm>
              <a:off x="6639951" y="5221224"/>
              <a:ext cx="731520" cy="20116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ctr">
                <a:defRPr/>
              </a:pPr>
              <a:r>
                <a:rPr lang="en-US" sz="1000" b="0">
                  <a:solidFill>
                    <a:srgbClr val="5A6672"/>
                  </a:solidFill>
                  <a:latin typeface="Inter"/>
                  <a:cs typeface="Inter"/>
                </a:rPr>
                <a:t>120k</a:t>
              </a:r>
              <a:endParaRPr/>
            </a:p>
          </p:txBody>
        </p:sp>
        <p:cxnSp>
          <p:nvCxnSpPr>
            <p:cNvPr id="124" name="Connector 123"/>
            <p:cNvCxnSpPr/>
            <p:nvPr/>
          </p:nvCxnSpPr>
          <p:spPr bwMode="auto">
            <a:xfrm>
              <a:off x="7948246" y="5120640"/>
              <a:ext cx="0" cy="64008"/>
            </a:xfrm>
            <a:prstGeom prst="line">
              <a:avLst/>
            </a:prstGeom>
            <a:ln w="12700">
              <a:solidFill>
                <a:srgbClr val="A9B1B9"/>
              </a:solidFill>
            </a:ln>
            <a:effectLst/>
          </p:spPr>
        </p:cxnSp>
        <p:sp>
          <p:nvSpPr>
            <p:cNvPr id="125" name="TextBox 124"/>
            <p:cNvSpPr txBox="1"/>
            <p:nvPr/>
          </p:nvSpPr>
          <p:spPr bwMode="auto">
            <a:xfrm>
              <a:off x="7582486" y="5221224"/>
              <a:ext cx="731520" cy="20116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ctr">
                <a:defRPr/>
              </a:pPr>
              <a:r>
                <a:rPr lang="en-US" sz="1000" b="0">
                  <a:solidFill>
                    <a:srgbClr val="5A6672"/>
                  </a:solidFill>
                  <a:latin typeface="Inter"/>
                  <a:cs typeface="Inter"/>
                </a:rPr>
                <a:t>140k</a:t>
              </a:r>
              <a:endParaRPr/>
            </a:p>
          </p:txBody>
        </p:sp>
        <p:cxnSp>
          <p:nvCxnSpPr>
            <p:cNvPr id="126" name="Connector 125"/>
            <p:cNvCxnSpPr/>
            <p:nvPr/>
          </p:nvCxnSpPr>
          <p:spPr bwMode="auto">
            <a:xfrm>
              <a:off x="8890782" y="5120640"/>
              <a:ext cx="0" cy="64008"/>
            </a:xfrm>
            <a:prstGeom prst="line">
              <a:avLst/>
            </a:prstGeom>
            <a:ln w="12700">
              <a:solidFill>
                <a:srgbClr val="A9B1B9"/>
              </a:solidFill>
            </a:ln>
            <a:effectLst/>
          </p:spPr>
        </p:cxnSp>
        <p:sp>
          <p:nvSpPr>
            <p:cNvPr id="127" name="TextBox 126"/>
            <p:cNvSpPr txBox="1"/>
            <p:nvPr/>
          </p:nvSpPr>
          <p:spPr bwMode="auto">
            <a:xfrm>
              <a:off x="8525022" y="5221224"/>
              <a:ext cx="731520" cy="20116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ctr">
                <a:defRPr/>
              </a:pPr>
              <a:r>
                <a:rPr lang="en-US" sz="1000" b="0">
                  <a:solidFill>
                    <a:srgbClr val="5A6672"/>
                  </a:solidFill>
                  <a:latin typeface="Inter"/>
                  <a:cs typeface="Inter"/>
                </a:rPr>
                <a:t>160k</a:t>
              </a:r>
              <a:endParaRPr/>
            </a:p>
          </p:txBody>
        </p:sp>
        <p:cxnSp>
          <p:nvCxnSpPr>
            <p:cNvPr id="128" name="Connector 127"/>
            <p:cNvCxnSpPr/>
            <p:nvPr/>
          </p:nvCxnSpPr>
          <p:spPr bwMode="auto">
            <a:xfrm>
              <a:off x="9833317" y="5120640"/>
              <a:ext cx="0" cy="64008"/>
            </a:xfrm>
            <a:prstGeom prst="line">
              <a:avLst/>
            </a:prstGeom>
            <a:ln w="12700">
              <a:solidFill>
                <a:srgbClr val="A9B1B9"/>
              </a:solidFill>
            </a:ln>
            <a:effectLst/>
          </p:spPr>
        </p:cxnSp>
        <p:sp>
          <p:nvSpPr>
            <p:cNvPr id="129" name="TextBox 128"/>
            <p:cNvSpPr txBox="1"/>
            <p:nvPr/>
          </p:nvSpPr>
          <p:spPr bwMode="auto">
            <a:xfrm>
              <a:off x="9467557" y="5221224"/>
              <a:ext cx="731520" cy="20116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ctr">
                <a:defRPr/>
              </a:pPr>
              <a:r>
                <a:rPr lang="en-US" sz="1000" b="0">
                  <a:solidFill>
                    <a:srgbClr val="5A6672"/>
                  </a:solidFill>
                  <a:latin typeface="Inter"/>
                  <a:cs typeface="Inter"/>
                </a:rPr>
                <a:t>180k</a:t>
              </a:r>
              <a:endParaRPr/>
            </a:p>
          </p:txBody>
        </p:sp>
        <p:cxnSp>
          <p:nvCxnSpPr>
            <p:cNvPr id="130" name="Connector 129"/>
            <p:cNvCxnSpPr/>
            <p:nvPr/>
          </p:nvCxnSpPr>
          <p:spPr bwMode="auto">
            <a:xfrm>
              <a:off x="10775852" y="5120640"/>
              <a:ext cx="0" cy="64008"/>
            </a:xfrm>
            <a:prstGeom prst="line">
              <a:avLst/>
            </a:prstGeom>
            <a:ln w="12700">
              <a:solidFill>
                <a:srgbClr val="A9B1B9"/>
              </a:solidFill>
            </a:ln>
            <a:effectLst/>
          </p:spPr>
        </p:cxnSp>
        <p:sp>
          <p:nvSpPr>
            <p:cNvPr id="131" name="TextBox 130"/>
            <p:cNvSpPr txBox="1"/>
            <p:nvPr/>
          </p:nvSpPr>
          <p:spPr bwMode="auto">
            <a:xfrm>
              <a:off x="10410092" y="5221224"/>
              <a:ext cx="731520" cy="20116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ctr">
                <a:defRPr/>
              </a:pPr>
              <a:r>
                <a:rPr lang="en-US" sz="1000" b="0">
                  <a:solidFill>
                    <a:srgbClr val="5A6672"/>
                  </a:solidFill>
                  <a:latin typeface="Inter"/>
                  <a:cs typeface="Inter"/>
                </a:rPr>
                <a:t>200k</a:t>
              </a:r>
              <a:endParaRPr/>
            </a:p>
          </p:txBody>
        </p:sp>
      </p:grpSp>
      <p:grpSp>
        <p:nvGrpSpPr>
          <p:cNvPr id="128666795" name="Group 4"/>
          <p:cNvGrpSpPr/>
          <p:nvPr/>
        </p:nvGrpSpPr>
        <p:grpSpPr bwMode="auto">
          <a:xfrm>
            <a:off x="5482180" y="4828032"/>
            <a:ext cx="219456" cy="219456"/>
            <a:chOff x="5482180" y="4828032"/>
            <a:chExt cx="219456" cy="219456"/>
          </a:xfrm>
        </p:grpSpPr>
        <p:sp>
          <p:nvSpPr>
            <p:cNvPr id="132" name="Oval 131"/>
            <p:cNvSpPr/>
            <p:nvPr/>
          </p:nvSpPr>
          <p:spPr bwMode="auto">
            <a:xfrm>
              <a:off x="5482180" y="4828032"/>
              <a:ext cx="219456" cy="219456"/>
            </a:xfrm>
            <a:prstGeom prst="ellipse">
              <a:avLst/>
            </a:prstGeom>
            <a:solidFill>
              <a:srgbClr val="101820"/>
            </a:solidFill>
            <a:ln w="9525">
              <a:solidFill>
                <a:srgbClr val="FFFFFF"/>
              </a:solidFill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</p:grpSp>
      <p:grpSp>
        <p:nvGrpSpPr>
          <p:cNvPr id="778036866" name="Group 5"/>
          <p:cNvGrpSpPr/>
          <p:nvPr/>
        </p:nvGrpSpPr>
        <p:grpSpPr bwMode="auto">
          <a:xfrm>
            <a:off x="5717814" y="4572000"/>
            <a:ext cx="219456" cy="219456"/>
            <a:chOff x="5717814" y="4572000"/>
            <a:chExt cx="219456" cy="219456"/>
          </a:xfrm>
        </p:grpSpPr>
        <p:sp>
          <p:nvSpPr>
            <p:cNvPr id="133" name="Oval 132"/>
            <p:cNvSpPr/>
            <p:nvPr/>
          </p:nvSpPr>
          <p:spPr bwMode="auto">
            <a:xfrm>
              <a:off x="5717814" y="4572000"/>
              <a:ext cx="219456" cy="219456"/>
            </a:xfrm>
            <a:prstGeom prst="ellipse">
              <a:avLst/>
            </a:prstGeom>
            <a:solidFill>
              <a:srgbClr val="101820"/>
            </a:solidFill>
            <a:ln w="9525">
              <a:solidFill>
                <a:srgbClr val="FFFFFF"/>
              </a:solidFill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</p:grpSp>
      <p:grpSp>
        <p:nvGrpSpPr>
          <p:cNvPr id="242547854" name="Group 6"/>
          <p:cNvGrpSpPr/>
          <p:nvPr/>
        </p:nvGrpSpPr>
        <p:grpSpPr bwMode="auto">
          <a:xfrm>
            <a:off x="5906321" y="4828032"/>
            <a:ext cx="219456" cy="219456"/>
            <a:chOff x="5906321" y="4828032"/>
            <a:chExt cx="219456" cy="219456"/>
          </a:xfrm>
        </p:grpSpPr>
        <p:sp>
          <p:nvSpPr>
            <p:cNvPr id="134" name="Oval 133"/>
            <p:cNvSpPr/>
            <p:nvPr/>
          </p:nvSpPr>
          <p:spPr bwMode="auto">
            <a:xfrm>
              <a:off x="5906321" y="4828032"/>
              <a:ext cx="219456" cy="219456"/>
            </a:xfrm>
            <a:prstGeom prst="ellipse">
              <a:avLst/>
            </a:prstGeom>
            <a:solidFill>
              <a:srgbClr val="101820"/>
            </a:solidFill>
            <a:ln w="9525">
              <a:solidFill>
                <a:srgbClr val="FFFFFF"/>
              </a:solidFill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</p:grpSp>
      <p:grpSp>
        <p:nvGrpSpPr>
          <p:cNvPr id="1264894529" name="Group 7"/>
          <p:cNvGrpSpPr/>
          <p:nvPr/>
        </p:nvGrpSpPr>
        <p:grpSpPr bwMode="auto">
          <a:xfrm>
            <a:off x="5953447" y="4315968"/>
            <a:ext cx="219456" cy="219456"/>
            <a:chOff x="5953447" y="4315968"/>
            <a:chExt cx="219456" cy="219456"/>
          </a:xfrm>
        </p:grpSpPr>
        <p:sp>
          <p:nvSpPr>
            <p:cNvPr id="135" name="Oval 134"/>
            <p:cNvSpPr/>
            <p:nvPr/>
          </p:nvSpPr>
          <p:spPr bwMode="auto">
            <a:xfrm>
              <a:off x="5953447" y="4315968"/>
              <a:ext cx="219456" cy="219456"/>
            </a:xfrm>
            <a:prstGeom prst="ellipse">
              <a:avLst/>
            </a:prstGeom>
            <a:solidFill>
              <a:srgbClr val="101820"/>
            </a:solidFill>
            <a:ln w="9525">
              <a:solidFill>
                <a:srgbClr val="FFFFFF"/>
              </a:solidFill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</p:grpSp>
      <p:grpSp>
        <p:nvGrpSpPr>
          <p:cNvPr id="158603401" name="Group 8"/>
          <p:cNvGrpSpPr/>
          <p:nvPr/>
        </p:nvGrpSpPr>
        <p:grpSpPr bwMode="auto">
          <a:xfrm>
            <a:off x="5953447" y="4059936"/>
            <a:ext cx="219456" cy="219456"/>
            <a:chOff x="5953447" y="4059936"/>
            <a:chExt cx="219456" cy="219456"/>
          </a:xfrm>
        </p:grpSpPr>
        <p:sp>
          <p:nvSpPr>
            <p:cNvPr id="136" name="Oval 135"/>
            <p:cNvSpPr/>
            <p:nvPr/>
          </p:nvSpPr>
          <p:spPr bwMode="auto">
            <a:xfrm>
              <a:off x="5953447" y="4059936"/>
              <a:ext cx="219456" cy="219456"/>
            </a:xfrm>
            <a:prstGeom prst="ellipse">
              <a:avLst/>
            </a:prstGeom>
            <a:solidFill>
              <a:srgbClr val="298FC2"/>
            </a:solidFill>
            <a:ln w="9525">
              <a:solidFill>
                <a:srgbClr val="FFFFFF"/>
              </a:solidFill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</p:grpSp>
      <p:grpSp>
        <p:nvGrpSpPr>
          <p:cNvPr id="4226222" name="Group 9"/>
          <p:cNvGrpSpPr/>
          <p:nvPr/>
        </p:nvGrpSpPr>
        <p:grpSpPr bwMode="auto">
          <a:xfrm>
            <a:off x="6943110" y="4828032"/>
            <a:ext cx="219456" cy="219456"/>
            <a:chOff x="6943110" y="4828032"/>
            <a:chExt cx="219456" cy="219456"/>
          </a:xfrm>
        </p:grpSpPr>
        <p:sp>
          <p:nvSpPr>
            <p:cNvPr id="137" name="Oval 136"/>
            <p:cNvSpPr/>
            <p:nvPr/>
          </p:nvSpPr>
          <p:spPr bwMode="auto">
            <a:xfrm>
              <a:off x="6943110" y="4828032"/>
              <a:ext cx="219456" cy="219456"/>
            </a:xfrm>
            <a:prstGeom prst="ellipse">
              <a:avLst/>
            </a:prstGeom>
            <a:solidFill>
              <a:srgbClr val="298FC2"/>
            </a:solidFill>
            <a:ln w="9525">
              <a:solidFill>
                <a:srgbClr val="FFFFFF"/>
              </a:solidFill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</p:grpSp>
      <p:grpSp>
        <p:nvGrpSpPr>
          <p:cNvPr id="1550306515" name="Group 10"/>
          <p:cNvGrpSpPr/>
          <p:nvPr/>
        </p:nvGrpSpPr>
        <p:grpSpPr bwMode="auto">
          <a:xfrm>
            <a:off x="7555758" y="4828032"/>
            <a:ext cx="219456" cy="219456"/>
            <a:chOff x="7555758" y="4828032"/>
            <a:chExt cx="219456" cy="219456"/>
          </a:xfrm>
        </p:grpSpPr>
        <p:sp>
          <p:nvSpPr>
            <p:cNvPr id="138" name="Oval 137"/>
            <p:cNvSpPr/>
            <p:nvPr/>
          </p:nvSpPr>
          <p:spPr bwMode="auto">
            <a:xfrm>
              <a:off x="7555758" y="4828032"/>
              <a:ext cx="219456" cy="219456"/>
            </a:xfrm>
            <a:prstGeom prst="ellipse">
              <a:avLst/>
            </a:prstGeom>
            <a:solidFill>
              <a:srgbClr val="FFA300"/>
            </a:solidFill>
            <a:ln w="9525">
              <a:solidFill>
                <a:srgbClr val="FFFFFF"/>
              </a:solidFill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</p:grpSp>
      <p:grpSp>
        <p:nvGrpSpPr>
          <p:cNvPr id="103185828" name="Group 11"/>
          <p:cNvGrpSpPr/>
          <p:nvPr/>
        </p:nvGrpSpPr>
        <p:grpSpPr bwMode="auto">
          <a:xfrm>
            <a:off x="7602884" y="4572000"/>
            <a:ext cx="219456" cy="219456"/>
            <a:chOff x="7602884" y="4572000"/>
            <a:chExt cx="219456" cy="219456"/>
          </a:xfrm>
        </p:grpSpPr>
        <p:sp>
          <p:nvSpPr>
            <p:cNvPr id="139" name="Oval 138"/>
            <p:cNvSpPr/>
            <p:nvPr/>
          </p:nvSpPr>
          <p:spPr bwMode="auto">
            <a:xfrm>
              <a:off x="7602884" y="4572000"/>
              <a:ext cx="219456" cy="219456"/>
            </a:xfrm>
            <a:prstGeom prst="ellipse">
              <a:avLst/>
            </a:prstGeom>
            <a:solidFill>
              <a:srgbClr val="298FC2"/>
            </a:solidFill>
            <a:ln w="9525">
              <a:solidFill>
                <a:srgbClr val="FFFFFF"/>
              </a:solidFill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</p:grpSp>
      <p:grpSp>
        <p:nvGrpSpPr>
          <p:cNvPr id="152654157" name="Group 12"/>
          <p:cNvGrpSpPr/>
          <p:nvPr/>
        </p:nvGrpSpPr>
        <p:grpSpPr bwMode="auto">
          <a:xfrm>
            <a:off x="7706563" y="4315968"/>
            <a:ext cx="219456" cy="219456"/>
            <a:chOff x="7706563" y="4315968"/>
            <a:chExt cx="219456" cy="219456"/>
          </a:xfrm>
        </p:grpSpPr>
        <p:sp>
          <p:nvSpPr>
            <p:cNvPr id="140" name="Oval 139"/>
            <p:cNvSpPr/>
            <p:nvPr/>
          </p:nvSpPr>
          <p:spPr bwMode="auto">
            <a:xfrm>
              <a:off x="7706563" y="4315968"/>
              <a:ext cx="219456" cy="219456"/>
            </a:xfrm>
            <a:prstGeom prst="ellipse">
              <a:avLst/>
            </a:prstGeom>
            <a:solidFill>
              <a:srgbClr val="298FC2"/>
            </a:solidFill>
            <a:ln w="9525">
              <a:solidFill>
                <a:srgbClr val="FFFFFF"/>
              </a:solidFill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</p:grpSp>
      <p:grpSp>
        <p:nvGrpSpPr>
          <p:cNvPr id="1897345096" name="Group 13"/>
          <p:cNvGrpSpPr/>
          <p:nvPr/>
        </p:nvGrpSpPr>
        <p:grpSpPr bwMode="auto">
          <a:xfrm>
            <a:off x="10666124" y="4828032"/>
            <a:ext cx="219456" cy="219456"/>
            <a:chOff x="10666124" y="4828032"/>
            <a:chExt cx="219456" cy="219456"/>
          </a:xfrm>
        </p:grpSpPr>
        <p:sp>
          <p:nvSpPr>
            <p:cNvPr id="141" name="Oval 140"/>
            <p:cNvSpPr/>
            <p:nvPr/>
          </p:nvSpPr>
          <p:spPr bwMode="auto">
            <a:xfrm>
              <a:off x="10666124" y="4828032"/>
              <a:ext cx="219456" cy="219456"/>
            </a:xfrm>
            <a:prstGeom prst="ellipse">
              <a:avLst/>
            </a:prstGeom>
            <a:solidFill>
              <a:srgbClr val="298FC2"/>
            </a:solidFill>
            <a:ln w="9525">
              <a:solidFill>
                <a:srgbClr val="FFFFFF"/>
              </a:solidFill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</p:grpSp>
      <p:grpSp>
        <p:nvGrpSpPr>
          <p:cNvPr id="1377326275" name="Group 14"/>
          <p:cNvGrpSpPr/>
          <p:nvPr/>
        </p:nvGrpSpPr>
        <p:grpSpPr bwMode="auto">
          <a:xfrm>
            <a:off x="5591908" y="3703320"/>
            <a:ext cx="5183943" cy="128016"/>
            <a:chOff x="5591908" y="3703320"/>
            <a:chExt cx="5183943" cy="128016"/>
          </a:xfrm>
        </p:grpSpPr>
        <p:cxnSp>
          <p:nvCxnSpPr>
            <p:cNvPr id="142" name="Connector 141"/>
            <p:cNvCxnSpPr/>
            <p:nvPr/>
          </p:nvCxnSpPr>
          <p:spPr bwMode="auto">
            <a:xfrm>
              <a:off x="5591908" y="3703320"/>
              <a:ext cx="5183943" cy="0"/>
            </a:xfrm>
            <a:prstGeom prst="line">
              <a:avLst/>
            </a:prstGeom>
            <a:ln w="25400">
              <a:solidFill>
                <a:srgbClr val="D22730"/>
              </a:solidFill>
            </a:ln>
            <a:effectLst/>
          </p:spPr>
        </p:cxnSp>
        <p:cxnSp>
          <p:nvCxnSpPr>
            <p:cNvPr id="143" name="Connector 142"/>
            <p:cNvCxnSpPr/>
            <p:nvPr/>
          </p:nvCxnSpPr>
          <p:spPr bwMode="auto">
            <a:xfrm>
              <a:off x="5591908" y="3703320"/>
              <a:ext cx="0" cy="128016"/>
            </a:xfrm>
            <a:prstGeom prst="line">
              <a:avLst/>
            </a:prstGeom>
            <a:ln w="25400">
              <a:solidFill>
                <a:srgbClr val="D22730"/>
              </a:solidFill>
            </a:ln>
            <a:effectLst/>
          </p:spPr>
        </p:cxnSp>
        <p:cxnSp>
          <p:nvCxnSpPr>
            <p:cNvPr id="144" name="Connector 143"/>
            <p:cNvCxnSpPr/>
            <p:nvPr/>
          </p:nvCxnSpPr>
          <p:spPr bwMode="auto">
            <a:xfrm>
              <a:off x="10775852" y="3703320"/>
              <a:ext cx="0" cy="128016"/>
            </a:xfrm>
            <a:prstGeom prst="line">
              <a:avLst/>
            </a:prstGeom>
            <a:ln w="25400">
              <a:solidFill>
                <a:srgbClr val="D22730"/>
              </a:solidFill>
            </a:ln>
            <a:effectLst/>
          </p:spPr>
        </p:cxnSp>
      </p:grpSp>
      <p:grpSp>
        <p:nvGrpSpPr>
          <p:cNvPr id="2093848473" name="Group 15"/>
          <p:cNvGrpSpPr/>
          <p:nvPr/>
        </p:nvGrpSpPr>
        <p:grpSpPr bwMode="auto">
          <a:xfrm>
            <a:off x="6812280" y="2788920"/>
            <a:ext cx="2743200" cy="548640"/>
            <a:chOff x="6812280" y="2788920"/>
            <a:chExt cx="2743200" cy="548640"/>
          </a:xfrm>
        </p:grpSpPr>
        <p:sp>
          <p:nvSpPr>
            <p:cNvPr id="145" name="TextBox 144"/>
            <p:cNvSpPr txBox="1"/>
            <p:nvPr/>
          </p:nvSpPr>
          <p:spPr bwMode="auto">
            <a:xfrm>
              <a:off x="6812280" y="2788920"/>
              <a:ext cx="2743200" cy="5486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defRPr/>
              </a:pPr>
              <a:r>
                <a:rPr lang="en-US" sz="4000" b="1">
                  <a:solidFill>
                    <a:srgbClr val="D22730"/>
                  </a:solidFill>
                  <a:latin typeface="Comfortaa"/>
                  <a:cs typeface="Comfortaa"/>
                </a:rPr>
                <a:t>+122%</a:t>
              </a:r>
              <a:endParaRPr/>
            </a:p>
          </p:txBody>
        </p:sp>
      </p:grpSp>
      <p:grpSp>
        <p:nvGrpSpPr>
          <p:cNvPr id="174134860" name="Group 16"/>
          <p:cNvGrpSpPr/>
          <p:nvPr/>
        </p:nvGrpSpPr>
        <p:grpSpPr bwMode="auto">
          <a:xfrm>
            <a:off x="5897880" y="3310127"/>
            <a:ext cx="4572000" cy="274320"/>
            <a:chOff x="5897880" y="3310127"/>
            <a:chExt cx="4572000" cy="274320"/>
          </a:xfrm>
        </p:grpSpPr>
        <p:sp>
          <p:nvSpPr>
            <p:cNvPr id="146" name="TextBox 145"/>
            <p:cNvSpPr txBox="1"/>
            <p:nvPr/>
          </p:nvSpPr>
          <p:spPr bwMode="auto">
            <a:xfrm>
              <a:off x="5897880" y="3310127"/>
              <a:ext cx="4572000" cy="2743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defRPr/>
              </a:pPr>
              <a:r>
                <a:rPr lang="en-US" sz="1400" b="1">
                  <a:solidFill>
                    <a:srgbClr val="101820"/>
                  </a:solidFill>
                  <a:latin typeface="Inter"/>
                  <a:cs typeface="Inter"/>
                </a:rPr>
                <a:t>≈ 110,000 IQD more for the same model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fast" p14:dur="500" advClick="1">
        <p:fade thruBlk="0"/>
      </p:transition>
    </mc:Choice>
    <mc:Fallback>
      <p:transition spd="fast" advClick="1">
        <p:fade thruBlk="0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31125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4131125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66935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300" fill="hold"/>
                                        <p:tgtEl>
                                          <p:spTgt spid="180669358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300" fill="hold"/>
                                        <p:tgtEl>
                                          <p:spTgt spid="180669358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300"/>
                                        <p:tgtEl>
                                          <p:spTgt spid="18066935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300"/>
                            </p:stCondLst>
                            <p:childTnLst>
                              <p:par>
                                <p:cTn id="16" presetID="53" presetClass="entr" presetSubtype="16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30510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" dur="300" fill="hold"/>
                                        <p:tgtEl>
                                          <p:spTgt spid="2530510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300" fill="hold"/>
                                        <p:tgtEl>
                                          <p:spTgt spid="2530510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300"/>
                                        <p:tgtEl>
                                          <p:spTgt spid="2530510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46719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00"/>
                                        <p:tgtEl>
                                          <p:spTgt spid="17446719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300"/>
                            </p:stCondLst>
                            <p:childTnLst>
                              <p:par>
                                <p:cTn id="27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6667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150" fill="hold"/>
                                        <p:tgtEl>
                                          <p:spTgt spid="12866679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50" fill="hold"/>
                                        <p:tgtEl>
                                          <p:spTgt spid="12866679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150"/>
                                        <p:tgtEl>
                                          <p:spTgt spid="1286667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53" presetClass="entr" presetSubtype="16" fill="hold" grpId="0" nodeType="withEffect">
                                  <p:stCondLst>
                                    <p:cond delay="25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80368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4" dur="150" fill="hold"/>
                                        <p:tgtEl>
                                          <p:spTgt spid="7780368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150" fill="hold"/>
                                        <p:tgtEl>
                                          <p:spTgt spid="7780368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" dur="150"/>
                                        <p:tgtEl>
                                          <p:spTgt spid="7780368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53" presetClass="entr" presetSubtype="16" fill="hold" grpId="0" nodeType="with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5478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9" dur="150" fill="hold"/>
                                        <p:tgtEl>
                                          <p:spTgt spid="24254785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150" fill="hold"/>
                                        <p:tgtEl>
                                          <p:spTgt spid="24254785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1" dur="150"/>
                                        <p:tgtEl>
                                          <p:spTgt spid="2425478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53" presetClass="entr" presetSubtype="16" fill="hold" grpId="0" nodeType="withEffect">
                                  <p:stCondLst>
                                    <p:cond delay="75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48945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4" dur="150" fill="hold"/>
                                        <p:tgtEl>
                                          <p:spTgt spid="12648945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150" fill="hold"/>
                                        <p:tgtEl>
                                          <p:spTgt spid="12648945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6" dur="150"/>
                                        <p:tgtEl>
                                          <p:spTgt spid="12648945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53" presetClass="entr" presetSubtype="16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6034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9" dur="150" fill="hold"/>
                                        <p:tgtEl>
                                          <p:spTgt spid="15860340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150" fill="hold"/>
                                        <p:tgtEl>
                                          <p:spTgt spid="15860340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1" dur="150"/>
                                        <p:tgtEl>
                                          <p:spTgt spid="1586034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grpId="0" nodeType="withEffect">
                                  <p:stCondLst>
                                    <p:cond delay="125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26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150" fill="hold"/>
                                        <p:tgtEl>
                                          <p:spTgt spid="42262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150" fill="hold"/>
                                        <p:tgtEl>
                                          <p:spTgt spid="42262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150"/>
                                        <p:tgtEl>
                                          <p:spTgt spid="42262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03065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150" fill="hold"/>
                                        <p:tgtEl>
                                          <p:spTgt spid="15503065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150" fill="hold"/>
                                        <p:tgtEl>
                                          <p:spTgt spid="15503065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150"/>
                                        <p:tgtEl>
                                          <p:spTgt spid="15503065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53" presetClass="entr" presetSubtype="16" fill="hold" grpId="0" nodeType="withEffect">
                                  <p:stCondLst>
                                    <p:cond delay="175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1858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150" fill="hold"/>
                                        <p:tgtEl>
                                          <p:spTgt spid="1031858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150" fill="hold"/>
                                        <p:tgtEl>
                                          <p:spTgt spid="1031858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6" dur="150"/>
                                        <p:tgtEl>
                                          <p:spTgt spid="1031858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654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9" dur="150" fill="hold"/>
                                        <p:tgtEl>
                                          <p:spTgt spid="15265415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150" fill="hold"/>
                                        <p:tgtEl>
                                          <p:spTgt spid="15265415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1" dur="150"/>
                                        <p:tgtEl>
                                          <p:spTgt spid="1526541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53" presetClass="entr" presetSubtype="16" fill="hold" grpId="0" nodeType="withEffect">
                                  <p:stCondLst>
                                    <p:cond delay="225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73450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4" dur="150" fill="hold"/>
                                        <p:tgtEl>
                                          <p:spTgt spid="18973450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150" fill="hold"/>
                                        <p:tgtEl>
                                          <p:spTgt spid="18973450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6" dur="150"/>
                                        <p:tgtEl>
                                          <p:spTgt spid="18973450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7326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300"/>
                                        <p:tgtEl>
                                          <p:spTgt spid="13773262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938484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4" dur="300" fill="hold"/>
                                        <p:tgtEl>
                                          <p:spTgt spid="209384847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5" dur="300" fill="hold"/>
                                        <p:tgtEl>
                                          <p:spTgt spid="209384847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6" dur="300"/>
                                        <p:tgtEl>
                                          <p:spTgt spid="20938484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7" fill="hold">
                            <p:stCondLst>
                              <p:cond delay="300"/>
                            </p:stCondLst>
                            <p:childTnLst>
                              <p:par>
                                <p:cTn id="88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348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300"/>
                                        <p:tgtEl>
                                          <p:spTgt spid="1741348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067944243" name="Google Shape;98;p14" title="Center_for_Academic_and_Professional_Advancement.png"/>
          <p:cNvPicPr/>
          <p:nvPr/>
        </p:nvPicPr>
        <p:blipFill rotWithShape="1">
          <a:blip r:embed="rId3">
            <a:alphaModFix/>
          </a:blip>
          <a:stretch/>
        </p:blipFill>
        <p:spPr bwMode="auto">
          <a:xfrm>
            <a:off x="8289593" y="351575"/>
            <a:ext cx="3178502" cy="9693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516466466" name="Google Shape;99;p14" title="german cooperation deutsche zusammenarbeit.png"/>
          <p:cNvPicPr/>
          <p:nvPr/>
        </p:nvPicPr>
        <p:blipFill rotWithShape="1">
          <a:blip r:embed="rId4">
            <a:alphaModFix/>
          </a:blip>
          <a:stretch/>
        </p:blipFill>
        <p:spPr bwMode="auto">
          <a:xfrm>
            <a:off x="723900" y="436204"/>
            <a:ext cx="1428202" cy="800089"/>
          </a:xfrm>
          <a:prstGeom prst="rect">
            <a:avLst/>
          </a:prstGeom>
          <a:noFill/>
          <a:ln>
            <a:noFill/>
          </a:ln>
        </p:spPr>
      </p:pic>
      <p:sp>
        <p:nvSpPr>
          <p:cNvPr id="1253576025" name="Rectangle 99"/>
          <p:cNvSpPr/>
          <p:nvPr/>
        </p:nvSpPr>
        <p:spPr bwMode="auto">
          <a:xfrm>
            <a:off x="722376" y="1517904"/>
            <a:ext cx="274320" cy="45720"/>
          </a:xfrm>
          <a:prstGeom prst="rect">
            <a:avLst/>
          </a:prstGeom>
          <a:solidFill>
            <a:srgbClr val="298FC2"/>
          </a:solidFill>
          <a:ln>
            <a:noFill/>
          </a:ln>
          <a:effectLst/>
        </p:spPr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841838021" name="TextBox 100"/>
          <p:cNvSpPr txBox="1"/>
          <p:nvPr/>
        </p:nvSpPr>
        <p:spPr bwMode="auto">
          <a:xfrm>
            <a:off x="1133856" y="1426464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defRPr/>
            </a:pPr>
            <a:r>
              <a:rPr lang="en-US" sz="1300" b="0">
                <a:solidFill>
                  <a:srgbClr val="5A6672"/>
                </a:solidFill>
                <a:latin typeface="Inter"/>
                <a:cs typeface="Inter"/>
              </a:rPr>
              <a:t>Problem · evidence</a:t>
            </a:r>
            <a:endParaRPr/>
          </a:p>
        </p:txBody>
      </p:sp>
      <p:sp>
        <p:nvSpPr>
          <p:cNvPr id="293504537" name="TextBox 101"/>
          <p:cNvSpPr txBox="1"/>
          <p:nvPr/>
        </p:nvSpPr>
        <p:spPr bwMode="auto">
          <a:xfrm>
            <a:off x="722376" y="1700784"/>
            <a:ext cx="10744200" cy="5669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defRPr/>
            </a:pPr>
            <a:r>
              <a:rPr lang="en-US" sz="3000" b="1">
                <a:solidFill>
                  <a:srgbClr val="101820"/>
                </a:solidFill>
                <a:latin typeface="Comfortaa"/>
                <a:cs typeface="Comfortaa"/>
              </a:rPr>
              <a:t>It's not one product. It's the whole market.</a:t>
            </a:r>
            <a:endParaRPr/>
          </a:p>
        </p:txBody>
      </p:sp>
      <p:sp>
        <p:nvSpPr>
          <p:cNvPr id="356570369" name="TextBox 102"/>
          <p:cNvSpPr txBox="1"/>
          <p:nvPr/>
        </p:nvSpPr>
        <p:spPr bwMode="auto">
          <a:xfrm>
            <a:off x="722376" y="6455664"/>
            <a:ext cx="10744200" cy="23774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defRPr/>
            </a:pPr>
            <a:r>
              <a:rPr lang="en-US" sz="900" b="0">
                <a:solidFill>
                  <a:srgbClr val="5A6672"/>
                </a:solidFill>
                <a:latin typeface="Inter"/>
                <a:cs typeface="Inter"/>
              </a:rPr>
              <a:t>Screenshots Sep–Oct 2026 (shop names and phone numbers blurred) · Cheapify market survey, n=199 (179 shoppers, 20 merchants), Sep–Oct 2026.</a:t>
            </a:r>
            <a:endParaRPr/>
          </a:p>
        </p:txBody>
      </p:sp>
      <p:grpSp>
        <p:nvGrpSpPr>
          <p:cNvPr id="2144136209" name="Group 1"/>
          <p:cNvGrpSpPr/>
          <p:nvPr/>
        </p:nvGrpSpPr>
        <p:grpSpPr bwMode="auto">
          <a:xfrm>
            <a:off x="722376" y="2468880"/>
            <a:ext cx="3246120" cy="3017519"/>
            <a:chOff x="722376" y="2468880"/>
            <a:chExt cx="3246120" cy="3017519"/>
          </a:xfrm>
        </p:grpSpPr>
        <p:sp>
          <p:nvSpPr>
            <p:cNvPr id="104" name="Rounded Rectangle 103"/>
            <p:cNvSpPr/>
            <p:nvPr/>
          </p:nvSpPr>
          <p:spPr bwMode="auto">
            <a:xfrm>
              <a:off x="722376" y="2468880"/>
              <a:ext cx="3246120" cy="3017519"/>
            </a:xfrm>
            <a:prstGeom prst="roundRect">
              <a:avLst>
                <a:gd name="adj" fmla="val 4242"/>
              </a:avLst>
            </a:prstGeom>
            <a:solidFill>
              <a:srgbClr val="FFFFFF"/>
            </a:solidFill>
            <a:ln w="12700">
              <a:solidFill>
                <a:srgbClr val="DDE5ED"/>
              </a:solidFill>
            </a:ln>
            <a:effectLst>
              <a:outerShdw blurRad="101600" dist="25400" dir="5400000" algn="t" rotWithShape="0">
                <a:srgbClr val="101820">
                  <a:alpha val="9000"/>
                </a:srgbClr>
              </a:outerShdw>
            </a:effectLst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05" name="Rounded Rectangle 104"/>
            <p:cNvSpPr/>
            <p:nvPr/>
          </p:nvSpPr>
          <p:spPr bwMode="auto">
            <a:xfrm>
              <a:off x="859536" y="2606040"/>
              <a:ext cx="2971800" cy="2011680"/>
            </a:xfrm>
            <a:prstGeom prst="roundRect">
              <a:avLst>
                <a:gd name="adj" fmla="val 3636"/>
              </a:avLst>
            </a:prstGeom>
            <a:solidFill>
              <a:srgbClr val="F4F6F8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pic>
          <p:nvPicPr>
            <p:cNvPr id="106" name="Picture 105" descr="ev-ibazzar-xiaomi.jpg"/>
            <p:cNvPicPr>
              <a:picLocks noChangeAspect="1"/>
            </p:cNvPicPr>
            <p:nvPr/>
          </p:nvPicPr>
          <p:blipFill rotWithShape="1">
            <a:blip r:embed="rId5"/>
            <a:stretch/>
          </p:blipFill>
          <p:spPr bwMode="auto">
            <a:xfrm>
              <a:off x="1635431" y="2606040"/>
              <a:ext cx="1420009" cy="2011680"/>
            </a:xfrm>
            <a:prstGeom prst="rect">
              <a:avLst/>
            </a:prstGeom>
          </p:spPr>
        </p:pic>
        <p:sp>
          <p:nvSpPr>
            <p:cNvPr id="107" name="TextBox 106"/>
            <p:cNvSpPr txBox="1"/>
            <p:nvPr/>
          </p:nvSpPr>
          <p:spPr bwMode="auto">
            <a:xfrm>
              <a:off x="859536" y="4709160"/>
              <a:ext cx="2971800" cy="3291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defRPr/>
              </a:pPr>
              <a:r>
                <a:rPr lang="en-US" sz="1400" b="1">
                  <a:solidFill>
                    <a:srgbClr val="101820"/>
                  </a:solidFill>
                  <a:latin typeface="Inter"/>
                  <a:cs typeface="Inter"/>
                </a:rPr>
                <a:t>Same product, listed twice</a:t>
              </a:r>
              <a:endParaRPr/>
            </a:p>
          </p:txBody>
        </p:sp>
        <p:sp>
          <p:nvSpPr>
            <p:cNvPr id="108" name="TextBox 107"/>
            <p:cNvSpPr txBox="1"/>
            <p:nvPr/>
          </p:nvSpPr>
          <p:spPr bwMode="auto">
            <a:xfrm>
              <a:off x="859536" y="5047488"/>
              <a:ext cx="2971800" cy="3657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defRPr/>
              </a:pPr>
              <a:r>
                <a:rPr lang="en-US" sz="1050" b="0">
                  <a:solidFill>
                    <a:srgbClr val="5A6672"/>
                  </a:solidFill>
                  <a:latin typeface="Inter"/>
                  <a:cs typeface="Inter"/>
                </a:rPr>
                <a:t>iBazzar app · 60,000 vs 70,000 IQD</a:t>
              </a:r>
              <a:endParaRPr/>
            </a:p>
          </p:txBody>
        </p:sp>
      </p:grpSp>
      <p:grpSp>
        <p:nvGrpSpPr>
          <p:cNvPr id="239999584" name="Group 2"/>
          <p:cNvGrpSpPr/>
          <p:nvPr/>
        </p:nvGrpSpPr>
        <p:grpSpPr bwMode="auto">
          <a:xfrm>
            <a:off x="1658903" y="3434378"/>
            <a:ext cx="1036679" cy="1098224"/>
            <a:chOff x="0" y="0"/>
            <a:chExt cx="1036679" cy="1098224"/>
          </a:xfrm>
        </p:grpSpPr>
        <p:sp>
          <p:nvSpPr>
            <p:cNvPr id="109" name="Rounded Rectangle 108"/>
            <p:cNvSpPr/>
            <p:nvPr/>
          </p:nvSpPr>
          <p:spPr bwMode="auto">
            <a:xfrm flipH="0" flipV="0">
              <a:off x="696503" y="0"/>
              <a:ext cx="340175" cy="76259"/>
            </a:xfrm>
            <a:prstGeom prst="roundRect">
              <a:avLst>
                <a:gd name="adj" fmla="val 50000"/>
              </a:avLst>
            </a:prstGeom>
            <a:noFill/>
            <a:ln w="28575">
              <a:solidFill>
                <a:srgbClr val="D22730"/>
              </a:solidFill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10" name="Rounded Rectangle 109"/>
            <p:cNvSpPr/>
            <p:nvPr/>
          </p:nvSpPr>
          <p:spPr bwMode="auto">
            <a:xfrm flipH="0" flipV="0">
              <a:off x="0" y="1020650"/>
              <a:ext cx="362873" cy="77573"/>
            </a:xfrm>
            <a:prstGeom prst="roundRect">
              <a:avLst>
                <a:gd name="adj" fmla="val 50000"/>
              </a:avLst>
            </a:prstGeom>
            <a:noFill/>
            <a:ln w="28575">
              <a:solidFill>
                <a:srgbClr val="D22730"/>
              </a:solidFill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</p:grpSp>
      <p:grpSp>
        <p:nvGrpSpPr>
          <p:cNvPr id="1451387887" name="Group 3"/>
          <p:cNvGrpSpPr/>
          <p:nvPr/>
        </p:nvGrpSpPr>
        <p:grpSpPr bwMode="auto">
          <a:xfrm>
            <a:off x="4471416" y="2468880"/>
            <a:ext cx="3246120" cy="3017519"/>
            <a:chOff x="4471416" y="2468880"/>
            <a:chExt cx="3246120" cy="3017519"/>
          </a:xfrm>
        </p:grpSpPr>
        <p:sp>
          <p:nvSpPr>
            <p:cNvPr id="111" name="Rounded Rectangle 110"/>
            <p:cNvSpPr/>
            <p:nvPr/>
          </p:nvSpPr>
          <p:spPr bwMode="auto">
            <a:xfrm>
              <a:off x="4471416" y="2468880"/>
              <a:ext cx="3246120" cy="3017519"/>
            </a:xfrm>
            <a:prstGeom prst="roundRect">
              <a:avLst>
                <a:gd name="adj" fmla="val 4242"/>
              </a:avLst>
            </a:prstGeom>
            <a:solidFill>
              <a:srgbClr val="FFFFFF"/>
            </a:solidFill>
            <a:ln w="12700">
              <a:solidFill>
                <a:srgbClr val="DDE5ED"/>
              </a:solidFill>
            </a:ln>
            <a:effectLst>
              <a:outerShdw blurRad="101600" dist="25400" dir="5400000" algn="t" rotWithShape="0">
                <a:srgbClr val="101820">
                  <a:alpha val="9000"/>
                </a:srgbClr>
              </a:outerShdw>
            </a:effectLst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12" name="Rounded Rectangle 111"/>
            <p:cNvSpPr/>
            <p:nvPr/>
          </p:nvSpPr>
          <p:spPr bwMode="auto">
            <a:xfrm>
              <a:off x="4608576" y="2606040"/>
              <a:ext cx="2971800" cy="2011680"/>
            </a:xfrm>
            <a:prstGeom prst="roundRect">
              <a:avLst>
                <a:gd name="adj" fmla="val 3636"/>
              </a:avLst>
            </a:prstGeom>
            <a:solidFill>
              <a:srgbClr val="F4F6F8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pic>
          <p:nvPicPr>
            <p:cNvPr id="113" name="Picture 112" descr="ev-instagram-noprice.jpg"/>
            <p:cNvPicPr>
              <a:picLocks noChangeAspect="1"/>
            </p:cNvPicPr>
            <p:nvPr/>
          </p:nvPicPr>
          <p:blipFill rotWithShape="1">
            <a:blip r:embed="rId6"/>
            <a:stretch/>
          </p:blipFill>
          <p:spPr bwMode="auto">
            <a:xfrm>
              <a:off x="5048571" y="2606040"/>
              <a:ext cx="2091810" cy="2011680"/>
            </a:xfrm>
            <a:prstGeom prst="rect">
              <a:avLst/>
            </a:prstGeom>
          </p:spPr>
        </p:pic>
        <p:sp>
          <p:nvSpPr>
            <p:cNvPr id="114" name="TextBox 113"/>
            <p:cNvSpPr txBox="1"/>
            <p:nvPr/>
          </p:nvSpPr>
          <p:spPr bwMode="auto">
            <a:xfrm>
              <a:off x="4608576" y="4709160"/>
              <a:ext cx="2971800" cy="3291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defRPr/>
              </a:pPr>
              <a:r>
                <a:rPr lang="en-US" sz="1400" b="1">
                  <a:solidFill>
                    <a:srgbClr val="101820"/>
                  </a:solidFill>
                  <a:latin typeface="Inter"/>
                  <a:cs typeface="Inter"/>
                </a:rPr>
                <a:t>No price: 'call to order'</a:t>
              </a:r>
              <a:endParaRPr/>
            </a:p>
          </p:txBody>
        </p:sp>
        <p:sp>
          <p:nvSpPr>
            <p:cNvPr id="115" name="TextBox 114"/>
            <p:cNvSpPr txBox="1"/>
            <p:nvPr/>
          </p:nvSpPr>
          <p:spPr bwMode="auto">
            <a:xfrm>
              <a:off x="4608576" y="5047488"/>
              <a:ext cx="2971800" cy="3657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defRPr/>
              </a:pPr>
              <a:r>
                <a:rPr lang="en-US" sz="1050" b="0">
                  <a:solidFill>
                    <a:srgbClr val="5A6672"/>
                  </a:solidFill>
                  <a:latin typeface="Inter"/>
                  <a:cs typeface="Inter"/>
                </a:rPr>
                <a:t>Instagram · a buyer asks: “How much is it?”</a:t>
              </a:r>
              <a:endParaRPr/>
            </a:p>
          </p:txBody>
        </p:sp>
      </p:grpSp>
      <p:grpSp>
        <p:nvGrpSpPr>
          <p:cNvPr id="831039410" name="Group 4"/>
          <p:cNvGrpSpPr/>
          <p:nvPr/>
        </p:nvGrpSpPr>
        <p:grpSpPr bwMode="auto">
          <a:xfrm>
            <a:off x="5247316" y="4486981"/>
            <a:ext cx="439821" cy="126520"/>
            <a:chOff x="0" y="0"/>
            <a:chExt cx="439821" cy="126520"/>
          </a:xfrm>
        </p:grpSpPr>
        <p:sp>
          <p:nvSpPr>
            <p:cNvPr id="116" name="Rounded Rectangle 115"/>
            <p:cNvSpPr/>
            <p:nvPr/>
          </p:nvSpPr>
          <p:spPr bwMode="auto">
            <a:xfrm flipH="0" flipV="0">
              <a:off x="0" y="0"/>
              <a:ext cx="439821" cy="126520"/>
            </a:xfrm>
            <a:prstGeom prst="roundRect">
              <a:avLst>
                <a:gd name="adj" fmla="val 43363"/>
              </a:avLst>
            </a:prstGeom>
            <a:noFill/>
            <a:ln w="28575">
              <a:solidFill>
                <a:srgbClr val="D22730"/>
              </a:solidFill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</p:grpSp>
      <p:grpSp>
        <p:nvGrpSpPr>
          <p:cNvPr id="2135886583" name="Group 5"/>
          <p:cNvGrpSpPr/>
          <p:nvPr/>
        </p:nvGrpSpPr>
        <p:grpSpPr bwMode="auto">
          <a:xfrm>
            <a:off x="8220456" y="2468880"/>
            <a:ext cx="3246120" cy="3017519"/>
            <a:chOff x="8220456" y="2468880"/>
            <a:chExt cx="3246120" cy="3017519"/>
          </a:xfrm>
        </p:grpSpPr>
        <p:sp>
          <p:nvSpPr>
            <p:cNvPr id="117" name="Rounded Rectangle 116"/>
            <p:cNvSpPr/>
            <p:nvPr/>
          </p:nvSpPr>
          <p:spPr bwMode="auto">
            <a:xfrm>
              <a:off x="8220456" y="2468880"/>
              <a:ext cx="3246120" cy="3017519"/>
            </a:xfrm>
            <a:prstGeom prst="roundRect">
              <a:avLst>
                <a:gd name="adj" fmla="val 4242"/>
              </a:avLst>
            </a:prstGeom>
            <a:solidFill>
              <a:srgbClr val="FFFFFF"/>
            </a:solidFill>
            <a:ln w="12700">
              <a:solidFill>
                <a:srgbClr val="DDE5ED"/>
              </a:solidFill>
            </a:ln>
            <a:effectLst>
              <a:outerShdw blurRad="101600" dist="25400" dir="5400000" algn="t" rotWithShape="0">
                <a:srgbClr val="101820">
                  <a:alpha val="9000"/>
                </a:srgbClr>
              </a:outerShdw>
            </a:effectLst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18" name="Rounded Rectangle 117"/>
            <p:cNvSpPr/>
            <p:nvPr/>
          </p:nvSpPr>
          <p:spPr bwMode="auto">
            <a:xfrm>
              <a:off x="8357616" y="2606040"/>
              <a:ext cx="2971800" cy="2011680"/>
            </a:xfrm>
            <a:prstGeom prst="roundRect">
              <a:avLst>
                <a:gd name="adj" fmla="val 3636"/>
              </a:avLst>
            </a:prstGeom>
            <a:solidFill>
              <a:srgbClr val="F4F6F8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pic>
          <p:nvPicPr>
            <p:cNvPr id="119" name="Picture 118" descr="ev-vacuum-fakedeal.jpg"/>
            <p:cNvPicPr>
              <a:picLocks noChangeAspect="1"/>
            </p:cNvPicPr>
            <p:nvPr/>
          </p:nvPicPr>
          <p:blipFill rotWithShape="1">
            <a:blip r:embed="rId7"/>
            <a:stretch/>
          </p:blipFill>
          <p:spPr bwMode="auto">
            <a:xfrm>
              <a:off x="8357616" y="2737535"/>
              <a:ext cx="2971800" cy="1748690"/>
            </a:xfrm>
            <a:prstGeom prst="rect">
              <a:avLst/>
            </a:prstGeom>
          </p:spPr>
        </p:pic>
        <p:sp>
          <p:nvSpPr>
            <p:cNvPr id="120" name="TextBox 119"/>
            <p:cNvSpPr txBox="1"/>
            <p:nvPr/>
          </p:nvSpPr>
          <p:spPr bwMode="auto">
            <a:xfrm>
              <a:off x="8357616" y="4709160"/>
              <a:ext cx="2971800" cy="3291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defRPr/>
              </a:pPr>
              <a:r>
                <a:rPr lang="en-US" sz="1400" b="1">
                  <a:solidFill>
                    <a:srgbClr val="101820"/>
                  </a:solidFill>
                  <a:latin typeface="Inter"/>
                  <a:cs typeface="Inter"/>
                </a:rPr>
                <a:t>A fake “deal”</a:t>
              </a:r>
              <a:endParaRPr/>
            </a:p>
          </p:txBody>
        </p:sp>
        <p:sp>
          <p:nvSpPr>
            <p:cNvPr id="121" name="TextBox 120"/>
            <p:cNvSpPr txBox="1"/>
            <p:nvPr/>
          </p:nvSpPr>
          <p:spPr bwMode="auto">
            <a:xfrm>
              <a:off x="8357616" y="5047488"/>
              <a:ext cx="2971800" cy="3657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defRPr/>
              </a:pPr>
              <a:r>
                <a:rPr lang="en-US" sz="1050" b="0">
                  <a:solidFill>
                    <a:srgbClr val="5A6672"/>
                  </a:solidFill>
                  <a:latin typeface="Inter"/>
                  <a:cs typeface="Inter"/>
                </a:rPr>
                <a:t>Same Newal vacuum: 95,000 on Instagram · “−35%” at 133,250 on Miswag</a:t>
              </a:r>
              <a:endParaRPr/>
            </a:p>
          </p:txBody>
        </p:sp>
      </p:grpSp>
      <p:grpSp>
        <p:nvGrpSpPr>
          <p:cNvPr id="88713343" name="Group 6"/>
          <p:cNvGrpSpPr/>
          <p:nvPr/>
        </p:nvGrpSpPr>
        <p:grpSpPr bwMode="auto">
          <a:xfrm>
            <a:off x="9606680" y="3146320"/>
            <a:ext cx="1706515" cy="1323684"/>
            <a:chOff x="9606680" y="3146320"/>
            <a:chExt cx="1706515" cy="1323684"/>
          </a:xfrm>
        </p:grpSpPr>
        <p:sp>
          <p:nvSpPr>
            <p:cNvPr id="122" name="Rounded Rectangle 121"/>
            <p:cNvSpPr/>
            <p:nvPr/>
          </p:nvSpPr>
          <p:spPr bwMode="auto">
            <a:xfrm>
              <a:off x="9606680" y="3146320"/>
              <a:ext cx="343898" cy="311455"/>
            </a:xfrm>
            <a:prstGeom prst="roundRect">
              <a:avLst>
                <a:gd name="adj" fmla="val 17615"/>
              </a:avLst>
            </a:prstGeom>
            <a:noFill/>
            <a:ln w="28575">
              <a:solidFill>
                <a:srgbClr val="D22730"/>
              </a:solidFill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23" name="Rounded Rectangle 122"/>
            <p:cNvSpPr/>
            <p:nvPr/>
          </p:nvSpPr>
          <p:spPr bwMode="auto">
            <a:xfrm>
              <a:off x="10190659" y="4273722"/>
              <a:ext cx="1122536" cy="196282"/>
            </a:xfrm>
            <a:prstGeom prst="roundRect">
              <a:avLst>
                <a:gd name="adj" fmla="val 27951"/>
              </a:avLst>
            </a:prstGeom>
            <a:noFill/>
            <a:ln w="28575">
              <a:solidFill>
                <a:srgbClr val="D22730"/>
              </a:solidFill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</p:grpSp>
      <p:grpSp>
        <p:nvGrpSpPr>
          <p:cNvPr id="574237628" name="Group 7"/>
          <p:cNvGrpSpPr/>
          <p:nvPr/>
        </p:nvGrpSpPr>
        <p:grpSpPr bwMode="auto">
          <a:xfrm>
            <a:off x="722376" y="5623560"/>
            <a:ext cx="1325880" cy="640080"/>
            <a:chOff x="722376" y="5623560"/>
            <a:chExt cx="1325880" cy="640080"/>
          </a:xfrm>
        </p:grpSpPr>
        <p:sp>
          <p:nvSpPr>
            <p:cNvPr id="124" name="TextBox 123"/>
            <p:cNvSpPr txBox="1"/>
            <p:nvPr/>
          </p:nvSpPr>
          <p:spPr bwMode="auto">
            <a:xfrm>
              <a:off x="722376" y="5623560"/>
              <a:ext cx="1325880" cy="64008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defRPr/>
              </a:pPr>
              <a:r>
                <a:rPr lang="en-US" sz="3400" b="1">
                  <a:solidFill>
                    <a:srgbClr val="298FC2"/>
                  </a:solidFill>
                  <a:latin typeface="Comfortaa"/>
                  <a:cs typeface="Comfortaa"/>
                </a:rPr>
                <a:t>97%</a:t>
              </a:r>
              <a:endParaRPr/>
            </a:p>
          </p:txBody>
        </p:sp>
      </p:grpSp>
      <p:grpSp>
        <p:nvGrpSpPr>
          <p:cNvPr id="1613986675" name="Group 8"/>
          <p:cNvGrpSpPr/>
          <p:nvPr/>
        </p:nvGrpSpPr>
        <p:grpSpPr bwMode="auto">
          <a:xfrm>
            <a:off x="2103120" y="5650992"/>
            <a:ext cx="3749040" cy="640080"/>
            <a:chOff x="2103120" y="5650992"/>
            <a:chExt cx="3749040" cy="640080"/>
          </a:xfrm>
        </p:grpSpPr>
        <p:sp>
          <p:nvSpPr>
            <p:cNvPr id="125" name="TextBox 124"/>
            <p:cNvSpPr txBox="1"/>
            <p:nvPr/>
          </p:nvSpPr>
          <p:spPr bwMode="auto">
            <a:xfrm>
              <a:off x="2103120" y="5650992"/>
              <a:ext cx="3749040" cy="64008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defRPr/>
              </a:pPr>
              <a:r>
                <a:rPr lang="en-US" sz="1400" b="0">
                  <a:solidFill>
                    <a:srgbClr val="101820"/>
                  </a:solidFill>
                  <a:latin typeface="Inter"/>
                  <a:cs typeface="Inter"/>
                </a:rPr>
                <a:t>of 179 surveyed shoppers notice big price gaps on the same item</a:t>
              </a:r>
              <a:endParaRPr/>
            </a:p>
          </p:txBody>
        </p:sp>
      </p:grpSp>
      <p:grpSp>
        <p:nvGrpSpPr>
          <p:cNvPr id="2068422102" name="Group 9"/>
          <p:cNvGrpSpPr/>
          <p:nvPr/>
        </p:nvGrpSpPr>
        <p:grpSpPr bwMode="auto">
          <a:xfrm>
            <a:off x="6309360" y="5623560"/>
            <a:ext cx="1325880" cy="640080"/>
            <a:chOff x="6309360" y="5623560"/>
            <a:chExt cx="1325880" cy="640080"/>
          </a:xfrm>
        </p:grpSpPr>
        <p:sp>
          <p:nvSpPr>
            <p:cNvPr id="126" name="TextBox 125"/>
            <p:cNvSpPr txBox="1"/>
            <p:nvPr/>
          </p:nvSpPr>
          <p:spPr bwMode="auto">
            <a:xfrm>
              <a:off x="6309360" y="5623560"/>
              <a:ext cx="1325880" cy="64008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defRPr/>
              </a:pPr>
              <a:r>
                <a:rPr lang="en-US" sz="3400" b="1">
                  <a:solidFill>
                    <a:srgbClr val="298FC2"/>
                  </a:solidFill>
                  <a:latin typeface="Comfortaa"/>
                  <a:cs typeface="Comfortaa"/>
                </a:rPr>
                <a:t>55%</a:t>
              </a:r>
              <a:endParaRPr/>
            </a:p>
          </p:txBody>
        </p:sp>
      </p:grpSp>
      <p:grpSp>
        <p:nvGrpSpPr>
          <p:cNvPr id="22578680" name="Group 10"/>
          <p:cNvGrpSpPr/>
          <p:nvPr/>
        </p:nvGrpSpPr>
        <p:grpSpPr bwMode="auto">
          <a:xfrm>
            <a:off x="7680960" y="5650992"/>
            <a:ext cx="3749040" cy="640080"/>
            <a:chOff x="7680960" y="5650992"/>
            <a:chExt cx="3749040" cy="640080"/>
          </a:xfrm>
        </p:grpSpPr>
        <p:sp>
          <p:nvSpPr>
            <p:cNvPr id="127" name="TextBox 126"/>
            <p:cNvSpPr txBox="1"/>
            <p:nvPr/>
          </p:nvSpPr>
          <p:spPr bwMode="auto">
            <a:xfrm>
              <a:off x="7680960" y="5650992"/>
              <a:ext cx="3749040" cy="64008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defRPr/>
              </a:pPr>
              <a:r>
                <a:rPr lang="en-US" sz="1400" b="0">
                  <a:solidFill>
                    <a:srgbClr val="101820"/>
                  </a:solidFill>
                  <a:latin typeface="Inter"/>
                  <a:cs typeface="Inter"/>
                </a:rPr>
                <a:t>of merchants pick answering “price?” messages as a top headache — the most common answer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fast" p14:dur="500" advClick="1">
        <p:fade thruBlk="0"/>
      </p:transition>
    </mc:Choice>
    <mc:Fallback>
      <p:transition spd="fast" advClick="1">
        <p:fade thruBlk="0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41362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1441362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300"/>
                            </p:stCondLst>
                            <p:childTnLst>
                              <p:par>
                                <p:cTn id="9" presetID="53" presetClass="entr" presetSubtype="16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9995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300" fill="hold"/>
                                        <p:tgtEl>
                                          <p:spTgt spid="23999958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300" fill="hold"/>
                                        <p:tgtEl>
                                          <p:spTgt spid="23999958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2399995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13878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00"/>
                                        <p:tgtEl>
                                          <p:spTgt spid="14513878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300"/>
                            </p:stCondLst>
                            <p:childTnLst>
                              <p:par>
                                <p:cTn id="20" presetID="53" presetClass="entr" presetSubtype="16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10394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300" fill="hold"/>
                                        <p:tgtEl>
                                          <p:spTgt spid="8310394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300" fill="hold"/>
                                        <p:tgtEl>
                                          <p:spTgt spid="8310394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300"/>
                                        <p:tgtEl>
                                          <p:spTgt spid="8310394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58865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00"/>
                                        <p:tgtEl>
                                          <p:spTgt spid="21358865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300"/>
                            </p:stCondLst>
                            <p:childTnLst>
                              <p:par>
                                <p:cTn id="31" presetID="53" presetClass="entr" presetSubtype="16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7133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" dur="300" fill="hold"/>
                                        <p:tgtEl>
                                          <p:spTgt spid="8871334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300" fill="hold"/>
                                        <p:tgtEl>
                                          <p:spTgt spid="8871334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300"/>
                                        <p:tgtEl>
                                          <p:spTgt spid="887133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42376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0" dur="300" fill="hold"/>
                                        <p:tgtEl>
                                          <p:spTgt spid="5742376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300" fill="hold"/>
                                        <p:tgtEl>
                                          <p:spTgt spid="5742376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5742376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39866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00"/>
                                        <p:tgtEl>
                                          <p:spTgt spid="16139866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300"/>
                            </p:stCondLst>
                            <p:childTnLst>
                              <p:par>
                                <p:cTn id="47" presetID="53" presetClass="entr" presetSubtype="16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8422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9" dur="300" fill="hold"/>
                                        <p:tgtEl>
                                          <p:spTgt spid="206842210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300" fill="hold"/>
                                        <p:tgtEl>
                                          <p:spTgt spid="206842210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1" dur="300"/>
                                        <p:tgtEl>
                                          <p:spTgt spid="2068422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786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300"/>
                                        <p:tgtEl>
                                          <p:spTgt spid="225786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534034486" name="Google Shape;98;p14" title="Center_for_Academic_and_Professional_Advancement.png"/>
          <p:cNvPicPr/>
          <p:nvPr/>
        </p:nvPicPr>
        <p:blipFill rotWithShape="1">
          <a:blip r:embed="rId3">
            <a:alphaModFix/>
          </a:blip>
          <a:stretch/>
        </p:blipFill>
        <p:spPr bwMode="auto">
          <a:xfrm>
            <a:off x="8289593" y="351575"/>
            <a:ext cx="3178502" cy="9693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26068200" name="Google Shape;99;p14" title="german cooperation deutsche zusammenarbeit.png"/>
          <p:cNvPicPr/>
          <p:nvPr/>
        </p:nvPicPr>
        <p:blipFill rotWithShape="1">
          <a:blip r:embed="rId4">
            <a:alphaModFix/>
          </a:blip>
          <a:stretch/>
        </p:blipFill>
        <p:spPr bwMode="auto">
          <a:xfrm>
            <a:off x="723900" y="436204"/>
            <a:ext cx="1428202" cy="800089"/>
          </a:xfrm>
          <a:prstGeom prst="rect">
            <a:avLst/>
          </a:prstGeom>
          <a:noFill/>
          <a:ln>
            <a:noFill/>
          </a:ln>
        </p:spPr>
      </p:pic>
      <p:sp>
        <p:nvSpPr>
          <p:cNvPr id="1185760821" name="Rectangle 99"/>
          <p:cNvSpPr/>
          <p:nvPr/>
        </p:nvSpPr>
        <p:spPr bwMode="auto">
          <a:xfrm>
            <a:off x="722376" y="1517904"/>
            <a:ext cx="274320" cy="45720"/>
          </a:xfrm>
          <a:prstGeom prst="rect">
            <a:avLst/>
          </a:prstGeom>
          <a:solidFill>
            <a:srgbClr val="298FC2"/>
          </a:solidFill>
          <a:ln>
            <a:noFill/>
          </a:ln>
          <a:effectLst/>
        </p:spPr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07598755" name="TextBox 100"/>
          <p:cNvSpPr txBox="1"/>
          <p:nvPr/>
        </p:nvSpPr>
        <p:spPr bwMode="auto">
          <a:xfrm>
            <a:off x="1133856" y="1426464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defRPr/>
            </a:pPr>
            <a:r>
              <a:rPr lang="en-US" sz="1300" b="0">
                <a:solidFill>
                  <a:srgbClr val="5A6672"/>
                </a:solidFill>
                <a:latin typeface="Inter"/>
                <a:cs typeface="Inter"/>
              </a:rPr>
              <a:t>Solution</a:t>
            </a:r>
            <a:endParaRPr/>
          </a:p>
        </p:txBody>
      </p:sp>
      <p:sp>
        <p:nvSpPr>
          <p:cNvPr id="1834058698" name="TextBox 101"/>
          <p:cNvSpPr txBox="1"/>
          <p:nvPr/>
        </p:nvSpPr>
        <p:spPr bwMode="auto">
          <a:xfrm>
            <a:off x="722376" y="1700784"/>
            <a:ext cx="10744200" cy="5669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defRPr/>
            </a:pPr>
            <a:r>
              <a:rPr lang="en-US" sz="3000" b="1">
                <a:solidFill>
                  <a:srgbClr val="101820"/>
                </a:solidFill>
                <a:latin typeface="Comfortaa"/>
                <a:cs typeface="Comfortaa"/>
              </a:rPr>
              <a:t>One product. One page. Every seller.</a:t>
            </a:r>
            <a:endParaRPr/>
          </a:p>
        </p:txBody>
      </p:sp>
      <p:sp>
        <p:nvSpPr>
          <p:cNvPr id="662630448" name="TextBox 102"/>
          <p:cNvSpPr txBox="1"/>
          <p:nvPr/>
        </p:nvSpPr>
        <p:spPr bwMode="auto">
          <a:xfrm>
            <a:off x="722376" y="6455664"/>
            <a:ext cx="10744200" cy="23774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defRPr/>
            </a:pPr>
            <a:r>
              <a:rPr lang="en-US" sz="900" b="0">
                <a:solidFill>
                  <a:srgbClr val="5A6672"/>
                </a:solidFill>
                <a:latin typeface="Inter"/>
                <a:cs typeface="Inter"/>
              </a:rPr>
              <a:t>Illustration — store names and prices are examples.</a:t>
            </a:r>
            <a:endParaRPr/>
          </a:p>
        </p:txBody>
      </p:sp>
      <p:grpSp>
        <p:nvGrpSpPr>
          <p:cNvPr id="2077155122" name="Group 1"/>
          <p:cNvGrpSpPr/>
          <p:nvPr/>
        </p:nvGrpSpPr>
        <p:grpSpPr bwMode="auto">
          <a:xfrm>
            <a:off x="914400" y="2697480"/>
            <a:ext cx="1965960" cy="868680"/>
            <a:chOff x="914400" y="2697480"/>
            <a:chExt cx="1965960" cy="868680"/>
          </a:xfrm>
        </p:grpSpPr>
        <p:sp>
          <p:nvSpPr>
            <p:cNvPr id="104" name="Rounded Rectangle 103"/>
            <p:cNvSpPr/>
            <p:nvPr/>
          </p:nvSpPr>
          <p:spPr bwMode="auto">
            <a:xfrm>
              <a:off x="914400" y="2697480"/>
              <a:ext cx="1965960" cy="868680"/>
            </a:xfrm>
            <a:prstGeom prst="roundRect">
              <a:avLst>
                <a:gd name="adj" fmla="val 14736"/>
              </a:avLst>
            </a:prstGeom>
            <a:solidFill>
              <a:srgbClr val="FFFFFF"/>
            </a:solidFill>
            <a:ln w="12700">
              <a:solidFill>
                <a:srgbClr val="DDE5ED"/>
              </a:solidFill>
            </a:ln>
            <a:effectLst>
              <a:outerShdw blurRad="101600" dist="25400" dir="5400000" algn="t" rotWithShape="0">
                <a:srgbClr val="101820">
                  <a:alpha val="9000"/>
                </a:srgbClr>
              </a:outerShdw>
            </a:effectLst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05" name="TextBox 104"/>
            <p:cNvSpPr txBox="1"/>
            <p:nvPr/>
          </p:nvSpPr>
          <p:spPr bwMode="auto">
            <a:xfrm>
              <a:off x="1051560" y="2788920"/>
              <a:ext cx="1737360" cy="18288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defRPr/>
              </a:pPr>
              <a:r>
                <a:rPr lang="en-US" sz="1000" b="0">
                  <a:solidFill>
                    <a:srgbClr val="5A6672"/>
                  </a:solidFill>
                  <a:latin typeface="Inter"/>
                  <a:cs typeface="Inter"/>
                </a:rPr>
                <a:t>Instagram</a:t>
              </a:r>
              <a:endParaRPr/>
            </a:p>
          </p:txBody>
        </p:sp>
        <p:sp>
          <p:nvSpPr>
            <p:cNvPr id="106" name="TextBox 105"/>
            <p:cNvSpPr txBox="1"/>
            <p:nvPr/>
          </p:nvSpPr>
          <p:spPr bwMode="auto">
            <a:xfrm>
              <a:off x="1051560" y="2971800"/>
              <a:ext cx="1737360" cy="20116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defRPr/>
              </a:pPr>
              <a:r>
                <a:rPr lang="en-US" sz="1100" b="0">
                  <a:solidFill>
                    <a:srgbClr val="101820"/>
                  </a:solidFill>
                  <a:latin typeface="Inter"/>
                  <a:cs typeface="Inter"/>
                </a:rPr>
                <a:t>Anker 25K 165W</a:t>
              </a:r>
              <a:endParaRPr/>
            </a:p>
          </p:txBody>
        </p:sp>
        <p:sp>
          <p:nvSpPr>
            <p:cNvPr id="107" name="TextBox 106"/>
            <p:cNvSpPr txBox="1"/>
            <p:nvPr/>
          </p:nvSpPr>
          <p:spPr bwMode="auto">
            <a:xfrm>
              <a:off x="1051560" y="3172968"/>
              <a:ext cx="1737360" cy="29260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defRPr/>
              </a:pPr>
              <a:r>
                <a:rPr lang="en-US" sz="1600" b="1">
                  <a:solidFill>
                    <a:srgbClr val="101820"/>
                  </a:solidFill>
                  <a:latin typeface="Inter"/>
                  <a:cs typeface="Inter"/>
                </a:rPr>
                <a:t>95,000 IQD</a:t>
              </a:r>
              <a:endParaRPr/>
            </a:p>
          </p:txBody>
        </p:sp>
      </p:grpSp>
      <p:grpSp>
        <p:nvGrpSpPr>
          <p:cNvPr id="971419236" name="Group 2"/>
          <p:cNvGrpSpPr/>
          <p:nvPr/>
        </p:nvGrpSpPr>
        <p:grpSpPr bwMode="auto">
          <a:xfrm>
            <a:off x="3749040" y="3063240"/>
            <a:ext cx="1965960" cy="868680"/>
            <a:chOff x="3749040" y="3063240"/>
            <a:chExt cx="1965960" cy="868680"/>
          </a:xfrm>
        </p:grpSpPr>
        <p:sp>
          <p:nvSpPr>
            <p:cNvPr id="108" name="Rounded Rectangle 107"/>
            <p:cNvSpPr/>
            <p:nvPr/>
          </p:nvSpPr>
          <p:spPr bwMode="auto">
            <a:xfrm>
              <a:off x="3749040" y="3063240"/>
              <a:ext cx="1965960" cy="868680"/>
            </a:xfrm>
            <a:prstGeom prst="roundRect">
              <a:avLst>
                <a:gd name="adj" fmla="val 14736"/>
              </a:avLst>
            </a:prstGeom>
            <a:solidFill>
              <a:srgbClr val="FFFFFF"/>
            </a:solidFill>
            <a:ln w="12700">
              <a:solidFill>
                <a:srgbClr val="DDE5ED"/>
              </a:solidFill>
            </a:ln>
            <a:effectLst>
              <a:outerShdw blurRad="101600" dist="25400" dir="5400000" algn="t" rotWithShape="0">
                <a:srgbClr val="101820">
                  <a:alpha val="9000"/>
                </a:srgbClr>
              </a:outerShdw>
            </a:effectLst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09" name="TextBox 108"/>
            <p:cNvSpPr txBox="1"/>
            <p:nvPr/>
          </p:nvSpPr>
          <p:spPr bwMode="auto">
            <a:xfrm>
              <a:off x="3886200" y="3154680"/>
              <a:ext cx="1737360" cy="18288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defRPr/>
              </a:pPr>
              <a:r>
                <a:rPr lang="en-US" sz="1000" b="0">
                  <a:solidFill>
                    <a:srgbClr val="5A6672"/>
                  </a:solidFill>
                  <a:latin typeface="Inter"/>
                  <a:cs typeface="Inter"/>
                </a:rPr>
                <a:t>Miswag</a:t>
              </a:r>
              <a:endParaRPr/>
            </a:p>
          </p:txBody>
        </p:sp>
        <p:sp>
          <p:nvSpPr>
            <p:cNvPr id="110" name="TextBox 109"/>
            <p:cNvSpPr txBox="1"/>
            <p:nvPr/>
          </p:nvSpPr>
          <p:spPr bwMode="auto">
            <a:xfrm>
              <a:off x="3886200" y="3337560"/>
              <a:ext cx="1737360" cy="20116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defRPr/>
              </a:pPr>
              <a:r>
                <a:rPr lang="en-US" sz="1100" b="0">
                  <a:solidFill>
                    <a:srgbClr val="101820"/>
                  </a:solidFill>
                  <a:latin typeface="Inter"/>
                  <a:cs typeface="Inter"/>
                </a:rPr>
                <a:t>Anker 25K 165W</a:t>
              </a:r>
              <a:endParaRPr/>
            </a:p>
          </p:txBody>
        </p:sp>
        <p:sp>
          <p:nvSpPr>
            <p:cNvPr id="111" name="TextBox 110"/>
            <p:cNvSpPr txBox="1"/>
            <p:nvPr/>
          </p:nvSpPr>
          <p:spPr bwMode="auto">
            <a:xfrm>
              <a:off x="3886200" y="3538728"/>
              <a:ext cx="1737360" cy="29260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defRPr/>
              </a:pPr>
              <a:r>
                <a:rPr lang="en-US" sz="1600" b="1">
                  <a:solidFill>
                    <a:srgbClr val="101820"/>
                  </a:solidFill>
                  <a:latin typeface="Inter"/>
                  <a:cs typeface="Inter"/>
                </a:rPr>
                <a:t>200,000 IQD</a:t>
              </a:r>
              <a:endParaRPr/>
            </a:p>
          </p:txBody>
        </p:sp>
      </p:grpSp>
      <p:grpSp>
        <p:nvGrpSpPr>
          <p:cNvPr id="874646287" name="Group 3"/>
          <p:cNvGrpSpPr/>
          <p:nvPr/>
        </p:nvGrpSpPr>
        <p:grpSpPr bwMode="auto">
          <a:xfrm>
            <a:off x="6949440" y="2606040"/>
            <a:ext cx="1965960" cy="868680"/>
            <a:chOff x="6949440" y="2606040"/>
            <a:chExt cx="1965960" cy="868680"/>
          </a:xfrm>
        </p:grpSpPr>
        <p:sp>
          <p:nvSpPr>
            <p:cNvPr id="112" name="Rounded Rectangle 111"/>
            <p:cNvSpPr/>
            <p:nvPr/>
          </p:nvSpPr>
          <p:spPr bwMode="auto">
            <a:xfrm>
              <a:off x="6949440" y="2606040"/>
              <a:ext cx="1965960" cy="868680"/>
            </a:xfrm>
            <a:prstGeom prst="roundRect">
              <a:avLst>
                <a:gd name="adj" fmla="val 14736"/>
              </a:avLst>
            </a:prstGeom>
            <a:solidFill>
              <a:srgbClr val="FFFFFF"/>
            </a:solidFill>
            <a:ln w="12700">
              <a:solidFill>
                <a:srgbClr val="DDE5ED"/>
              </a:solidFill>
            </a:ln>
            <a:effectLst>
              <a:outerShdw blurRad="101600" dist="25400" dir="5400000" algn="t" rotWithShape="0">
                <a:srgbClr val="101820">
                  <a:alpha val="9000"/>
                </a:srgbClr>
              </a:outerShdw>
            </a:effectLst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13" name="TextBox 112"/>
            <p:cNvSpPr txBox="1"/>
            <p:nvPr/>
          </p:nvSpPr>
          <p:spPr bwMode="auto">
            <a:xfrm>
              <a:off x="7086600" y="2697480"/>
              <a:ext cx="1737360" cy="18288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defRPr/>
              </a:pPr>
              <a:r>
                <a:rPr lang="en-US" sz="1000" b="0">
                  <a:solidFill>
                    <a:srgbClr val="5A6672"/>
                  </a:solidFill>
                  <a:latin typeface="Inter"/>
                  <a:cs typeface="Inter"/>
                </a:rPr>
                <a:t>iBazzar</a:t>
              </a:r>
              <a:endParaRPr/>
            </a:p>
          </p:txBody>
        </p:sp>
        <p:sp>
          <p:nvSpPr>
            <p:cNvPr id="114" name="TextBox 113"/>
            <p:cNvSpPr txBox="1"/>
            <p:nvPr/>
          </p:nvSpPr>
          <p:spPr bwMode="auto">
            <a:xfrm>
              <a:off x="7086600" y="2880360"/>
              <a:ext cx="1737360" cy="20116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defRPr/>
              </a:pPr>
              <a:r>
                <a:rPr lang="en-US" sz="1100" b="0">
                  <a:solidFill>
                    <a:srgbClr val="101820"/>
                  </a:solidFill>
                  <a:latin typeface="Inter"/>
                  <a:cs typeface="Inter"/>
                </a:rPr>
                <a:t>Anker 25K 165W</a:t>
              </a:r>
              <a:endParaRPr/>
            </a:p>
          </p:txBody>
        </p:sp>
        <p:sp>
          <p:nvSpPr>
            <p:cNvPr id="115" name="TextBox 114"/>
            <p:cNvSpPr txBox="1"/>
            <p:nvPr/>
          </p:nvSpPr>
          <p:spPr bwMode="auto">
            <a:xfrm>
              <a:off x="7086600" y="3081528"/>
              <a:ext cx="1737360" cy="29260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defRPr/>
              </a:pPr>
              <a:r>
                <a:rPr lang="en-US" sz="1600" b="1">
                  <a:solidFill>
                    <a:srgbClr val="101820"/>
                  </a:solidFill>
                  <a:latin typeface="Inter"/>
                  <a:cs typeface="Inter"/>
                </a:rPr>
                <a:t>134,000 IQD</a:t>
              </a:r>
              <a:endParaRPr/>
            </a:p>
          </p:txBody>
        </p:sp>
      </p:grpSp>
      <p:grpSp>
        <p:nvGrpSpPr>
          <p:cNvPr id="1376070509" name="Group 4"/>
          <p:cNvGrpSpPr/>
          <p:nvPr/>
        </p:nvGrpSpPr>
        <p:grpSpPr bwMode="auto">
          <a:xfrm>
            <a:off x="9326880" y="3291840"/>
            <a:ext cx="1965960" cy="868680"/>
            <a:chOff x="9326880" y="3291840"/>
            <a:chExt cx="1965960" cy="868680"/>
          </a:xfrm>
        </p:grpSpPr>
        <p:sp>
          <p:nvSpPr>
            <p:cNvPr id="116" name="Rounded Rectangle 115"/>
            <p:cNvSpPr/>
            <p:nvPr/>
          </p:nvSpPr>
          <p:spPr bwMode="auto">
            <a:xfrm>
              <a:off x="9326880" y="3291840"/>
              <a:ext cx="1965960" cy="868680"/>
            </a:xfrm>
            <a:prstGeom prst="roundRect">
              <a:avLst>
                <a:gd name="adj" fmla="val 14736"/>
              </a:avLst>
            </a:prstGeom>
            <a:solidFill>
              <a:srgbClr val="FFFFFF"/>
            </a:solidFill>
            <a:ln w="12700">
              <a:solidFill>
                <a:srgbClr val="DDE5ED"/>
              </a:solidFill>
            </a:ln>
            <a:effectLst>
              <a:outerShdw blurRad="101600" dist="25400" dir="5400000" algn="t" rotWithShape="0">
                <a:srgbClr val="101820">
                  <a:alpha val="9000"/>
                </a:srgbClr>
              </a:outerShdw>
            </a:effectLst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17" name="TextBox 116"/>
            <p:cNvSpPr txBox="1"/>
            <p:nvPr/>
          </p:nvSpPr>
          <p:spPr bwMode="auto">
            <a:xfrm>
              <a:off x="9464040" y="3383280"/>
              <a:ext cx="1737360" cy="18288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defRPr/>
              </a:pPr>
              <a:r>
                <a:rPr lang="en-US" sz="1000" b="0">
                  <a:solidFill>
                    <a:srgbClr val="5A6672"/>
                  </a:solidFill>
                  <a:latin typeface="Inter"/>
                  <a:cs typeface="Inter"/>
                </a:rPr>
                <a:t>Instagram</a:t>
              </a:r>
              <a:endParaRPr/>
            </a:p>
          </p:txBody>
        </p:sp>
        <p:sp>
          <p:nvSpPr>
            <p:cNvPr id="118" name="TextBox 117"/>
            <p:cNvSpPr txBox="1"/>
            <p:nvPr/>
          </p:nvSpPr>
          <p:spPr bwMode="auto">
            <a:xfrm>
              <a:off x="9464040" y="3566160"/>
              <a:ext cx="1737360" cy="20116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defRPr/>
              </a:pPr>
              <a:r>
                <a:rPr lang="en-US" sz="1100" b="0">
                  <a:solidFill>
                    <a:srgbClr val="101820"/>
                  </a:solidFill>
                  <a:latin typeface="Inter"/>
                  <a:cs typeface="Inter"/>
                </a:rPr>
                <a:t>Anker 25K 165W</a:t>
              </a:r>
              <a:endParaRPr/>
            </a:p>
          </p:txBody>
        </p:sp>
        <p:sp>
          <p:nvSpPr>
            <p:cNvPr id="119" name="TextBox 118"/>
            <p:cNvSpPr txBox="1"/>
            <p:nvPr/>
          </p:nvSpPr>
          <p:spPr bwMode="auto">
            <a:xfrm>
              <a:off x="9464040" y="3767328"/>
              <a:ext cx="1737360" cy="29260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defRPr/>
              </a:pPr>
              <a:r>
                <a:rPr lang="en-US" sz="1400" b="1">
                  <a:solidFill>
                    <a:srgbClr val="D22730"/>
                  </a:solidFill>
                  <a:latin typeface="Inter"/>
                  <a:cs typeface="Inter"/>
                </a:rPr>
                <a:t>Price? DM us</a:t>
              </a:r>
              <a:endParaRPr/>
            </a:p>
          </p:txBody>
        </p:sp>
      </p:grpSp>
      <p:grpSp>
        <p:nvGrpSpPr>
          <p:cNvPr id="795977551" name="Group 5"/>
          <p:cNvGrpSpPr/>
          <p:nvPr/>
        </p:nvGrpSpPr>
        <p:grpSpPr bwMode="auto">
          <a:xfrm>
            <a:off x="2011680" y="4846320"/>
            <a:ext cx="1965960" cy="868680"/>
            <a:chOff x="2011680" y="4846320"/>
            <a:chExt cx="1965960" cy="868680"/>
          </a:xfrm>
        </p:grpSpPr>
        <p:sp>
          <p:nvSpPr>
            <p:cNvPr id="120" name="Rounded Rectangle 119"/>
            <p:cNvSpPr/>
            <p:nvPr/>
          </p:nvSpPr>
          <p:spPr bwMode="auto">
            <a:xfrm>
              <a:off x="2011680" y="4846320"/>
              <a:ext cx="1965960" cy="868680"/>
            </a:xfrm>
            <a:prstGeom prst="roundRect">
              <a:avLst>
                <a:gd name="adj" fmla="val 14736"/>
              </a:avLst>
            </a:prstGeom>
            <a:solidFill>
              <a:srgbClr val="FFFFFF"/>
            </a:solidFill>
            <a:ln w="12700">
              <a:solidFill>
                <a:srgbClr val="DDE5ED"/>
              </a:solidFill>
            </a:ln>
            <a:effectLst>
              <a:outerShdw blurRad="101600" dist="25400" dir="5400000" algn="t" rotWithShape="0">
                <a:srgbClr val="101820">
                  <a:alpha val="9000"/>
                </a:srgbClr>
              </a:outerShdw>
            </a:effectLst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21" name="TextBox 120"/>
            <p:cNvSpPr txBox="1"/>
            <p:nvPr/>
          </p:nvSpPr>
          <p:spPr bwMode="auto">
            <a:xfrm>
              <a:off x="2148840" y="4937760"/>
              <a:ext cx="1737360" cy="18288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defRPr/>
              </a:pPr>
              <a:r>
                <a:rPr lang="en-US" sz="1000" b="0">
                  <a:solidFill>
                    <a:srgbClr val="5A6672"/>
                  </a:solidFill>
                  <a:latin typeface="Inter"/>
                  <a:cs typeface="Inter"/>
                </a:rPr>
                <a:t>Miswag</a:t>
              </a:r>
              <a:endParaRPr/>
            </a:p>
          </p:txBody>
        </p:sp>
        <p:sp>
          <p:nvSpPr>
            <p:cNvPr id="122" name="TextBox 121"/>
            <p:cNvSpPr txBox="1"/>
            <p:nvPr/>
          </p:nvSpPr>
          <p:spPr bwMode="auto">
            <a:xfrm>
              <a:off x="2148840" y="5120640"/>
              <a:ext cx="1737360" cy="20116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defRPr/>
              </a:pPr>
              <a:r>
                <a:rPr lang="en-US" sz="1100" b="0">
                  <a:solidFill>
                    <a:srgbClr val="101820"/>
                  </a:solidFill>
                  <a:latin typeface="Inter"/>
                  <a:cs typeface="Inter"/>
                </a:rPr>
                <a:t>Anker 25K 165W</a:t>
              </a:r>
              <a:endParaRPr/>
            </a:p>
          </p:txBody>
        </p:sp>
        <p:sp>
          <p:nvSpPr>
            <p:cNvPr id="123" name="TextBox 122"/>
            <p:cNvSpPr txBox="1"/>
            <p:nvPr/>
          </p:nvSpPr>
          <p:spPr bwMode="auto">
            <a:xfrm>
              <a:off x="2148840" y="5321808"/>
              <a:ext cx="1737360" cy="29260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defRPr/>
              </a:pPr>
              <a:r>
                <a:rPr lang="en-US" sz="1600" b="1">
                  <a:solidFill>
                    <a:srgbClr val="101820"/>
                  </a:solidFill>
                  <a:latin typeface="Inter"/>
                  <a:cs typeface="Inter"/>
                </a:rPr>
                <a:t>100,000 IQD</a:t>
              </a:r>
              <a:endParaRPr/>
            </a:p>
          </p:txBody>
        </p:sp>
      </p:grpSp>
      <p:grpSp>
        <p:nvGrpSpPr>
          <p:cNvPr id="1209522684" name="Group 6"/>
          <p:cNvGrpSpPr/>
          <p:nvPr/>
        </p:nvGrpSpPr>
        <p:grpSpPr bwMode="auto">
          <a:xfrm>
            <a:off x="5486400" y="5120640"/>
            <a:ext cx="1965960" cy="868680"/>
            <a:chOff x="5486400" y="5120640"/>
            <a:chExt cx="1965960" cy="868680"/>
          </a:xfrm>
        </p:grpSpPr>
        <p:sp>
          <p:nvSpPr>
            <p:cNvPr id="124" name="Rounded Rectangle 123"/>
            <p:cNvSpPr/>
            <p:nvPr/>
          </p:nvSpPr>
          <p:spPr bwMode="auto">
            <a:xfrm>
              <a:off x="5486400" y="5120640"/>
              <a:ext cx="1965960" cy="868680"/>
            </a:xfrm>
            <a:prstGeom prst="roundRect">
              <a:avLst>
                <a:gd name="adj" fmla="val 14736"/>
              </a:avLst>
            </a:prstGeom>
            <a:solidFill>
              <a:srgbClr val="FFFFFF"/>
            </a:solidFill>
            <a:ln w="12700">
              <a:solidFill>
                <a:srgbClr val="DDE5ED"/>
              </a:solidFill>
            </a:ln>
            <a:effectLst>
              <a:outerShdw blurRad="101600" dist="25400" dir="5400000" algn="t" rotWithShape="0">
                <a:srgbClr val="101820">
                  <a:alpha val="9000"/>
                </a:srgbClr>
              </a:outerShdw>
            </a:effectLst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25" name="TextBox 124"/>
            <p:cNvSpPr txBox="1"/>
            <p:nvPr/>
          </p:nvSpPr>
          <p:spPr bwMode="auto">
            <a:xfrm>
              <a:off x="5623560" y="5212080"/>
              <a:ext cx="1737360" cy="18288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defRPr/>
              </a:pPr>
              <a:r>
                <a:rPr lang="en-US" sz="1000" b="0">
                  <a:solidFill>
                    <a:srgbClr val="5A6672"/>
                  </a:solidFill>
                  <a:latin typeface="Inter"/>
                  <a:cs typeface="Inter"/>
                </a:rPr>
                <a:t>Instagram</a:t>
              </a:r>
              <a:endParaRPr/>
            </a:p>
          </p:txBody>
        </p:sp>
        <p:sp>
          <p:nvSpPr>
            <p:cNvPr id="126" name="TextBox 125"/>
            <p:cNvSpPr txBox="1"/>
            <p:nvPr/>
          </p:nvSpPr>
          <p:spPr bwMode="auto">
            <a:xfrm>
              <a:off x="5623560" y="5394960"/>
              <a:ext cx="1737360" cy="20116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defRPr/>
              </a:pPr>
              <a:r>
                <a:rPr lang="en-US" sz="1100" b="0">
                  <a:solidFill>
                    <a:srgbClr val="101820"/>
                  </a:solidFill>
                  <a:latin typeface="Inter"/>
                  <a:cs typeface="Inter"/>
                </a:rPr>
                <a:t>Anker 25K 165W</a:t>
              </a:r>
              <a:endParaRPr/>
            </a:p>
          </p:txBody>
        </p:sp>
        <p:sp>
          <p:nvSpPr>
            <p:cNvPr id="127" name="TextBox 126"/>
            <p:cNvSpPr txBox="1"/>
            <p:nvPr/>
          </p:nvSpPr>
          <p:spPr bwMode="auto">
            <a:xfrm>
              <a:off x="5623560" y="5596128"/>
              <a:ext cx="1737360" cy="29260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defRPr/>
              </a:pPr>
              <a:r>
                <a:rPr lang="en-US" sz="1600" b="1">
                  <a:solidFill>
                    <a:srgbClr val="101820"/>
                  </a:solidFill>
                  <a:latin typeface="Inter"/>
                  <a:cs typeface="Inter"/>
                </a:rPr>
                <a:t>99,000 IQD</a:t>
              </a:r>
              <a:endParaRPr/>
            </a:p>
          </p:txBody>
        </p:sp>
      </p:grpSp>
      <p:grpSp>
        <p:nvGrpSpPr>
          <p:cNvPr id="2124396514" name="Group 7"/>
          <p:cNvGrpSpPr/>
          <p:nvPr/>
        </p:nvGrpSpPr>
        <p:grpSpPr bwMode="auto">
          <a:xfrm>
            <a:off x="8503920" y="4754880"/>
            <a:ext cx="1965960" cy="868680"/>
            <a:chOff x="8503920" y="4754880"/>
            <a:chExt cx="1965960" cy="868680"/>
          </a:xfrm>
        </p:grpSpPr>
        <p:sp>
          <p:nvSpPr>
            <p:cNvPr id="128" name="Rounded Rectangle 127"/>
            <p:cNvSpPr/>
            <p:nvPr/>
          </p:nvSpPr>
          <p:spPr bwMode="auto">
            <a:xfrm>
              <a:off x="8503920" y="4754880"/>
              <a:ext cx="1965960" cy="868680"/>
            </a:xfrm>
            <a:prstGeom prst="roundRect">
              <a:avLst>
                <a:gd name="adj" fmla="val 14736"/>
              </a:avLst>
            </a:prstGeom>
            <a:solidFill>
              <a:srgbClr val="FFFFFF"/>
            </a:solidFill>
            <a:ln w="12700">
              <a:solidFill>
                <a:srgbClr val="DDE5ED"/>
              </a:solidFill>
            </a:ln>
            <a:effectLst>
              <a:outerShdw blurRad="101600" dist="25400" dir="5400000" algn="t" rotWithShape="0">
                <a:srgbClr val="101820">
                  <a:alpha val="9000"/>
                </a:srgbClr>
              </a:outerShdw>
            </a:effectLst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29" name="TextBox 128"/>
            <p:cNvSpPr txBox="1"/>
            <p:nvPr/>
          </p:nvSpPr>
          <p:spPr bwMode="auto">
            <a:xfrm>
              <a:off x="8641080" y="4846320"/>
              <a:ext cx="1737360" cy="18288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defRPr/>
              </a:pPr>
              <a:r>
                <a:rPr lang="en-US" sz="1000" b="0">
                  <a:solidFill>
                    <a:srgbClr val="5A6672"/>
                  </a:solidFill>
                  <a:latin typeface="Inter"/>
                  <a:cs typeface="Inter"/>
                </a:rPr>
                <a:t>Miswag</a:t>
              </a:r>
              <a:endParaRPr/>
            </a:p>
          </p:txBody>
        </p:sp>
        <p:sp>
          <p:nvSpPr>
            <p:cNvPr id="130" name="TextBox 129"/>
            <p:cNvSpPr txBox="1"/>
            <p:nvPr/>
          </p:nvSpPr>
          <p:spPr bwMode="auto">
            <a:xfrm>
              <a:off x="8641080" y="5029200"/>
              <a:ext cx="1737360" cy="20116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defRPr/>
              </a:pPr>
              <a:r>
                <a:rPr lang="en-US" sz="1100" b="0">
                  <a:solidFill>
                    <a:srgbClr val="101820"/>
                  </a:solidFill>
                  <a:latin typeface="Inter"/>
                  <a:cs typeface="Inter"/>
                </a:rPr>
                <a:t>Anker 25K 165W</a:t>
              </a:r>
              <a:endParaRPr/>
            </a:p>
          </p:txBody>
        </p:sp>
        <p:sp>
          <p:nvSpPr>
            <p:cNvPr id="131" name="TextBox 130"/>
            <p:cNvSpPr txBox="1"/>
            <p:nvPr/>
          </p:nvSpPr>
          <p:spPr bwMode="auto">
            <a:xfrm>
              <a:off x="8641080" y="5230368"/>
              <a:ext cx="1737360" cy="29260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defRPr/>
              </a:pPr>
              <a:r>
                <a:rPr lang="en-US" sz="1600" b="1">
                  <a:solidFill>
                    <a:srgbClr val="101820"/>
                  </a:solidFill>
                  <a:latin typeface="Inter"/>
                  <a:cs typeface="Inter"/>
                </a:rPr>
                <a:t>121,000 IQD</a:t>
              </a:r>
              <a:endParaRPr/>
            </a:p>
          </p:txBody>
        </p:sp>
      </p:grpSp>
      <p:grpSp>
        <p:nvGrpSpPr>
          <p:cNvPr id="560576301" name="Group 8"/>
          <p:cNvGrpSpPr/>
          <p:nvPr/>
        </p:nvGrpSpPr>
        <p:grpSpPr bwMode="auto">
          <a:xfrm>
            <a:off x="1737360" y="2514600"/>
            <a:ext cx="6858000" cy="3794760"/>
            <a:chOff x="1737360" y="2514600"/>
            <a:chExt cx="6858000" cy="3794760"/>
          </a:xfrm>
        </p:grpSpPr>
        <p:sp>
          <p:nvSpPr>
            <p:cNvPr id="132" name="Rounded Rectangle 131"/>
            <p:cNvSpPr/>
            <p:nvPr/>
          </p:nvSpPr>
          <p:spPr bwMode="auto">
            <a:xfrm>
              <a:off x="1737360" y="2514600"/>
              <a:ext cx="6858000" cy="3794760"/>
            </a:xfrm>
            <a:prstGeom prst="roundRect">
              <a:avLst>
                <a:gd name="adj" fmla="val 3373"/>
              </a:avLst>
            </a:prstGeom>
            <a:solidFill>
              <a:srgbClr val="FFFFFF"/>
            </a:solidFill>
            <a:ln w="12700">
              <a:solidFill>
                <a:srgbClr val="DDE5ED"/>
              </a:solidFill>
            </a:ln>
            <a:effectLst>
              <a:outerShdw blurRad="304800" dist="101600" dir="5400000" algn="t" rotWithShape="0">
                <a:srgbClr val="101820">
                  <a:alpha val="8000"/>
                </a:srgbClr>
              </a:outerShdw>
            </a:effectLst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pic>
          <p:nvPicPr>
            <p:cNvPr id="133" name="Picture 132" descr="product-anker.png"/>
            <p:cNvPicPr>
              <a:picLocks noChangeAspect="1"/>
            </p:cNvPicPr>
            <p:nvPr/>
          </p:nvPicPr>
          <p:blipFill rotWithShape="1">
            <a:blip r:embed="rId5"/>
            <a:stretch/>
          </p:blipFill>
          <p:spPr bwMode="auto">
            <a:xfrm>
              <a:off x="2247408" y="2743200"/>
              <a:ext cx="625823" cy="868680"/>
            </a:xfrm>
            <a:prstGeom prst="rect">
              <a:avLst/>
            </a:prstGeom>
          </p:spPr>
        </p:pic>
        <p:sp>
          <p:nvSpPr>
            <p:cNvPr id="134" name="TextBox 133"/>
            <p:cNvSpPr txBox="1"/>
            <p:nvPr/>
          </p:nvSpPr>
          <p:spPr bwMode="auto">
            <a:xfrm>
              <a:off x="3337560" y="2743200"/>
              <a:ext cx="5120640" cy="3657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defRPr/>
              </a:pPr>
              <a:r>
                <a:rPr lang="en-US" sz="1700" b="1">
                  <a:solidFill>
                    <a:srgbClr val="101820"/>
                  </a:solidFill>
                  <a:latin typeface="Inter"/>
                  <a:cs typeface="Inter"/>
                </a:rPr>
                <a:t>Anker Power Bank 25,000 mAh · 165 W</a:t>
              </a:r>
              <a:endParaRPr/>
            </a:p>
          </p:txBody>
        </p:sp>
        <p:sp>
          <p:nvSpPr>
            <p:cNvPr id="135" name="TextBox 134"/>
            <p:cNvSpPr txBox="1"/>
            <p:nvPr/>
          </p:nvSpPr>
          <p:spPr bwMode="auto">
            <a:xfrm>
              <a:off x="3337560" y="3127248"/>
              <a:ext cx="5120640" cy="2743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defRPr/>
              </a:pPr>
              <a:r>
                <a:rPr lang="en-US" sz="1200" b="0">
                  <a:solidFill>
                    <a:srgbClr val="5A6672"/>
                  </a:solidFill>
                  <a:latin typeface="Inter"/>
                  <a:cs typeface="Inter"/>
                </a:rPr>
                <a:t>One page · every verified seller</a:t>
              </a:r>
              <a:endParaRPr/>
            </a:p>
          </p:txBody>
        </p:sp>
        <p:sp>
          <p:nvSpPr>
            <p:cNvPr id="136" name="TextBox 135"/>
            <p:cNvSpPr txBox="1"/>
            <p:nvPr/>
          </p:nvSpPr>
          <p:spPr bwMode="auto">
            <a:xfrm>
              <a:off x="1965960" y="3675888"/>
              <a:ext cx="1737360" cy="2286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defRPr/>
              </a:pPr>
              <a:r>
                <a:rPr lang="en-US" sz="1050" b="1">
                  <a:solidFill>
                    <a:srgbClr val="5A6672"/>
                  </a:solidFill>
                  <a:latin typeface="Inter"/>
                  <a:cs typeface="Inter"/>
                </a:rPr>
                <a:t>Seller</a:t>
              </a:r>
              <a:endParaRPr/>
            </a:p>
          </p:txBody>
        </p:sp>
        <p:sp>
          <p:nvSpPr>
            <p:cNvPr id="137" name="TextBox 136"/>
            <p:cNvSpPr txBox="1"/>
            <p:nvPr/>
          </p:nvSpPr>
          <p:spPr bwMode="auto">
            <a:xfrm>
              <a:off x="3840480" y="3675888"/>
              <a:ext cx="1051560" cy="2286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r">
                <a:defRPr/>
              </a:pPr>
              <a:r>
                <a:rPr lang="en-US" sz="1050" b="1">
                  <a:solidFill>
                    <a:srgbClr val="5A6672"/>
                  </a:solidFill>
                  <a:latin typeface="Inter"/>
                  <a:cs typeface="Inter"/>
                </a:rPr>
                <a:t>Item</a:t>
              </a:r>
              <a:endParaRPr/>
            </a:p>
          </p:txBody>
        </p:sp>
        <p:sp>
          <p:nvSpPr>
            <p:cNvPr id="138" name="TextBox 137"/>
            <p:cNvSpPr txBox="1"/>
            <p:nvPr/>
          </p:nvSpPr>
          <p:spPr bwMode="auto">
            <a:xfrm>
              <a:off x="4983480" y="3675888"/>
              <a:ext cx="960120" cy="2286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r">
                <a:defRPr/>
              </a:pPr>
              <a:r>
                <a:rPr lang="en-US" sz="1050" b="1">
                  <a:solidFill>
                    <a:srgbClr val="5A6672"/>
                  </a:solidFill>
                  <a:latin typeface="Inter"/>
                  <a:cs typeface="Inter"/>
                </a:rPr>
                <a:t>Delivery</a:t>
              </a:r>
              <a:endParaRPr/>
            </a:p>
          </p:txBody>
        </p:sp>
        <p:sp>
          <p:nvSpPr>
            <p:cNvPr id="139" name="TextBox 138"/>
            <p:cNvSpPr txBox="1"/>
            <p:nvPr/>
          </p:nvSpPr>
          <p:spPr bwMode="auto">
            <a:xfrm>
              <a:off x="6035039" y="3675888"/>
              <a:ext cx="1325880" cy="2286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r">
                <a:defRPr/>
              </a:pPr>
              <a:r>
                <a:rPr lang="en-US" sz="1050" b="1">
                  <a:solidFill>
                    <a:srgbClr val="5A6672"/>
                  </a:solidFill>
                  <a:latin typeface="Inter"/>
                  <a:cs typeface="Inter"/>
                </a:rPr>
                <a:t>Doorstep total</a:t>
              </a:r>
              <a:endParaRPr/>
            </a:p>
          </p:txBody>
        </p:sp>
        <p:sp>
          <p:nvSpPr>
            <p:cNvPr id="140" name="TextBox 139"/>
            <p:cNvSpPr txBox="1"/>
            <p:nvPr/>
          </p:nvSpPr>
          <p:spPr bwMode="auto">
            <a:xfrm>
              <a:off x="7498080" y="3675888"/>
              <a:ext cx="960120" cy="2286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defRPr/>
              </a:pPr>
              <a:r>
                <a:rPr lang="en-US" sz="1050" b="1">
                  <a:solidFill>
                    <a:srgbClr val="5A6672"/>
                  </a:solidFill>
                  <a:latin typeface="Inter"/>
                  <a:cs typeface="Inter"/>
                </a:rPr>
                <a:t>Arrives</a:t>
              </a:r>
              <a:endParaRPr/>
            </a:p>
          </p:txBody>
        </p:sp>
      </p:grpSp>
      <p:grpSp>
        <p:nvGrpSpPr>
          <p:cNvPr id="1011681487" name="Group 9"/>
          <p:cNvGrpSpPr/>
          <p:nvPr/>
        </p:nvGrpSpPr>
        <p:grpSpPr bwMode="auto">
          <a:xfrm>
            <a:off x="1874520" y="3950208"/>
            <a:ext cx="6583680" cy="475488"/>
            <a:chOff x="1874520" y="3950208"/>
            <a:chExt cx="6583680" cy="475488"/>
          </a:xfrm>
        </p:grpSpPr>
        <p:sp>
          <p:nvSpPr>
            <p:cNvPr id="141" name="Rounded Rectangle 140"/>
            <p:cNvSpPr/>
            <p:nvPr/>
          </p:nvSpPr>
          <p:spPr bwMode="auto">
            <a:xfrm>
              <a:off x="1874520" y="3950208"/>
              <a:ext cx="6583680" cy="475488"/>
            </a:xfrm>
            <a:prstGeom prst="roundRect">
              <a:avLst>
                <a:gd name="adj" fmla="val 15384"/>
              </a:avLst>
            </a:prstGeom>
            <a:solidFill>
              <a:srgbClr val="EDF5F0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</p:grpSp>
      <p:grpSp>
        <p:nvGrpSpPr>
          <p:cNvPr id="1348030979" name="Group 10"/>
          <p:cNvGrpSpPr/>
          <p:nvPr/>
        </p:nvGrpSpPr>
        <p:grpSpPr bwMode="auto">
          <a:xfrm>
            <a:off x="1965960" y="3950208"/>
            <a:ext cx="6492240" cy="475488"/>
            <a:chOff x="1965960" y="3950208"/>
            <a:chExt cx="6492240" cy="475488"/>
          </a:xfrm>
        </p:grpSpPr>
        <p:cxnSp>
          <p:nvCxnSpPr>
            <p:cNvPr id="142" name="Connector 141"/>
            <p:cNvCxnSpPr/>
            <p:nvPr/>
          </p:nvCxnSpPr>
          <p:spPr bwMode="auto">
            <a:xfrm>
              <a:off x="1965960" y="4425696"/>
              <a:ext cx="6400800" cy="0"/>
            </a:xfrm>
            <a:prstGeom prst="line">
              <a:avLst/>
            </a:prstGeom>
            <a:ln w="9525">
              <a:solidFill>
                <a:srgbClr val="DDE5ED"/>
              </a:solidFill>
            </a:ln>
            <a:effectLst/>
          </p:spPr>
        </p:cxnSp>
        <p:sp>
          <p:nvSpPr>
            <p:cNvPr id="143" name="TextBox 142"/>
            <p:cNvSpPr txBox="1"/>
            <p:nvPr/>
          </p:nvSpPr>
          <p:spPr bwMode="auto">
            <a:xfrm>
              <a:off x="1965960" y="3950208"/>
              <a:ext cx="1737360" cy="47548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defRPr/>
              </a:pPr>
              <a:r>
                <a:rPr lang="en-US" sz="1300" b="0">
                  <a:solidFill>
                    <a:srgbClr val="101820"/>
                  </a:solidFill>
                  <a:latin typeface="Inter"/>
                  <a:cs typeface="Inter"/>
                </a:rPr>
                <a:t>Store A · Duhok</a:t>
              </a:r>
              <a:endParaRPr/>
            </a:p>
          </p:txBody>
        </p:sp>
        <p:sp>
          <p:nvSpPr>
            <p:cNvPr id="144" name="TextBox 143"/>
            <p:cNvSpPr txBox="1"/>
            <p:nvPr/>
          </p:nvSpPr>
          <p:spPr bwMode="auto">
            <a:xfrm>
              <a:off x="3840480" y="3950208"/>
              <a:ext cx="1051560" cy="47548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r">
                <a:defRPr/>
              </a:pPr>
              <a:r>
                <a:rPr lang="en-US" sz="1300" b="0">
                  <a:solidFill>
                    <a:srgbClr val="101820"/>
                  </a:solidFill>
                  <a:latin typeface="Inter"/>
                  <a:cs typeface="Inter"/>
                </a:rPr>
                <a:t>92,000</a:t>
              </a:r>
              <a:endParaRPr/>
            </a:p>
          </p:txBody>
        </p:sp>
        <p:sp>
          <p:nvSpPr>
            <p:cNvPr id="145" name="TextBox 144"/>
            <p:cNvSpPr txBox="1"/>
            <p:nvPr/>
          </p:nvSpPr>
          <p:spPr bwMode="auto">
            <a:xfrm>
              <a:off x="4983480" y="3950208"/>
              <a:ext cx="960120" cy="47548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r">
                <a:defRPr/>
              </a:pPr>
              <a:r>
                <a:rPr lang="en-US" sz="1300" b="0">
                  <a:solidFill>
                    <a:srgbClr val="101820"/>
                  </a:solidFill>
                  <a:latin typeface="Inter"/>
                  <a:cs typeface="Inter"/>
                </a:rPr>
                <a:t>+3,000</a:t>
              </a:r>
              <a:endParaRPr/>
            </a:p>
          </p:txBody>
        </p:sp>
        <p:sp>
          <p:nvSpPr>
            <p:cNvPr id="146" name="TextBox 145"/>
            <p:cNvSpPr txBox="1"/>
            <p:nvPr/>
          </p:nvSpPr>
          <p:spPr bwMode="auto">
            <a:xfrm>
              <a:off x="6035039" y="3950208"/>
              <a:ext cx="1325880" cy="47548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r">
                <a:defRPr/>
              </a:pPr>
              <a:r>
                <a:rPr lang="en-US" sz="1300" b="1">
                  <a:solidFill>
                    <a:srgbClr val="101820"/>
                  </a:solidFill>
                  <a:latin typeface="Inter"/>
                  <a:cs typeface="Inter"/>
                </a:rPr>
                <a:t>95,000 IQD</a:t>
              </a:r>
              <a:endParaRPr/>
            </a:p>
          </p:txBody>
        </p:sp>
        <p:sp>
          <p:nvSpPr>
            <p:cNvPr id="147" name="TextBox 146"/>
            <p:cNvSpPr txBox="1"/>
            <p:nvPr/>
          </p:nvSpPr>
          <p:spPr bwMode="auto">
            <a:xfrm>
              <a:off x="7498080" y="3950208"/>
              <a:ext cx="960120" cy="47548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defRPr/>
              </a:pPr>
              <a:r>
                <a:rPr lang="en-US" sz="1300" b="0">
                  <a:solidFill>
                    <a:srgbClr val="101820"/>
                  </a:solidFill>
                  <a:latin typeface="Inter"/>
                  <a:cs typeface="Inter"/>
                </a:rPr>
                <a:t>Today</a:t>
              </a:r>
              <a:endParaRPr/>
            </a:p>
          </p:txBody>
        </p:sp>
      </p:grpSp>
      <p:grpSp>
        <p:nvGrpSpPr>
          <p:cNvPr id="958635767" name="Group 11"/>
          <p:cNvGrpSpPr/>
          <p:nvPr/>
        </p:nvGrpSpPr>
        <p:grpSpPr bwMode="auto">
          <a:xfrm>
            <a:off x="1965960" y="4443984"/>
            <a:ext cx="6492240" cy="475488"/>
            <a:chOff x="1965960" y="4443984"/>
            <a:chExt cx="6492240" cy="475488"/>
          </a:xfrm>
        </p:grpSpPr>
        <p:cxnSp>
          <p:nvCxnSpPr>
            <p:cNvPr id="148" name="Connector 147"/>
            <p:cNvCxnSpPr/>
            <p:nvPr/>
          </p:nvCxnSpPr>
          <p:spPr bwMode="auto">
            <a:xfrm>
              <a:off x="1965960" y="4919471"/>
              <a:ext cx="6400800" cy="0"/>
            </a:xfrm>
            <a:prstGeom prst="line">
              <a:avLst/>
            </a:prstGeom>
            <a:ln w="9525">
              <a:solidFill>
                <a:srgbClr val="DDE5ED"/>
              </a:solidFill>
            </a:ln>
            <a:effectLst/>
          </p:spPr>
        </p:cxnSp>
        <p:sp>
          <p:nvSpPr>
            <p:cNvPr id="149" name="TextBox 148"/>
            <p:cNvSpPr txBox="1"/>
            <p:nvPr/>
          </p:nvSpPr>
          <p:spPr bwMode="auto">
            <a:xfrm>
              <a:off x="1965960" y="4443984"/>
              <a:ext cx="1737360" cy="47548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defRPr/>
              </a:pPr>
              <a:r>
                <a:rPr lang="en-US" sz="1300" b="0">
                  <a:solidFill>
                    <a:srgbClr val="101820"/>
                  </a:solidFill>
                  <a:latin typeface="Inter"/>
                  <a:cs typeface="Inter"/>
                </a:rPr>
                <a:t>Store D · Erbil</a:t>
              </a:r>
              <a:endParaRPr/>
            </a:p>
          </p:txBody>
        </p:sp>
        <p:sp>
          <p:nvSpPr>
            <p:cNvPr id="150" name="TextBox 149"/>
            <p:cNvSpPr txBox="1"/>
            <p:nvPr/>
          </p:nvSpPr>
          <p:spPr bwMode="auto">
            <a:xfrm>
              <a:off x="3840480" y="4443984"/>
              <a:ext cx="1051560" cy="47548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r">
                <a:defRPr/>
              </a:pPr>
              <a:r>
                <a:rPr lang="en-US" sz="1300" b="0">
                  <a:solidFill>
                    <a:srgbClr val="101820"/>
                  </a:solidFill>
                  <a:latin typeface="Inter"/>
                  <a:cs typeface="Inter"/>
                </a:rPr>
                <a:t>91,000</a:t>
              </a:r>
              <a:endParaRPr/>
            </a:p>
          </p:txBody>
        </p:sp>
        <p:sp>
          <p:nvSpPr>
            <p:cNvPr id="151" name="TextBox 150"/>
            <p:cNvSpPr txBox="1"/>
            <p:nvPr/>
          </p:nvSpPr>
          <p:spPr bwMode="auto">
            <a:xfrm>
              <a:off x="4983480" y="4443984"/>
              <a:ext cx="960120" cy="47548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r">
                <a:defRPr/>
              </a:pPr>
              <a:r>
                <a:rPr lang="en-US" sz="1300" b="0">
                  <a:solidFill>
                    <a:srgbClr val="101820"/>
                  </a:solidFill>
                  <a:latin typeface="Inter"/>
                  <a:cs typeface="Inter"/>
                </a:rPr>
                <a:t>+5,000</a:t>
              </a:r>
              <a:endParaRPr/>
            </a:p>
          </p:txBody>
        </p:sp>
        <p:sp>
          <p:nvSpPr>
            <p:cNvPr id="152" name="TextBox 151"/>
            <p:cNvSpPr txBox="1"/>
            <p:nvPr/>
          </p:nvSpPr>
          <p:spPr bwMode="auto">
            <a:xfrm>
              <a:off x="6035039" y="4443984"/>
              <a:ext cx="1325880" cy="47548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r">
                <a:defRPr/>
              </a:pPr>
              <a:r>
                <a:rPr lang="en-US" sz="1300" b="1">
                  <a:solidFill>
                    <a:srgbClr val="101820"/>
                  </a:solidFill>
                  <a:latin typeface="Inter"/>
                  <a:cs typeface="Inter"/>
                </a:rPr>
                <a:t>96,000 IQD</a:t>
              </a:r>
              <a:endParaRPr/>
            </a:p>
          </p:txBody>
        </p:sp>
        <p:sp>
          <p:nvSpPr>
            <p:cNvPr id="153" name="TextBox 152"/>
            <p:cNvSpPr txBox="1"/>
            <p:nvPr/>
          </p:nvSpPr>
          <p:spPr bwMode="auto">
            <a:xfrm>
              <a:off x="7498080" y="4443984"/>
              <a:ext cx="960120" cy="47548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defRPr/>
              </a:pPr>
              <a:r>
                <a:rPr lang="en-US" sz="1300" b="0">
                  <a:solidFill>
                    <a:srgbClr val="101820"/>
                  </a:solidFill>
                  <a:latin typeface="Inter"/>
                  <a:cs typeface="Inter"/>
                </a:rPr>
                <a:t>1–2 days</a:t>
              </a:r>
              <a:endParaRPr/>
            </a:p>
          </p:txBody>
        </p:sp>
      </p:grpSp>
      <p:grpSp>
        <p:nvGrpSpPr>
          <p:cNvPr id="1442015220" name="Group 12"/>
          <p:cNvGrpSpPr/>
          <p:nvPr/>
        </p:nvGrpSpPr>
        <p:grpSpPr bwMode="auto">
          <a:xfrm>
            <a:off x="1965960" y="4937760"/>
            <a:ext cx="6492240" cy="475488"/>
            <a:chOff x="1965960" y="4937760"/>
            <a:chExt cx="6492240" cy="475488"/>
          </a:xfrm>
        </p:grpSpPr>
        <p:cxnSp>
          <p:nvCxnSpPr>
            <p:cNvPr id="154" name="Connector 153"/>
            <p:cNvCxnSpPr/>
            <p:nvPr/>
          </p:nvCxnSpPr>
          <p:spPr bwMode="auto">
            <a:xfrm>
              <a:off x="1965960" y="5413248"/>
              <a:ext cx="6400800" cy="0"/>
            </a:xfrm>
            <a:prstGeom prst="line">
              <a:avLst/>
            </a:prstGeom>
            <a:ln w="9525">
              <a:solidFill>
                <a:srgbClr val="DDE5ED"/>
              </a:solidFill>
            </a:ln>
            <a:effectLst/>
          </p:spPr>
        </p:cxnSp>
        <p:sp>
          <p:nvSpPr>
            <p:cNvPr id="155" name="TextBox 154"/>
            <p:cNvSpPr txBox="1"/>
            <p:nvPr/>
          </p:nvSpPr>
          <p:spPr bwMode="auto">
            <a:xfrm>
              <a:off x="1965960" y="4937760"/>
              <a:ext cx="1737360" cy="47548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defRPr/>
              </a:pPr>
              <a:r>
                <a:rPr lang="en-US" sz="1300" b="0">
                  <a:solidFill>
                    <a:srgbClr val="101820"/>
                  </a:solidFill>
                  <a:latin typeface="Inter"/>
                  <a:cs typeface="Inter"/>
                </a:rPr>
                <a:t>Store B · Duhok</a:t>
              </a:r>
              <a:endParaRPr/>
            </a:p>
          </p:txBody>
        </p:sp>
        <p:sp>
          <p:nvSpPr>
            <p:cNvPr id="156" name="TextBox 155"/>
            <p:cNvSpPr txBox="1"/>
            <p:nvPr/>
          </p:nvSpPr>
          <p:spPr bwMode="auto">
            <a:xfrm>
              <a:off x="3840480" y="4937760"/>
              <a:ext cx="1051560" cy="47548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r">
                <a:defRPr/>
              </a:pPr>
              <a:r>
                <a:rPr lang="en-US" sz="1300" b="0">
                  <a:solidFill>
                    <a:srgbClr val="101820"/>
                  </a:solidFill>
                  <a:latin typeface="Inter"/>
                  <a:cs typeface="Inter"/>
                </a:rPr>
                <a:t>99,000</a:t>
              </a:r>
              <a:endParaRPr/>
            </a:p>
          </p:txBody>
        </p:sp>
        <p:sp>
          <p:nvSpPr>
            <p:cNvPr id="157" name="TextBox 156"/>
            <p:cNvSpPr txBox="1"/>
            <p:nvPr/>
          </p:nvSpPr>
          <p:spPr bwMode="auto">
            <a:xfrm>
              <a:off x="4983480" y="4937760"/>
              <a:ext cx="960120" cy="47548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r">
                <a:defRPr/>
              </a:pPr>
              <a:r>
                <a:rPr lang="en-US" sz="1300" b="0">
                  <a:solidFill>
                    <a:srgbClr val="101820"/>
                  </a:solidFill>
                  <a:latin typeface="Inter"/>
                  <a:cs typeface="Inter"/>
                </a:rPr>
                <a:t>+3,000</a:t>
              </a:r>
              <a:endParaRPr/>
            </a:p>
          </p:txBody>
        </p:sp>
        <p:sp>
          <p:nvSpPr>
            <p:cNvPr id="158" name="TextBox 157"/>
            <p:cNvSpPr txBox="1"/>
            <p:nvPr/>
          </p:nvSpPr>
          <p:spPr bwMode="auto">
            <a:xfrm>
              <a:off x="6035039" y="4937760"/>
              <a:ext cx="1325880" cy="47548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r">
                <a:defRPr/>
              </a:pPr>
              <a:r>
                <a:rPr lang="en-US" sz="1300" b="1">
                  <a:solidFill>
                    <a:srgbClr val="101820"/>
                  </a:solidFill>
                  <a:latin typeface="Inter"/>
                  <a:cs typeface="Inter"/>
                </a:rPr>
                <a:t>102,000 IQD</a:t>
              </a:r>
              <a:endParaRPr/>
            </a:p>
          </p:txBody>
        </p:sp>
        <p:sp>
          <p:nvSpPr>
            <p:cNvPr id="159" name="TextBox 158"/>
            <p:cNvSpPr txBox="1"/>
            <p:nvPr/>
          </p:nvSpPr>
          <p:spPr bwMode="auto">
            <a:xfrm>
              <a:off x="7498080" y="4937760"/>
              <a:ext cx="960120" cy="47548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defRPr/>
              </a:pPr>
              <a:r>
                <a:rPr lang="en-US" sz="1300" b="0">
                  <a:solidFill>
                    <a:srgbClr val="101820"/>
                  </a:solidFill>
                  <a:latin typeface="Inter"/>
                  <a:cs typeface="Inter"/>
                </a:rPr>
                <a:t>Today</a:t>
              </a:r>
              <a:endParaRPr/>
            </a:p>
          </p:txBody>
        </p:sp>
      </p:grpSp>
      <p:grpSp>
        <p:nvGrpSpPr>
          <p:cNvPr id="1039315353" name="Group 13"/>
          <p:cNvGrpSpPr/>
          <p:nvPr/>
        </p:nvGrpSpPr>
        <p:grpSpPr bwMode="auto">
          <a:xfrm>
            <a:off x="1965960" y="5431536"/>
            <a:ext cx="6492240" cy="475488"/>
            <a:chOff x="1965960" y="5431536"/>
            <a:chExt cx="6492240" cy="475488"/>
          </a:xfrm>
        </p:grpSpPr>
        <p:cxnSp>
          <p:nvCxnSpPr>
            <p:cNvPr id="160" name="Connector 159"/>
            <p:cNvCxnSpPr/>
            <p:nvPr/>
          </p:nvCxnSpPr>
          <p:spPr bwMode="auto">
            <a:xfrm>
              <a:off x="1965960" y="5907024"/>
              <a:ext cx="6400800" cy="0"/>
            </a:xfrm>
            <a:prstGeom prst="line">
              <a:avLst/>
            </a:prstGeom>
            <a:ln w="9525">
              <a:solidFill>
                <a:srgbClr val="DDE5ED"/>
              </a:solidFill>
            </a:ln>
            <a:effectLst/>
          </p:spPr>
        </p:cxnSp>
        <p:sp>
          <p:nvSpPr>
            <p:cNvPr id="161" name="TextBox 160"/>
            <p:cNvSpPr txBox="1"/>
            <p:nvPr/>
          </p:nvSpPr>
          <p:spPr bwMode="auto">
            <a:xfrm>
              <a:off x="1965960" y="5431536"/>
              <a:ext cx="1737360" cy="47548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defRPr/>
              </a:pPr>
              <a:r>
                <a:rPr lang="en-US" sz="1300" b="0">
                  <a:solidFill>
                    <a:srgbClr val="101820"/>
                  </a:solidFill>
                  <a:latin typeface="Inter"/>
                  <a:cs typeface="Inter"/>
                </a:rPr>
                <a:t>Store C · Duhok</a:t>
              </a:r>
              <a:endParaRPr/>
            </a:p>
          </p:txBody>
        </p:sp>
        <p:sp>
          <p:nvSpPr>
            <p:cNvPr id="162" name="TextBox 161"/>
            <p:cNvSpPr txBox="1"/>
            <p:nvPr/>
          </p:nvSpPr>
          <p:spPr bwMode="auto">
            <a:xfrm>
              <a:off x="3840480" y="5431536"/>
              <a:ext cx="1051560" cy="47548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r">
                <a:defRPr/>
              </a:pPr>
              <a:r>
                <a:rPr lang="en-US" sz="1300" b="0">
                  <a:solidFill>
                    <a:srgbClr val="101820"/>
                  </a:solidFill>
                  <a:latin typeface="Inter"/>
                  <a:cs typeface="Inter"/>
                </a:rPr>
                <a:t>121,000</a:t>
              </a:r>
              <a:endParaRPr/>
            </a:p>
          </p:txBody>
        </p:sp>
        <p:sp>
          <p:nvSpPr>
            <p:cNvPr id="163" name="TextBox 162"/>
            <p:cNvSpPr txBox="1"/>
            <p:nvPr/>
          </p:nvSpPr>
          <p:spPr bwMode="auto">
            <a:xfrm>
              <a:off x="4983480" y="5431536"/>
              <a:ext cx="960120" cy="47548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r">
                <a:defRPr/>
              </a:pPr>
              <a:r>
                <a:rPr lang="en-US" sz="1300" b="0">
                  <a:solidFill>
                    <a:srgbClr val="101820"/>
                  </a:solidFill>
                  <a:latin typeface="Inter"/>
                  <a:cs typeface="Inter"/>
                </a:rPr>
                <a:t>+3,000</a:t>
              </a:r>
              <a:endParaRPr/>
            </a:p>
          </p:txBody>
        </p:sp>
        <p:sp>
          <p:nvSpPr>
            <p:cNvPr id="164" name="TextBox 163"/>
            <p:cNvSpPr txBox="1"/>
            <p:nvPr/>
          </p:nvSpPr>
          <p:spPr bwMode="auto">
            <a:xfrm>
              <a:off x="6035039" y="5431536"/>
              <a:ext cx="1325880" cy="47548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r">
                <a:defRPr/>
              </a:pPr>
              <a:r>
                <a:rPr lang="en-US" sz="1300" b="1">
                  <a:solidFill>
                    <a:srgbClr val="101820"/>
                  </a:solidFill>
                  <a:latin typeface="Inter"/>
                  <a:cs typeface="Inter"/>
                </a:rPr>
                <a:t>124,000 IQD</a:t>
              </a:r>
              <a:endParaRPr/>
            </a:p>
          </p:txBody>
        </p:sp>
        <p:sp>
          <p:nvSpPr>
            <p:cNvPr id="165" name="TextBox 164"/>
            <p:cNvSpPr txBox="1"/>
            <p:nvPr/>
          </p:nvSpPr>
          <p:spPr bwMode="auto">
            <a:xfrm>
              <a:off x="7498080" y="5431536"/>
              <a:ext cx="960120" cy="47548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defRPr/>
              </a:pPr>
              <a:r>
                <a:rPr lang="en-US" sz="1300" b="0">
                  <a:solidFill>
                    <a:srgbClr val="101820"/>
                  </a:solidFill>
                  <a:latin typeface="Inter"/>
                  <a:cs typeface="Inter"/>
                </a:rPr>
                <a:t>Today</a:t>
              </a:r>
              <a:endParaRPr/>
            </a:p>
          </p:txBody>
        </p:sp>
      </p:grpSp>
      <p:grpSp>
        <p:nvGrpSpPr>
          <p:cNvPr id="1304804142" name="Group 14"/>
          <p:cNvGrpSpPr/>
          <p:nvPr/>
        </p:nvGrpSpPr>
        <p:grpSpPr bwMode="auto">
          <a:xfrm>
            <a:off x="8183880" y="3986784"/>
            <a:ext cx="1234440" cy="365760"/>
            <a:chOff x="8183880" y="3986784"/>
            <a:chExt cx="1234440" cy="365760"/>
          </a:xfrm>
        </p:grpSpPr>
        <p:sp>
          <p:nvSpPr>
            <p:cNvPr id="166" name="Rounded Rectangle 165"/>
            <p:cNvSpPr/>
            <p:nvPr/>
          </p:nvSpPr>
          <p:spPr bwMode="auto">
            <a:xfrm>
              <a:off x="8183880" y="3986784"/>
              <a:ext cx="1234440" cy="365760"/>
            </a:xfrm>
            <a:prstGeom prst="roundRect">
              <a:avLst>
                <a:gd name="adj" fmla="val 50000"/>
              </a:avLst>
            </a:prstGeom>
            <a:solidFill>
              <a:srgbClr val="228848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pic>
          <p:nvPicPr>
            <p:cNvPr id="167" name="Picture 166" descr="sparkle_FFFFFF.png"/>
            <p:cNvPicPr>
              <a:picLocks noChangeAspect="1"/>
            </p:cNvPicPr>
            <p:nvPr/>
          </p:nvPicPr>
          <p:blipFill rotWithShape="1">
            <a:blip r:embed="rId6"/>
            <a:stretch/>
          </p:blipFill>
          <p:spPr bwMode="auto">
            <a:xfrm>
              <a:off x="8293607" y="4078224"/>
              <a:ext cx="182880" cy="182880"/>
            </a:xfrm>
            <a:prstGeom prst="rect">
              <a:avLst/>
            </a:prstGeom>
          </p:spPr>
        </p:pic>
        <p:sp>
          <p:nvSpPr>
            <p:cNvPr id="168" name="TextBox 167"/>
            <p:cNvSpPr txBox="1"/>
            <p:nvPr/>
          </p:nvSpPr>
          <p:spPr bwMode="auto">
            <a:xfrm>
              <a:off x="8513064" y="3986784"/>
              <a:ext cx="868680" cy="3657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defRPr/>
              </a:pPr>
              <a:r>
                <a:rPr lang="en-US" sz="1000" b="1">
                  <a:solidFill>
                    <a:srgbClr val="FFFFFF"/>
                  </a:solidFill>
                  <a:latin typeface="Inter"/>
                  <a:cs typeface="Inter"/>
                </a:rPr>
                <a:t>BEST VALUE</a:t>
              </a:r>
              <a:endParaRPr/>
            </a:p>
          </p:txBody>
        </p:sp>
      </p:grpSp>
      <p:grpSp>
        <p:nvGrpSpPr>
          <p:cNvPr id="477432646" name="Group 15"/>
          <p:cNvGrpSpPr/>
          <p:nvPr/>
        </p:nvGrpSpPr>
        <p:grpSpPr bwMode="auto">
          <a:xfrm>
            <a:off x="9692640" y="3931920"/>
            <a:ext cx="1783080" cy="365760"/>
            <a:chOff x="9692640" y="3931920"/>
            <a:chExt cx="1783080" cy="365760"/>
          </a:xfrm>
        </p:grpSpPr>
        <p:sp>
          <p:nvSpPr>
            <p:cNvPr id="169" name="Oval 168"/>
            <p:cNvSpPr/>
            <p:nvPr/>
          </p:nvSpPr>
          <p:spPr bwMode="auto">
            <a:xfrm>
              <a:off x="9692640" y="3931920"/>
              <a:ext cx="329184" cy="329184"/>
            </a:xfrm>
            <a:prstGeom prst="ellipse">
              <a:avLst/>
            </a:prstGeom>
            <a:solidFill>
              <a:srgbClr val="298FC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70" name="TextBox 169"/>
            <p:cNvSpPr txBox="1"/>
            <p:nvPr/>
          </p:nvSpPr>
          <p:spPr bwMode="auto">
            <a:xfrm>
              <a:off x="9692640" y="3931920"/>
              <a:ext cx="329184" cy="3291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defRPr/>
              </a:pPr>
              <a:r>
                <a:rPr lang="en-US" sz="1200" b="1">
                  <a:solidFill>
                    <a:srgbClr val="FFFFFF"/>
                  </a:solidFill>
                  <a:latin typeface="Inter"/>
                  <a:cs typeface="Inter"/>
                </a:rPr>
                <a:t>1</a:t>
              </a:r>
              <a:endParaRPr/>
            </a:p>
          </p:txBody>
        </p:sp>
        <p:sp>
          <p:nvSpPr>
            <p:cNvPr id="171" name="TextBox 170"/>
            <p:cNvSpPr txBox="1"/>
            <p:nvPr/>
          </p:nvSpPr>
          <p:spPr bwMode="auto">
            <a:xfrm>
              <a:off x="10104120" y="3931920"/>
              <a:ext cx="1371600" cy="3657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defRPr/>
              </a:pPr>
              <a:r>
                <a:rPr lang="en-US" sz="1200" b="1">
                  <a:solidFill>
                    <a:srgbClr val="101820"/>
                  </a:solidFill>
                  <a:latin typeface="Inter"/>
                  <a:cs typeface="Inter"/>
                </a:rPr>
                <a:t>Lowest doorstep total</a:t>
              </a:r>
              <a:endParaRPr/>
            </a:p>
          </p:txBody>
        </p:sp>
      </p:grpSp>
      <p:grpSp>
        <p:nvGrpSpPr>
          <p:cNvPr id="1604768418" name="Group 16"/>
          <p:cNvGrpSpPr/>
          <p:nvPr/>
        </p:nvGrpSpPr>
        <p:grpSpPr bwMode="auto">
          <a:xfrm>
            <a:off x="9692640" y="4480560"/>
            <a:ext cx="1783080" cy="365760"/>
            <a:chOff x="9692640" y="4480560"/>
            <a:chExt cx="1783080" cy="365760"/>
          </a:xfrm>
        </p:grpSpPr>
        <p:sp>
          <p:nvSpPr>
            <p:cNvPr id="172" name="Oval 171"/>
            <p:cNvSpPr/>
            <p:nvPr/>
          </p:nvSpPr>
          <p:spPr bwMode="auto">
            <a:xfrm>
              <a:off x="9692640" y="4480560"/>
              <a:ext cx="329184" cy="329184"/>
            </a:xfrm>
            <a:prstGeom prst="ellipse">
              <a:avLst/>
            </a:prstGeom>
            <a:solidFill>
              <a:srgbClr val="298FC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73" name="TextBox 172"/>
            <p:cNvSpPr txBox="1"/>
            <p:nvPr/>
          </p:nvSpPr>
          <p:spPr bwMode="auto">
            <a:xfrm>
              <a:off x="9692640" y="4480560"/>
              <a:ext cx="329184" cy="3291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defRPr/>
              </a:pPr>
              <a:r>
                <a:rPr lang="en-US" sz="1200" b="1">
                  <a:solidFill>
                    <a:srgbClr val="FFFFFF"/>
                  </a:solidFill>
                  <a:latin typeface="Inter"/>
                  <a:cs typeface="Inter"/>
                </a:rPr>
                <a:t>2</a:t>
              </a:r>
              <a:endParaRPr/>
            </a:p>
          </p:txBody>
        </p:sp>
        <p:sp>
          <p:nvSpPr>
            <p:cNvPr id="174" name="TextBox 173"/>
            <p:cNvSpPr txBox="1"/>
            <p:nvPr/>
          </p:nvSpPr>
          <p:spPr bwMode="auto">
            <a:xfrm>
              <a:off x="10104120" y="4480560"/>
              <a:ext cx="1371600" cy="3657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defRPr/>
              </a:pPr>
              <a:r>
                <a:rPr lang="en-US" sz="1200" b="1">
                  <a:solidFill>
                    <a:srgbClr val="101820"/>
                  </a:solidFill>
                  <a:latin typeface="Inter"/>
                  <a:cs typeface="Inter"/>
                </a:rPr>
                <a:t>Fastest delivery</a:t>
              </a:r>
              <a:endParaRPr/>
            </a:p>
          </p:txBody>
        </p:sp>
      </p:grpSp>
      <p:grpSp>
        <p:nvGrpSpPr>
          <p:cNvPr id="2012126883" name="Group 17"/>
          <p:cNvGrpSpPr/>
          <p:nvPr/>
        </p:nvGrpSpPr>
        <p:grpSpPr bwMode="auto">
          <a:xfrm>
            <a:off x="9692640" y="5029200"/>
            <a:ext cx="1783080" cy="365760"/>
            <a:chOff x="9692640" y="5029200"/>
            <a:chExt cx="1783080" cy="365760"/>
          </a:xfrm>
        </p:grpSpPr>
        <p:sp>
          <p:nvSpPr>
            <p:cNvPr id="175" name="Oval 174"/>
            <p:cNvSpPr/>
            <p:nvPr/>
          </p:nvSpPr>
          <p:spPr bwMode="auto">
            <a:xfrm>
              <a:off x="9692640" y="5029200"/>
              <a:ext cx="329184" cy="329184"/>
            </a:xfrm>
            <a:prstGeom prst="ellipse">
              <a:avLst/>
            </a:prstGeom>
            <a:solidFill>
              <a:srgbClr val="298FC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76" name="TextBox 175"/>
            <p:cNvSpPr txBox="1"/>
            <p:nvPr/>
          </p:nvSpPr>
          <p:spPr bwMode="auto">
            <a:xfrm>
              <a:off x="9692640" y="5029200"/>
              <a:ext cx="329184" cy="3291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defRPr/>
              </a:pPr>
              <a:r>
                <a:rPr lang="en-US" sz="1200" b="1">
                  <a:solidFill>
                    <a:srgbClr val="FFFFFF"/>
                  </a:solidFill>
                  <a:latin typeface="Inter"/>
                  <a:cs typeface="Inter"/>
                </a:rPr>
                <a:t>3</a:t>
              </a:r>
              <a:endParaRPr/>
            </a:p>
          </p:txBody>
        </p:sp>
        <p:sp>
          <p:nvSpPr>
            <p:cNvPr id="177" name="TextBox 176"/>
            <p:cNvSpPr txBox="1"/>
            <p:nvPr/>
          </p:nvSpPr>
          <p:spPr bwMode="auto">
            <a:xfrm>
              <a:off x="10104120" y="5029200"/>
              <a:ext cx="1371600" cy="3657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defRPr/>
              </a:pPr>
              <a:r>
                <a:rPr lang="en-US" sz="1200" b="1">
                  <a:solidFill>
                    <a:srgbClr val="101820"/>
                  </a:solidFill>
                  <a:latin typeface="Inter"/>
                  <a:cs typeface="Inter"/>
                </a:rPr>
                <a:t>Best seller rating</a:t>
              </a:r>
              <a:endParaRPr/>
            </a:p>
          </p:txBody>
        </p:sp>
      </p:grpSp>
      <p:grpSp>
        <p:nvGrpSpPr>
          <p:cNvPr id="1485086329" name="Group 18"/>
          <p:cNvGrpSpPr/>
          <p:nvPr/>
        </p:nvGrpSpPr>
        <p:grpSpPr bwMode="auto">
          <a:xfrm>
            <a:off x="9692640" y="5623560"/>
            <a:ext cx="1773936" cy="457200"/>
            <a:chOff x="9692640" y="5623560"/>
            <a:chExt cx="1773936" cy="457200"/>
          </a:xfrm>
        </p:grpSpPr>
        <p:sp>
          <p:nvSpPr>
            <p:cNvPr id="178" name="TextBox 177"/>
            <p:cNvSpPr txBox="1"/>
            <p:nvPr/>
          </p:nvSpPr>
          <p:spPr bwMode="auto">
            <a:xfrm>
              <a:off x="9692640" y="5623560"/>
              <a:ext cx="1773936" cy="4572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defRPr/>
              </a:pPr>
              <a:r>
                <a:rPr lang="en-US" sz="1250" b="1">
                  <a:solidFill>
                    <a:srgbClr val="298FC2"/>
                  </a:solidFill>
                  <a:latin typeface="Inter"/>
                  <a:cs typeface="Inter"/>
                </a:rPr>
                <a:t>Ranking can't be bought.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fast" p14:dur="500" advClick="1">
        <p:fade thruBlk="0"/>
      </p:transition>
    </mc:Choice>
    <mc:Fallback>
      <p:transition spd="fast" advClick="1">
        <p:fade thruBlk="0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7155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50"/>
                                        <p:tgtEl>
                                          <p:spTgt spid="2077155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5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14192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50"/>
                                        <p:tgtEl>
                                          <p:spTgt spid="9714192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46462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50"/>
                                        <p:tgtEl>
                                          <p:spTgt spid="8746462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75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60705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50"/>
                                        <p:tgtEl>
                                          <p:spTgt spid="13760705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59775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50"/>
                                        <p:tgtEl>
                                          <p:spTgt spid="7959775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125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95226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50"/>
                                        <p:tgtEl>
                                          <p:spTgt spid="12095226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43965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50"/>
                                        <p:tgtEl>
                                          <p:spTgt spid="21243965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" dur="250"/>
                                        <p:tgtEl>
                                          <p:spTgt spid="20771551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077155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" dur="250"/>
                                        <p:tgtEl>
                                          <p:spTgt spid="9714192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9714192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" dur="250"/>
                                        <p:tgtEl>
                                          <p:spTgt spid="87464628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8746462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" dur="250"/>
                                        <p:tgtEl>
                                          <p:spTgt spid="137607050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3760705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250"/>
                                        <p:tgtEl>
                                          <p:spTgt spid="7959775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7959775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" dur="250"/>
                                        <p:tgtEl>
                                          <p:spTgt spid="12095226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2095226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" dur="250"/>
                                        <p:tgtEl>
                                          <p:spTgt spid="21243965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1243965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05763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1" dur="300" fill="hold"/>
                                        <p:tgtEl>
                                          <p:spTgt spid="56057630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300" fill="hold"/>
                                        <p:tgtEl>
                                          <p:spTgt spid="56057630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3" dur="300"/>
                                        <p:tgtEl>
                                          <p:spTgt spid="5605763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80309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150"/>
                                        <p:tgtEl>
                                          <p:spTgt spid="13480309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25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86357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150"/>
                                        <p:tgtEl>
                                          <p:spTgt spid="9586357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2015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150"/>
                                        <p:tgtEl>
                                          <p:spTgt spid="1442015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75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93153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150"/>
                                        <p:tgtEl>
                                          <p:spTgt spid="10393153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16814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00"/>
                                        <p:tgtEl>
                                          <p:spTgt spid="10116814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4804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5" dur="300" fill="hold"/>
                                        <p:tgtEl>
                                          <p:spTgt spid="13048041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300" fill="hold"/>
                                        <p:tgtEl>
                                          <p:spTgt spid="13048041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7" dur="300"/>
                                        <p:tgtEl>
                                          <p:spTgt spid="13048041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8" fill="hold">
                            <p:stCondLst>
                              <p:cond delay="300"/>
                            </p:stCondLst>
                            <p:childTnLst>
                              <p:par>
                                <p:cTn id="7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74326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250"/>
                                        <p:tgtEl>
                                          <p:spTgt spid="4774326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47684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250"/>
                                        <p:tgtEl>
                                          <p:spTgt spid="16047684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21268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250"/>
                                        <p:tgtEl>
                                          <p:spTgt spid="20121268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710"/>
                            </p:stCondLst>
                            <p:childTnLst>
                              <p:par>
                                <p:cTn id="89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50863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300"/>
                                        <p:tgtEl>
                                          <p:spTgt spid="14850863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59857005" name="Google Shape;98;p14" title="Center_for_Academic_and_Professional_Advancement.png"/>
          <p:cNvPicPr/>
          <p:nvPr/>
        </p:nvPicPr>
        <p:blipFill rotWithShape="1">
          <a:blip r:embed="rId3">
            <a:alphaModFix/>
          </a:blip>
          <a:stretch/>
        </p:blipFill>
        <p:spPr bwMode="auto">
          <a:xfrm>
            <a:off x="8289593" y="351575"/>
            <a:ext cx="3178502" cy="9693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521371414" name="Google Shape;99;p14" title="german cooperation deutsche zusammenarbeit.png"/>
          <p:cNvPicPr/>
          <p:nvPr/>
        </p:nvPicPr>
        <p:blipFill rotWithShape="1">
          <a:blip r:embed="rId4">
            <a:alphaModFix/>
          </a:blip>
          <a:stretch/>
        </p:blipFill>
        <p:spPr bwMode="auto">
          <a:xfrm>
            <a:off x="723900" y="436204"/>
            <a:ext cx="1428202" cy="8000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103284" name="Rectangle 99"/>
          <p:cNvSpPr/>
          <p:nvPr/>
        </p:nvSpPr>
        <p:spPr bwMode="auto">
          <a:xfrm>
            <a:off x="722376" y="1517904"/>
            <a:ext cx="274320" cy="45720"/>
          </a:xfrm>
          <a:prstGeom prst="rect">
            <a:avLst/>
          </a:prstGeom>
          <a:solidFill>
            <a:srgbClr val="298FC2"/>
          </a:solidFill>
          <a:ln>
            <a:noFill/>
          </a:ln>
          <a:effectLst/>
        </p:spPr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651063087" name="TextBox 100"/>
          <p:cNvSpPr txBox="1"/>
          <p:nvPr/>
        </p:nvSpPr>
        <p:spPr bwMode="auto">
          <a:xfrm>
            <a:off x="1133856" y="1426464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defRPr/>
            </a:pPr>
            <a:r>
              <a:rPr lang="en-US" sz="1300" b="0">
                <a:solidFill>
                  <a:srgbClr val="5A6672"/>
                </a:solidFill>
                <a:latin typeface="Inter"/>
                <a:cs typeface="Inter"/>
              </a:rPr>
              <a:t>Value proposition</a:t>
            </a:r>
            <a:endParaRPr/>
          </a:p>
        </p:txBody>
      </p:sp>
      <p:sp>
        <p:nvSpPr>
          <p:cNvPr id="645825718" name="TextBox 101"/>
          <p:cNvSpPr txBox="1"/>
          <p:nvPr/>
        </p:nvSpPr>
        <p:spPr bwMode="auto">
          <a:xfrm>
            <a:off x="722376" y="1700784"/>
            <a:ext cx="10744200" cy="5669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defRPr/>
            </a:pPr>
            <a:r>
              <a:rPr lang="en-US" sz="3000" b="1">
                <a:solidFill>
                  <a:srgbClr val="101820"/>
                </a:solidFill>
                <a:latin typeface="Comfortaa"/>
                <a:cs typeface="Comfortaa"/>
              </a:rPr>
              <a:t>Shoppers save. Merchants sell.</a:t>
            </a:r>
            <a:endParaRPr/>
          </a:p>
        </p:txBody>
      </p:sp>
      <p:grpSp>
        <p:nvGrpSpPr>
          <p:cNvPr id="416679558" name="Group 1"/>
          <p:cNvGrpSpPr/>
          <p:nvPr/>
        </p:nvGrpSpPr>
        <p:grpSpPr bwMode="auto">
          <a:xfrm>
            <a:off x="6094476" y="2560320"/>
            <a:ext cx="0" cy="3703320"/>
            <a:chOff x="6094476" y="2560320"/>
            <a:chExt cx="0" cy="3703320"/>
          </a:xfrm>
        </p:grpSpPr>
        <p:cxnSp>
          <p:nvCxnSpPr>
            <p:cNvPr id="103" name="Connector 102"/>
            <p:cNvCxnSpPr/>
            <p:nvPr/>
          </p:nvCxnSpPr>
          <p:spPr bwMode="auto">
            <a:xfrm>
              <a:off x="6094476" y="2560320"/>
              <a:ext cx="0" cy="3703320"/>
            </a:xfrm>
            <a:prstGeom prst="line">
              <a:avLst/>
            </a:prstGeom>
            <a:ln w="12700">
              <a:solidFill>
                <a:srgbClr val="DDE5ED"/>
              </a:solidFill>
            </a:ln>
            <a:effectLst/>
          </p:spPr>
        </p:cxnSp>
      </p:grpSp>
      <p:grpSp>
        <p:nvGrpSpPr>
          <p:cNvPr id="139773258" name="Group 2"/>
          <p:cNvGrpSpPr/>
          <p:nvPr/>
        </p:nvGrpSpPr>
        <p:grpSpPr bwMode="auto">
          <a:xfrm>
            <a:off x="868680" y="2542032"/>
            <a:ext cx="4800600" cy="502920"/>
            <a:chOff x="868680" y="2542032"/>
            <a:chExt cx="4800600" cy="502920"/>
          </a:xfrm>
        </p:grpSpPr>
        <p:sp>
          <p:nvSpPr>
            <p:cNvPr id="104" name="Oval 103"/>
            <p:cNvSpPr/>
            <p:nvPr/>
          </p:nvSpPr>
          <p:spPr bwMode="auto">
            <a:xfrm>
              <a:off x="868680" y="2542032"/>
              <a:ext cx="502920" cy="502920"/>
            </a:xfrm>
            <a:prstGeom prst="ellipse">
              <a:avLst/>
            </a:prstGeom>
            <a:solidFill>
              <a:srgbClr val="E5F2F8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pic>
          <p:nvPicPr>
            <p:cNvPr id="105" name="Picture 104" descr="shopping-bag_298FC2.png"/>
            <p:cNvPicPr>
              <a:picLocks noChangeAspect="1"/>
            </p:cNvPicPr>
            <p:nvPr/>
          </p:nvPicPr>
          <p:blipFill rotWithShape="1">
            <a:blip r:embed="rId5"/>
            <a:stretch/>
          </p:blipFill>
          <p:spPr bwMode="auto">
            <a:xfrm>
              <a:off x="982980" y="2656332"/>
              <a:ext cx="274320" cy="274320"/>
            </a:xfrm>
            <a:prstGeom prst="rect">
              <a:avLst/>
            </a:prstGeom>
          </p:spPr>
        </p:pic>
        <p:sp>
          <p:nvSpPr>
            <p:cNvPr id="106" name="TextBox 105"/>
            <p:cNvSpPr txBox="1"/>
            <p:nvPr/>
          </p:nvSpPr>
          <p:spPr bwMode="auto">
            <a:xfrm>
              <a:off x="1554480" y="2542032"/>
              <a:ext cx="4114800" cy="502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defRPr/>
              </a:pPr>
              <a:r>
                <a:rPr lang="en-US" sz="2000" b="1">
                  <a:solidFill>
                    <a:srgbClr val="101820"/>
                  </a:solidFill>
                  <a:latin typeface="Inter"/>
                  <a:cs typeface="Inter"/>
                </a:rPr>
                <a:t>For shoppers</a:t>
              </a:r>
              <a:endParaRPr/>
            </a:p>
          </p:txBody>
        </p:sp>
      </p:grpSp>
      <p:grpSp>
        <p:nvGrpSpPr>
          <p:cNvPr id="1378134465" name="Group 3"/>
          <p:cNvGrpSpPr/>
          <p:nvPr/>
        </p:nvGrpSpPr>
        <p:grpSpPr bwMode="auto">
          <a:xfrm>
            <a:off x="868680" y="3364992"/>
            <a:ext cx="5166360" cy="585216"/>
            <a:chOff x="868680" y="3364992"/>
            <a:chExt cx="5166360" cy="585216"/>
          </a:xfrm>
        </p:grpSpPr>
        <p:sp>
          <p:nvSpPr>
            <p:cNvPr id="107" name="Oval 106"/>
            <p:cNvSpPr/>
            <p:nvPr/>
          </p:nvSpPr>
          <p:spPr bwMode="auto">
            <a:xfrm>
              <a:off x="868680" y="3383280"/>
              <a:ext cx="502920" cy="502920"/>
            </a:xfrm>
            <a:prstGeom prst="ellipse">
              <a:avLst/>
            </a:prstGeom>
            <a:solidFill>
              <a:srgbClr val="E5F2F8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pic>
          <p:nvPicPr>
            <p:cNvPr id="108" name="Picture 107" descr="eye_298FC2.png"/>
            <p:cNvPicPr>
              <a:picLocks noChangeAspect="1"/>
            </p:cNvPicPr>
            <p:nvPr/>
          </p:nvPicPr>
          <p:blipFill rotWithShape="1">
            <a:blip r:embed="rId6"/>
            <a:stretch/>
          </p:blipFill>
          <p:spPr bwMode="auto">
            <a:xfrm>
              <a:off x="982980" y="3497580"/>
              <a:ext cx="274320" cy="274320"/>
            </a:xfrm>
            <a:prstGeom prst="rect">
              <a:avLst/>
            </a:prstGeom>
          </p:spPr>
        </p:pic>
        <p:sp>
          <p:nvSpPr>
            <p:cNvPr id="109" name="TextBox 108"/>
            <p:cNvSpPr txBox="1"/>
            <p:nvPr/>
          </p:nvSpPr>
          <p:spPr bwMode="auto">
            <a:xfrm>
              <a:off x="1554480" y="3364992"/>
              <a:ext cx="4480560" cy="310896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defRPr/>
              </a:pPr>
              <a:r>
                <a:rPr lang="en-US" sz="1800" b="1">
                  <a:solidFill>
                    <a:srgbClr val="101820"/>
                  </a:solidFill>
                  <a:latin typeface="Inter"/>
                  <a:cs typeface="Inter"/>
                </a:rPr>
                <a:t>Every price, side by side</a:t>
              </a:r>
              <a:endParaRPr/>
            </a:p>
          </p:txBody>
        </p:sp>
        <p:sp>
          <p:nvSpPr>
            <p:cNvPr id="110" name="TextBox 109"/>
            <p:cNvSpPr txBox="1"/>
            <p:nvPr/>
          </p:nvSpPr>
          <p:spPr bwMode="auto">
            <a:xfrm>
              <a:off x="1554480" y="3694176"/>
              <a:ext cx="4480560" cy="256032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defRPr/>
              </a:pPr>
              <a:r>
                <a:rPr lang="en-US" sz="1300" b="0">
                  <a:solidFill>
                    <a:srgbClr val="5A6672"/>
                  </a:solidFill>
                  <a:latin typeface="Inter"/>
                  <a:cs typeface="Inter"/>
                </a:rPr>
                <a:t>No more checking ten pages</a:t>
              </a:r>
              <a:endParaRPr/>
            </a:p>
          </p:txBody>
        </p:sp>
      </p:grpSp>
      <p:grpSp>
        <p:nvGrpSpPr>
          <p:cNvPr id="2036635204" name="Group 4"/>
          <p:cNvGrpSpPr/>
          <p:nvPr/>
        </p:nvGrpSpPr>
        <p:grpSpPr bwMode="auto">
          <a:xfrm>
            <a:off x="868680" y="4279392"/>
            <a:ext cx="5166360" cy="585216"/>
            <a:chOff x="868680" y="4279392"/>
            <a:chExt cx="5166360" cy="585216"/>
          </a:xfrm>
        </p:grpSpPr>
        <p:sp>
          <p:nvSpPr>
            <p:cNvPr id="111" name="Oval 110"/>
            <p:cNvSpPr/>
            <p:nvPr/>
          </p:nvSpPr>
          <p:spPr bwMode="auto">
            <a:xfrm>
              <a:off x="868680" y="4297680"/>
              <a:ext cx="502920" cy="502920"/>
            </a:xfrm>
            <a:prstGeom prst="ellipse">
              <a:avLst/>
            </a:prstGeom>
            <a:solidFill>
              <a:srgbClr val="E5F2F8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pic>
          <p:nvPicPr>
            <p:cNvPr id="112" name="Picture 111" descr="message-circle-off_298FC2.png"/>
            <p:cNvPicPr>
              <a:picLocks noChangeAspect="1"/>
            </p:cNvPicPr>
            <p:nvPr/>
          </p:nvPicPr>
          <p:blipFill rotWithShape="1">
            <a:blip r:embed="rId7"/>
            <a:stretch/>
          </p:blipFill>
          <p:spPr bwMode="auto">
            <a:xfrm>
              <a:off x="982980" y="4411980"/>
              <a:ext cx="274320" cy="274320"/>
            </a:xfrm>
            <a:prstGeom prst="rect">
              <a:avLst/>
            </a:prstGeom>
          </p:spPr>
        </p:pic>
        <p:sp>
          <p:nvSpPr>
            <p:cNvPr id="113" name="TextBox 112"/>
            <p:cNvSpPr txBox="1"/>
            <p:nvPr/>
          </p:nvSpPr>
          <p:spPr bwMode="auto">
            <a:xfrm>
              <a:off x="1554480" y="4279392"/>
              <a:ext cx="4480560" cy="310896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defRPr/>
              </a:pPr>
              <a:r>
                <a:rPr lang="en-US" sz="1800" b="1">
                  <a:solidFill>
                    <a:srgbClr val="101820"/>
                  </a:solidFill>
                  <a:latin typeface="Inter"/>
                  <a:cs typeface="Inter"/>
                </a:rPr>
                <a:t>Order in 30 seconds</a:t>
              </a:r>
              <a:endParaRPr/>
            </a:p>
          </p:txBody>
        </p:sp>
        <p:sp>
          <p:nvSpPr>
            <p:cNvPr id="114" name="TextBox 113"/>
            <p:cNvSpPr txBox="1"/>
            <p:nvPr/>
          </p:nvSpPr>
          <p:spPr bwMode="auto">
            <a:xfrm>
              <a:off x="1554480" y="4608576"/>
              <a:ext cx="4480560" cy="256032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defRPr/>
              </a:pPr>
              <a:r>
                <a:rPr lang="en-US" sz="1300" b="0">
                  <a:solidFill>
                    <a:srgbClr val="5A6672"/>
                  </a:solidFill>
                  <a:latin typeface="Inter"/>
                  <a:cs typeface="Inter"/>
                </a:rPr>
                <a:t>No “price?” DMs, no waiting</a:t>
              </a:r>
              <a:endParaRPr/>
            </a:p>
          </p:txBody>
        </p:sp>
      </p:grpSp>
      <p:grpSp>
        <p:nvGrpSpPr>
          <p:cNvPr id="203651517" name="Group 5"/>
          <p:cNvGrpSpPr/>
          <p:nvPr/>
        </p:nvGrpSpPr>
        <p:grpSpPr bwMode="auto">
          <a:xfrm>
            <a:off x="868680" y="5193792"/>
            <a:ext cx="5166360" cy="585216"/>
            <a:chOff x="868680" y="5193792"/>
            <a:chExt cx="5166360" cy="585216"/>
          </a:xfrm>
        </p:grpSpPr>
        <p:sp>
          <p:nvSpPr>
            <p:cNvPr id="115" name="Oval 114"/>
            <p:cNvSpPr/>
            <p:nvPr/>
          </p:nvSpPr>
          <p:spPr bwMode="auto">
            <a:xfrm>
              <a:off x="868680" y="5212080"/>
              <a:ext cx="502920" cy="502920"/>
            </a:xfrm>
            <a:prstGeom prst="ellipse">
              <a:avLst/>
            </a:prstGeom>
            <a:solidFill>
              <a:srgbClr val="E5F2F8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pic>
          <p:nvPicPr>
            <p:cNvPr id="116" name="Picture 115" descr="banknote_298FC2.png"/>
            <p:cNvPicPr>
              <a:picLocks noChangeAspect="1"/>
            </p:cNvPicPr>
            <p:nvPr/>
          </p:nvPicPr>
          <p:blipFill rotWithShape="1">
            <a:blip r:embed="rId8"/>
            <a:stretch/>
          </p:blipFill>
          <p:spPr bwMode="auto">
            <a:xfrm>
              <a:off x="982980" y="5326380"/>
              <a:ext cx="274320" cy="274320"/>
            </a:xfrm>
            <a:prstGeom prst="rect">
              <a:avLst/>
            </a:prstGeom>
          </p:spPr>
        </p:pic>
        <p:sp>
          <p:nvSpPr>
            <p:cNvPr id="117" name="TextBox 116"/>
            <p:cNvSpPr txBox="1"/>
            <p:nvPr/>
          </p:nvSpPr>
          <p:spPr bwMode="auto">
            <a:xfrm>
              <a:off x="1554480" y="5193792"/>
              <a:ext cx="4480560" cy="310896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defRPr/>
              </a:pPr>
              <a:r>
                <a:rPr lang="en-US" sz="1800" b="1">
                  <a:solidFill>
                    <a:srgbClr val="101820"/>
                  </a:solidFill>
                  <a:latin typeface="Inter"/>
                  <a:cs typeface="Inter"/>
                </a:rPr>
                <a:t>Cash on delivery or card</a:t>
              </a:r>
              <a:endParaRPr/>
            </a:p>
          </p:txBody>
        </p:sp>
        <p:sp>
          <p:nvSpPr>
            <p:cNvPr id="118" name="TextBox 117"/>
            <p:cNvSpPr txBox="1"/>
            <p:nvPr/>
          </p:nvSpPr>
          <p:spPr bwMode="auto">
            <a:xfrm>
              <a:off x="1554480" y="5522976"/>
              <a:ext cx="4480560" cy="256032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defRPr/>
              </a:pPr>
              <a:r>
                <a:rPr lang="en-US" sz="1300" b="0">
                  <a:solidFill>
                    <a:srgbClr val="5A6672"/>
                  </a:solidFill>
                  <a:latin typeface="Inter"/>
                  <a:cs typeface="Inter"/>
                </a:rPr>
                <a:t>Doorstep total shown upfront</a:t>
              </a:r>
              <a:endParaRPr/>
            </a:p>
          </p:txBody>
        </p:sp>
      </p:grpSp>
      <p:grpSp>
        <p:nvGrpSpPr>
          <p:cNvPr id="873537404" name="Group 6"/>
          <p:cNvGrpSpPr/>
          <p:nvPr/>
        </p:nvGrpSpPr>
        <p:grpSpPr bwMode="auto">
          <a:xfrm>
            <a:off x="6446520" y="2542032"/>
            <a:ext cx="4800600" cy="502920"/>
            <a:chOff x="6446520" y="2542032"/>
            <a:chExt cx="4800600" cy="502920"/>
          </a:xfrm>
        </p:grpSpPr>
        <p:sp>
          <p:nvSpPr>
            <p:cNvPr id="119" name="Oval 118"/>
            <p:cNvSpPr/>
            <p:nvPr/>
          </p:nvSpPr>
          <p:spPr bwMode="auto">
            <a:xfrm>
              <a:off x="6446520" y="2542032"/>
              <a:ext cx="502920" cy="502920"/>
            </a:xfrm>
            <a:prstGeom prst="ellipse">
              <a:avLst/>
            </a:prstGeom>
            <a:solidFill>
              <a:srgbClr val="E5F2F8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pic>
          <p:nvPicPr>
            <p:cNvPr id="120" name="Picture 119" descr="store_298FC2.png"/>
            <p:cNvPicPr>
              <a:picLocks noChangeAspect="1"/>
            </p:cNvPicPr>
            <p:nvPr/>
          </p:nvPicPr>
          <p:blipFill rotWithShape="1">
            <a:blip r:embed="rId9"/>
            <a:stretch/>
          </p:blipFill>
          <p:spPr bwMode="auto">
            <a:xfrm>
              <a:off x="6560820" y="2656332"/>
              <a:ext cx="274320" cy="274320"/>
            </a:xfrm>
            <a:prstGeom prst="rect">
              <a:avLst/>
            </a:prstGeom>
          </p:spPr>
        </p:pic>
        <p:sp>
          <p:nvSpPr>
            <p:cNvPr id="121" name="TextBox 120"/>
            <p:cNvSpPr txBox="1"/>
            <p:nvPr/>
          </p:nvSpPr>
          <p:spPr bwMode="auto">
            <a:xfrm>
              <a:off x="7132320" y="2542032"/>
              <a:ext cx="4114800" cy="502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defRPr/>
              </a:pPr>
              <a:r>
                <a:rPr lang="en-US" sz="2000" b="1">
                  <a:solidFill>
                    <a:srgbClr val="101820"/>
                  </a:solidFill>
                  <a:latin typeface="Inter"/>
                  <a:cs typeface="Inter"/>
                </a:rPr>
                <a:t>For merchants</a:t>
              </a:r>
              <a:endParaRPr/>
            </a:p>
          </p:txBody>
        </p:sp>
      </p:grpSp>
      <p:grpSp>
        <p:nvGrpSpPr>
          <p:cNvPr id="1477836640" name="Group 7"/>
          <p:cNvGrpSpPr/>
          <p:nvPr/>
        </p:nvGrpSpPr>
        <p:grpSpPr bwMode="auto">
          <a:xfrm>
            <a:off x="6446520" y="3364992"/>
            <a:ext cx="5166360" cy="585216"/>
            <a:chOff x="6446520" y="3364992"/>
            <a:chExt cx="5166360" cy="585216"/>
          </a:xfrm>
        </p:grpSpPr>
        <p:sp>
          <p:nvSpPr>
            <p:cNvPr id="122" name="Oval 121"/>
            <p:cNvSpPr/>
            <p:nvPr/>
          </p:nvSpPr>
          <p:spPr bwMode="auto">
            <a:xfrm>
              <a:off x="6446520" y="3383280"/>
              <a:ext cx="502920" cy="502920"/>
            </a:xfrm>
            <a:prstGeom prst="ellipse">
              <a:avLst/>
            </a:prstGeom>
            <a:solidFill>
              <a:srgbClr val="E5F2F8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pic>
          <p:nvPicPr>
            <p:cNvPr id="123" name="Picture 122" descr="package-check_298FC2.png"/>
            <p:cNvPicPr>
              <a:picLocks noChangeAspect="1"/>
            </p:cNvPicPr>
            <p:nvPr/>
          </p:nvPicPr>
          <p:blipFill rotWithShape="1">
            <a:blip r:embed="rId10"/>
            <a:stretch/>
          </p:blipFill>
          <p:spPr bwMode="auto">
            <a:xfrm>
              <a:off x="6560820" y="3497580"/>
              <a:ext cx="274320" cy="274320"/>
            </a:xfrm>
            <a:prstGeom prst="rect">
              <a:avLst/>
            </a:prstGeom>
          </p:spPr>
        </p:pic>
        <p:sp>
          <p:nvSpPr>
            <p:cNvPr id="124" name="TextBox 123"/>
            <p:cNvSpPr txBox="1"/>
            <p:nvPr/>
          </p:nvSpPr>
          <p:spPr bwMode="auto">
            <a:xfrm>
              <a:off x="7132320" y="3364992"/>
              <a:ext cx="4480560" cy="310896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defRPr/>
              </a:pPr>
              <a:r>
                <a:rPr lang="en-US" sz="1800" b="1">
                  <a:solidFill>
                    <a:srgbClr val="101820"/>
                  </a:solidFill>
                  <a:latin typeface="Inter"/>
                  <a:cs typeface="Inter"/>
                </a:rPr>
                <a:t>Orders, not interrogations</a:t>
              </a:r>
              <a:endParaRPr/>
            </a:p>
          </p:txBody>
        </p:sp>
        <p:sp>
          <p:nvSpPr>
            <p:cNvPr id="125" name="TextBox 124"/>
            <p:cNvSpPr txBox="1"/>
            <p:nvPr/>
          </p:nvSpPr>
          <p:spPr bwMode="auto">
            <a:xfrm>
              <a:off x="7132320" y="3694176"/>
              <a:ext cx="4480560" cy="256032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defRPr/>
              </a:pPr>
              <a:r>
                <a:rPr lang="en-US" sz="1300" b="0">
                  <a:solidFill>
                    <a:srgbClr val="5A6672"/>
                  </a:solidFill>
                  <a:latin typeface="Inter"/>
                  <a:cs typeface="Inter"/>
                </a:rPr>
                <a:t>Ready orders with address and variant</a:t>
              </a:r>
              <a:endParaRPr/>
            </a:p>
          </p:txBody>
        </p:sp>
      </p:grpSp>
      <p:grpSp>
        <p:nvGrpSpPr>
          <p:cNvPr id="1971402727" name="Group 8"/>
          <p:cNvGrpSpPr/>
          <p:nvPr/>
        </p:nvGrpSpPr>
        <p:grpSpPr bwMode="auto">
          <a:xfrm>
            <a:off x="6446520" y="4279392"/>
            <a:ext cx="5166360" cy="585216"/>
            <a:chOff x="6446520" y="4279392"/>
            <a:chExt cx="5166360" cy="585216"/>
          </a:xfrm>
        </p:grpSpPr>
        <p:sp>
          <p:nvSpPr>
            <p:cNvPr id="126" name="Oval 125"/>
            <p:cNvSpPr/>
            <p:nvPr/>
          </p:nvSpPr>
          <p:spPr bwMode="auto">
            <a:xfrm>
              <a:off x="6446520" y="4297680"/>
              <a:ext cx="502920" cy="502920"/>
            </a:xfrm>
            <a:prstGeom prst="ellipse">
              <a:avLst/>
            </a:prstGeom>
            <a:solidFill>
              <a:srgbClr val="E5F2F8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pic>
          <p:nvPicPr>
            <p:cNvPr id="127" name="Picture 126" descr="layout-dashboard_298FC2.png"/>
            <p:cNvPicPr>
              <a:picLocks noChangeAspect="1"/>
            </p:cNvPicPr>
            <p:nvPr/>
          </p:nvPicPr>
          <p:blipFill rotWithShape="1">
            <a:blip r:embed="rId11"/>
            <a:stretch/>
          </p:blipFill>
          <p:spPr bwMode="auto">
            <a:xfrm>
              <a:off x="6560820" y="4411980"/>
              <a:ext cx="274320" cy="274320"/>
            </a:xfrm>
            <a:prstGeom prst="rect">
              <a:avLst/>
            </a:prstGeom>
          </p:spPr>
        </p:pic>
        <p:sp>
          <p:nvSpPr>
            <p:cNvPr id="128" name="TextBox 127"/>
            <p:cNvSpPr txBox="1"/>
            <p:nvPr/>
          </p:nvSpPr>
          <p:spPr bwMode="auto">
            <a:xfrm>
              <a:off x="7132320" y="4279392"/>
              <a:ext cx="4480560" cy="310896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defRPr/>
              </a:pPr>
              <a:r>
                <a:rPr lang="en-US" sz="1800" b="1">
                  <a:solidFill>
                    <a:srgbClr val="101820"/>
                  </a:solidFill>
                  <a:latin typeface="Inter"/>
                  <a:cs typeface="Inter"/>
                </a:rPr>
                <a:t>Free dashboard</a:t>
              </a:r>
              <a:endParaRPr/>
            </a:p>
          </p:txBody>
        </p:sp>
        <p:sp>
          <p:nvSpPr>
            <p:cNvPr id="129" name="TextBox 128"/>
            <p:cNvSpPr txBox="1"/>
            <p:nvPr/>
          </p:nvSpPr>
          <p:spPr bwMode="auto">
            <a:xfrm>
              <a:off x="7132320" y="4608576"/>
              <a:ext cx="4480560" cy="256032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defRPr/>
              </a:pPr>
              <a:r>
                <a:rPr lang="en-US" sz="1300" b="0">
                  <a:solidFill>
                    <a:srgbClr val="5A6672"/>
                  </a:solidFill>
                  <a:latin typeface="Inter"/>
                  <a:cs typeface="Inter"/>
                </a:rPr>
                <a:t>Stock, orders and payouts in one place</a:t>
              </a:r>
              <a:endParaRPr/>
            </a:p>
          </p:txBody>
        </p:sp>
      </p:grpSp>
      <p:grpSp>
        <p:nvGrpSpPr>
          <p:cNvPr id="1313090540" name="Group 9"/>
          <p:cNvGrpSpPr/>
          <p:nvPr/>
        </p:nvGrpSpPr>
        <p:grpSpPr bwMode="auto">
          <a:xfrm>
            <a:off x="6446520" y="5193792"/>
            <a:ext cx="5166360" cy="585216"/>
            <a:chOff x="6446520" y="5193792"/>
            <a:chExt cx="5166360" cy="585216"/>
          </a:xfrm>
        </p:grpSpPr>
        <p:sp>
          <p:nvSpPr>
            <p:cNvPr id="130" name="Oval 129"/>
            <p:cNvSpPr/>
            <p:nvPr/>
          </p:nvSpPr>
          <p:spPr bwMode="auto">
            <a:xfrm>
              <a:off x="6446520" y="5212080"/>
              <a:ext cx="502920" cy="502920"/>
            </a:xfrm>
            <a:prstGeom prst="ellipse">
              <a:avLst/>
            </a:prstGeom>
            <a:solidFill>
              <a:srgbClr val="E5F2F8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pic>
          <p:nvPicPr>
            <p:cNvPr id="131" name="Picture 130" descr="percent_298FC2.png"/>
            <p:cNvPicPr>
              <a:picLocks noChangeAspect="1"/>
            </p:cNvPicPr>
            <p:nvPr/>
          </p:nvPicPr>
          <p:blipFill rotWithShape="1">
            <a:blip r:embed="rId12"/>
            <a:stretch/>
          </p:blipFill>
          <p:spPr bwMode="auto">
            <a:xfrm>
              <a:off x="6560820" y="5326380"/>
              <a:ext cx="274320" cy="274320"/>
            </a:xfrm>
            <a:prstGeom prst="rect">
              <a:avLst/>
            </a:prstGeom>
          </p:spPr>
        </p:pic>
        <p:sp>
          <p:nvSpPr>
            <p:cNvPr id="132" name="TextBox 131"/>
            <p:cNvSpPr txBox="1"/>
            <p:nvPr/>
          </p:nvSpPr>
          <p:spPr bwMode="auto">
            <a:xfrm>
              <a:off x="7132320" y="5193792"/>
              <a:ext cx="4480560" cy="310896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defRPr/>
              </a:pPr>
              <a:r>
                <a:rPr lang="en-US" sz="1800" b="1">
                  <a:solidFill>
                    <a:srgbClr val="101820"/>
                  </a:solidFill>
                  <a:latin typeface="Inter"/>
                  <a:cs typeface="Inter"/>
                </a:rPr>
                <a:t>Fair, low fee</a:t>
              </a:r>
              <a:endParaRPr/>
            </a:p>
          </p:txBody>
        </p:sp>
        <p:sp>
          <p:nvSpPr>
            <p:cNvPr id="133" name="TextBox 132"/>
            <p:cNvSpPr txBox="1"/>
            <p:nvPr/>
          </p:nvSpPr>
          <p:spPr bwMode="auto">
            <a:xfrm>
              <a:off x="7132320" y="5522976"/>
              <a:ext cx="4480560" cy="256032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defRPr/>
              </a:pPr>
              <a:r>
                <a:rPr lang="en-US" sz="1300" b="0">
                  <a:solidFill>
                    <a:srgbClr val="5A6672"/>
                  </a:solidFill>
                  <a:latin typeface="Inter"/>
                  <a:cs typeface="Inter"/>
                </a:rPr>
                <a:t>About 3.8% on a typical 25,000 IQD order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fast" p14:dur="500" advClick="1">
        <p:fade thruBlk="0"/>
      </p:transition>
    </mc:Choice>
    <mc:Fallback>
      <p:transition spd="fast" advClick="1">
        <p:fade thruBlk="0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7732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97732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35374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8735374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66795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4166795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81344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250"/>
                                        <p:tgtEl>
                                          <p:spTgt spid="13781344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66352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250"/>
                                        <p:tgtEl>
                                          <p:spTgt spid="20366352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6515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250"/>
                                        <p:tgtEl>
                                          <p:spTgt spid="2036515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78366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250"/>
                                        <p:tgtEl>
                                          <p:spTgt spid="14778366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14027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50"/>
                                        <p:tgtEl>
                                          <p:spTgt spid="19714027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30905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250"/>
                                        <p:tgtEl>
                                          <p:spTgt spid="13130905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908404348" name="Google Shape;98;p14" title="Center_for_Academic_and_Professional_Advancement.png"/>
          <p:cNvPicPr/>
          <p:nvPr/>
        </p:nvPicPr>
        <p:blipFill rotWithShape="1">
          <a:blip r:embed="rId3">
            <a:alphaModFix/>
          </a:blip>
          <a:stretch/>
        </p:blipFill>
        <p:spPr bwMode="auto">
          <a:xfrm>
            <a:off x="8289593" y="351575"/>
            <a:ext cx="3178502" cy="9693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61949" name="Google Shape;99;p14" title="german cooperation deutsche zusammenarbeit.png"/>
          <p:cNvPicPr/>
          <p:nvPr/>
        </p:nvPicPr>
        <p:blipFill rotWithShape="1">
          <a:blip r:embed="rId4">
            <a:alphaModFix/>
          </a:blip>
          <a:stretch/>
        </p:blipFill>
        <p:spPr bwMode="auto">
          <a:xfrm>
            <a:off x="723900" y="436204"/>
            <a:ext cx="1428202" cy="800089"/>
          </a:xfrm>
          <a:prstGeom prst="rect">
            <a:avLst/>
          </a:prstGeom>
          <a:noFill/>
          <a:ln>
            <a:noFill/>
          </a:ln>
        </p:spPr>
      </p:pic>
      <p:sp>
        <p:nvSpPr>
          <p:cNvPr id="623284200" name="Rectangle 99"/>
          <p:cNvSpPr/>
          <p:nvPr/>
        </p:nvSpPr>
        <p:spPr bwMode="auto">
          <a:xfrm>
            <a:off x="722376" y="1517904"/>
            <a:ext cx="274320" cy="45720"/>
          </a:xfrm>
          <a:prstGeom prst="rect">
            <a:avLst/>
          </a:prstGeom>
          <a:solidFill>
            <a:srgbClr val="298FC2"/>
          </a:solidFill>
          <a:ln>
            <a:noFill/>
          </a:ln>
          <a:effectLst/>
        </p:spPr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53269338" name="TextBox 100"/>
          <p:cNvSpPr txBox="1"/>
          <p:nvPr/>
        </p:nvSpPr>
        <p:spPr bwMode="auto">
          <a:xfrm>
            <a:off x="1133856" y="1426464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defRPr/>
            </a:pPr>
            <a:r>
              <a:rPr lang="en-US" sz="1300" b="0">
                <a:solidFill>
                  <a:srgbClr val="5A6672"/>
                </a:solidFill>
                <a:latin typeface="Inter"/>
                <a:cs typeface="Inter"/>
              </a:rPr>
              <a:t>Target market</a:t>
            </a:r>
            <a:endParaRPr/>
          </a:p>
        </p:txBody>
      </p:sp>
      <p:sp>
        <p:nvSpPr>
          <p:cNvPr id="363491427" name="TextBox 101"/>
          <p:cNvSpPr txBox="1"/>
          <p:nvPr/>
        </p:nvSpPr>
        <p:spPr bwMode="auto">
          <a:xfrm>
            <a:off x="722376" y="1700784"/>
            <a:ext cx="10744200" cy="5669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defRPr/>
            </a:pPr>
            <a:r>
              <a:rPr lang="en-US" sz="3000" b="1">
                <a:solidFill>
                  <a:srgbClr val="101820"/>
                </a:solidFill>
                <a:latin typeface="Comfortaa"/>
                <a:cs typeface="Comfortaa"/>
              </a:rPr>
              <a:t>Duhok first: about 1 million people.</a:t>
            </a:r>
            <a:endParaRPr/>
          </a:p>
        </p:txBody>
      </p:sp>
      <p:sp>
        <p:nvSpPr>
          <p:cNvPr id="936186177" name="TextBox 102"/>
          <p:cNvSpPr txBox="1"/>
          <p:nvPr/>
        </p:nvSpPr>
        <p:spPr bwMode="auto">
          <a:xfrm>
            <a:off x="722376" y="6455664"/>
            <a:ext cx="10744200" cy="23774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defRPr/>
            </a:pPr>
            <a:r>
              <a:rPr lang="en-US" sz="900" b="0">
                <a:solidFill>
                  <a:srgbClr val="5A6672"/>
                </a:solidFill>
                <a:latin typeface="Inter"/>
                <a:cs typeface="Inter"/>
              </a:rPr>
              <a:t>Population: 2024 national census (Iraqi Ministry of Planning). Internet users: DataReportal, Digital 2026: Iraq. E-commerce: ECDB, Iraq 2025. Duhok figures marked “estimate” = Iraq rate × Duhok population share.</a:t>
            </a:r>
            <a:endParaRPr/>
          </a:p>
        </p:txBody>
      </p:sp>
      <p:grpSp>
        <p:nvGrpSpPr>
          <p:cNvPr id="2131996600" name="Group 1"/>
          <p:cNvGrpSpPr/>
          <p:nvPr/>
        </p:nvGrpSpPr>
        <p:grpSpPr bwMode="auto">
          <a:xfrm>
            <a:off x="914400" y="2651760"/>
            <a:ext cx="2377440" cy="2377440"/>
            <a:chOff x="914400" y="2651760"/>
            <a:chExt cx="2377440" cy="2377440"/>
          </a:xfrm>
        </p:grpSpPr>
        <p:sp>
          <p:nvSpPr>
            <p:cNvPr id="104" name="Oval 103"/>
            <p:cNvSpPr/>
            <p:nvPr/>
          </p:nvSpPr>
          <p:spPr bwMode="auto">
            <a:xfrm>
              <a:off x="914400" y="2651760"/>
              <a:ext cx="2377440" cy="2377440"/>
            </a:xfrm>
            <a:prstGeom prst="ellipse">
              <a:avLst/>
            </a:prstGeom>
            <a:solidFill>
              <a:srgbClr val="DDE5ED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05" name="TextBox 104"/>
            <p:cNvSpPr txBox="1"/>
            <p:nvPr/>
          </p:nvSpPr>
          <p:spPr bwMode="auto">
            <a:xfrm>
              <a:off x="1005840" y="3273552"/>
              <a:ext cx="2194560" cy="23774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defRPr/>
              </a:pPr>
              <a:r>
                <a:rPr lang="en-US" sz="1300" b="1">
                  <a:solidFill>
                    <a:srgbClr val="101820"/>
                  </a:solidFill>
                  <a:latin typeface="Inter"/>
                  <a:cs typeface="Inter"/>
                </a:rPr>
                <a:t>Iraq</a:t>
              </a:r>
              <a:endParaRPr/>
            </a:p>
          </p:txBody>
        </p:sp>
        <p:sp>
          <p:nvSpPr>
            <p:cNvPr id="106" name="TextBox 105"/>
            <p:cNvSpPr txBox="1"/>
            <p:nvPr/>
          </p:nvSpPr>
          <p:spPr bwMode="auto">
            <a:xfrm>
              <a:off x="1005840" y="3566160"/>
              <a:ext cx="2194560" cy="5486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defRPr/>
              </a:pPr>
              <a:r>
                <a:rPr lang="en-US" sz="3000" b="1">
                  <a:solidFill>
                    <a:srgbClr val="101820"/>
                  </a:solidFill>
                  <a:latin typeface="Comfortaa"/>
                  <a:cs typeface="Comfortaa"/>
                </a:rPr>
                <a:t>46.1M</a:t>
              </a:r>
              <a:endParaRPr/>
            </a:p>
          </p:txBody>
        </p:sp>
        <p:sp>
          <p:nvSpPr>
            <p:cNvPr id="107" name="TextBox 106"/>
            <p:cNvSpPr txBox="1"/>
            <p:nvPr/>
          </p:nvSpPr>
          <p:spPr bwMode="auto">
            <a:xfrm>
              <a:off x="1005840" y="4133088"/>
              <a:ext cx="2194560" cy="219456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defRPr/>
              </a:pPr>
              <a:r>
                <a:rPr lang="en-US" sz="1200" b="0">
                  <a:solidFill>
                    <a:srgbClr val="5A6672"/>
                  </a:solidFill>
                  <a:latin typeface="Inter"/>
                  <a:cs typeface="Inter"/>
                </a:rPr>
                <a:t>people</a:t>
              </a:r>
              <a:endParaRPr/>
            </a:p>
          </p:txBody>
        </p:sp>
      </p:grpSp>
      <p:grpSp>
        <p:nvGrpSpPr>
          <p:cNvPr id="381265771" name="Group 2"/>
          <p:cNvGrpSpPr/>
          <p:nvPr/>
        </p:nvGrpSpPr>
        <p:grpSpPr bwMode="auto">
          <a:xfrm>
            <a:off x="4297680" y="2926080"/>
            <a:ext cx="1828800" cy="1828800"/>
            <a:chOff x="4297680" y="2926080"/>
            <a:chExt cx="1828800" cy="1828800"/>
          </a:xfrm>
        </p:grpSpPr>
        <p:sp>
          <p:nvSpPr>
            <p:cNvPr id="108" name="Oval 107"/>
            <p:cNvSpPr/>
            <p:nvPr/>
          </p:nvSpPr>
          <p:spPr bwMode="auto">
            <a:xfrm>
              <a:off x="4297680" y="2926080"/>
              <a:ext cx="1828800" cy="1828800"/>
            </a:xfrm>
            <a:prstGeom prst="ellipse">
              <a:avLst/>
            </a:prstGeom>
            <a:solidFill>
              <a:srgbClr val="E5F2F8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09" name="TextBox 108"/>
            <p:cNvSpPr txBox="1"/>
            <p:nvPr/>
          </p:nvSpPr>
          <p:spPr bwMode="auto">
            <a:xfrm>
              <a:off x="4389120" y="3273552"/>
              <a:ext cx="1645920" cy="23774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defRPr/>
              </a:pPr>
              <a:r>
                <a:rPr lang="en-US" sz="1100" b="1">
                  <a:solidFill>
                    <a:srgbClr val="101820"/>
                  </a:solidFill>
                  <a:latin typeface="Inter"/>
                  <a:cs typeface="Inter"/>
                </a:rPr>
                <a:t>Duhok governorate</a:t>
              </a:r>
              <a:endParaRPr/>
            </a:p>
          </p:txBody>
        </p:sp>
        <p:sp>
          <p:nvSpPr>
            <p:cNvPr id="110" name="TextBox 109"/>
            <p:cNvSpPr txBox="1"/>
            <p:nvPr/>
          </p:nvSpPr>
          <p:spPr bwMode="auto">
            <a:xfrm>
              <a:off x="4389120" y="3566160"/>
              <a:ext cx="1645920" cy="5486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defRPr/>
              </a:pPr>
              <a:r>
                <a:rPr lang="en-US" sz="2600" b="1">
                  <a:solidFill>
                    <a:srgbClr val="101820"/>
                  </a:solidFill>
                  <a:latin typeface="Comfortaa"/>
                  <a:cs typeface="Comfortaa"/>
                </a:rPr>
                <a:t>1.60M</a:t>
              </a:r>
              <a:endParaRPr/>
            </a:p>
          </p:txBody>
        </p:sp>
        <p:sp>
          <p:nvSpPr>
            <p:cNvPr id="111" name="TextBox 110"/>
            <p:cNvSpPr txBox="1"/>
            <p:nvPr/>
          </p:nvSpPr>
          <p:spPr bwMode="auto">
            <a:xfrm>
              <a:off x="4389120" y="4133088"/>
              <a:ext cx="1645920" cy="219456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defRPr/>
              </a:pPr>
              <a:r>
                <a:rPr lang="en-US" sz="1100" b="0">
                  <a:solidFill>
                    <a:srgbClr val="5A6672"/>
                  </a:solidFill>
                  <a:latin typeface="Inter"/>
                  <a:cs typeface="Inter"/>
                </a:rPr>
                <a:t>people</a:t>
              </a:r>
              <a:endParaRPr/>
            </a:p>
          </p:txBody>
        </p:sp>
      </p:grpSp>
      <p:grpSp>
        <p:nvGrpSpPr>
          <p:cNvPr id="1720404670" name="Group 3"/>
          <p:cNvGrpSpPr/>
          <p:nvPr/>
        </p:nvGrpSpPr>
        <p:grpSpPr bwMode="auto">
          <a:xfrm>
            <a:off x="7132320" y="3063240"/>
            <a:ext cx="1554480" cy="1554480"/>
            <a:chOff x="7132320" y="3063240"/>
            <a:chExt cx="1554480" cy="1554480"/>
          </a:xfrm>
        </p:grpSpPr>
        <p:sp>
          <p:nvSpPr>
            <p:cNvPr id="112" name="Oval 111"/>
            <p:cNvSpPr/>
            <p:nvPr/>
          </p:nvSpPr>
          <p:spPr bwMode="auto">
            <a:xfrm>
              <a:off x="7132320" y="3063240"/>
              <a:ext cx="1554480" cy="1554480"/>
            </a:xfrm>
            <a:prstGeom prst="ellipse">
              <a:avLst/>
            </a:prstGeom>
            <a:solidFill>
              <a:srgbClr val="298FC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13" name="TextBox 112"/>
            <p:cNvSpPr txBox="1"/>
            <p:nvPr/>
          </p:nvSpPr>
          <p:spPr bwMode="auto">
            <a:xfrm>
              <a:off x="7223760" y="3273552"/>
              <a:ext cx="1371600" cy="23774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defRPr/>
              </a:pPr>
              <a:r>
                <a:rPr lang="en-US" sz="1100" b="1">
                  <a:solidFill>
                    <a:srgbClr val="FFFFFF"/>
                  </a:solidFill>
                  <a:latin typeface="Inter"/>
                  <a:cs typeface="Inter"/>
                </a:rPr>
                <a:t>Launch area</a:t>
              </a:r>
              <a:endParaRPr/>
            </a:p>
          </p:txBody>
        </p:sp>
        <p:sp>
          <p:nvSpPr>
            <p:cNvPr id="114" name="TextBox 113"/>
            <p:cNvSpPr txBox="1"/>
            <p:nvPr/>
          </p:nvSpPr>
          <p:spPr bwMode="auto">
            <a:xfrm>
              <a:off x="7223760" y="3566160"/>
              <a:ext cx="1371600" cy="5486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defRPr/>
              </a:pPr>
              <a:r>
                <a:rPr lang="en-US" sz="2400" b="1">
                  <a:solidFill>
                    <a:srgbClr val="FFFFFF"/>
                  </a:solidFill>
                  <a:latin typeface="Comfortaa"/>
                  <a:cs typeface="Comfortaa"/>
                </a:rPr>
                <a:t>1.06M</a:t>
              </a:r>
              <a:endParaRPr/>
            </a:p>
          </p:txBody>
        </p:sp>
        <p:sp>
          <p:nvSpPr>
            <p:cNvPr id="115" name="TextBox 114"/>
            <p:cNvSpPr txBox="1"/>
            <p:nvPr/>
          </p:nvSpPr>
          <p:spPr bwMode="auto">
            <a:xfrm>
              <a:off x="7223760" y="4133088"/>
              <a:ext cx="1371600" cy="219456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defRPr/>
              </a:pPr>
              <a:r>
                <a:rPr lang="en-US" sz="1100" b="0">
                  <a:solidFill>
                    <a:srgbClr val="FFFFFF"/>
                  </a:solidFill>
                  <a:latin typeface="Inter"/>
                  <a:cs typeface="Inter"/>
                </a:rPr>
                <a:t>people</a:t>
              </a:r>
              <a:endParaRPr/>
            </a:p>
          </p:txBody>
        </p:sp>
      </p:grpSp>
      <p:grpSp>
        <p:nvGrpSpPr>
          <p:cNvPr id="810573962" name="Group 4"/>
          <p:cNvGrpSpPr/>
          <p:nvPr/>
        </p:nvGrpSpPr>
        <p:grpSpPr bwMode="auto">
          <a:xfrm>
            <a:off x="731520" y="5120640"/>
            <a:ext cx="2743200" cy="475488"/>
            <a:chOff x="731520" y="5120640"/>
            <a:chExt cx="2743200" cy="475488"/>
          </a:xfrm>
        </p:grpSpPr>
        <p:sp>
          <p:nvSpPr>
            <p:cNvPr id="116" name="TextBox 115"/>
            <p:cNvSpPr txBox="1"/>
            <p:nvPr/>
          </p:nvSpPr>
          <p:spPr bwMode="auto">
            <a:xfrm>
              <a:off x="731520" y="5120640"/>
              <a:ext cx="2743200" cy="219456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defRPr/>
              </a:pPr>
              <a:r>
                <a:rPr lang="en-US" sz="1100" b="0">
                  <a:solidFill>
                    <a:srgbClr val="5A6672"/>
                  </a:solidFill>
                  <a:latin typeface="Inter"/>
                  <a:cs typeface="Inter"/>
                </a:rPr>
                <a:t>39.6M online · $1.32B a year</a:t>
              </a:r>
              <a:endParaRPr/>
            </a:p>
          </p:txBody>
        </p:sp>
        <p:sp>
          <p:nvSpPr>
            <p:cNvPr id="117" name="Rounded Rectangle 116"/>
            <p:cNvSpPr/>
            <p:nvPr/>
          </p:nvSpPr>
          <p:spPr bwMode="auto">
            <a:xfrm>
              <a:off x="1737360" y="5394960"/>
              <a:ext cx="731520" cy="201168"/>
            </a:xfrm>
            <a:prstGeom prst="roundRect">
              <a:avLst>
                <a:gd name="adj" fmla="val 50000"/>
              </a:avLst>
            </a:prstGeom>
            <a:solidFill>
              <a:srgbClr val="DDE5ED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18" name="TextBox 117"/>
            <p:cNvSpPr txBox="1"/>
            <p:nvPr/>
          </p:nvSpPr>
          <p:spPr bwMode="auto">
            <a:xfrm>
              <a:off x="1737360" y="5394960"/>
              <a:ext cx="731520" cy="20116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defRPr/>
              </a:pPr>
              <a:r>
                <a:rPr lang="en-US" sz="900" b="0">
                  <a:solidFill>
                    <a:srgbClr val="101820"/>
                  </a:solidFill>
                  <a:latin typeface="Inter"/>
                  <a:cs typeface="Inter"/>
                </a:rPr>
                <a:t>published</a:t>
              </a:r>
              <a:endParaRPr/>
            </a:p>
          </p:txBody>
        </p:sp>
      </p:grpSp>
      <p:grpSp>
        <p:nvGrpSpPr>
          <p:cNvPr id="405121514" name="Group 5"/>
          <p:cNvGrpSpPr/>
          <p:nvPr/>
        </p:nvGrpSpPr>
        <p:grpSpPr bwMode="auto">
          <a:xfrm>
            <a:off x="3840480" y="5120640"/>
            <a:ext cx="2743200" cy="475488"/>
            <a:chOff x="3840480" y="5120640"/>
            <a:chExt cx="2743200" cy="475488"/>
          </a:xfrm>
        </p:grpSpPr>
        <p:sp>
          <p:nvSpPr>
            <p:cNvPr id="119" name="TextBox 118"/>
            <p:cNvSpPr txBox="1"/>
            <p:nvPr/>
          </p:nvSpPr>
          <p:spPr bwMode="auto">
            <a:xfrm>
              <a:off x="3840480" y="5120640"/>
              <a:ext cx="2743200" cy="219456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defRPr/>
              </a:pPr>
              <a:r>
                <a:rPr lang="en-US" sz="1100" b="0">
                  <a:solidFill>
                    <a:srgbClr val="5A6672"/>
                  </a:solidFill>
                  <a:latin typeface="Inter"/>
                  <a:cs typeface="Inter"/>
                </a:rPr>
                <a:t>≈ 1.34M online · ≈ $46M a year</a:t>
              </a:r>
              <a:endParaRPr/>
            </a:p>
          </p:txBody>
        </p:sp>
        <p:sp>
          <p:nvSpPr>
            <p:cNvPr id="120" name="Rounded Rectangle 119"/>
            <p:cNvSpPr/>
            <p:nvPr/>
          </p:nvSpPr>
          <p:spPr bwMode="auto">
            <a:xfrm>
              <a:off x="4846320" y="5394960"/>
              <a:ext cx="731520" cy="201168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15875">
              <a:solidFill>
                <a:srgbClr val="FFA300"/>
              </a:solidFill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21" name="TextBox 120"/>
            <p:cNvSpPr txBox="1"/>
            <p:nvPr/>
          </p:nvSpPr>
          <p:spPr bwMode="auto">
            <a:xfrm>
              <a:off x="4846320" y="5394960"/>
              <a:ext cx="731520" cy="20116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defRPr/>
              </a:pPr>
              <a:r>
                <a:rPr lang="en-US" sz="900" b="1">
                  <a:solidFill>
                    <a:srgbClr val="101820"/>
                  </a:solidFill>
                  <a:latin typeface="Inter"/>
                  <a:cs typeface="Inter"/>
                </a:rPr>
                <a:t>estimate</a:t>
              </a:r>
              <a:endParaRPr/>
            </a:p>
          </p:txBody>
        </p:sp>
      </p:grpSp>
      <p:grpSp>
        <p:nvGrpSpPr>
          <p:cNvPr id="826254275" name="Group 6"/>
          <p:cNvGrpSpPr/>
          <p:nvPr/>
        </p:nvGrpSpPr>
        <p:grpSpPr bwMode="auto">
          <a:xfrm>
            <a:off x="6537960" y="5120640"/>
            <a:ext cx="2743200" cy="219456"/>
            <a:chOff x="6537960" y="5120640"/>
            <a:chExt cx="2743200" cy="219456"/>
          </a:xfrm>
        </p:grpSpPr>
        <p:sp>
          <p:nvSpPr>
            <p:cNvPr id="122" name="TextBox 121"/>
            <p:cNvSpPr txBox="1"/>
            <p:nvPr/>
          </p:nvSpPr>
          <p:spPr bwMode="auto">
            <a:xfrm>
              <a:off x="6537960" y="5120640"/>
              <a:ext cx="2743200" cy="219456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defRPr/>
              </a:pPr>
              <a:r>
                <a:rPr lang="en-US" sz="1100" b="1">
                  <a:solidFill>
                    <a:srgbClr val="101820"/>
                  </a:solidFill>
                  <a:latin typeface="Inter"/>
                  <a:cs typeface="Inter"/>
                </a:rPr>
                <a:t>Duhok · Semel · Zakho</a:t>
              </a:r>
              <a:endParaRPr/>
            </a:p>
          </p:txBody>
        </p:sp>
      </p:grpSp>
      <p:grpSp>
        <p:nvGrpSpPr>
          <p:cNvPr id="1384097397" name="Group 7"/>
          <p:cNvGrpSpPr/>
          <p:nvPr/>
        </p:nvGrpSpPr>
        <p:grpSpPr bwMode="auto">
          <a:xfrm>
            <a:off x="2208007" y="2656396"/>
            <a:ext cx="3084755" cy="2368168"/>
            <a:chOff x="2208007" y="2656396"/>
            <a:chExt cx="3084755" cy="2368168"/>
          </a:xfrm>
        </p:grpSpPr>
        <p:cxnSp>
          <p:nvCxnSpPr>
            <p:cNvPr id="123" name="Connector 122"/>
            <p:cNvCxnSpPr/>
            <p:nvPr/>
          </p:nvCxnSpPr>
          <p:spPr bwMode="auto">
            <a:xfrm>
              <a:off x="2208007" y="2656396"/>
              <a:ext cx="3084755" cy="273250"/>
            </a:xfrm>
            <a:prstGeom prst="line">
              <a:avLst/>
            </a:prstGeom>
            <a:ln w="15875">
              <a:solidFill>
                <a:srgbClr val="A9B1B9"/>
              </a:solidFill>
              <a:prstDash val="dash"/>
            </a:ln>
            <a:effectLst/>
          </p:spPr>
        </p:cxnSp>
        <p:cxnSp>
          <p:nvCxnSpPr>
            <p:cNvPr id="124" name="Connector 123"/>
            <p:cNvCxnSpPr/>
            <p:nvPr/>
          </p:nvCxnSpPr>
          <p:spPr bwMode="auto">
            <a:xfrm flipV="1">
              <a:off x="2208007" y="4751314"/>
              <a:ext cx="3084755" cy="273250"/>
            </a:xfrm>
            <a:prstGeom prst="line">
              <a:avLst/>
            </a:prstGeom>
            <a:ln w="15875">
              <a:solidFill>
                <a:srgbClr val="A9B1B9"/>
              </a:solidFill>
              <a:prstDash val="dash"/>
            </a:ln>
            <a:effectLst/>
          </p:spPr>
        </p:cxnSp>
      </p:grpSp>
      <p:grpSp>
        <p:nvGrpSpPr>
          <p:cNvPr id="221341992" name="Group 8"/>
          <p:cNvGrpSpPr/>
          <p:nvPr/>
        </p:nvGrpSpPr>
        <p:grpSpPr bwMode="auto">
          <a:xfrm>
            <a:off x="5258575" y="2927262"/>
            <a:ext cx="2690506" cy="1826434"/>
            <a:chOff x="5258575" y="2927262"/>
            <a:chExt cx="2690506" cy="1826434"/>
          </a:xfrm>
        </p:grpSpPr>
        <p:cxnSp>
          <p:nvCxnSpPr>
            <p:cNvPr id="125" name="Connector 124"/>
            <p:cNvCxnSpPr/>
            <p:nvPr/>
          </p:nvCxnSpPr>
          <p:spPr bwMode="auto">
            <a:xfrm>
              <a:off x="5258575" y="2927262"/>
              <a:ext cx="2690506" cy="136982"/>
            </a:xfrm>
            <a:prstGeom prst="line">
              <a:avLst/>
            </a:prstGeom>
            <a:ln w="15875">
              <a:solidFill>
                <a:srgbClr val="A9B1B9"/>
              </a:solidFill>
              <a:prstDash val="dash"/>
            </a:ln>
            <a:effectLst/>
          </p:spPr>
        </p:cxnSp>
        <p:cxnSp>
          <p:nvCxnSpPr>
            <p:cNvPr id="126" name="Connector 125"/>
            <p:cNvCxnSpPr/>
            <p:nvPr/>
          </p:nvCxnSpPr>
          <p:spPr bwMode="auto">
            <a:xfrm flipV="1">
              <a:off x="5258575" y="4616715"/>
              <a:ext cx="2690506" cy="136982"/>
            </a:xfrm>
            <a:prstGeom prst="line">
              <a:avLst/>
            </a:prstGeom>
            <a:ln w="15875">
              <a:solidFill>
                <a:srgbClr val="A9B1B9"/>
              </a:solidFill>
              <a:prstDash val="dash"/>
            </a:ln>
            <a:effectLst/>
          </p:spPr>
        </p:cxnSp>
      </p:grpSp>
      <p:grpSp>
        <p:nvGrpSpPr>
          <p:cNvPr id="1686692320" name="Group 9"/>
          <p:cNvGrpSpPr/>
          <p:nvPr/>
        </p:nvGrpSpPr>
        <p:grpSpPr bwMode="auto">
          <a:xfrm>
            <a:off x="9052560" y="2752343"/>
            <a:ext cx="2331720" cy="557784"/>
            <a:chOff x="9052560" y="2752343"/>
            <a:chExt cx="2331720" cy="557784"/>
          </a:xfrm>
        </p:grpSpPr>
        <p:pic>
          <p:nvPicPr>
            <p:cNvPr id="127" name="Picture 126" descr="wifi_298FC2.png"/>
            <p:cNvPicPr>
              <a:picLocks noChangeAspect="1"/>
            </p:cNvPicPr>
            <p:nvPr/>
          </p:nvPicPr>
          <p:blipFill rotWithShape="1">
            <a:blip r:embed="rId5"/>
            <a:stretch/>
          </p:blipFill>
          <p:spPr bwMode="auto">
            <a:xfrm>
              <a:off x="9052560" y="2843784"/>
              <a:ext cx="365760" cy="365760"/>
            </a:xfrm>
            <a:prstGeom prst="rect">
              <a:avLst/>
            </a:prstGeom>
          </p:spPr>
        </p:pic>
        <p:sp>
          <p:nvSpPr>
            <p:cNvPr id="128" name="TextBox 127"/>
            <p:cNvSpPr txBox="1"/>
            <p:nvPr/>
          </p:nvSpPr>
          <p:spPr bwMode="auto">
            <a:xfrm>
              <a:off x="9555480" y="2752343"/>
              <a:ext cx="1828800" cy="34747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defRPr/>
              </a:pPr>
              <a:r>
                <a:rPr lang="en-US" sz="2000" b="1">
                  <a:solidFill>
                    <a:srgbClr val="101820"/>
                  </a:solidFill>
                  <a:latin typeface="Comfortaa"/>
                  <a:cs typeface="Comfortaa"/>
                </a:rPr>
                <a:t>≈ 0.89M</a:t>
              </a:r>
              <a:endParaRPr/>
            </a:p>
          </p:txBody>
        </p:sp>
        <p:sp>
          <p:nvSpPr>
            <p:cNvPr id="129" name="TextBox 128"/>
            <p:cNvSpPr txBox="1"/>
            <p:nvPr/>
          </p:nvSpPr>
          <p:spPr bwMode="auto">
            <a:xfrm>
              <a:off x="9555480" y="3108960"/>
              <a:ext cx="868680" cy="20116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defRPr/>
              </a:pPr>
              <a:r>
                <a:rPr lang="en-US" sz="1100" b="0">
                  <a:solidFill>
                    <a:srgbClr val="5A6672"/>
                  </a:solidFill>
                  <a:latin typeface="Inter"/>
                  <a:cs typeface="Inter"/>
                </a:rPr>
                <a:t>online</a:t>
              </a:r>
              <a:endParaRPr/>
            </a:p>
          </p:txBody>
        </p:sp>
        <p:sp>
          <p:nvSpPr>
            <p:cNvPr id="130" name="Rounded Rectangle 129"/>
            <p:cNvSpPr/>
            <p:nvPr/>
          </p:nvSpPr>
          <p:spPr bwMode="auto">
            <a:xfrm>
              <a:off x="10625328" y="3108960"/>
              <a:ext cx="731520" cy="201168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15875">
              <a:solidFill>
                <a:srgbClr val="FFA300"/>
              </a:solidFill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31" name="TextBox 130"/>
            <p:cNvSpPr txBox="1"/>
            <p:nvPr/>
          </p:nvSpPr>
          <p:spPr bwMode="auto">
            <a:xfrm>
              <a:off x="10625328" y="3108960"/>
              <a:ext cx="731520" cy="20116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defRPr/>
              </a:pPr>
              <a:r>
                <a:rPr lang="en-US" sz="900" b="1">
                  <a:solidFill>
                    <a:srgbClr val="101820"/>
                  </a:solidFill>
                  <a:latin typeface="Inter"/>
                  <a:cs typeface="Inter"/>
                </a:rPr>
                <a:t>estimate</a:t>
              </a:r>
              <a:endParaRPr/>
            </a:p>
          </p:txBody>
        </p:sp>
      </p:grpSp>
      <p:grpSp>
        <p:nvGrpSpPr>
          <p:cNvPr id="1800445903" name="Group 10"/>
          <p:cNvGrpSpPr/>
          <p:nvPr/>
        </p:nvGrpSpPr>
        <p:grpSpPr bwMode="auto">
          <a:xfrm>
            <a:off x="9052560" y="3483864"/>
            <a:ext cx="2331720" cy="557784"/>
            <a:chOff x="9052560" y="3483864"/>
            <a:chExt cx="2331720" cy="557784"/>
          </a:xfrm>
        </p:grpSpPr>
        <p:pic>
          <p:nvPicPr>
            <p:cNvPr id="132" name="Picture 131" descr="shopping-cart_298FC2.png"/>
            <p:cNvPicPr>
              <a:picLocks noChangeAspect="1"/>
            </p:cNvPicPr>
            <p:nvPr/>
          </p:nvPicPr>
          <p:blipFill rotWithShape="1">
            <a:blip r:embed="rId6"/>
            <a:stretch/>
          </p:blipFill>
          <p:spPr bwMode="auto">
            <a:xfrm>
              <a:off x="9052560" y="3575303"/>
              <a:ext cx="365760" cy="365760"/>
            </a:xfrm>
            <a:prstGeom prst="rect">
              <a:avLst/>
            </a:prstGeom>
          </p:spPr>
        </p:pic>
        <p:sp>
          <p:nvSpPr>
            <p:cNvPr id="133" name="TextBox 132"/>
            <p:cNvSpPr txBox="1"/>
            <p:nvPr/>
          </p:nvSpPr>
          <p:spPr bwMode="auto">
            <a:xfrm>
              <a:off x="9555480" y="3483864"/>
              <a:ext cx="1828800" cy="34747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defRPr/>
              </a:pPr>
              <a:r>
                <a:rPr lang="en-US" sz="2000" b="1">
                  <a:solidFill>
                    <a:srgbClr val="101820"/>
                  </a:solidFill>
                  <a:latin typeface="Comfortaa"/>
                  <a:cs typeface="Comfortaa"/>
                </a:rPr>
                <a:t>≈ $30M</a:t>
              </a:r>
              <a:endParaRPr/>
            </a:p>
          </p:txBody>
        </p:sp>
        <p:sp>
          <p:nvSpPr>
            <p:cNvPr id="134" name="TextBox 133"/>
            <p:cNvSpPr txBox="1"/>
            <p:nvPr/>
          </p:nvSpPr>
          <p:spPr bwMode="auto">
            <a:xfrm>
              <a:off x="9555480" y="3840480"/>
              <a:ext cx="868680" cy="20116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defRPr/>
              </a:pPr>
              <a:r>
                <a:rPr lang="en-US" sz="1100" b="0">
                  <a:solidFill>
                    <a:srgbClr val="5A6672"/>
                  </a:solidFill>
                  <a:latin typeface="Inter"/>
                  <a:cs typeface="Inter"/>
                </a:rPr>
                <a:t>a year online</a:t>
              </a:r>
              <a:endParaRPr/>
            </a:p>
          </p:txBody>
        </p:sp>
        <p:sp>
          <p:nvSpPr>
            <p:cNvPr id="135" name="Rounded Rectangle 134"/>
            <p:cNvSpPr/>
            <p:nvPr/>
          </p:nvSpPr>
          <p:spPr bwMode="auto">
            <a:xfrm>
              <a:off x="10625328" y="3840480"/>
              <a:ext cx="731520" cy="201168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15875">
              <a:solidFill>
                <a:srgbClr val="FFA300"/>
              </a:solidFill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36" name="TextBox 135"/>
            <p:cNvSpPr txBox="1"/>
            <p:nvPr/>
          </p:nvSpPr>
          <p:spPr bwMode="auto">
            <a:xfrm>
              <a:off x="10625328" y="3840480"/>
              <a:ext cx="731520" cy="20116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defRPr/>
              </a:pPr>
              <a:r>
                <a:rPr lang="en-US" sz="900" b="1">
                  <a:solidFill>
                    <a:srgbClr val="101820"/>
                  </a:solidFill>
                  <a:latin typeface="Inter"/>
                  <a:cs typeface="Inter"/>
                </a:rPr>
                <a:t>estimate</a:t>
              </a:r>
              <a:endParaRPr/>
            </a:p>
          </p:txBody>
        </p:sp>
      </p:grpSp>
      <p:grpSp>
        <p:nvGrpSpPr>
          <p:cNvPr id="1987353531" name="Group 11"/>
          <p:cNvGrpSpPr/>
          <p:nvPr/>
        </p:nvGrpSpPr>
        <p:grpSpPr bwMode="auto">
          <a:xfrm>
            <a:off x="9144000" y="4343400"/>
            <a:ext cx="2322576" cy="905256"/>
            <a:chOff x="9144000" y="4343400"/>
            <a:chExt cx="2322576" cy="905256"/>
          </a:xfrm>
        </p:grpSpPr>
        <p:sp>
          <p:nvSpPr>
            <p:cNvPr id="137" name="Oval 136"/>
            <p:cNvSpPr/>
            <p:nvPr/>
          </p:nvSpPr>
          <p:spPr bwMode="auto">
            <a:xfrm>
              <a:off x="9144000" y="4343400"/>
              <a:ext cx="868680" cy="868680"/>
            </a:xfrm>
            <a:prstGeom prst="ellipse">
              <a:avLst/>
            </a:prstGeom>
            <a:solidFill>
              <a:srgbClr val="DDE5ED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38" name="Pie 137"/>
            <p:cNvSpPr/>
            <p:nvPr/>
          </p:nvSpPr>
          <p:spPr bwMode="auto">
            <a:xfrm>
              <a:off x="9144000" y="4343400"/>
              <a:ext cx="868680" cy="868680"/>
            </a:xfrm>
            <a:prstGeom prst="pie">
              <a:avLst>
                <a:gd name="adj1" fmla="val 16200000"/>
                <a:gd name="adj2" fmla="val 16560000"/>
              </a:avLst>
            </a:prstGeom>
            <a:solidFill>
              <a:srgbClr val="298FC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39" name="TextBox 138"/>
            <p:cNvSpPr txBox="1"/>
            <p:nvPr/>
          </p:nvSpPr>
          <p:spPr bwMode="auto">
            <a:xfrm>
              <a:off x="10195560" y="4462272"/>
              <a:ext cx="1271016" cy="310896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defRPr/>
              </a:pPr>
              <a:r>
                <a:rPr lang="en-US" sz="1800" b="1">
                  <a:solidFill>
                    <a:srgbClr val="298FC2"/>
                  </a:solidFill>
                  <a:latin typeface="Comfortaa"/>
                  <a:cs typeface="Comfortaa"/>
                </a:rPr>
                <a:t>0.4%</a:t>
              </a:r>
              <a:endParaRPr/>
            </a:p>
          </p:txBody>
        </p:sp>
        <p:sp>
          <p:nvSpPr>
            <p:cNvPr id="140" name="TextBox 139"/>
            <p:cNvSpPr txBox="1"/>
            <p:nvPr/>
          </p:nvSpPr>
          <p:spPr bwMode="auto">
            <a:xfrm>
              <a:off x="10195560" y="4791456"/>
              <a:ext cx="1271016" cy="4572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defRPr/>
              </a:pPr>
              <a:r>
                <a:rPr lang="en-US" sz="1100" b="0">
                  <a:solidFill>
                    <a:srgbClr val="5A6672"/>
                  </a:solidFill>
                  <a:latin typeface="Inter"/>
                  <a:cs typeface="Inter"/>
                </a:rPr>
                <a:t>is all we need to break even</a:t>
              </a:r>
              <a:endParaRPr/>
            </a:p>
          </p:txBody>
        </p:sp>
      </p:grpSp>
      <p:grpSp>
        <p:nvGrpSpPr>
          <p:cNvPr id="152875620" name="Group 12"/>
          <p:cNvGrpSpPr/>
          <p:nvPr/>
        </p:nvGrpSpPr>
        <p:grpSpPr bwMode="auto">
          <a:xfrm>
            <a:off x="1389888" y="5925312"/>
            <a:ext cx="10021824" cy="228600"/>
            <a:chOff x="1389888" y="5925312"/>
            <a:chExt cx="10021824" cy="228600"/>
          </a:xfrm>
        </p:grpSpPr>
        <p:sp>
          <p:nvSpPr>
            <p:cNvPr id="141" name="Oval 140"/>
            <p:cNvSpPr/>
            <p:nvPr/>
          </p:nvSpPr>
          <p:spPr bwMode="auto">
            <a:xfrm>
              <a:off x="1389888" y="5961888"/>
              <a:ext cx="146304" cy="146304"/>
            </a:xfrm>
            <a:prstGeom prst="ellipse">
              <a:avLst/>
            </a:prstGeom>
            <a:solidFill>
              <a:srgbClr val="298FC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42" name="TextBox 141"/>
            <p:cNvSpPr txBox="1"/>
            <p:nvPr/>
          </p:nvSpPr>
          <p:spPr bwMode="auto">
            <a:xfrm>
              <a:off x="1627632" y="5925312"/>
              <a:ext cx="2651760" cy="2286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defRPr/>
              </a:pPr>
              <a:r>
                <a:rPr lang="en-US" sz="1200" b="0">
                  <a:solidFill>
                    <a:srgbClr val="101820"/>
                  </a:solidFill>
                  <a:latin typeface="Inter"/>
                  <a:cs typeface="Inter"/>
                </a:rPr>
                <a:t>Launch: Duhok · Semel · Zakho</a:t>
              </a:r>
              <a:endParaRPr/>
            </a:p>
          </p:txBody>
        </p:sp>
        <p:sp>
          <p:nvSpPr>
            <p:cNvPr id="143" name="Oval 142"/>
            <p:cNvSpPr/>
            <p:nvPr/>
          </p:nvSpPr>
          <p:spPr bwMode="auto">
            <a:xfrm>
              <a:off x="5001768" y="5961888"/>
              <a:ext cx="146304" cy="146304"/>
            </a:xfrm>
            <a:prstGeom prst="ellipse">
              <a:avLst/>
            </a:prstGeom>
            <a:solidFill>
              <a:srgbClr val="298FC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44" name="TextBox 143"/>
            <p:cNvSpPr txBox="1"/>
            <p:nvPr/>
          </p:nvSpPr>
          <p:spPr bwMode="auto">
            <a:xfrm>
              <a:off x="5239512" y="5925312"/>
              <a:ext cx="3200400" cy="2286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defRPr/>
              </a:pPr>
              <a:r>
                <a:rPr lang="en-US" sz="1200" b="0">
                  <a:solidFill>
                    <a:srgbClr val="101820"/>
                  </a:solidFill>
                  <a:latin typeface="Inter"/>
                  <a:cs typeface="Inter"/>
                </a:rPr>
                <a:t>Next: Erbil · Mosul · Sulaymaniyah</a:t>
              </a:r>
              <a:endParaRPr/>
            </a:p>
          </p:txBody>
        </p:sp>
        <p:sp>
          <p:nvSpPr>
            <p:cNvPr id="145" name="Oval 144"/>
            <p:cNvSpPr/>
            <p:nvPr/>
          </p:nvSpPr>
          <p:spPr bwMode="auto">
            <a:xfrm>
              <a:off x="9345168" y="5961888"/>
              <a:ext cx="146304" cy="146304"/>
            </a:xfrm>
            <a:prstGeom prst="ellipse">
              <a:avLst/>
            </a:prstGeom>
            <a:solidFill>
              <a:srgbClr val="298FC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46" name="TextBox 145"/>
            <p:cNvSpPr txBox="1"/>
            <p:nvPr/>
          </p:nvSpPr>
          <p:spPr bwMode="auto">
            <a:xfrm>
              <a:off x="9582912" y="5925312"/>
              <a:ext cx="1828800" cy="2286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defRPr/>
              </a:pPr>
              <a:r>
                <a:rPr lang="en-US" sz="1200" b="0">
                  <a:solidFill>
                    <a:srgbClr val="101820"/>
                  </a:solidFill>
                  <a:latin typeface="Inter"/>
                  <a:cs typeface="Inter"/>
                </a:rPr>
                <a:t>Then: all of Iraq</a:t>
              </a:r>
              <a:endParaRPr/>
            </a:p>
          </p:txBody>
        </p:sp>
        <p:cxnSp>
          <p:nvCxnSpPr>
            <p:cNvPr id="147" name="Connector 146"/>
            <p:cNvCxnSpPr/>
            <p:nvPr/>
          </p:nvCxnSpPr>
          <p:spPr bwMode="auto">
            <a:xfrm>
              <a:off x="4206240" y="6035039"/>
              <a:ext cx="777240" cy="0"/>
            </a:xfrm>
            <a:prstGeom prst="line">
              <a:avLst/>
            </a:prstGeom>
            <a:ln w="19050">
              <a:solidFill>
                <a:srgbClr val="A9B1B9"/>
              </a:solidFill>
            </a:ln>
            <a:effectLst/>
          </p:spPr>
        </p:cxnSp>
        <p:cxnSp>
          <p:nvCxnSpPr>
            <p:cNvPr id="148" name="Connector 147"/>
            <p:cNvCxnSpPr/>
            <p:nvPr/>
          </p:nvCxnSpPr>
          <p:spPr bwMode="auto">
            <a:xfrm>
              <a:off x="8321039" y="6035039"/>
              <a:ext cx="1005840" cy="0"/>
            </a:xfrm>
            <a:prstGeom prst="line">
              <a:avLst/>
            </a:prstGeom>
            <a:ln w="19050">
              <a:solidFill>
                <a:srgbClr val="A9B1B9"/>
              </a:solidFill>
            </a:ln>
            <a:effectLst/>
          </p:spPr>
        </p:cxn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fast" p14:dur="500" advClick="1">
        <p:fade thruBlk="0"/>
      </p:transition>
    </mc:Choice>
    <mc:Fallback>
      <p:transition spd="fast" advClick="1">
        <p:fade thruBlk="0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19966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300" fill="hold"/>
                                        <p:tgtEl>
                                          <p:spTgt spid="213199660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300" fill="hold"/>
                                        <p:tgtEl>
                                          <p:spTgt spid="213199660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300"/>
                                        <p:tgtEl>
                                          <p:spTgt spid="21319966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05739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300" fill="hold"/>
                                        <p:tgtEl>
                                          <p:spTgt spid="81057396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300" fill="hold"/>
                                        <p:tgtEl>
                                          <p:spTgt spid="81057396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300"/>
                                        <p:tgtEl>
                                          <p:spTgt spid="8105739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40973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3840973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12657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300" fill="hold"/>
                                        <p:tgtEl>
                                          <p:spTgt spid="38126577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300" fill="hold"/>
                                        <p:tgtEl>
                                          <p:spTgt spid="38126577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300"/>
                                        <p:tgtEl>
                                          <p:spTgt spid="3812657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51215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300" fill="hold"/>
                                        <p:tgtEl>
                                          <p:spTgt spid="4051215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300" fill="hold"/>
                                        <p:tgtEl>
                                          <p:spTgt spid="4051215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300"/>
                                        <p:tgtEl>
                                          <p:spTgt spid="4051215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3419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00"/>
                                        <p:tgtEl>
                                          <p:spTgt spid="2213419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04046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300" fill="hold"/>
                                        <p:tgtEl>
                                          <p:spTgt spid="172040467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300" fill="hold"/>
                                        <p:tgtEl>
                                          <p:spTgt spid="172040467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300"/>
                                        <p:tgtEl>
                                          <p:spTgt spid="17204046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6254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2" dur="300" fill="hold"/>
                                        <p:tgtEl>
                                          <p:spTgt spid="82625427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300" fill="hold"/>
                                        <p:tgtEl>
                                          <p:spTgt spid="82625427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300"/>
                                        <p:tgtEl>
                                          <p:spTgt spid="8262542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300"/>
                            </p:stCondLst>
                            <p:childTnLst>
                              <p:par>
                                <p:cTn id="4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66923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250"/>
                                        <p:tgtEl>
                                          <p:spTgt spid="16866923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04459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250"/>
                                        <p:tgtEl>
                                          <p:spTgt spid="18004459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630"/>
                            </p:stCondLst>
                            <p:childTnLst>
                              <p:par>
                                <p:cTn id="53" presetID="53" presetClass="entr" presetSubtype="16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73535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5" dur="300" fill="hold"/>
                                        <p:tgtEl>
                                          <p:spTgt spid="198735353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300" fill="hold"/>
                                        <p:tgtEl>
                                          <p:spTgt spid="198735353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19873535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8756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1528756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704431048" name="Google Shape;98;p14" title="Center_for_Academic_and_Professional_Advancement.png"/>
          <p:cNvPicPr/>
          <p:nvPr/>
        </p:nvPicPr>
        <p:blipFill rotWithShape="1">
          <a:blip r:embed="rId3">
            <a:alphaModFix/>
          </a:blip>
          <a:stretch/>
        </p:blipFill>
        <p:spPr bwMode="auto">
          <a:xfrm>
            <a:off x="8289593" y="351575"/>
            <a:ext cx="3178502" cy="969349"/>
          </a:xfrm>
          <a:prstGeom prst="rect">
            <a:avLst/>
          </a:prstGeom>
          <a:noFill/>
          <a:ln>
            <a:noFill/>
          </a:ln>
        </p:spPr>
      </p:pic>
      <p:pic>
        <p:nvPicPr>
          <p:cNvPr id="296271952" name="Google Shape;99;p14" title="german cooperation deutsche zusammenarbeit.png"/>
          <p:cNvPicPr/>
          <p:nvPr/>
        </p:nvPicPr>
        <p:blipFill rotWithShape="1">
          <a:blip r:embed="rId4">
            <a:alphaModFix/>
          </a:blip>
          <a:stretch/>
        </p:blipFill>
        <p:spPr bwMode="auto">
          <a:xfrm>
            <a:off x="723900" y="436204"/>
            <a:ext cx="1428202" cy="800089"/>
          </a:xfrm>
          <a:prstGeom prst="rect">
            <a:avLst/>
          </a:prstGeom>
          <a:noFill/>
          <a:ln>
            <a:noFill/>
          </a:ln>
        </p:spPr>
      </p:pic>
      <p:sp>
        <p:nvSpPr>
          <p:cNvPr id="1849291968" name="Rectangle 99"/>
          <p:cNvSpPr/>
          <p:nvPr/>
        </p:nvSpPr>
        <p:spPr bwMode="auto">
          <a:xfrm>
            <a:off x="722376" y="1517904"/>
            <a:ext cx="274320" cy="45720"/>
          </a:xfrm>
          <a:prstGeom prst="rect">
            <a:avLst/>
          </a:prstGeom>
          <a:solidFill>
            <a:srgbClr val="298FC2"/>
          </a:solidFill>
          <a:ln>
            <a:noFill/>
          </a:ln>
          <a:effectLst/>
        </p:spPr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90783761" name="TextBox 100"/>
          <p:cNvSpPr txBox="1"/>
          <p:nvPr/>
        </p:nvSpPr>
        <p:spPr bwMode="auto">
          <a:xfrm>
            <a:off x="1133856" y="1426464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defRPr/>
            </a:pPr>
            <a:r>
              <a:rPr lang="en-US" sz="1300" b="0">
                <a:solidFill>
                  <a:srgbClr val="5A6672"/>
                </a:solidFill>
                <a:latin typeface="Inter"/>
                <a:cs typeface="Inter"/>
              </a:rPr>
              <a:t>Target customers</a:t>
            </a:r>
            <a:endParaRPr/>
          </a:p>
        </p:txBody>
      </p:sp>
      <p:sp>
        <p:nvSpPr>
          <p:cNvPr id="629045507" name="TextBox 101"/>
          <p:cNvSpPr txBox="1"/>
          <p:nvPr/>
        </p:nvSpPr>
        <p:spPr bwMode="auto">
          <a:xfrm>
            <a:off x="722376" y="1700784"/>
            <a:ext cx="10744200" cy="5669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defRPr/>
            </a:pPr>
            <a:r>
              <a:rPr lang="en-US" sz="3000" b="1">
                <a:solidFill>
                  <a:srgbClr val="101820"/>
                </a:solidFill>
                <a:latin typeface="Comfortaa"/>
                <a:cs typeface="Comfortaa"/>
              </a:rPr>
              <a:t>Who we serve.</a:t>
            </a:r>
            <a:endParaRPr/>
          </a:p>
        </p:txBody>
      </p:sp>
      <p:sp>
        <p:nvSpPr>
          <p:cNvPr id="1621058244" name="TextBox 102"/>
          <p:cNvSpPr txBox="1"/>
          <p:nvPr/>
        </p:nvSpPr>
        <p:spPr bwMode="auto">
          <a:xfrm>
            <a:off x="722376" y="6455664"/>
            <a:ext cx="10744200" cy="23774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defRPr/>
            </a:pPr>
            <a:r>
              <a:rPr lang="en-US" sz="900" b="0">
                <a:solidFill>
                  <a:srgbClr val="5A6672"/>
                </a:solidFill>
                <a:latin typeface="Inter"/>
                <a:cs typeface="Inter"/>
              </a:rPr>
              <a:t>Age groups are our targeting plan — the survey did not ask age. Survey: Cheapify market survey, n=199 (179 shoppers, 20 merchants), Sep–Oct 2026.</a:t>
            </a:r>
            <a:endParaRPr/>
          </a:p>
        </p:txBody>
      </p:sp>
      <p:grpSp>
        <p:nvGrpSpPr>
          <p:cNvPr id="1026980004" name="Group 1"/>
          <p:cNvGrpSpPr/>
          <p:nvPr/>
        </p:nvGrpSpPr>
        <p:grpSpPr bwMode="auto">
          <a:xfrm>
            <a:off x="722376" y="2423160"/>
            <a:ext cx="2980944" cy="310896"/>
            <a:chOff x="722376" y="2423160"/>
            <a:chExt cx="2980944" cy="310896"/>
          </a:xfrm>
        </p:grpSpPr>
        <p:sp>
          <p:nvSpPr>
            <p:cNvPr id="104" name="TextBox 103"/>
            <p:cNvSpPr txBox="1"/>
            <p:nvPr/>
          </p:nvSpPr>
          <p:spPr bwMode="auto">
            <a:xfrm>
              <a:off x="722376" y="2423160"/>
              <a:ext cx="1371600" cy="310896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defRPr/>
              </a:pPr>
              <a:r>
                <a:rPr lang="en-US" sz="1600" b="1">
                  <a:solidFill>
                    <a:srgbClr val="101820"/>
                  </a:solidFill>
                  <a:latin typeface="Inter"/>
                  <a:cs typeface="Inter"/>
                </a:rPr>
                <a:t>Shoppers</a:t>
              </a:r>
              <a:endParaRPr/>
            </a:p>
          </p:txBody>
        </p:sp>
        <p:sp>
          <p:nvSpPr>
            <p:cNvPr id="105" name="TextBox 104"/>
            <p:cNvSpPr txBox="1"/>
            <p:nvPr/>
          </p:nvSpPr>
          <p:spPr bwMode="auto">
            <a:xfrm>
              <a:off x="1874520" y="2423160"/>
              <a:ext cx="1828800" cy="310896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defRPr/>
              </a:pPr>
              <a:r>
                <a:rPr lang="en-US" sz="1000" b="0">
                  <a:solidFill>
                    <a:srgbClr val="5A6672"/>
                  </a:solidFill>
                  <a:latin typeface="Inter"/>
                  <a:cs typeface="Inter"/>
                </a:rPr>
                <a:t>target groups</a:t>
              </a:r>
              <a:endParaRPr/>
            </a:p>
          </p:txBody>
        </p:sp>
      </p:grpSp>
      <p:grpSp>
        <p:nvGrpSpPr>
          <p:cNvPr id="472677512" name="Group 2"/>
          <p:cNvGrpSpPr/>
          <p:nvPr/>
        </p:nvGrpSpPr>
        <p:grpSpPr bwMode="auto">
          <a:xfrm>
            <a:off x="960120" y="2926080"/>
            <a:ext cx="1188720" cy="1188720"/>
            <a:chOff x="960120" y="2926080"/>
            <a:chExt cx="1188720" cy="1188720"/>
          </a:xfrm>
        </p:grpSpPr>
        <p:sp>
          <p:nvSpPr>
            <p:cNvPr id="106" name="Oval 105"/>
            <p:cNvSpPr/>
            <p:nvPr/>
          </p:nvSpPr>
          <p:spPr bwMode="auto">
            <a:xfrm>
              <a:off x="960120" y="2926080"/>
              <a:ext cx="1188720" cy="1188720"/>
            </a:xfrm>
            <a:prstGeom prst="ellipse">
              <a:avLst/>
            </a:prstGeom>
            <a:solidFill>
              <a:srgbClr val="E5F2F8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pic>
          <p:nvPicPr>
            <p:cNvPr id="107" name="Picture 106" descr="briefcase_298FC2.png"/>
            <p:cNvPicPr>
              <a:picLocks noChangeAspect="1"/>
            </p:cNvPicPr>
            <p:nvPr/>
          </p:nvPicPr>
          <p:blipFill rotWithShape="1">
            <a:blip r:embed="rId5"/>
            <a:stretch/>
          </p:blipFill>
          <p:spPr bwMode="auto">
            <a:xfrm>
              <a:off x="1280160" y="3246120"/>
              <a:ext cx="548640" cy="548640"/>
            </a:xfrm>
            <a:prstGeom prst="rect">
              <a:avLst/>
            </a:prstGeom>
          </p:spPr>
        </p:pic>
      </p:grpSp>
      <p:grpSp>
        <p:nvGrpSpPr>
          <p:cNvPr id="1600203554" name="Group 3"/>
          <p:cNvGrpSpPr/>
          <p:nvPr/>
        </p:nvGrpSpPr>
        <p:grpSpPr bwMode="auto">
          <a:xfrm>
            <a:off x="685800" y="4224528"/>
            <a:ext cx="1737360" cy="548640"/>
            <a:chOff x="685800" y="4224528"/>
            <a:chExt cx="1737360" cy="548640"/>
          </a:xfrm>
        </p:grpSpPr>
        <p:sp>
          <p:nvSpPr>
            <p:cNvPr id="108" name="Rounded Rectangle 107"/>
            <p:cNvSpPr/>
            <p:nvPr/>
          </p:nvSpPr>
          <p:spPr bwMode="auto">
            <a:xfrm>
              <a:off x="1188720" y="4224528"/>
              <a:ext cx="731520" cy="237744"/>
            </a:xfrm>
            <a:prstGeom prst="roundRect">
              <a:avLst>
                <a:gd name="adj" fmla="val 50000"/>
              </a:avLst>
            </a:prstGeom>
            <a:solidFill>
              <a:srgbClr val="298FC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09" name="TextBox 108"/>
            <p:cNvSpPr txBox="1"/>
            <p:nvPr/>
          </p:nvSpPr>
          <p:spPr bwMode="auto">
            <a:xfrm>
              <a:off x="1188720" y="4224528"/>
              <a:ext cx="731520" cy="23774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defRPr/>
              </a:pPr>
              <a:r>
                <a:rPr lang="en-US" sz="1100" b="1">
                  <a:solidFill>
                    <a:srgbClr val="FFFFFF"/>
                  </a:solidFill>
                  <a:latin typeface="Inter"/>
                  <a:cs typeface="Inter"/>
                </a:rPr>
                <a:t>23–38</a:t>
              </a:r>
              <a:endParaRPr/>
            </a:p>
          </p:txBody>
        </p:sp>
        <p:sp>
          <p:nvSpPr>
            <p:cNvPr id="110" name="TextBox 109"/>
            <p:cNvSpPr txBox="1"/>
            <p:nvPr/>
          </p:nvSpPr>
          <p:spPr bwMode="auto">
            <a:xfrm>
              <a:off x="685800" y="4517136"/>
              <a:ext cx="1737360" cy="25603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defRPr/>
              </a:pPr>
              <a:r>
                <a:rPr lang="en-US" sz="1300" b="1">
                  <a:solidFill>
                    <a:srgbClr val="101820"/>
                  </a:solidFill>
                  <a:latin typeface="Inter"/>
                  <a:cs typeface="Inter"/>
                </a:rPr>
                <a:t>Professionals</a:t>
              </a:r>
              <a:endParaRPr/>
            </a:p>
          </p:txBody>
        </p:sp>
      </p:grpSp>
      <p:grpSp>
        <p:nvGrpSpPr>
          <p:cNvPr id="767151443" name="Group 4"/>
          <p:cNvGrpSpPr/>
          <p:nvPr/>
        </p:nvGrpSpPr>
        <p:grpSpPr bwMode="auto">
          <a:xfrm>
            <a:off x="2834640" y="2926080"/>
            <a:ext cx="1188720" cy="1188720"/>
            <a:chOff x="2834640" y="2926080"/>
            <a:chExt cx="1188720" cy="1188720"/>
          </a:xfrm>
        </p:grpSpPr>
        <p:sp>
          <p:nvSpPr>
            <p:cNvPr id="111" name="Oval 110"/>
            <p:cNvSpPr/>
            <p:nvPr/>
          </p:nvSpPr>
          <p:spPr bwMode="auto">
            <a:xfrm>
              <a:off x="2834640" y="2926080"/>
              <a:ext cx="1188720" cy="1188720"/>
            </a:xfrm>
            <a:prstGeom prst="ellipse">
              <a:avLst/>
            </a:prstGeom>
            <a:solidFill>
              <a:srgbClr val="E5F2F8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pic>
          <p:nvPicPr>
            <p:cNvPr id="112" name="Picture 111" descr="house_298FC2.png"/>
            <p:cNvPicPr>
              <a:picLocks noChangeAspect="1"/>
            </p:cNvPicPr>
            <p:nvPr/>
          </p:nvPicPr>
          <p:blipFill rotWithShape="1">
            <a:blip r:embed="rId6"/>
            <a:stretch/>
          </p:blipFill>
          <p:spPr bwMode="auto">
            <a:xfrm>
              <a:off x="3154680" y="3246120"/>
              <a:ext cx="548640" cy="548640"/>
            </a:xfrm>
            <a:prstGeom prst="rect">
              <a:avLst/>
            </a:prstGeom>
          </p:spPr>
        </p:pic>
      </p:grpSp>
      <p:grpSp>
        <p:nvGrpSpPr>
          <p:cNvPr id="2114575068" name="Group 5"/>
          <p:cNvGrpSpPr/>
          <p:nvPr/>
        </p:nvGrpSpPr>
        <p:grpSpPr bwMode="auto">
          <a:xfrm>
            <a:off x="2560320" y="4224528"/>
            <a:ext cx="1737360" cy="548640"/>
            <a:chOff x="2560320" y="4224528"/>
            <a:chExt cx="1737360" cy="548640"/>
          </a:xfrm>
        </p:grpSpPr>
        <p:sp>
          <p:nvSpPr>
            <p:cNvPr id="113" name="Rounded Rectangle 112"/>
            <p:cNvSpPr/>
            <p:nvPr/>
          </p:nvSpPr>
          <p:spPr bwMode="auto">
            <a:xfrm>
              <a:off x="3063240" y="4224528"/>
              <a:ext cx="731520" cy="237744"/>
            </a:xfrm>
            <a:prstGeom prst="roundRect">
              <a:avLst>
                <a:gd name="adj" fmla="val 50000"/>
              </a:avLst>
            </a:prstGeom>
            <a:solidFill>
              <a:srgbClr val="298FC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14" name="TextBox 113"/>
            <p:cNvSpPr txBox="1"/>
            <p:nvPr/>
          </p:nvSpPr>
          <p:spPr bwMode="auto">
            <a:xfrm>
              <a:off x="3063240" y="4224528"/>
              <a:ext cx="731520" cy="23774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defRPr/>
              </a:pPr>
              <a:r>
                <a:rPr lang="en-US" sz="1100" b="1">
                  <a:solidFill>
                    <a:srgbClr val="FFFFFF"/>
                  </a:solidFill>
                  <a:latin typeface="Inter"/>
                  <a:cs typeface="Inter"/>
                </a:rPr>
                <a:t>26–48</a:t>
              </a:r>
              <a:endParaRPr/>
            </a:p>
          </p:txBody>
        </p:sp>
        <p:sp>
          <p:nvSpPr>
            <p:cNvPr id="115" name="TextBox 114"/>
            <p:cNvSpPr txBox="1"/>
            <p:nvPr/>
          </p:nvSpPr>
          <p:spPr bwMode="auto">
            <a:xfrm>
              <a:off x="2560320" y="4517136"/>
              <a:ext cx="1737360" cy="25603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defRPr/>
              </a:pPr>
              <a:r>
                <a:rPr lang="en-US" sz="1300" b="1">
                  <a:solidFill>
                    <a:srgbClr val="101820"/>
                  </a:solidFill>
                  <a:latin typeface="Inter"/>
                  <a:cs typeface="Inter"/>
                </a:rPr>
                <a:t>Families</a:t>
              </a:r>
              <a:endParaRPr/>
            </a:p>
          </p:txBody>
        </p:sp>
      </p:grpSp>
      <p:grpSp>
        <p:nvGrpSpPr>
          <p:cNvPr id="1429704887" name="Group 6"/>
          <p:cNvGrpSpPr/>
          <p:nvPr/>
        </p:nvGrpSpPr>
        <p:grpSpPr bwMode="auto">
          <a:xfrm>
            <a:off x="4709160" y="2926080"/>
            <a:ext cx="1188720" cy="1188720"/>
            <a:chOff x="4709160" y="2926080"/>
            <a:chExt cx="1188720" cy="1188720"/>
          </a:xfrm>
        </p:grpSpPr>
        <p:sp>
          <p:nvSpPr>
            <p:cNvPr id="116" name="Oval 115"/>
            <p:cNvSpPr/>
            <p:nvPr/>
          </p:nvSpPr>
          <p:spPr bwMode="auto">
            <a:xfrm>
              <a:off x="4709160" y="2926080"/>
              <a:ext cx="1188720" cy="1188720"/>
            </a:xfrm>
            <a:prstGeom prst="ellipse">
              <a:avLst/>
            </a:prstGeom>
            <a:solidFill>
              <a:srgbClr val="E5F2F8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pic>
          <p:nvPicPr>
            <p:cNvPr id="117" name="Picture 116" descr="graduation-cap_298FC2.png"/>
            <p:cNvPicPr>
              <a:picLocks noChangeAspect="1"/>
            </p:cNvPicPr>
            <p:nvPr/>
          </p:nvPicPr>
          <p:blipFill rotWithShape="1">
            <a:blip r:embed="rId7"/>
            <a:stretch/>
          </p:blipFill>
          <p:spPr bwMode="auto">
            <a:xfrm>
              <a:off x="5029200" y="3246120"/>
              <a:ext cx="548640" cy="548640"/>
            </a:xfrm>
            <a:prstGeom prst="rect">
              <a:avLst/>
            </a:prstGeom>
          </p:spPr>
        </p:pic>
      </p:grpSp>
      <p:grpSp>
        <p:nvGrpSpPr>
          <p:cNvPr id="820590531" name="Group 7"/>
          <p:cNvGrpSpPr/>
          <p:nvPr/>
        </p:nvGrpSpPr>
        <p:grpSpPr bwMode="auto">
          <a:xfrm>
            <a:off x="4434840" y="4224528"/>
            <a:ext cx="1737360" cy="548640"/>
            <a:chOff x="4434840" y="4224528"/>
            <a:chExt cx="1737360" cy="548640"/>
          </a:xfrm>
        </p:grpSpPr>
        <p:sp>
          <p:nvSpPr>
            <p:cNvPr id="118" name="Rounded Rectangle 117"/>
            <p:cNvSpPr/>
            <p:nvPr/>
          </p:nvSpPr>
          <p:spPr bwMode="auto">
            <a:xfrm>
              <a:off x="4937760" y="4224528"/>
              <a:ext cx="731520" cy="237744"/>
            </a:xfrm>
            <a:prstGeom prst="roundRect">
              <a:avLst>
                <a:gd name="adj" fmla="val 50000"/>
              </a:avLst>
            </a:prstGeom>
            <a:solidFill>
              <a:srgbClr val="298FC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19" name="TextBox 118"/>
            <p:cNvSpPr txBox="1"/>
            <p:nvPr/>
          </p:nvSpPr>
          <p:spPr bwMode="auto">
            <a:xfrm>
              <a:off x="4937760" y="4224528"/>
              <a:ext cx="731520" cy="23774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defRPr/>
              </a:pPr>
              <a:r>
                <a:rPr lang="en-US" sz="1100" b="1">
                  <a:solidFill>
                    <a:srgbClr val="FFFFFF"/>
                  </a:solidFill>
                  <a:latin typeface="Inter"/>
                  <a:cs typeface="Inter"/>
                </a:rPr>
                <a:t>18–24</a:t>
              </a:r>
              <a:endParaRPr/>
            </a:p>
          </p:txBody>
        </p:sp>
        <p:sp>
          <p:nvSpPr>
            <p:cNvPr id="120" name="TextBox 119"/>
            <p:cNvSpPr txBox="1"/>
            <p:nvPr/>
          </p:nvSpPr>
          <p:spPr bwMode="auto">
            <a:xfrm>
              <a:off x="4434840" y="4517136"/>
              <a:ext cx="1737360" cy="25603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defRPr/>
              </a:pPr>
              <a:r>
                <a:rPr lang="en-US" sz="1300" b="1">
                  <a:solidFill>
                    <a:srgbClr val="101820"/>
                  </a:solidFill>
                  <a:latin typeface="Inter"/>
                  <a:cs typeface="Inter"/>
                </a:rPr>
                <a:t>Students</a:t>
              </a:r>
              <a:endParaRPr/>
            </a:p>
          </p:txBody>
        </p:sp>
      </p:grpSp>
      <p:grpSp>
        <p:nvGrpSpPr>
          <p:cNvPr id="1052031958" name="Group 8"/>
          <p:cNvGrpSpPr/>
          <p:nvPr/>
        </p:nvGrpSpPr>
        <p:grpSpPr bwMode="auto">
          <a:xfrm>
            <a:off x="1531620" y="4960620"/>
            <a:ext cx="4091940" cy="1143000"/>
            <a:chOff x="1531620" y="4960620"/>
            <a:chExt cx="4091940" cy="1143000"/>
          </a:xfrm>
        </p:grpSpPr>
        <p:sp>
          <p:nvSpPr>
            <p:cNvPr id="121" name="Donut 120"/>
            <p:cNvSpPr/>
            <p:nvPr/>
          </p:nvSpPr>
          <p:spPr bwMode="auto">
            <a:xfrm>
              <a:off x="1531620" y="4960620"/>
              <a:ext cx="1143000" cy="1143000"/>
            </a:xfrm>
            <a:prstGeom prst="donut">
              <a:avLst>
                <a:gd name="adj" fmla="val 11200"/>
              </a:avLst>
            </a:prstGeom>
            <a:solidFill>
              <a:srgbClr val="DDE5ED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22" name="Block Arc 121"/>
            <p:cNvSpPr/>
            <p:nvPr/>
          </p:nvSpPr>
          <p:spPr bwMode="auto">
            <a:xfrm>
              <a:off x="1531620" y="4960620"/>
              <a:ext cx="1143000" cy="1143000"/>
            </a:xfrm>
            <a:prstGeom prst="blockArc">
              <a:avLst>
                <a:gd name="adj1" fmla="val 16200000"/>
                <a:gd name="adj2" fmla="val 13607999"/>
                <a:gd name="adj3" fmla="val 11200"/>
              </a:avLst>
            </a:prstGeom>
            <a:solidFill>
              <a:srgbClr val="298FC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23" name="TextBox 122"/>
            <p:cNvSpPr txBox="1"/>
            <p:nvPr/>
          </p:nvSpPr>
          <p:spPr bwMode="auto">
            <a:xfrm>
              <a:off x="1554480" y="5303520"/>
              <a:ext cx="1097280" cy="4572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defRPr/>
              </a:pPr>
              <a:r>
                <a:rPr lang="en-US" sz="2000" b="1">
                  <a:solidFill>
                    <a:srgbClr val="101820"/>
                  </a:solidFill>
                  <a:latin typeface="Comfortaa"/>
                  <a:cs typeface="Comfortaa"/>
                </a:rPr>
                <a:t>88%</a:t>
              </a:r>
              <a:endParaRPr/>
            </a:p>
          </p:txBody>
        </p:sp>
        <p:sp>
          <p:nvSpPr>
            <p:cNvPr id="124" name="TextBox 123"/>
            <p:cNvSpPr txBox="1"/>
            <p:nvPr/>
          </p:nvSpPr>
          <p:spPr bwMode="auto">
            <a:xfrm>
              <a:off x="2880360" y="5321808"/>
              <a:ext cx="2743200" cy="25603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defRPr/>
              </a:pPr>
              <a:r>
                <a:rPr lang="en-US" sz="1300" b="1">
                  <a:solidFill>
                    <a:srgbClr val="101820"/>
                  </a:solidFill>
                  <a:latin typeface="Inter"/>
                  <a:cs typeface="Inter"/>
                </a:rPr>
                <a:t>would use it</a:t>
              </a:r>
              <a:endParaRPr/>
            </a:p>
          </p:txBody>
        </p:sp>
        <p:sp>
          <p:nvSpPr>
            <p:cNvPr id="125" name="TextBox 124"/>
            <p:cNvSpPr txBox="1"/>
            <p:nvPr/>
          </p:nvSpPr>
          <p:spPr bwMode="auto">
            <a:xfrm>
              <a:off x="2880360" y="5596128"/>
              <a:ext cx="2743200" cy="20116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defRPr/>
              </a:pPr>
              <a:r>
                <a:rPr lang="en-US" sz="1000" b="0">
                  <a:solidFill>
                    <a:srgbClr val="5A6672"/>
                  </a:solidFill>
                  <a:latin typeface="Inter"/>
                  <a:cs typeface="Inter"/>
                </a:rPr>
                <a:t>179 surveyed shoppers</a:t>
              </a:r>
              <a:endParaRPr/>
            </a:p>
          </p:txBody>
        </p:sp>
      </p:grpSp>
      <p:grpSp>
        <p:nvGrpSpPr>
          <p:cNvPr id="962109198" name="Group 9"/>
          <p:cNvGrpSpPr/>
          <p:nvPr/>
        </p:nvGrpSpPr>
        <p:grpSpPr bwMode="auto">
          <a:xfrm>
            <a:off x="6949440" y="2423160"/>
            <a:ext cx="2286000" cy="310896"/>
            <a:chOff x="6949440" y="2423160"/>
            <a:chExt cx="2286000" cy="310896"/>
          </a:xfrm>
        </p:grpSpPr>
        <p:sp>
          <p:nvSpPr>
            <p:cNvPr id="126" name="TextBox 125"/>
            <p:cNvSpPr txBox="1"/>
            <p:nvPr/>
          </p:nvSpPr>
          <p:spPr bwMode="auto">
            <a:xfrm>
              <a:off x="6949440" y="2423160"/>
              <a:ext cx="2286000" cy="310896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defRPr/>
              </a:pPr>
              <a:r>
                <a:rPr lang="en-US" sz="1600" b="1">
                  <a:solidFill>
                    <a:srgbClr val="101820"/>
                  </a:solidFill>
                  <a:latin typeface="Inter"/>
                  <a:cs typeface="Inter"/>
                </a:rPr>
                <a:t>Merchants</a:t>
              </a:r>
              <a:endParaRPr/>
            </a:p>
          </p:txBody>
        </p:sp>
      </p:grpSp>
      <p:grpSp>
        <p:nvGrpSpPr>
          <p:cNvPr id="367267905" name="Group 10"/>
          <p:cNvGrpSpPr/>
          <p:nvPr/>
        </p:nvGrpSpPr>
        <p:grpSpPr bwMode="auto">
          <a:xfrm>
            <a:off x="6949440" y="2834640"/>
            <a:ext cx="1691640" cy="3246120"/>
            <a:chOff x="6949440" y="2834640"/>
            <a:chExt cx="1691640" cy="3246120"/>
          </a:xfrm>
        </p:grpSpPr>
        <p:sp>
          <p:nvSpPr>
            <p:cNvPr id="127" name="Rounded Rectangle 126"/>
            <p:cNvSpPr/>
            <p:nvPr/>
          </p:nvSpPr>
          <p:spPr bwMode="auto">
            <a:xfrm>
              <a:off x="6949440" y="2834640"/>
              <a:ext cx="1691640" cy="3246120"/>
            </a:xfrm>
            <a:prstGeom prst="roundRect">
              <a:avLst>
                <a:gd name="adj" fmla="val 11891"/>
              </a:avLst>
            </a:prstGeom>
            <a:solidFill>
              <a:srgbClr val="101820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28" name="Rounded Rectangle 127"/>
            <p:cNvSpPr/>
            <p:nvPr/>
          </p:nvSpPr>
          <p:spPr bwMode="auto">
            <a:xfrm>
              <a:off x="7013448" y="2898648"/>
              <a:ext cx="1563624" cy="3118104"/>
            </a:xfrm>
            <a:prstGeom prst="roundRect">
              <a:avLst>
                <a:gd name="adj" fmla="val 9941"/>
              </a:avLst>
            </a:prstGeom>
            <a:solidFill>
              <a:srgbClr val="FFFFF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29" name="Oval 128"/>
            <p:cNvSpPr/>
            <p:nvPr/>
          </p:nvSpPr>
          <p:spPr bwMode="auto">
            <a:xfrm>
              <a:off x="7077456" y="3054096"/>
              <a:ext cx="384048" cy="384048"/>
            </a:xfrm>
            <a:prstGeom prst="ellipse">
              <a:avLst/>
            </a:prstGeom>
            <a:solidFill>
              <a:srgbClr val="E5F2F8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pic>
          <p:nvPicPr>
            <p:cNvPr id="130" name="Picture 129" descr="store_298FC2.png"/>
            <p:cNvPicPr>
              <a:picLocks noChangeAspect="1"/>
            </p:cNvPicPr>
            <p:nvPr/>
          </p:nvPicPr>
          <p:blipFill rotWithShape="1">
            <a:blip r:embed="rId8"/>
            <a:stretch/>
          </p:blipFill>
          <p:spPr bwMode="auto">
            <a:xfrm>
              <a:off x="7159752" y="3136392"/>
              <a:ext cx="219456" cy="219456"/>
            </a:xfrm>
            <a:prstGeom prst="rect">
              <a:avLst/>
            </a:prstGeom>
          </p:spPr>
        </p:pic>
        <p:sp>
          <p:nvSpPr>
            <p:cNvPr id="131" name="TextBox 130"/>
            <p:cNvSpPr txBox="1"/>
            <p:nvPr/>
          </p:nvSpPr>
          <p:spPr bwMode="auto">
            <a:xfrm>
              <a:off x="7534656" y="3090672"/>
              <a:ext cx="1005840" cy="18288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defRPr/>
              </a:pPr>
              <a:r>
                <a:rPr lang="en-US" sz="950" b="1">
                  <a:solidFill>
                    <a:srgbClr val="101820"/>
                  </a:solidFill>
                  <a:latin typeface="Inter"/>
                  <a:cs typeface="Inter"/>
                </a:rPr>
                <a:t>Your shop</a:t>
              </a:r>
              <a:endParaRPr/>
            </a:p>
          </p:txBody>
        </p:sp>
        <p:sp>
          <p:nvSpPr>
            <p:cNvPr id="132" name="TextBox 131"/>
            <p:cNvSpPr txBox="1"/>
            <p:nvPr/>
          </p:nvSpPr>
          <p:spPr bwMode="auto">
            <a:xfrm>
              <a:off x="7534656" y="3273552"/>
              <a:ext cx="1005840" cy="16459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defRPr/>
              </a:pPr>
              <a:r>
                <a:rPr lang="en-US" sz="800" b="0">
                  <a:solidFill>
                    <a:srgbClr val="5A6672"/>
                  </a:solidFill>
                  <a:latin typeface="Inter"/>
                  <a:cs typeface="Inter"/>
                </a:rPr>
                <a:t>12.4k followers</a:t>
              </a:r>
              <a:endParaRPr/>
            </a:p>
          </p:txBody>
        </p:sp>
        <p:sp>
          <p:nvSpPr>
            <p:cNvPr id="133" name="Rounded Rectangle 132"/>
            <p:cNvSpPr/>
            <p:nvPr/>
          </p:nvSpPr>
          <p:spPr bwMode="auto">
            <a:xfrm>
              <a:off x="7068312" y="3602735"/>
              <a:ext cx="512064" cy="182880"/>
            </a:xfrm>
            <a:prstGeom prst="roundRect">
              <a:avLst>
                <a:gd name="adj" fmla="val 50000"/>
              </a:avLst>
            </a:prstGeom>
            <a:solidFill>
              <a:srgbClr val="E5F2F8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34" name="TextBox 133"/>
            <p:cNvSpPr txBox="1"/>
            <p:nvPr/>
          </p:nvSpPr>
          <p:spPr bwMode="auto">
            <a:xfrm>
              <a:off x="7068312" y="3602735"/>
              <a:ext cx="512064" cy="18288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defRPr/>
              </a:pPr>
              <a:r>
                <a:rPr lang="en-US" sz="700" b="1">
                  <a:solidFill>
                    <a:srgbClr val="101820"/>
                  </a:solidFill>
                  <a:latin typeface="Inter"/>
                  <a:cs typeface="Inter"/>
                </a:rPr>
                <a:t>Instagram</a:t>
              </a:r>
              <a:endParaRPr sz="1200"/>
            </a:p>
          </p:txBody>
        </p:sp>
        <p:sp>
          <p:nvSpPr>
            <p:cNvPr id="135" name="Rounded Rectangle 134"/>
            <p:cNvSpPr/>
            <p:nvPr/>
          </p:nvSpPr>
          <p:spPr bwMode="auto">
            <a:xfrm>
              <a:off x="7598664" y="3602735"/>
              <a:ext cx="530352" cy="182880"/>
            </a:xfrm>
            <a:prstGeom prst="roundRect">
              <a:avLst>
                <a:gd name="adj" fmla="val 50000"/>
              </a:avLst>
            </a:prstGeom>
            <a:solidFill>
              <a:srgbClr val="E5F2F8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36" name="TextBox 135"/>
            <p:cNvSpPr txBox="1"/>
            <p:nvPr/>
          </p:nvSpPr>
          <p:spPr bwMode="auto">
            <a:xfrm>
              <a:off x="7598664" y="3602735"/>
              <a:ext cx="530352" cy="18288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defRPr/>
              </a:pPr>
              <a:r>
                <a:rPr lang="en-US" sz="700" b="1">
                  <a:solidFill>
                    <a:srgbClr val="101820"/>
                  </a:solidFill>
                  <a:latin typeface="Inter"/>
                  <a:cs typeface="Inter"/>
                </a:rPr>
                <a:t>Facebook</a:t>
              </a:r>
              <a:endParaRPr sz="1200"/>
            </a:p>
          </p:txBody>
        </p:sp>
        <p:sp>
          <p:nvSpPr>
            <p:cNvPr id="137" name="Rounded Rectangle 136"/>
            <p:cNvSpPr/>
            <p:nvPr/>
          </p:nvSpPr>
          <p:spPr bwMode="auto">
            <a:xfrm>
              <a:off x="8147304" y="3602735"/>
              <a:ext cx="365760" cy="182880"/>
            </a:xfrm>
            <a:prstGeom prst="roundRect">
              <a:avLst>
                <a:gd name="adj" fmla="val 50000"/>
              </a:avLst>
            </a:prstGeom>
            <a:solidFill>
              <a:srgbClr val="E5F2F8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38" name="TextBox 137"/>
            <p:cNvSpPr txBox="1"/>
            <p:nvPr/>
          </p:nvSpPr>
          <p:spPr bwMode="auto">
            <a:xfrm>
              <a:off x="8147304" y="3602735"/>
              <a:ext cx="365760" cy="18288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defRPr/>
              </a:pPr>
              <a:r>
                <a:rPr lang="en-US" sz="700" b="1">
                  <a:solidFill>
                    <a:srgbClr val="101820"/>
                  </a:solidFill>
                  <a:latin typeface="Inter"/>
                  <a:cs typeface="Inter"/>
                </a:rPr>
                <a:t>TikTok</a:t>
              </a:r>
              <a:endParaRPr sz="1200"/>
            </a:p>
          </p:txBody>
        </p:sp>
        <p:sp>
          <p:nvSpPr>
            <p:cNvPr id="139" name="Rounded Rectangle 138"/>
            <p:cNvSpPr/>
            <p:nvPr/>
          </p:nvSpPr>
          <p:spPr bwMode="auto">
            <a:xfrm>
              <a:off x="7086600" y="3931920"/>
              <a:ext cx="676656" cy="585216"/>
            </a:xfrm>
            <a:prstGeom prst="roundRect">
              <a:avLst>
                <a:gd name="adj" fmla="val 12500"/>
              </a:avLst>
            </a:prstGeom>
            <a:solidFill>
              <a:srgbClr val="DDE5ED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40" name="Rounded Rectangle 139"/>
            <p:cNvSpPr/>
            <p:nvPr/>
          </p:nvSpPr>
          <p:spPr bwMode="auto">
            <a:xfrm>
              <a:off x="7818120" y="3931920"/>
              <a:ext cx="676656" cy="585216"/>
            </a:xfrm>
            <a:prstGeom prst="roundRect">
              <a:avLst>
                <a:gd name="adj" fmla="val 12500"/>
              </a:avLst>
            </a:prstGeom>
            <a:solidFill>
              <a:srgbClr val="DDE5ED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41" name="Rounded Rectangle 140"/>
            <p:cNvSpPr/>
            <p:nvPr/>
          </p:nvSpPr>
          <p:spPr bwMode="auto">
            <a:xfrm>
              <a:off x="7086600" y="4608576"/>
              <a:ext cx="676656" cy="585216"/>
            </a:xfrm>
            <a:prstGeom prst="roundRect">
              <a:avLst>
                <a:gd name="adj" fmla="val 12500"/>
              </a:avLst>
            </a:prstGeom>
            <a:solidFill>
              <a:srgbClr val="DDE5ED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42" name="Rounded Rectangle 141"/>
            <p:cNvSpPr/>
            <p:nvPr/>
          </p:nvSpPr>
          <p:spPr bwMode="auto">
            <a:xfrm>
              <a:off x="7818120" y="4608576"/>
              <a:ext cx="676656" cy="585216"/>
            </a:xfrm>
            <a:prstGeom prst="roundRect">
              <a:avLst>
                <a:gd name="adj" fmla="val 12500"/>
              </a:avLst>
            </a:prstGeom>
            <a:solidFill>
              <a:srgbClr val="DDE5ED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43" name="Rounded Rectangle 142"/>
            <p:cNvSpPr/>
            <p:nvPr/>
          </p:nvSpPr>
          <p:spPr bwMode="auto">
            <a:xfrm>
              <a:off x="7086600" y="5285232"/>
              <a:ext cx="676656" cy="585216"/>
            </a:xfrm>
            <a:prstGeom prst="roundRect">
              <a:avLst>
                <a:gd name="adj" fmla="val 12500"/>
              </a:avLst>
            </a:prstGeom>
            <a:solidFill>
              <a:srgbClr val="DDE5ED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44" name="Rounded Rectangle 143"/>
            <p:cNvSpPr/>
            <p:nvPr/>
          </p:nvSpPr>
          <p:spPr bwMode="auto">
            <a:xfrm>
              <a:off x="7818120" y="5285232"/>
              <a:ext cx="676656" cy="585216"/>
            </a:xfrm>
            <a:prstGeom prst="roundRect">
              <a:avLst>
                <a:gd name="adj" fmla="val 12500"/>
              </a:avLst>
            </a:prstGeom>
            <a:solidFill>
              <a:srgbClr val="DDE5ED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</p:grpSp>
      <p:grpSp>
        <p:nvGrpSpPr>
          <p:cNvPr id="901549493" name="Group 11"/>
          <p:cNvGrpSpPr/>
          <p:nvPr/>
        </p:nvGrpSpPr>
        <p:grpSpPr bwMode="auto">
          <a:xfrm>
            <a:off x="8961120" y="2907792"/>
            <a:ext cx="2523744" cy="365760"/>
            <a:chOff x="8961120" y="2907792"/>
            <a:chExt cx="2523744" cy="365760"/>
          </a:xfrm>
        </p:grpSpPr>
        <p:pic>
          <p:nvPicPr>
            <p:cNvPr id="145" name="Picture 144" descr="users_298FC2.png"/>
            <p:cNvPicPr>
              <a:picLocks noChangeAspect="1"/>
            </p:cNvPicPr>
            <p:nvPr/>
          </p:nvPicPr>
          <p:blipFill rotWithShape="1">
            <a:blip r:embed="rId9"/>
            <a:stretch/>
          </p:blipFill>
          <p:spPr bwMode="auto">
            <a:xfrm>
              <a:off x="8961120" y="2926080"/>
              <a:ext cx="329184" cy="329184"/>
            </a:xfrm>
            <a:prstGeom prst="rect">
              <a:avLst/>
            </a:prstGeom>
          </p:spPr>
        </p:pic>
        <p:sp>
          <p:nvSpPr>
            <p:cNvPr id="146" name="TextBox 145"/>
            <p:cNvSpPr txBox="1"/>
            <p:nvPr/>
          </p:nvSpPr>
          <p:spPr bwMode="auto">
            <a:xfrm>
              <a:off x="9381744" y="2907792"/>
              <a:ext cx="2103120" cy="3657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defRPr/>
              </a:pPr>
              <a:r>
                <a:rPr lang="en-US" sz="1300" b="1">
                  <a:solidFill>
                    <a:srgbClr val="101820"/>
                  </a:solidFill>
                  <a:latin typeface="Inter"/>
                  <a:cs typeface="Inter"/>
                </a:rPr>
                <a:t>1.5k–50k followers</a:t>
              </a:r>
              <a:endParaRPr/>
            </a:p>
          </p:txBody>
        </p:sp>
      </p:grpSp>
      <p:grpSp>
        <p:nvGrpSpPr>
          <p:cNvPr id="235653852" name="Group 12"/>
          <p:cNvGrpSpPr/>
          <p:nvPr/>
        </p:nvGrpSpPr>
        <p:grpSpPr bwMode="auto">
          <a:xfrm>
            <a:off x="8961120" y="3410712"/>
            <a:ext cx="2523744" cy="365760"/>
            <a:chOff x="8961120" y="3410712"/>
            <a:chExt cx="2523744" cy="365760"/>
          </a:xfrm>
        </p:grpSpPr>
        <p:pic>
          <p:nvPicPr>
            <p:cNvPr id="147" name="Picture 146" descr="package_298FC2.png"/>
            <p:cNvPicPr>
              <a:picLocks noChangeAspect="1"/>
            </p:cNvPicPr>
            <p:nvPr/>
          </p:nvPicPr>
          <p:blipFill rotWithShape="1">
            <a:blip r:embed="rId10"/>
            <a:stretch/>
          </p:blipFill>
          <p:spPr bwMode="auto">
            <a:xfrm>
              <a:off x="8961120" y="3429000"/>
              <a:ext cx="329184" cy="329184"/>
            </a:xfrm>
            <a:prstGeom prst="rect">
              <a:avLst/>
            </a:prstGeom>
          </p:spPr>
        </p:pic>
        <p:sp>
          <p:nvSpPr>
            <p:cNvPr id="148" name="TextBox 147"/>
            <p:cNvSpPr txBox="1"/>
            <p:nvPr/>
          </p:nvSpPr>
          <p:spPr bwMode="auto">
            <a:xfrm>
              <a:off x="9381744" y="3410712"/>
              <a:ext cx="2103120" cy="3657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defRPr/>
              </a:pPr>
              <a:r>
                <a:rPr lang="en-US" sz="1300" b="1">
                  <a:solidFill>
                    <a:srgbClr val="101820"/>
                  </a:solidFill>
                  <a:latin typeface="Inter"/>
                  <a:cs typeface="Inter"/>
                </a:rPr>
                <a:t>20–150 products</a:t>
              </a:r>
              <a:endParaRPr/>
            </a:p>
          </p:txBody>
        </p:sp>
      </p:grpSp>
      <p:grpSp>
        <p:nvGrpSpPr>
          <p:cNvPr id="435947166" name="Group 13"/>
          <p:cNvGrpSpPr/>
          <p:nvPr/>
        </p:nvGrpSpPr>
        <p:grpSpPr bwMode="auto">
          <a:xfrm>
            <a:off x="8778240" y="4411980"/>
            <a:ext cx="1371600" cy="1248156"/>
            <a:chOff x="8778240" y="4411980"/>
            <a:chExt cx="1371600" cy="1248156"/>
          </a:xfrm>
        </p:grpSpPr>
        <p:sp>
          <p:nvSpPr>
            <p:cNvPr id="149" name="Donut 148"/>
            <p:cNvSpPr/>
            <p:nvPr/>
          </p:nvSpPr>
          <p:spPr bwMode="auto">
            <a:xfrm>
              <a:off x="8983980" y="4411980"/>
              <a:ext cx="960120" cy="960120"/>
            </a:xfrm>
            <a:prstGeom prst="donut">
              <a:avLst>
                <a:gd name="adj" fmla="val 11428"/>
              </a:avLst>
            </a:prstGeom>
            <a:solidFill>
              <a:srgbClr val="DDE5ED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50" name="Block Arc 149"/>
            <p:cNvSpPr/>
            <p:nvPr/>
          </p:nvSpPr>
          <p:spPr bwMode="auto">
            <a:xfrm>
              <a:off x="8983980" y="4411980"/>
              <a:ext cx="960120" cy="960120"/>
            </a:xfrm>
            <a:prstGeom prst="blockArc">
              <a:avLst>
                <a:gd name="adj1" fmla="val 16200000"/>
                <a:gd name="adj2" fmla="val 12960000"/>
                <a:gd name="adj3" fmla="val 11428"/>
              </a:avLst>
            </a:prstGeom>
            <a:solidFill>
              <a:srgbClr val="298FC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51" name="TextBox 150"/>
            <p:cNvSpPr txBox="1"/>
            <p:nvPr/>
          </p:nvSpPr>
          <p:spPr bwMode="auto">
            <a:xfrm>
              <a:off x="9052560" y="4709160"/>
              <a:ext cx="822960" cy="3657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defRPr/>
              </a:pPr>
              <a:r>
                <a:rPr lang="en-US" sz="1600" b="1">
                  <a:solidFill>
                    <a:srgbClr val="101820"/>
                  </a:solidFill>
                  <a:latin typeface="Comfortaa"/>
                  <a:cs typeface="Comfortaa"/>
                </a:rPr>
                <a:t>85%</a:t>
              </a:r>
              <a:endParaRPr/>
            </a:p>
          </p:txBody>
        </p:sp>
        <p:sp>
          <p:nvSpPr>
            <p:cNvPr id="152" name="TextBox 151"/>
            <p:cNvSpPr txBox="1"/>
            <p:nvPr/>
          </p:nvSpPr>
          <p:spPr bwMode="auto">
            <a:xfrm>
              <a:off x="8778240" y="5440680"/>
              <a:ext cx="1371600" cy="219456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defRPr/>
              </a:pPr>
              <a:r>
                <a:rPr lang="en-US" sz="1100" b="0">
                  <a:solidFill>
                    <a:srgbClr val="101820"/>
                  </a:solidFill>
                  <a:latin typeface="Inter"/>
                  <a:cs typeface="Inter"/>
                </a:rPr>
                <a:t>sell on IG / FB</a:t>
              </a:r>
              <a:endParaRPr/>
            </a:p>
          </p:txBody>
        </p:sp>
      </p:grpSp>
      <p:grpSp>
        <p:nvGrpSpPr>
          <p:cNvPr id="1288741321" name="Group 14"/>
          <p:cNvGrpSpPr/>
          <p:nvPr/>
        </p:nvGrpSpPr>
        <p:grpSpPr bwMode="auto">
          <a:xfrm>
            <a:off x="10149840" y="4411980"/>
            <a:ext cx="1371600" cy="1248156"/>
            <a:chOff x="10149840" y="4411980"/>
            <a:chExt cx="1371600" cy="1248156"/>
          </a:xfrm>
        </p:grpSpPr>
        <p:sp>
          <p:nvSpPr>
            <p:cNvPr id="153" name="Donut 152"/>
            <p:cNvSpPr/>
            <p:nvPr/>
          </p:nvSpPr>
          <p:spPr bwMode="auto">
            <a:xfrm>
              <a:off x="10355579" y="4411980"/>
              <a:ext cx="960120" cy="960120"/>
            </a:xfrm>
            <a:prstGeom prst="donut">
              <a:avLst>
                <a:gd name="adj" fmla="val 11428"/>
              </a:avLst>
            </a:prstGeom>
            <a:solidFill>
              <a:srgbClr val="DDE5ED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54" name="Block Arc 153"/>
            <p:cNvSpPr/>
            <p:nvPr/>
          </p:nvSpPr>
          <p:spPr bwMode="auto">
            <a:xfrm>
              <a:off x="10355579" y="4411980"/>
              <a:ext cx="960120" cy="960120"/>
            </a:xfrm>
            <a:prstGeom prst="blockArc">
              <a:avLst>
                <a:gd name="adj1" fmla="val 16200000"/>
                <a:gd name="adj2" fmla="val 10800000"/>
                <a:gd name="adj3" fmla="val 11428"/>
              </a:avLst>
            </a:prstGeom>
            <a:solidFill>
              <a:srgbClr val="298FC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55" name="TextBox 154"/>
            <p:cNvSpPr txBox="1"/>
            <p:nvPr/>
          </p:nvSpPr>
          <p:spPr bwMode="auto">
            <a:xfrm>
              <a:off x="10424160" y="4709160"/>
              <a:ext cx="822960" cy="3657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defRPr/>
              </a:pPr>
              <a:r>
                <a:rPr lang="en-US" sz="1600" b="1">
                  <a:solidFill>
                    <a:srgbClr val="101820"/>
                  </a:solidFill>
                  <a:latin typeface="Comfortaa"/>
                  <a:cs typeface="Comfortaa"/>
                </a:rPr>
                <a:t>75%</a:t>
              </a:r>
              <a:endParaRPr/>
            </a:p>
          </p:txBody>
        </p:sp>
        <p:sp>
          <p:nvSpPr>
            <p:cNvPr id="156" name="TextBox 155"/>
            <p:cNvSpPr txBox="1"/>
            <p:nvPr/>
          </p:nvSpPr>
          <p:spPr bwMode="auto">
            <a:xfrm>
              <a:off x="10149840" y="5440680"/>
              <a:ext cx="1371600" cy="219456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defRPr/>
              </a:pPr>
              <a:r>
                <a:rPr lang="en-US" sz="1100" b="0">
                  <a:solidFill>
                    <a:srgbClr val="101820"/>
                  </a:solidFill>
                  <a:latin typeface="Inter"/>
                  <a:cs typeface="Inter"/>
                </a:rPr>
                <a:t>want to try</a:t>
              </a:r>
              <a:endParaRPr/>
            </a:p>
          </p:txBody>
        </p:sp>
      </p:grpSp>
      <p:grpSp>
        <p:nvGrpSpPr>
          <p:cNvPr id="1497037152" name="Group 15"/>
          <p:cNvGrpSpPr/>
          <p:nvPr/>
        </p:nvGrpSpPr>
        <p:grpSpPr bwMode="auto">
          <a:xfrm>
            <a:off x="8961120" y="5943600"/>
            <a:ext cx="2505456" cy="201168"/>
            <a:chOff x="8961120" y="5943600"/>
            <a:chExt cx="2505456" cy="201168"/>
          </a:xfrm>
        </p:grpSpPr>
        <p:sp>
          <p:nvSpPr>
            <p:cNvPr id="157" name="TextBox 156"/>
            <p:cNvSpPr txBox="1"/>
            <p:nvPr/>
          </p:nvSpPr>
          <p:spPr bwMode="auto">
            <a:xfrm>
              <a:off x="8961120" y="5943600"/>
              <a:ext cx="2505456" cy="20116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ctr">
                <a:defRPr/>
              </a:pPr>
              <a:r>
                <a:rPr lang="en-US" sz="1000" b="0">
                  <a:solidFill>
                    <a:srgbClr val="5A6672"/>
                  </a:solidFill>
                  <a:latin typeface="Inter"/>
                  <a:cs typeface="Inter"/>
                </a:rPr>
                <a:t>20 surveyed merchants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fast" p14:dur="500" advClick="1">
        <p:fade thruBlk="0"/>
      </p:transition>
    </mc:Choice>
    <mc:Fallback>
      <p:transition spd="fast" advClick="1">
        <p:fade thruBlk="0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9800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0269800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26775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" dur="250" fill="hold"/>
                                        <p:tgtEl>
                                          <p:spTgt spid="4726775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250" fill="hold"/>
                                        <p:tgtEl>
                                          <p:spTgt spid="4726775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250"/>
                                        <p:tgtEl>
                                          <p:spTgt spid="4726775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71514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250" fill="hold"/>
                                        <p:tgtEl>
                                          <p:spTgt spid="76715144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250" fill="hold"/>
                                        <p:tgtEl>
                                          <p:spTgt spid="76715144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250"/>
                                        <p:tgtEl>
                                          <p:spTgt spid="7671514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53" presetClass="entr" presetSubtype="16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97048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0" dur="250" fill="hold"/>
                                        <p:tgtEl>
                                          <p:spTgt spid="142970488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250" fill="hold"/>
                                        <p:tgtEl>
                                          <p:spTgt spid="142970488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250"/>
                                        <p:tgtEl>
                                          <p:spTgt spid="14297048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1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02035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250"/>
                                        <p:tgtEl>
                                          <p:spTgt spid="16002035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45750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250"/>
                                        <p:tgtEl>
                                          <p:spTgt spid="21145750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05905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50"/>
                                        <p:tgtEl>
                                          <p:spTgt spid="8205905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820"/>
                            </p:stCondLst>
                            <p:childTnLst>
                              <p:par>
                                <p:cTn id="34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20319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6" dur="300" fill="hold"/>
                                        <p:tgtEl>
                                          <p:spTgt spid="105203195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300" fill="hold"/>
                                        <p:tgtEl>
                                          <p:spTgt spid="105203195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" dur="300"/>
                                        <p:tgtEl>
                                          <p:spTgt spid="10520319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2109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00"/>
                                        <p:tgtEl>
                                          <p:spTgt spid="9621091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72679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00"/>
                                        <p:tgtEl>
                                          <p:spTgt spid="3672679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300"/>
                            </p:stCondLst>
                            <p:childTnLst>
                              <p:par>
                                <p:cTn id="4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15494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250"/>
                                        <p:tgtEl>
                                          <p:spTgt spid="9015494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6538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250"/>
                                        <p:tgtEl>
                                          <p:spTgt spid="2356538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630"/>
                            </p:stCondLst>
                            <p:childTnLst>
                              <p:par>
                                <p:cTn id="5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5947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7" dur="250" fill="hold"/>
                                        <p:tgtEl>
                                          <p:spTgt spid="4359471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250" fill="hold"/>
                                        <p:tgtEl>
                                          <p:spTgt spid="4359471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9" dur="250"/>
                                        <p:tgtEl>
                                          <p:spTgt spid="4359471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53" presetClass="entr" presetSubtype="16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87413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2" dur="250" fill="hold"/>
                                        <p:tgtEl>
                                          <p:spTgt spid="12887413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250" fill="hold"/>
                                        <p:tgtEl>
                                          <p:spTgt spid="12887413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4" dur="250"/>
                                        <p:tgtEl>
                                          <p:spTgt spid="12887413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960"/>
                            </p:stCondLst>
                            <p:childTnLst>
                              <p:par>
                                <p:cTn id="6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7037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300"/>
                                        <p:tgtEl>
                                          <p:spTgt spid="14970371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7485161" name="Google Shape;98;p14" title="Center_for_Academic_and_Professional_Advancement.png"/>
          <p:cNvPicPr/>
          <p:nvPr/>
        </p:nvPicPr>
        <p:blipFill rotWithShape="1">
          <a:blip r:embed="rId3">
            <a:alphaModFix/>
          </a:blip>
          <a:stretch/>
        </p:blipFill>
        <p:spPr bwMode="auto">
          <a:xfrm>
            <a:off x="8289593" y="351575"/>
            <a:ext cx="3178502" cy="9693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156272180" name="Google Shape;99;p14" title="german cooperation deutsche zusammenarbeit.png"/>
          <p:cNvPicPr/>
          <p:nvPr/>
        </p:nvPicPr>
        <p:blipFill rotWithShape="1">
          <a:blip r:embed="rId4">
            <a:alphaModFix/>
          </a:blip>
          <a:stretch/>
        </p:blipFill>
        <p:spPr bwMode="auto">
          <a:xfrm>
            <a:off x="723900" y="436204"/>
            <a:ext cx="1428202" cy="800089"/>
          </a:xfrm>
          <a:prstGeom prst="rect">
            <a:avLst/>
          </a:prstGeom>
          <a:noFill/>
          <a:ln>
            <a:noFill/>
          </a:ln>
        </p:spPr>
      </p:pic>
      <p:sp>
        <p:nvSpPr>
          <p:cNvPr id="1495589283" name="Rectangle 99"/>
          <p:cNvSpPr/>
          <p:nvPr/>
        </p:nvSpPr>
        <p:spPr bwMode="auto">
          <a:xfrm>
            <a:off x="722376" y="1517904"/>
            <a:ext cx="274320" cy="45720"/>
          </a:xfrm>
          <a:prstGeom prst="rect">
            <a:avLst/>
          </a:prstGeom>
          <a:solidFill>
            <a:srgbClr val="298FC2"/>
          </a:solidFill>
          <a:ln>
            <a:noFill/>
          </a:ln>
          <a:effectLst/>
        </p:spPr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718084689" name="TextBox 100"/>
          <p:cNvSpPr txBox="1"/>
          <p:nvPr/>
        </p:nvSpPr>
        <p:spPr bwMode="auto">
          <a:xfrm>
            <a:off x="1133856" y="1426464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defRPr/>
            </a:pPr>
            <a:r>
              <a:rPr lang="en-US" sz="1300" b="0">
                <a:solidFill>
                  <a:srgbClr val="5A6672"/>
                </a:solidFill>
                <a:latin typeface="Inter"/>
                <a:cs typeface="Inter"/>
              </a:rPr>
              <a:t>Product</a:t>
            </a:r>
            <a:endParaRPr/>
          </a:p>
        </p:txBody>
      </p:sp>
      <p:sp>
        <p:nvSpPr>
          <p:cNvPr id="259946614" name="TextBox 101"/>
          <p:cNvSpPr txBox="1"/>
          <p:nvPr/>
        </p:nvSpPr>
        <p:spPr bwMode="auto">
          <a:xfrm>
            <a:off x="722376" y="1700784"/>
            <a:ext cx="10744200" cy="5669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defRPr/>
            </a:pPr>
            <a:r>
              <a:rPr lang="en-US" sz="3000" b="1">
                <a:solidFill>
                  <a:srgbClr val="101820"/>
                </a:solidFill>
                <a:latin typeface="Comfortaa"/>
                <a:cs typeface="Comfortaa"/>
              </a:rPr>
              <a:t>Order in 30 seconds. Pay at the door.</a:t>
            </a:r>
            <a:endParaRPr/>
          </a:p>
        </p:txBody>
      </p:sp>
      <p:sp>
        <p:nvSpPr>
          <p:cNvPr id="1647279883" name="TextBox 102"/>
          <p:cNvSpPr txBox="1"/>
          <p:nvPr/>
        </p:nvSpPr>
        <p:spPr bwMode="auto">
          <a:xfrm>
            <a:off x="722376" y="6455664"/>
            <a:ext cx="10744200" cy="23774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defRPr/>
            </a:pPr>
            <a:r>
              <a:rPr lang="en-US" sz="900" b="0">
                <a:solidFill>
                  <a:srgbClr val="5A6672"/>
                </a:solidFill>
                <a:latin typeface="Inter"/>
                <a:cs typeface="Inter"/>
              </a:rPr>
              <a:t>Concept screens — app in development.</a:t>
            </a:r>
            <a:endParaRPr/>
          </a:p>
        </p:txBody>
      </p:sp>
      <p:grpSp>
        <p:nvGrpSpPr>
          <p:cNvPr id="470707096" name="Group 1"/>
          <p:cNvGrpSpPr/>
          <p:nvPr/>
        </p:nvGrpSpPr>
        <p:grpSpPr bwMode="auto">
          <a:xfrm>
            <a:off x="1234440" y="2395728"/>
            <a:ext cx="2011680" cy="3931920"/>
            <a:chOff x="1234440" y="2395728"/>
            <a:chExt cx="2011680" cy="3931920"/>
          </a:xfrm>
        </p:grpSpPr>
        <p:sp>
          <p:nvSpPr>
            <p:cNvPr id="104" name="Rounded Rectangle 103"/>
            <p:cNvSpPr/>
            <p:nvPr/>
          </p:nvSpPr>
          <p:spPr bwMode="auto">
            <a:xfrm>
              <a:off x="1234440" y="2395728"/>
              <a:ext cx="2011680" cy="3931920"/>
            </a:xfrm>
            <a:prstGeom prst="roundRect">
              <a:avLst>
                <a:gd name="adj" fmla="val 13636"/>
              </a:avLst>
            </a:prstGeom>
            <a:solidFill>
              <a:srgbClr val="101820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05" name="Rounded Rectangle 104"/>
            <p:cNvSpPr/>
            <p:nvPr/>
          </p:nvSpPr>
          <p:spPr bwMode="auto">
            <a:xfrm>
              <a:off x="1307592" y="2468880"/>
              <a:ext cx="1865376" cy="3785616"/>
            </a:xfrm>
            <a:prstGeom prst="roundRect">
              <a:avLst>
                <a:gd name="adj" fmla="val 10784"/>
              </a:avLst>
            </a:prstGeom>
            <a:solidFill>
              <a:srgbClr val="FFFFF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06" name="Rounded Rectangle 105"/>
            <p:cNvSpPr/>
            <p:nvPr/>
          </p:nvSpPr>
          <p:spPr bwMode="auto">
            <a:xfrm>
              <a:off x="1965960" y="2514600"/>
              <a:ext cx="548640" cy="64008"/>
            </a:xfrm>
            <a:prstGeom prst="roundRect">
              <a:avLst>
                <a:gd name="adj" fmla="val 50000"/>
              </a:avLst>
            </a:prstGeom>
            <a:solidFill>
              <a:srgbClr val="101820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</p:grpSp>
      <p:grpSp>
        <p:nvGrpSpPr>
          <p:cNvPr id="1801337668" name="Group 2"/>
          <p:cNvGrpSpPr/>
          <p:nvPr/>
        </p:nvGrpSpPr>
        <p:grpSpPr bwMode="auto">
          <a:xfrm>
            <a:off x="4114800" y="2514600"/>
            <a:ext cx="7351776" cy="694944"/>
            <a:chOff x="4114800" y="2514600"/>
            <a:chExt cx="7351776" cy="694944"/>
          </a:xfrm>
        </p:grpSpPr>
        <p:sp>
          <p:nvSpPr>
            <p:cNvPr id="107" name="Rounded Rectangle 106"/>
            <p:cNvSpPr/>
            <p:nvPr/>
          </p:nvSpPr>
          <p:spPr bwMode="auto">
            <a:xfrm>
              <a:off x="4114800" y="2514600"/>
              <a:ext cx="7351776" cy="694944"/>
            </a:xfrm>
            <a:prstGeom prst="roundRect">
              <a:avLst>
                <a:gd name="adj" fmla="val 15789"/>
              </a:avLst>
            </a:prstGeom>
            <a:solidFill>
              <a:srgbClr val="E5F2F8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</p:grpSp>
      <p:grpSp>
        <p:nvGrpSpPr>
          <p:cNvPr id="1540469398" name="Group 3"/>
          <p:cNvGrpSpPr/>
          <p:nvPr/>
        </p:nvGrpSpPr>
        <p:grpSpPr bwMode="auto">
          <a:xfrm>
            <a:off x="4114800" y="3282696"/>
            <a:ext cx="7351776" cy="694944"/>
            <a:chOff x="4114800" y="3282696"/>
            <a:chExt cx="7351776" cy="694944"/>
          </a:xfrm>
        </p:grpSpPr>
        <p:sp>
          <p:nvSpPr>
            <p:cNvPr id="108" name="Rounded Rectangle 107"/>
            <p:cNvSpPr/>
            <p:nvPr/>
          </p:nvSpPr>
          <p:spPr bwMode="auto">
            <a:xfrm>
              <a:off x="4114800" y="3282696"/>
              <a:ext cx="7351776" cy="694944"/>
            </a:xfrm>
            <a:prstGeom prst="roundRect">
              <a:avLst>
                <a:gd name="adj" fmla="val 15789"/>
              </a:avLst>
            </a:prstGeom>
            <a:solidFill>
              <a:srgbClr val="E5F2F8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</p:grpSp>
      <p:grpSp>
        <p:nvGrpSpPr>
          <p:cNvPr id="141340816" name="Group 4"/>
          <p:cNvGrpSpPr/>
          <p:nvPr/>
        </p:nvGrpSpPr>
        <p:grpSpPr bwMode="auto">
          <a:xfrm>
            <a:off x="4114800" y="4050792"/>
            <a:ext cx="7351776" cy="694944"/>
            <a:chOff x="4114800" y="4050792"/>
            <a:chExt cx="7351776" cy="694944"/>
          </a:xfrm>
        </p:grpSpPr>
        <p:sp>
          <p:nvSpPr>
            <p:cNvPr id="109" name="Rounded Rectangle 108"/>
            <p:cNvSpPr/>
            <p:nvPr/>
          </p:nvSpPr>
          <p:spPr bwMode="auto">
            <a:xfrm>
              <a:off x="4114800" y="4050792"/>
              <a:ext cx="7351776" cy="694944"/>
            </a:xfrm>
            <a:prstGeom prst="roundRect">
              <a:avLst>
                <a:gd name="adj" fmla="val 15789"/>
              </a:avLst>
            </a:prstGeom>
            <a:solidFill>
              <a:srgbClr val="E5F2F8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</p:grpSp>
      <p:grpSp>
        <p:nvGrpSpPr>
          <p:cNvPr id="579895951" name="Group 5"/>
          <p:cNvGrpSpPr/>
          <p:nvPr/>
        </p:nvGrpSpPr>
        <p:grpSpPr bwMode="auto">
          <a:xfrm>
            <a:off x="4114800" y="4818888"/>
            <a:ext cx="7351776" cy="694944"/>
            <a:chOff x="4114800" y="4818888"/>
            <a:chExt cx="7351776" cy="694944"/>
          </a:xfrm>
        </p:grpSpPr>
        <p:sp>
          <p:nvSpPr>
            <p:cNvPr id="110" name="Rounded Rectangle 109"/>
            <p:cNvSpPr/>
            <p:nvPr/>
          </p:nvSpPr>
          <p:spPr bwMode="auto">
            <a:xfrm>
              <a:off x="4114800" y="4818888"/>
              <a:ext cx="7351776" cy="694944"/>
            </a:xfrm>
            <a:prstGeom prst="roundRect">
              <a:avLst>
                <a:gd name="adj" fmla="val 15789"/>
              </a:avLst>
            </a:prstGeom>
            <a:solidFill>
              <a:srgbClr val="E5F2F8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</p:grpSp>
      <p:grpSp>
        <p:nvGrpSpPr>
          <p:cNvPr id="674672258" name="Group 6"/>
          <p:cNvGrpSpPr/>
          <p:nvPr/>
        </p:nvGrpSpPr>
        <p:grpSpPr bwMode="auto">
          <a:xfrm>
            <a:off x="4114800" y="5586984"/>
            <a:ext cx="7351776" cy="694944"/>
            <a:chOff x="4114800" y="5586984"/>
            <a:chExt cx="7351776" cy="694944"/>
          </a:xfrm>
        </p:grpSpPr>
        <p:sp>
          <p:nvSpPr>
            <p:cNvPr id="111" name="Rounded Rectangle 110"/>
            <p:cNvSpPr/>
            <p:nvPr/>
          </p:nvSpPr>
          <p:spPr bwMode="auto">
            <a:xfrm>
              <a:off x="4114800" y="5586984"/>
              <a:ext cx="7351776" cy="694944"/>
            </a:xfrm>
            <a:prstGeom prst="roundRect">
              <a:avLst>
                <a:gd name="adj" fmla="val 15789"/>
              </a:avLst>
            </a:prstGeom>
            <a:solidFill>
              <a:srgbClr val="E5F2F8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</p:grpSp>
      <p:grpSp>
        <p:nvGrpSpPr>
          <p:cNvPr id="694474080" name="Group 7"/>
          <p:cNvGrpSpPr/>
          <p:nvPr/>
        </p:nvGrpSpPr>
        <p:grpSpPr bwMode="auto">
          <a:xfrm>
            <a:off x="4206240" y="2551176"/>
            <a:ext cx="7269480" cy="585216"/>
            <a:chOff x="4206240" y="2551176"/>
            <a:chExt cx="7269480" cy="585216"/>
          </a:xfrm>
        </p:grpSpPr>
        <p:sp>
          <p:nvSpPr>
            <p:cNvPr id="112" name="Oval 111"/>
            <p:cNvSpPr/>
            <p:nvPr/>
          </p:nvSpPr>
          <p:spPr bwMode="auto">
            <a:xfrm>
              <a:off x="4206240" y="2642616"/>
              <a:ext cx="438912" cy="438912"/>
            </a:xfrm>
            <a:prstGeom prst="ellipse">
              <a:avLst/>
            </a:prstGeom>
            <a:solidFill>
              <a:srgbClr val="DDE5ED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13" name="TextBox 112"/>
            <p:cNvSpPr txBox="1"/>
            <p:nvPr/>
          </p:nvSpPr>
          <p:spPr bwMode="auto">
            <a:xfrm>
              <a:off x="4206240" y="2642616"/>
              <a:ext cx="438912" cy="43891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defRPr/>
              </a:pPr>
              <a:r>
                <a:rPr lang="en-US" sz="1400" b="1">
                  <a:solidFill>
                    <a:srgbClr val="5A6672"/>
                  </a:solidFill>
                  <a:latin typeface="Inter"/>
                  <a:cs typeface="Inter"/>
                </a:rPr>
                <a:t>1</a:t>
              </a:r>
              <a:endParaRPr/>
            </a:p>
          </p:txBody>
        </p:sp>
        <p:sp>
          <p:nvSpPr>
            <p:cNvPr id="114" name="TextBox 113"/>
            <p:cNvSpPr txBox="1"/>
            <p:nvPr/>
          </p:nvSpPr>
          <p:spPr bwMode="auto">
            <a:xfrm>
              <a:off x="5074920" y="2551176"/>
              <a:ext cx="6400800" cy="310896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defRPr/>
              </a:pPr>
              <a:r>
                <a:rPr lang="en-US" sz="1800" b="1">
                  <a:solidFill>
                    <a:srgbClr val="101820"/>
                  </a:solidFill>
                  <a:latin typeface="Inter"/>
                  <a:cs typeface="Inter"/>
                </a:rPr>
                <a:t>Search</a:t>
              </a:r>
              <a:endParaRPr/>
            </a:p>
          </p:txBody>
        </p:sp>
        <p:sp>
          <p:nvSpPr>
            <p:cNvPr id="115" name="TextBox 114"/>
            <p:cNvSpPr txBox="1"/>
            <p:nvPr/>
          </p:nvSpPr>
          <p:spPr bwMode="auto">
            <a:xfrm>
              <a:off x="5074920" y="2880360"/>
              <a:ext cx="6400800" cy="256032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defRPr/>
              </a:pPr>
              <a:r>
                <a:rPr lang="en-US" sz="1300" b="0">
                  <a:solidFill>
                    <a:srgbClr val="5A6672"/>
                  </a:solidFill>
                  <a:latin typeface="Inter"/>
                  <a:cs typeface="Inter"/>
                </a:rPr>
                <a:t>Find any product in one place</a:t>
              </a:r>
              <a:endParaRPr/>
            </a:p>
          </p:txBody>
        </p:sp>
      </p:grpSp>
      <p:grpSp>
        <p:nvGrpSpPr>
          <p:cNvPr id="1013961323" name="Group 8"/>
          <p:cNvGrpSpPr/>
          <p:nvPr/>
        </p:nvGrpSpPr>
        <p:grpSpPr bwMode="auto">
          <a:xfrm>
            <a:off x="4206240" y="3319272"/>
            <a:ext cx="7269480" cy="585216"/>
            <a:chOff x="4206240" y="3319272"/>
            <a:chExt cx="7269480" cy="585216"/>
          </a:xfrm>
        </p:grpSpPr>
        <p:sp>
          <p:nvSpPr>
            <p:cNvPr id="116" name="Oval 115"/>
            <p:cNvSpPr/>
            <p:nvPr/>
          </p:nvSpPr>
          <p:spPr bwMode="auto">
            <a:xfrm>
              <a:off x="4206240" y="3410712"/>
              <a:ext cx="438912" cy="438912"/>
            </a:xfrm>
            <a:prstGeom prst="ellipse">
              <a:avLst/>
            </a:prstGeom>
            <a:solidFill>
              <a:srgbClr val="DDE5ED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17" name="TextBox 116"/>
            <p:cNvSpPr txBox="1"/>
            <p:nvPr/>
          </p:nvSpPr>
          <p:spPr bwMode="auto">
            <a:xfrm>
              <a:off x="4206240" y="3410712"/>
              <a:ext cx="438912" cy="43891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defRPr/>
              </a:pPr>
              <a:r>
                <a:rPr lang="en-US" sz="1400" b="1">
                  <a:solidFill>
                    <a:srgbClr val="5A6672"/>
                  </a:solidFill>
                  <a:latin typeface="Inter"/>
                  <a:cs typeface="Inter"/>
                </a:rPr>
                <a:t>2</a:t>
              </a:r>
              <a:endParaRPr/>
            </a:p>
          </p:txBody>
        </p:sp>
        <p:sp>
          <p:nvSpPr>
            <p:cNvPr id="118" name="TextBox 117"/>
            <p:cNvSpPr txBox="1"/>
            <p:nvPr/>
          </p:nvSpPr>
          <p:spPr bwMode="auto">
            <a:xfrm>
              <a:off x="5074920" y="3319272"/>
              <a:ext cx="6400800" cy="310896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defRPr/>
              </a:pPr>
              <a:r>
                <a:rPr lang="en-US" sz="1800" b="1">
                  <a:solidFill>
                    <a:srgbClr val="101820"/>
                  </a:solidFill>
                  <a:latin typeface="Inter"/>
                  <a:cs typeface="Inter"/>
                </a:rPr>
                <a:t>Compare</a:t>
              </a:r>
              <a:endParaRPr/>
            </a:p>
          </p:txBody>
        </p:sp>
        <p:sp>
          <p:nvSpPr>
            <p:cNvPr id="119" name="TextBox 118"/>
            <p:cNvSpPr txBox="1"/>
            <p:nvPr/>
          </p:nvSpPr>
          <p:spPr bwMode="auto">
            <a:xfrm>
              <a:off x="5074920" y="3648456"/>
              <a:ext cx="6400800" cy="256032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defRPr/>
              </a:pPr>
              <a:r>
                <a:rPr lang="en-US" sz="1300" b="0">
                  <a:solidFill>
                    <a:srgbClr val="5A6672"/>
                  </a:solidFill>
                  <a:latin typeface="Inter"/>
                  <a:cs typeface="Inter"/>
                </a:rPr>
                <a:t>Every seller on one page — Best Value on top</a:t>
              </a:r>
              <a:endParaRPr/>
            </a:p>
          </p:txBody>
        </p:sp>
      </p:grpSp>
      <p:grpSp>
        <p:nvGrpSpPr>
          <p:cNvPr id="698421048" name="Group 9"/>
          <p:cNvGrpSpPr/>
          <p:nvPr/>
        </p:nvGrpSpPr>
        <p:grpSpPr bwMode="auto">
          <a:xfrm>
            <a:off x="4206240" y="4087368"/>
            <a:ext cx="7269480" cy="585216"/>
            <a:chOff x="4206240" y="4087368"/>
            <a:chExt cx="7269480" cy="585216"/>
          </a:xfrm>
        </p:grpSpPr>
        <p:sp>
          <p:nvSpPr>
            <p:cNvPr id="120" name="Oval 119"/>
            <p:cNvSpPr/>
            <p:nvPr/>
          </p:nvSpPr>
          <p:spPr bwMode="auto">
            <a:xfrm>
              <a:off x="4206240" y="4178808"/>
              <a:ext cx="438912" cy="438912"/>
            </a:xfrm>
            <a:prstGeom prst="ellipse">
              <a:avLst/>
            </a:prstGeom>
            <a:solidFill>
              <a:srgbClr val="DDE5ED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21" name="TextBox 120"/>
            <p:cNvSpPr txBox="1"/>
            <p:nvPr/>
          </p:nvSpPr>
          <p:spPr bwMode="auto">
            <a:xfrm>
              <a:off x="4206240" y="4178808"/>
              <a:ext cx="438912" cy="43891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defRPr/>
              </a:pPr>
              <a:r>
                <a:rPr lang="en-US" sz="1400" b="1">
                  <a:solidFill>
                    <a:srgbClr val="5A6672"/>
                  </a:solidFill>
                  <a:latin typeface="Inter"/>
                  <a:cs typeface="Inter"/>
                </a:rPr>
                <a:t>3</a:t>
              </a:r>
              <a:endParaRPr/>
            </a:p>
          </p:txBody>
        </p:sp>
        <p:sp>
          <p:nvSpPr>
            <p:cNvPr id="122" name="TextBox 121"/>
            <p:cNvSpPr txBox="1"/>
            <p:nvPr/>
          </p:nvSpPr>
          <p:spPr bwMode="auto">
            <a:xfrm>
              <a:off x="5074920" y="4087368"/>
              <a:ext cx="6400800" cy="310896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defRPr/>
              </a:pPr>
              <a:r>
                <a:rPr lang="en-US" sz="1800" b="1">
                  <a:solidFill>
                    <a:srgbClr val="101820"/>
                  </a:solidFill>
                  <a:latin typeface="Inter"/>
                  <a:cs typeface="Inter"/>
                </a:rPr>
                <a:t>Order</a:t>
              </a:r>
              <a:endParaRPr/>
            </a:p>
          </p:txBody>
        </p:sp>
        <p:sp>
          <p:nvSpPr>
            <p:cNvPr id="123" name="TextBox 122"/>
            <p:cNvSpPr txBox="1"/>
            <p:nvPr/>
          </p:nvSpPr>
          <p:spPr bwMode="auto">
            <a:xfrm>
              <a:off x="5074920" y="4416552"/>
              <a:ext cx="6400800" cy="256032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defRPr/>
              </a:pPr>
              <a:r>
                <a:rPr lang="en-US" sz="1300" b="0">
                  <a:solidFill>
                    <a:srgbClr val="5A6672"/>
                  </a:solidFill>
                  <a:latin typeface="Inter"/>
                  <a:cs typeface="Inter"/>
                </a:rPr>
                <a:t>Doorstep total upfront · cash or card</a:t>
              </a:r>
              <a:endParaRPr/>
            </a:p>
          </p:txBody>
        </p:sp>
      </p:grpSp>
      <p:grpSp>
        <p:nvGrpSpPr>
          <p:cNvPr id="1859755744" name="Group 10"/>
          <p:cNvGrpSpPr/>
          <p:nvPr/>
        </p:nvGrpSpPr>
        <p:grpSpPr bwMode="auto">
          <a:xfrm>
            <a:off x="4206240" y="4855464"/>
            <a:ext cx="7269480" cy="585216"/>
            <a:chOff x="4206240" y="4855464"/>
            <a:chExt cx="7269480" cy="585216"/>
          </a:xfrm>
        </p:grpSpPr>
        <p:sp>
          <p:nvSpPr>
            <p:cNvPr id="124" name="Oval 123"/>
            <p:cNvSpPr/>
            <p:nvPr/>
          </p:nvSpPr>
          <p:spPr bwMode="auto">
            <a:xfrm>
              <a:off x="4206240" y="4946904"/>
              <a:ext cx="438912" cy="438912"/>
            </a:xfrm>
            <a:prstGeom prst="ellipse">
              <a:avLst/>
            </a:prstGeom>
            <a:solidFill>
              <a:srgbClr val="DDE5ED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25" name="TextBox 124"/>
            <p:cNvSpPr txBox="1"/>
            <p:nvPr/>
          </p:nvSpPr>
          <p:spPr bwMode="auto">
            <a:xfrm>
              <a:off x="4206240" y="4946904"/>
              <a:ext cx="438912" cy="43891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defRPr/>
              </a:pPr>
              <a:r>
                <a:rPr lang="en-US" sz="1400" b="1">
                  <a:solidFill>
                    <a:srgbClr val="5A6672"/>
                  </a:solidFill>
                  <a:latin typeface="Inter"/>
                  <a:cs typeface="Inter"/>
                </a:rPr>
                <a:t>4</a:t>
              </a:r>
              <a:endParaRPr/>
            </a:p>
          </p:txBody>
        </p:sp>
        <p:sp>
          <p:nvSpPr>
            <p:cNvPr id="126" name="TextBox 125"/>
            <p:cNvSpPr txBox="1"/>
            <p:nvPr/>
          </p:nvSpPr>
          <p:spPr bwMode="auto">
            <a:xfrm>
              <a:off x="5074920" y="4855464"/>
              <a:ext cx="6400800" cy="310896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defRPr/>
              </a:pPr>
              <a:r>
                <a:rPr lang="en-US" sz="1800" b="1">
                  <a:solidFill>
                    <a:srgbClr val="101820"/>
                  </a:solidFill>
                  <a:latin typeface="Inter"/>
                  <a:cs typeface="Inter"/>
                </a:rPr>
                <a:t>Merchant packs, courier picks up</a:t>
              </a:r>
              <a:endParaRPr/>
            </a:p>
          </p:txBody>
        </p:sp>
        <p:sp>
          <p:nvSpPr>
            <p:cNvPr id="127" name="TextBox 126"/>
            <p:cNvSpPr txBox="1"/>
            <p:nvPr/>
          </p:nvSpPr>
          <p:spPr bwMode="auto">
            <a:xfrm>
              <a:off x="5074920" y="5184648"/>
              <a:ext cx="6400800" cy="256032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defRPr/>
              </a:pPr>
              <a:r>
                <a:rPr lang="en-US" sz="1300" b="0">
                  <a:solidFill>
                    <a:srgbClr val="5A6672"/>
                  </a:solidFill>
                  <a:latin typeface="Inter"/>
                  <a:cs typeface="Inter"/>
                </a:rPr>
                <a:t>The order lands on the dashboard and WhatsApp</a:t>
              </a:r>
              <a:endParaRPr/>
            </a:p>
          </p:txBody>
        </p:sp>
      </p:grpSp>
      <p:grpSp>
        <p:nvGrpSpPr>
          <p:cNvPr id="654055021" name="Group 11"/>
          <p:cNvGrpSpPr/>
          <p:nvPr/>
        </p:nvGrpSpPr>
        <p:grpSpPr bwMode="auto">
          <a:xfrm>
            <a:off x="4206240" y="5623560"/>
            <a:ext cx="7269480" cy="585216"/>
            <a:chOff x="4206240" y="5623560"/>
            <a:chExt cx="7269480" cy="585216"/>
          </a:xfrm>
        </p:grpSpPr>
        <p:sp>
          <p:nvSpPr>
            <p:cNvPr id="128" name="Oval 127"/>
            <p:cNvSpPr/>
            <p:nvPr/>
          </p:nvSpPr>
          <p:spPr bwMode="auto">
            <a:xfrm>
              <a:off x="4206240" y="5715000"/>
              <a:ext cx="438912" cy="438912"/>
            </a:xfrm>
            <a:prstGeom prst="ellipse">
              <a:avLst/>
            </a:prstGeom>
            <a:solidFill>
              <a:srgbClr val="DDE5ED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29" name="TextBox 128"/>
            <p:cNvSpPr txBox="1"/>
            <p:nvPr/>
          </p:nvSpPr>
          <p:spPr bwMode="auto">
            <a:xfrm>
              <a:off x="4206240" y="5715000"/>
              <a:ext cx="438912" cy="43891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defRPr/>
              </a:pPr>
              <a:r>
                <a:rPr lang="en-US" sz="1400" b="1">
                  <a:solidFill>
                    <a:srgbClr val="5A6672"/>
                  </a:solidFill>
                  <a:latin typeface="Inter"/>
                  <a:cs typeface="Inter"/>
                </a:rPr>
                <a:t>5</a:t>
              </a:r>
              <a:endParaRPr/>
            </a:p>
          </p:txBody>
        </p:sp>
        <p:sp>
          <p:nvSpPr>
            <p:cNvPr id="130" name="TextBox 129"/>
            <p:cNvSpPr txBox="1"/>
            <p:nvPr/>
          </p:nvSpPr>
          <p:spPr bwMode="auto">
            <a:xfrm>
              <a:off x="5074920" y="5623560"/>
              <a:ext cx="6400800" cy="310896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defRPr/>
              </a:pPr>
              <a:r>
                <a:rPr lang="en-US" sz="1800" b="1">
                  <a:solidFill>
                    <a:srgbClr val="101820"/>
                  </a:solidFill>
                  <a:latin typeface="Inter"/>
                  <a:cs typeface="Inter"/>
                </a:rPr>
                <a:t>Automatic payout</a:t>
              </a:r>
              <a:endParaRPr/>
            </a:p>
          </p:txBody>
        </p:sp>
        <p:sp>
          <p:nvSpPr>
            <p:cNvPr id="131" name="TextBox 130"/>
            <p:cNvSpPr txBox="1"/>
            <p:nvPr/>
          </p:nvSpPr>
          <p:spPr bwMode="auto">
            <a:xfrm>
              <a:off x="5074920" y="5952744"/>
              <a:ext cx="6400800" cy="256032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defRPr/>
              </a:pPr>
              <a:r>
                <a:rPr lang="en-US" sz="1300" b="0">
                  <a:solidFill>
                    <a:srgbClr val="5A6672"/>
                  </a:solidFill>
                  <a:latin typeface="Inter"/>
                  <a:cs typeface="Inter"/>
                </a:rPr>
                <a:t>Paid 48 hours after delivery, minus our fee</a:t>
              </a:r>
              <a:endParaRPr/>
            </a:p>
          </p:txBody>
        </p:sp>
      </p:grpSp>
      <p:grpSp>
        <p:nvGrpSpPr>
          <p:cNvPr id="1904553980" name="Group 12"/>
          <p:cNvGrpSpPr/>
          <p:nvPr/>
        </p:nvGrpSpPr>
        <p:grpSpPr bwMode="auto">
          <a:xfrm>
            <a:off x="4206240" y="2642616"/>
            <a:ext cx="438912" cy="438912"/>
            <a:chOff x="4206240" y="2642616"/>
            <a:chExt cx="438912" cy="438912"/>
          </a:xfrm>
        </p:grpSpPr>
        <p:sp>
          <p:nvSpPr>
            <p:cNvPr id="132" name="Oval 131"/>
            <p:cNvSpPr/>
            <p:nvPr/>
          </p:nvSpPr>
          <p:spPr bwMode="auto">
            <a:xfrm>
              <a:off x="4206240" y="2642616"/>
              <a:ext cx="438912" cy="438912"/>
            </a:xfrm>
            <a:prstGeom prst="ellipse">
              <a:avLst/>
            </a:prstGeom>
            <a:solidFill>
              <a:srgbClr val="298FC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33" name="TextBox 132"/>
            <p:cNvSpPr txBox="1"/>
            <p:nvPr/>
          </p:nvSpPr>
          <p:spPr bwMode="auto">
            <a:xfrm>
              <a:off x="4206240" y="2642616"/>
              <a:ext cx="438912" cy="43891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defRPr/>
              </a:pPr>
              <a:r>
                <a:rPr lang="en-US" sz="1400" b="1">
                  <a:solidFill>
                    <a:srgbClr val="FFFFFF"/>
                  </a:solidFill>
                  <a:latin typeface="Inter"/>
                  <a:cs typeface="Inter"/>
                </a:rPr>
                <a:t>1</a:t>
              </a:r>
              <a:endParaRPr/>
            </a:p>
          </p:txBody>
        </p:sp>
      </p:grpSp>
      <p:grpSp>
        <p:nvGrpSpPr>
          <p:cNvPr id="132226585" name="Group 13"/>
          <p:cNvGrpSpPr/>
          <p:nvPr/>
        </p:nvGrpSpPr>
        <p:grpSpPr bwMode="auto">
          <a:xfrm>
            <a:off x="4206240" y="3410712"/>
            <a:ext cx="438912" cy="438912"/>
            <a:chOff x="4206240" y="3410712"/>
            <a:chExt cx="438912" cy="438912"/>
          </a:xfrm>
        </p:grpSpPr>
        <p:sp>
          <p:nvSpPr>
            <p:cNvPr id="134" name="Oval 133"/>
            <p:cNvSpPr/>
            <p:nvPr/>
          </p:nvSpPr>
          <p:spPr bwMode="auto">
            <a:xfrm>
              <a:off x="4206240" y="3410712"/>
              <a:ext cx="438912" cy="438912"/>
            </a:xfrm>
            <a:prstGeom prst="ellipse">
              <a:avLst/>
            </a:prstGeom>
            <a:solidFill>
              <a:srgbClr val="298FC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35" name="TextBox 134"/>
            <p:cNvSpPr txBox="1"/>
            <p:nvPr/>
          </p:nvSpPr>
          <p:spPr bwMode="auto">
            <a:xfrm>
              <a:off x="4206240" y="3410712"/>
              <a:ext cx="438912" cy="43891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defRPr/>
              </a:pPr>
              <a:r>
                <a:rPr lang="en-US" sz="1400" b="1">
                  <a:solidFill>
                    <a:srgbClr val="FFFFFF"/>
                  </a:solidFill>
                  <a:latin typeface="Inter"/>
                  <a:cs typeface="Inter"/>
                </a:rPr>
                <a:t>2</a:t>
              </a:r>
              <a:endParaRPr/>
            </a:p>
          </p:txBody>
        </p:sp>
      </p:grpSp>
      <p:grpSp>
        <p:nvGrpSpPr>
          <p:cNvPr id="867048485" name="Group 14"/>
          <p:cNvGrpSpPr/>
          <p:nvPr/>
        </p:nvGrpSpPr>
        <p:grpSpPr bwMode="auto">
          <a:xfrm>
            <a:off x="4206240" y="4178808"/>
            <a:ext cx="438912" cy="438912"/>
            <a:chOff x="4206240" y="4178808"/>
            <a:chExt cx="438912" cy="438912"/>
          </a:xfrm>
        </p:grpSpPr>
        <p:sp>
          <p:nvSpPr>
            <p:cNvPr id="136" name="Oval 135"/>
            <p:cNvSpPr/>
            <p:nvPr/>
          </p:nvSpPr>
          <p:spPr bwMode="auto">
            <a:xfrm>
              <a:off x="4206240" y="4178808"/>
              <a:ext cx="438912" cy="438912"/>
            </a:xfrm>
            <a:prstGeom prst="ellipse">
              <a:avLst/>
            </a:prstGeom>
            <a:solidFill>
              <a:srgbClr val="298FC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37" name="TextBox 136"/>
            <p:cNvSpPr txBox="1"/>
            <p:nvPr/>
          </p:nvSpPr>
          <p:spPr bwMode="auto">
            <a:xfrm>
              <a:off x="4206240" y="4178808"/>
              <a:ext cx="438912" cy="43891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defRPr/>
              </a:pPr>
              <a:r>
                <a:rPr lang="en-US" sz="1400" b="1">
                  <a:solidFill>
                    <a:srgbClr val="FFFFFF"/>
                  </a:solidFill>
                  <a:latin typeface="Inter"/>
                  <a:cs typeface="Inter"/>
                </a:rPr>
                <a:t>3</a:t>
              </a:r>
              <a:endParaRPr/>
            </a:p>
          </p:txBody>
        </p:sp>
      </p:grpSp>
      <p:grpSp>
        <p:nvGrpSpPr>
          <p:cNvPr id="271624680" name="Group 15"/>
          <p:cNvGrpSpPr/>
          <p:nvPr/>
        </p:nvGrpSpPr>
        <p:grpSpPr bwMode="auto">
          <a:xfrm>
            <a:off x="4206240" y="4946904"/>
            <a:ext cx="438912" cy="438912"/>
            <a:chOff x="4206240" y="4946904"/>
            <a:chExt cx="438912" cy="438912"/>
          </a:xfrm>
        </p:grpSpPr>
        <p:sp>
          <p:nvSpPr>
            <p:cNvPr id="138" name="Oval 137"/>
            <p:cNvSpPr/>
            <p:nvPr/>
          </p:nvSpPr>
          <p:spPr bwMode="auto">
            <a:xfrm>
              <a:off x="4206240" y="4946904"/>
              <a:ext cx="438912" cy="438912"/>
            </a:xfrm>
            <a:prstGeom prst="ellipse">
              <a:avLst/>
            </a:prstGeom>
            <a:solidFill>
              <a:srgbClr val="298FC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39" name="TextBox 138"/>
            <p:cNvSpPr txBox="1"/>
            <p:nvPr/>
          </p:nvSpPr>
          <p:spPr bwMode="auto">
            <a:xfrm>
              <a:off x="4206240" y="4946904"/>
              <a:ext cx="438912" cy="43891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defRPr/>
              </a:pPr>
              <a:r>
                <a:rPr lang="en-US" sz="1400" b="1">
                  <a:solidFill>
                    <a:srgbClr val="FFFFFF"/>
                  </a:solidFill>
                  <a:latin typeface="Inter"/>
                  <a:cs typeface="Inter"/>
                </a:rPr>
                <a:t>4</a:t>
              </a:r>
              <a:endParaRPr/>
            </a:p>
          </p:txBody>
        </p:sp>
      </p:grpSp>
      <p:grpSp>
        <p:nvGrpSpPr>
          <p:cNvPr id="2109129719" name="Group 16"/>
          <p:cNvGrpSpPr/>
          <p:nvPr/>
        </p:nvGrpSpPr>
        <p:grpSpPr bwMode="auto">
          <a:xfrm>
            <a:off x="4206240" y="5715000"/>
            <a:ext cx="438912" cy="438912"/>
            <a:chOff x="4206240" y="5715000"/>
            <a:chExt cx="438912" cy="438912"/>
          </a:xfrm>
        </p:grpSpPr>
        <p:sp>
          <p:nvSpPr>
            <p:cNvPr id="140" name="Oval 139"/>
            <p:cNvSpPr/>
            <p:nvPr/>
          </p:nvSpPr>
          <p:spPr bwMode="auto">
            <a:xfrm>
              <a:off x="4206240" y="5715000"/>
              <a:ext cx="438912" cy="438912"/>
            </a:xfrm>
            <a:prstGeom prst="ellipse">
              <a:avLst/>
            </a:prstGeom>
            <a:solidFill>
              <a:srgbClr val="298FC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41" name="TextBox 140"/>
            <p:cNvSpPr txBox="1"/>
            <p:nvPr/>
          </p:nvSpPr>
          <p:spPr bwMode="auto">
            <a:xfrm>
              <a:off x="4206240" y="5715000"/>
              <a:ext cx="438912" cy="43891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defRPr/>
              </a:pPr>
              <a:r>
                <a:rPr lang="en-US" sz="1400" b="1">
                  <a:solidFill>
                    <a:srgbClr val="FFFFFF"/>
                  </a:solidFill>
                  <a:latin typeface="Inter"/>
                  <a:cs typeface="Inter"/>
                </a:rPr>
                <a:t>5</a:t>
              </a:r>
              <a:endParaRPr/>
            </a:p>
          </p:txBody>
        </p:sp>
      </p:grpSp>
      <p:grpSp>
        <p:nvGrpSpPr>
          <p:cNvPr id="2030502963" name="Group 17"/>
          <p:cNvGrpSpPr/>
          <p:nvPr/>
        </p:nvGrpSpPr>
        <p:grpSpPr bwMode="auto">
          <a:xfrm>
            <a:off x="1307592" y="2468880"/>
            <a:ext cx="1865376" cy="3785616"/>
            <a:chOff x="1307592" y="2468880"/>
            <a:chExt cx="1865376" cy="3785616"/>
          </a:xfrm>
        </p:grpSpPr>
        <p:sp>
          <p:nvSpPr>
            <p:cNvPr id="142" name="Rounded Rectangle 141"/>
            <p:cNvSpPr/>
            <p:nvPr/>
          </p:nvSpPr>
          <p:spPr bwMode="auto">
            <a:xfrm>
              <a:off x="1307592" y="2468880"/>
              <a:ext cx="1865376" cy="3785616"/>
            </a:xfrm>
            <a:prstGeom prst="roundRect">
              <a:avLst>
                <a:gd name="adj" fmla="val 10784"/>
              </a:avLst>
            </a:prstGeom>
            <a:solidFill>
              <a:srgbClr val="FFFFF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pic>
          <p:nvPicPr>
            <p:cNvPr id="143" name="Picture 142" descr="cheapify-logo.png"/>
            <p:cNvPicPr>
              <a:picLocks noChangeAspect="1"/>
            </p:cNvPicPr>
            <p:nvPr/>
          </p:nvPicPr>
          <p:blipFill rotWithShape="1">
            <a:blip r:embed="rId5"/>
            <a:stretch/>
          </p:blipFill>
          <p:spPr bwMode="auto">
            <a:xfrm>
              <a:off x="1435608" y="2677886"/>
              <a:ext cx="201168" cy="258645"/>
            </a:xfrm>
            <a:prstGeom prst="rect">
              <a:avLst/>
            </a:prstGeom>
          </p:spPr>
        </p:pic>
        <p:sp>
          <p:nvSpPr>
            <p:cNvPr id="144" name="TextBox 143"/>
            <p:cNvSpPr txBox="1"/>
            <p:nvPr/>
          </p:nvSpPr>
          <p:spPr bwMode="auto">
            <a:xfrm>
              <a:off x="1709928" y="2670048"/>
              <a:ext cx="1097280" cy="2743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defRPr/>
              </a:pPr>
              <a:r>
                <a:rPr lang="en-US" sz="1100" b="1">
                  <a:solidFill>
                    <a:srgbClr val="101820"/>
                  </a:solidFill>
                  <a:latin typeface="Comfortaa"/>
                  <a:cs typeface="Comfortaa"/>
                </a:rPr>
                <a:t>Cheapify</a:t>
              </a:r>
              <a:endParaRPr/>
            </a:p>
          </p:txBody>
        </p:sp>
        <p:sp>
          <p:nvSpPr>
            <p:cNvPr id="145" name="Rounded Rectangle 144"/>
            <p:cNvSpPr/>
            <p:nvPr/>
          </p:nvSpPr>
          <p:spPr bwMode="auto">
            <a:xfrm>
              <a:off x="1435608" y="3090672"/>
              <a:ext cx="1609344" cy="329184"/>
            </a:xfrm>
            <a:prstGeom prst="roundRect">
              <a:avLst>
                <a:gd name="adj" fmla="val 50000"/>
              </a:avLst>
            </a:prstGeom>
            <a:solidFill>
              <a:srgbClr val="F4F6F8"/>
            </a:solidFill>
            <a:ln w="9525">
              <a:solidFill>
                <a:srgbClr val="DDE5ED"/>
              </a:solidFill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pic>
          <p:nvPicPr>
            <p:cNvPr id="146" name="Picture 145" descr="search_5A6672.png"/>
            <p:cNvPicPr>
              <a:picLocks noChangeAspect="1"/>
            </p:cNvPicPr>
            <p:nvPr/>
          </p:nvPicPr>
          <p:blipFill rotWithShape="1">
            <a:blip r:embed="rId6"/>
            <a:stretch/>
          </p:blipFill>
          <p:spPr bwMode="auto">
            <a:xfrm>
              <a:off x="1527048" y="3182112"/>
              <a:ext cx="146304" cy="146304"/>
            </a:xfrm>
            <a:prstGeom prst="rect">
              <a:avLst/>
            </a:prstGeom>
          </p:spPr>
        </p:pic>
        <p:sp>
          <p:nvSpPr>
            <p:cNvPr id="147" name="TextBox 146"/>
            <p:cNvSpPr txBox="1"/>
            <p:nvPr/>
          </p:nvSpPr>
          <p:spPr bwMode="auto">
            <a:xfrm>
              <a:off x="1746504" y="3090672"/>
              <a:ext cx="1243584" cy="3291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defRPr/>
              </a:pPr>
              <a:r>
                <a:rPr lang="en-US" sz="900" b="0">
                  <a:solidFill>
                    <a:srgbClr val="101820"/>
                  </a:solidFill>
                  <a:latin typeface="Inter"/>
                  <a:cs typeface="Inter"/>
                </a:rPr>
                <a:t>anker power bank</a:t>
              </a:r>
              <a:endParaRPr/>
            </a:p>
          </p:txBody>
        </p:sp>
        <p:sp>
          <p:nvSpPr>
            <p:cNvPr id="148" name="Rounded Rectangle 147"/>
            <p:cNvSpPr/>
            <p:nvPr/>
          </p:nvSpPr>
          <p:spPr bwMode="auto">
            <a:xfrm>
              <a:off x="1435608" y="3611880"/>
              <a:ext cx="457200" cy="457200"/>
            </a:xfrm>
            <a:prstGeom prst="roundRect">
              <a:avLst>
                <a:gd name="adj" fmla="val 16000"/>
              </a:avLst>
            </a:prstGeom>
            <a:solidFill>
              <a:srgbClr val="DDE5ED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49" name="TextBox 148"/>
            <p:cNvSpPr txBox="1"/>
            <p:nvPr/>
          </p:nvSpPr>
          <p:spPr bwMode="auto">
            <a:xfrm>
              <a:off x="1965960" y="3630168"/>
              <a:ext cx="1097280" cy="20116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defRPr/>
              </a:pPr>
              <a:r>
                <a:rPr lang="en-US" sz="850" b="1">
                  <a:solidFill>
                    <a:srgbClr val="101820"/>
                  </a:solidFill>
                  <a:latin typeface="Inter"/>
                  <a:cs typeface="Inter"/>
                </a:rPr>
                <a:t>Anker 25K · 165 W</a:t>
              </a:r>
              <a:endParaRPr/>
            </a:p>
          </p:txBody>
        </p:sp>
        <p:sp>
          <p:nvSpPr>
            <p:cNvPr id="150" name="TextBox 149"/>
            <p:cNvSpPr txBox="1"/>
            <p:nvPr/>
          </p:nvSpPr>
          <p:spPr bwMode="auto">
            <a:xfrm>
              <a:off x="1965960" y="3840480"/>
              <a:ext cx="1078992" cy="329184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defRPr/>
              </a:pPr>
              <a:r>
                <a:rPr lang="en-US" sz="800" b="0">
                  <a:solidFill>
                    <a:srgbClr val="5A6672"/>
                  </a:solidFill>
                  <a:latin typeface="Inter"/>
                  <a:cs typeface="Inter"/>
                </a:rPr>
                <a:t>from 95,000 IQD · 4 sellers</a:t>
              </a:r>
              <a:endParaRPr/>
            </a:p>
          </p:txBody>
        </p:sp>
        <p:sp>
          <p:nvSpPr>
            <p:cNvPr id="151" name="Rounded Rectangle 150"/>
            <p:cNvSpPr/>
            <p:nvPr/>
          </p:nvSpPr>
          <p:spPr bwMode="auto">
            <a:xfrm>
              <a:off x="1435608" y="4434840"/>
              <a:ext cx="457200" cy="457200"/>
            </a:xfrm>
            <a:prstGeom prst="roundRect">
              <a:avLst>
                <a:gd name="adj" fmla="val 16000"/>
              </a:avLst>
            </a:prstGeom>
            <a:solidFill>
              <a:srgbClr val="DDE5ED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52" name="TextBox 151"/>
            <p:cNvSpPr txBox="1"/>
            <p:nvPr/>
          </p:nvSpPr>
          <p:spPr bwMode="auto">
            <a:xfrm>
              <a:off x="1965960" y="4453128"/>
              <a:ext cx="1097280" cy="20116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defRPr/>
              </a:pPr>
              <a:r>
                <a:rPr lang="en-US" sz="850" b="1">
                  <a:solidFill>
                    <a:srgbClr val="101820"/>
                  </a:solidFill>
                  <a:latin typeface="Inter"/>
                  <a:cs typeface="Inter"/>
                </a:rPr>
                <a:t>Anker 10K · 30 W</a:t>
              </a:r>
              <a:endParaRPr/>
            </a:p>
          </p:txBody>
        </p:sp>
        <p:sp>
          <p:nvSpPr>
            <p:cNvPr id="153" name="TextBox 152"/>
            <p:cNvSpPr txBox="1"/>
            <p:nvPr/>
          </p:nvSpPr>
          <p:spPr bwMode="auto">
            <a:xfrm>
              <a:off x="1965960" y="4663440"/>
              <a:ext cx="1078992" cy="329184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defRPr/>
              </a:pPr>
              <a:r>
                <a:rPr lang="en-US" sz="800" b="0">
                  <a:solidFill>
                    <a:srgbClr val="5A6672"/>
                  </a:solidFill>
                  <a:latin typeface="Inter"/>
                  <a:cs typeface="Inter"/>
                </a:rPr>
                <a:t>from 35,000 IQD</a:t>
              </a:r>
              <a:endParaRPr/>
            </a:p>
          </p:txBody>
        </p:sp>
        <p:sp>
          <p:nvSpPr>
            <p:cNvPr id="154" name="Rounded Rectangle 153"/>
            <p:cNvSpPr/>
            <p:nvPr/>
          </p:nvSpPr>
          <p:spPr bwMode="auto">
            <a:xfrm>
              <a:off x="1435608" y="5257800"/>
              <a:ext cx="457200" cy="457200"/>
            </a:xfrm>
            <a:prstGeom prst="roundRect">
              <a:avLst>
                <a:gd name="adj" fmla="val 16000"/>
              </a:avLst>
            </a:prstGeom>
            <a:solidFill>
              <a:srgbClr val="DDE5ED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55" name="TextBox 154"/>
            <p:cNvSpPr txBox="1"/>
            <p:nvPr/>
          </p:nvSpPr>
          <p:spPr bwMode="auto">
            <a:xfrm>
              <a:off x="1965960" y="5276088"/>
              <a:ext cx="1097280" cy="20116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defRPr/>
              </a:pPr>
              <a:r>
                <a:rPr lang="en-US" sz="850" b="1">
                  <a:solidFill>
                    <a:srgbClr val="101820"/>
                  </a:solidFill>
                  <a:latin typeface="Inter"/>
                  <a:cs typeface="Inter"/>
                </a:rPr>
                <a:t>Xiaomi 10K · 165 W</a:t>
              </a:r>
              <a:endParaRPr/>
            </a:p>
          </p:txBody>
        </p:sp>
        <p:sp>
          <p:nvSpPr>
            <p:cNvPr id="156" name="TextBox 155"/>
            <p:cNvSpPr txBox="1"/>
            <p:nvPr/>
          </p:nvSpPr>
          <p:spPr bwMode="auto">
            <a:xfrm>
              <a:off x="1965960" y="5486400"/>
              <a:ext cx="1078992" cy="329184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defRPr/>
              </a:pPr>
              <a:r>
                <a:rPr lang="en-US" sz="800" b="0">
                  <a:solidFill>
                    <a:srgbClr val="5A6672"/>
                  </a:solidFill>
                  <a:latin typeface="Inter"/>
                  <a:cs typeface="Inter"/>
                </a:rPr>
                <a:t>from 60,000 IQD</a:t>
              </a:r>
              <a:endParaRPr/>
            </a:p>
          </p:txBody>
        </p:sp>
      </p:grpSp>
      <p:grpSp>
        <p:nvGrpSpPr>
          <p:cNvPr id="931438774" name="Group 18"/>
          <p:cNvGrpSpPr/>
          <p:nvPr/>
        </p:nvGrpSpPr>
        <p:grpSpPr bwMode="auto">
          <a:xfrm>
            <a:off x="1307592" y="2468880"/>
            <a:ext cx="1865376" cy="3785616"/>
            <a:chOff x="1307592" y="2468880"/>
            <a:chExt cx="1865376" cy="3785616"/>
          </a:xfrm>
        </p:grpSpPr>
        <p:sp>
          <p:nvSpPr>
            <p:cNvPr id="157" name="Rounded Rectangle 156"/>
            <p:cNvSpPr/>
            <p:nvPr/>
          </p:nvSpPr>
          <p:spPr bwMode="auto">
            <a:xfrm>
              <a:off x="1307592" y="2468880"/>
              <a:ext cx="1865376" cy="3785616"/>
            </a:xfrm>
            <a:prstGeom prst="roundRect">
              <a:avLst>
                <a:gd name="adj" fmla="val 10784"/>
              </a:avLst>
            </a:prstGeom>
            <a:solidFill>
              <a:srgbClr val="FFFFF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pic>
          <p:nvPicPr>
            <p:cNvPr id="158" name="Picture 157" descr="product-anker.png"/>
            <p:cNvPicPr>
              <a:picLocks noChangeAspect="1"/>
            </p:cNvPicPr>
            <p:nvPr/>
          </p:nvPicPr>
          <p:blipFill rotWithShape="1">
            <a:blip r:embed="rId7"/>
            <a:stretch/>
          </p:blipFill>
          <p:spPr bwMode="auto">
            <a:xfrm>
              <a:off x="1435608" y="2745930"/>
              <a:ext cx="457200" cy="634621"/>
            </a:xfrm>
            <a:prstGeom prst="rect">
              <a:avLst/>
            </a:prstGeom>
          </p:spPr>
        </p:pic>
        <p:sp>
          <p:nvSpPr>
            <p:cNvPr id="159" name="TextBox 158"/>
            <p:cNvSpPr txBox="1"/>
            <p:nvPr/>
          </p:nvSpPr>
          <p:spPr bwMode="auto">
            <a:xfrm>
              <a:off x="1984248" y="2834640"/>
              <a:ext cx="1188720" cy="2743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defRPr/>
              </a:pPr>
              <a:r>
                <a:rPr lang="en-US" sz="950" b="1">
                  <a:solidFill>
                    <a:srgbClr val="101820"/>
                  </a:solidFill>
                  <a:latin typeface="Inter"/>
                  <a:cs typeface="Inter"/>
                </a:rPr>
                <a:t>Anker 25K · 165 W</a:t>
              </a:r>
              <a:endParaRPr/>
            </a:p>
          </p:txBody>
        </p:sp>
        <p:sp>
          <p:nvSpPr>
            <p:cNvPr id="160" name="TextBox 159"/>
            <p:cNvSpPr txBox="1"/>
            <p:nvPr/>
          </p:nvSpPr>
          <p:spPr bwMode="auto">
            <a:xfrm>
              <a:off x="1984248" y="3090672"/>
              <a:ext cx="1097280" cy="2743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defRPr/>
              </a:pPr>
              <a:r>
                <a:rPr lang="en-US" sz="900" b="0">
                  <a:solidFill>
                    <a:srgbClr val="5A6672"/>
                  </a:solidFill>
                  <a:latin typeface="Inter"/>
                  <a:cs typeface="Inter"/>
                </a:rPr>
                <a:t>4 sellers</a:t>
              </a:r>
              <a:endParaRPr/>
            </a:p>
          </p:txBody>
        </p:sp>
        <p:sp>
          <p:nvSpPr>
            <p:cNvPr id="161" name="Rounded Rectangle 160"/>
            <p:cNvSpPr/>
            <p:nvPr/>
          </p:nvSpPr>
          <p:spPr bwMode="auto">
            <a:xfrm>
              <a:off x="1417320" y="3886200"/>
              <a:ext cx="1645920" cy="585216"/>
            </a:xfrm>
            <a:prstGeom prst="roundRect">
              <a:avLst>
                <a:gd name="adj" fmla="val 12500"/>
              </a:avLst>
            </a:prstGeom>
            <a:solidFill>
              <a:srgbClr val="EDF5F0"/>
            </a:solidFill>
            <a:ln w="12700">
              <a:solidFill>
                <a:srgbClr val="228848"/>
              </a:solidFill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62" name="TextBox 161"/>
            <p:cNvSpPr txBox="1"/>
            <p:nvPr/>
          </p:nvSpPr>
          <p:spPr bwMode="auto">
            <a:xfrm>
              <a:off x="1508759" y="3941064"/>
              <a:ext cx="1371600" cy="18288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defRPr/>
              </a:pPr>
              <a:r>
                <a:rPr lang="en-US" sz="900" b="1">
                  <a:solidFill>
                    <a:srgbClr val="101820"/>
                  </a:solidFill>
                  <a:latin typeface="Inter"/>
                  <a:cs typeface="Inter"/>
                </a:rPr>
                <a:t>Store A · Duhok</a:t>
              </a:r>
              <a:endParaRPr/>
            </a:p>
          </p:txBody>
        </p:sp>
        <p:sp>
          <p:nvSpPr>
            <p:cNvPr id="163" name="TextBox 162"/>
            <p:cNvSpPr txBox="1"/>
            <p:nvPr/>
          </p:nvSpPr>
          <p:spPr bwMode="auto">
            <a:xfrm>
              <a:off x="1508759" y="4114800"/>
              <a:ext cx="914400" cy="18288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defRPr/>
              </a:pPr>
              <a:r>
                <a:rPr lang="en-US" sz="1000" b="1">
                  <a:solidFill>
                    <a:srgbClr val="101820"/>
                  </a:solidFill>
                  <a:latin typeface="Inter"/>
                  <a:cs typeface="Inter"/>
                </a:rPr>
                <a:t>95,000 IQD</a:t>
              </a:r>
              <a:endParaRPr/>
            </a:p>
          </p:txBody>
        </p:sp>
        <p:sp>
          <p:nvSpPr>
            <p:cNvPr id="164" name="TextBox 163"/>
            <p:cNvSpPr txBox="1"/>
            <p:nvPr/>
          </p:nvSpPr>
          <p:spPr bwMode="auto">
            <a:xfrm>
              <a:off x="1508759" y="4297680"/>
              <a:ext cx="1371600" cy="146304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defRPr/>
              </a:pPr>
              <a:r>
                <a:rPr lang="en-US" sz="800" b="0">
                  <a:solidFill>
                    <a:srgbClr val="5A6672"/>
                  </a:solidFill>
                  <a:latin typeface="Inter"/>
                  <a:cs typeface="Inter"/>
                </a:rPr>
                <a:t>Doorstep total</a:t>
              </a:r>
              <a:endParaRPr/>
            </a:p>
          </p:txBody>
        </p:sp>
        <p:sp>
          <p:nvSpPr>
            <p:cNvPr id="165" name="Rounded Rectangle 164"/>
            <p:cNvSpPr/>
            <p:nvPr/>
          </p:nvSpPr>
          <p:spPr bwMode="auto">
            <a:xfrm>
              <a:off x="1417320" y="4599432"/>
              <a:ext cx="1645920" cy="585216"/>
            </a:xfrm>
            <a:prstGeom prst="roundRect">
              <a:avLst>
                <a:gd name="adj" fmla="val 12500"/>
              </a:avLst>
            </a:prstGeom>
            <a:solidFill>
              <a:srgbClr val="FFFFFF"/>
            </a:solidFill>
            <a:ln w="9525">
              <a:solidFill>
                <a:srgbClr val="DDE5ED"/>
              </a:solidFill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66" name="TextBox 165"/>
            <p:cNvSpPr txBox="1"/>
            <p:nvPr/>
          </p:nvSpPr>
          <p:spPr bwMode="auto">
            <a:xfrm>
              <a:off x="1508759" y="4654296"/>
              <a:ext cx="1371600" cy="18288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defRPr/>
              </a:pPr>
              <a:r>
                <a:rPr lang="en-US" sz="900" b="1">
                  <a:solidFill>
                    <a:srgbClr val="101820"/>
                  </a:solidFill>
                  <a:latin typeface="Inter"/>
                  <a:cs typeface="Inter"/>
                </a:rPr>
                <a:t>Store D · Erbil</a:t>
              </a:r>
              <a:endParaRPr/>
            </a:p>
          </p:txBody>
        </p:sp>
        <p:sp>
          <p:nvSpPr>
            <p:cNvPr id="167" name="TextBox 166"/>
            <p:cNvSpPr txBox="1"/>
            <p:nvPr/>
          </p:nvSpPr>
          <p:spPr bwMode="auto">
            <a:xfrm>
              <a:off x="1508759" y="4828032"/>
              <a:ext cx="914400" cy="18288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defRPr/>
              </a:pPr>
              <a:r>
                <a:rPr lang="en-US" sz="1000" b="1">
                  <a:solidFill>
                    <a:srgbClr val="101820"/>
                  </a:solidFill>
                  <a:latin typeface="Inter"/>
                  <a:cs typeface="Inter"/>
                </a:rPr>
                <a:t>96,000 IQD</a:t>
              </a:r>
              <a:endParaRPr/>
            </a:p>
          </p:txBody>
        </p:sp>
        <p:sp>
          <p:nvSpPr>
            <p:cNvPr id="168" name="TextBox 167"/>
            <p:cNvSpPr txBox="1"/>
            <p:nvPr/>
          </p:nvSpPr>
          <p:spPr bwMode="auto">
            <a:xfrm>
              <a:off x="1508759" y="5010912"/>
              <a:ext cx="1371600" cy="146304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defRPr/>
              </a:pPr>
              <a:r>
                <a:rPr lang="en-US" sz="800" b="0">
                  <a:solidFill>
                    <a:srgbClr val="5A6672"/>
                  </a:solidFill>
                  <a:latin typeface="Inter"/>
                  <a:cs typeface="Inter"/>
                </a:rPr>
                <a:t>Doorstep total</a:t>
              </a:r>
              <a:endParaRPr/>
            </a:p>
          </p:txBody>
        </p:sp>
        <p:sp>
          <p:nvSpPr>
            <p:cNvPr id="169" name="Rounded Rectangle 168"/>
            <p:cNvSpPr/>
            <p:nvPr/>
          </p:nvSpPr>
          <p:spPr bwMode="auto">
            <a:xfrm>
              <a:off x="1417320" y="5312664"/>
              <a:ext cx="1645920" cy="585216"/>
            </a:xfrm>
            <a:prstGeom prst="roundRect">
              <a:avLst>
                <a:gd name="adj" fmla="val 12500"/>
              </a:avLst>
            </a:prstGeom>
            <a:solidFill>
              <a:srgbClr val="FFFFFF"/>
            </a:solidFill>
            <a:ln w="9525">
              <a:solidFill>
                <a:srgbClr val="DDE5ED"/>
              </a:solidFill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70" name="TextBox 169"/>
            <p:cNvSpPr txBox="1"/>
            <p:nvPr/>
          </p:nvSpPr>
          <p:spPr bwMode="auto">
            <a:xfrm>
              <a:off x="1508759" y="5367528"/>
              <a:ext cx="1371600" cy="18288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defRPr/>
              </a:pPr>
              <a:r>
                <a:rPr lang="en-US" sz="900" b="1">
                  <a:solidFill>
                    <a:srgbClr val="101820"/>
                  </a:solidFill>
                  <a:latin typeface="Inter"/>
                  <a:cs typeface="Inter"/>
                </a:rPr>
                <a:t>Store B · Duhok</a:t>
              </a:r>
              <a:endParaRPr/>
            </a:p>
          </p:txBody>
        </p:sp>
        <p:sp>
          <p:nvSpPr>
            <p:cNvPr id="171" name="TextBox 170"/>
            <p:cNvSpPr txBox="1"/>
            <p:nvPr/>
          </p:nvSpPr>
          <p:spPr bwMode="auto">
            <a:xfrm>
              <a:off x="1508759" y="5541264"/>
              <a:ext cx="914400" cy="18288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defRPr/>
              </a:pPr>
              <a:r>
                <a:rPr lang="en-US" sz="1000" b="1">
                  <a:solidFill>
                    <a:srgbClr val="101820"/>
                  </a:solidFill>
                  <a:latin typeface="Inter"/>
                  <a:cs typeface="Inter"/>
                </a:rPr>
                <a:t>102,000 IQD</a:t>
              </a:r>
              <a:endParaRPr/>
            </a:p>
          </p:txBody>
        </p:sp>
        <p:sp>
          <p:nvSpPr>
            <p:cNvPr id="172" name="TextBox 171"/>
            <p:cNvSpPr txBox="1"/>
            <p:nvPr/>
          </p:nvSpPr>
          <p:spPr bwMode="auto">
            <a:xfrm>
              <a:off x="1508759" y="5724144"/>
              <a:ext cx="1371600" cy="146304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defRPr/>
              </a:pPr>
              <a:r>
                <a:rPr lang="en-US" sz="800" b="0">
                  <a:solidFill>
                    <a:srgbClr val="5A6672"/>
                  </a:solidFill>
                  <a:latin typeface="Inter"/>
                  <a:cs typeface="Inter"/>
                </a:rPr>
                <a:t>Doorstep total</a:t>
              </a:r>
              <a:endParaRPr/>
            </a:p>
          </p:txBody>
        </p:sp>
        <p:sp>
          <p:nvSpPr>
            <p:cNvPr id="173" name="Rounded Rectangle 172"/>
            <p:cNvSpPr/>
            <p:nvPr/>
          </p:nvSpPr>
          <p:spPr bwMode="auto">
            <a:xfrm>
              <a:off x="2258568" y="4197096"/>
              <a:ext cx="731520" cy="201168"/>
            </a:xfrm>
            <a:prstGeom prst="roundRect">
              <a:avLst>
                <a:gd name="adj" fmla="val 50000"/>
              </a:avLst>
            </a:prstGeom>
            <a:solidFill>
              <a:srgbClr val="228848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74" name="TextBox 173"/>
            <p:cNvSpPr txBox="1"/>
            <p:nvPr/>
          </p:nvSpPr>
          <p:spPr bwMode="auto">
            <a:xfrm>
              <a:off x="2258568" y="4197096"/>
              <a:ext cx="731520" cy="20116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defRPr/>
              </a:pPr>
              <a:r>
                <a:rPr lang="en-US" sz="800" b="1">
                  <a:solidFill>
                    <a:srgbClr val="FFFFFF"/>
                  </a:solidFill>
                  <a:latin typeface="Inter"/>
                  <a:cs typeface="Inter"/>
                </a:rPr>
                <a:t>BEST VALUE</a:t>
              </a:r>
              <a:endParaRPr/>
            </a:p>
          </p:txBody>
        </p:sp>
      </p:grpSp>
      <p:grpSp>
        <p:nvGrpSpPr>
          <p:cNvPr id="308579131" name="Group 19"/>
          <p:cNvGrpSpPr/>
          <p:nvPr/>
        </p:nvGrpSpPr>
        <p:grpSpPr bwMode="auto">
          <a:xfrm>
            <a:off x="1307592" y="2468880"/>
            <a:ext cx="1865376" cy="3785616"/>
            <a:chOff x="1307592" y="2468880"/>
            <a:chExt cx="1865376" cy="3785616"/>
          </a:xfrm>
        </p:grpSpPr>
        <p:sp>
          <p:nvSpPr>
            <p:cNvPr id="175" name="Rounded Rectangle 174"/>
            <p:cNvSpPr/>
            <p:nvPr/>
          </p:nvSpPr>
          <p:spPr bwMode="auto">
            <a:xfrm>
              <a:off x="1307592" y="2468880"/>
              <a:ext cx="1865376" cy="3785616"/>
            </a:xfrm>
            <a:prstGeom prst="roundRect">
              <a:avLst>
                <a:gd name="adj" fmla="val 10784"/>
              </a:avLst>
            </a:prstGeom>
            <a:solidFill>
              <a:srgbClr val="FFFFF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76" name="TextBox 175"/>
            <p:cNvSpPr txBox="1"/>
            <p:nvPr/>
          </p:nvSpPr>
          <p:spPr bwMode="auto">
            <a:xfrm>
              <a:off x="1435608" y="2697480"/>
              <a:ext cx="1609344" cy="2743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defRPr/>
              </a:pPr>
              <a:r>
                <a:rPr lang="en-US" sz="1200" b="1">
                  <a:solidFill>
                    <a:srgbClr val="101820"/>
                  </a:solidFill>
                  <a:latin typeface="Inter"/>
                  <a:cs typeface="Inter"/>
                </a:rPr>
                <a:t>Checkout</a:t>
              </a:r>
              <a:endParaRPr/>
            </a:p>
          </p:txBody>
        </p:sp>
        <p:sp>
          <p:nvSpPr>
            <p:cNvPr id="177" name="TextBox 176"/>
            <p:cNvSpPr txBox="1"/>
            <p:nvPr/>
          </p:nvSpPr>
          <p:spPr bwMode="auto">
            <a:xfrm>
              <a:off x="1435608" y="3017519"/>
              <a:ext cx="1609344" cy="2286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defRPr/>
              </a:pPr>
              <a:r>
                <a:rPr lang="en-US" sz="900" b="0">
                  <a:solidFill>
                    <a:srgbClr val="5A6672"/>
                  </a:solidFill>
                  <a:latin typeface="Inter"/>
                  <a:cs typeface="Inter"/>
                </a:rPr>
                <a:t>Anker 25K · 165 W</a:t>
              </a:r>
              <a:endParaRPr/>
            </a:p>
          </p:txBody>
        </p:sp>
        <p:sp>
          <p:nvSpPr>
            <p:cNvPr id="178" name="TextBox 177"/>
            <p:cNvSpPr txBox="1"/>
            <p:nvPr/>
          </p:nvSpPr>
          <p:spPr bwMode="auto">
            <a:xfrm>
              <a:off x="1435608" y="3429000"/>
              <a:ext cx="1005840" cy="23774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defRPr/>
              </a:pPr>
              <a:r>
                <a:rPr lang="en-US" sz="1000" b="0">
                  <a:solidFill>
                    <a:srgbClr val="101820"/>
                  </a:solidFill>
                  <a:latin typeface="Inter"/>
                  <a:cs typeface="Inter"/>
                </a:rPr>
                <a:t>Item</a:t>
              </a:r>
              <a:endParaRPr/>
            </a:p>
          </p:txBody>
        </p:sp>
        <p:sp>
          <p:nvSpPr>
            <p:cNvPr id="179" name="TextBox 178"/>
            <p:cNvSpPr txBox="1"/>
            <p:nvPr/>
          </p:nvSpPr>
          <p:spPr bwMode="auto">
            <a:xfrm>
              <a:off x="2313432" y="3429000"/>
              <a:ext cx="731520" cy="23774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r">
                <a:defRPr/>
              </a:pPr>
              <a:r>
                <a:rPr lang="en-US" sz="1000" b="0">
                  <a:solidFill>
                    <a:srgbClr val="101820"/>
                  </a:solidFill>
                  <a:latin typeface="Inter"/>
                  <a:cs typeface="Inter"/>
                </a:rPr>
                <a:t>92,000</a:t>
              </a:r>
              <a:endParaRPr/>
            </a:p>
          </p:txBody>
        </p:sp>
        <p:sp>
          <p:nvSpPr>
            <p:cNvPr id="180" name="TextBox 179"/>
            <p:cNvSpPr txBox="1"/>
            <p:nvPr/>
          </p:nvSpPr>
          <p:spPr bwMode="auto">
            <a:xfrm>
              <a:off x="1435608" y="3739896"/>
              <a:ext cx="1005840" cy="23774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defRPr/>
              </a:pPr>
              <a:r>
                <a:rPr lang="en-US" sz="1000" b="0">
                  <a:solidFill>
                    <a:srgbClr val="101820"/>
                  </a:solidFill>
                  <a:latin typeface="Inter"/>
                  <a:cs typeface="Inter"/>
                </a:rPr>
                <a:t>Delivery (Duhok)</a:t>
              </a:r>
              <a:endParaRPr/>
            </a:p>
          </p:txBody>
        </p:sp>
        <p:sp>
          <p:nvSpPr>
            <p:cNvPr id="181" name="TextBox 180"/>
            <p:cNvSpPr txBox="1"/>
            <p:nvPr/>
          </p:nvSpPr>
          <p:spPr bwMode="auto">
            <a:xfrm>
              <a:off x="2313432" y="3739896"/>
              <a:ext cx="731520" cy="23774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r">
                <a:defRPr/>
              </a:pPr>
              <a:r>
                <a:rPr lang="en-US" sz="1000" b="0">
                  <a:solidFill>
                    <a:srgbClr val="101820"/>
                  </a:solidFill>
                  <a:latin typeface="Inter"/>
                  <a:cs typeface="Inter"/>
                </a:rPr>
                <a:t>3,000</a:t>
              </a:r>
              <a:endParaRPr/>
            </a:p>
          </p:txBody>
        </p:sp>
        <p:cxnSp>
          <p:nvCxnSpPr>
            <p:cNvPr id="182" name="Connector 181"/>
            <p:cNvCxnSpPr/>
            <p:nvPr/>
          </p:nvCxnSpPr>
          <p:spPr bwMode="auto">
            <a:xfrm>
              <a:off x="1435608" y="4114800"/>
              <a:ext cx="1609344" cy="0"/>
            </a:xfrm>
            <a:prstGeom prst="line">
              <a:avLst/>
            </a:prstGeom>
            <a:ln w="12700">
              <a:solidFill>
                <a:srgbClr val="DDE5ED"/>
              </a:solidFill>
            </a:ln>
            <a:effectLst/>
          </p:spPr>
        </p:cxnSp>
        <p:sp>
          <p:nvSpPr>
            <p:cNvPr id="183" name="TextBox 182"/>
            <p:cNvSpPr txBox="1"/>
            <p:nvPr/>
          </p:nvSpPr>
          <p:spPr bwMode="auto">
            <a:xfrm>
              <a:off x="1435608" y="4206240"/>
              <a:ext cx="1609344" cy="20116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defRPr/>
              </a:pPr>
              <a:r>
                <a:rPr lang="en-US" sz="1000" b="1">
                  <a:solidFill>
                    <a:srgbClr val="101820"/>
                  </a:solidFill>
                  <a:latin typeface="Inter"/>
                  <a:cs typeface="Inter"/>
                </a:rPr>
                <a:t>Doorstep total</a:t>
              </a:r>
              <a:endParaRPr/>
            </a:p>
          </p:txBody>
        </p:sp>
        <p:sp>
          <p:nvSpPr>
            <p:cNvPr id="184" name="TextBox 183"/>
            <p:cNvSpPr txBox="1"/>
            <p:nvPr/>
          </p:nvSpPr>
          <p:spPr bwMode="auto">
            <a:xfrm>
              <a:off x="1435608" y="4425696"/>
              <a:ext cx="1609344" cy="310896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defRPr/>
              </a:pPr>
              <a:r>
                <a:rPr lang="en-US" sz="1400" b="1">
                  <a:solidFill>
                    <a:srgbClr val="101820"/>
                  </a:solidFill>
                  <a:latin typeface="Inter"/>
                  <a:cs typeface="Inter"/>
                </a:rPr>
                <a:t>95,000 IQD</a:t>
              </a:r>
              <a:endParaRPr/>
            </a:p>
          </p:txBody>
        </p:sp>
        <p:sp>
          <p:nvSpPr>
            <p:cNvPr id="185" name="Rounded Rectangle 184"/>
            <p:cNvSpPr/>
            <p:nvPr/>
          </p:nvSpPr>
          <p:spPr bwMode="auto">
            <a:xfrm>
              <a:off x="1435608" y="4828032"/>
              <a:ext cx="1609344" cy="384048"/>
            </a:xfrm>
            <a:prstGeom prst="roundRect">
              <a:avLst>
                <a:gd name="adj" fmla="val 19047"/>
              </a:avLst>
            </a:prstGeom>
            <a:solidFill>
              <a:srgbClr val="FFFFFF"/>
            </a:solidFill>
            <a:ln w="12700">
              <a:solidFill>
                <a:srgbClr val="298FC2"/>
              </a:solidFill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86" name="Oval 185"/>
            <p:cNvSpPr/>
            <p:nvPr/>
          </p:nvSpPr>
          <p:spPr bwMode="auto">
            <a:xfrm>
              <a:off x="1554480" y="4937760"/>
              <a:ext cx="164592" cy="164592"/>
            </a:xfrm>
            <a:prstGeom prst="ellipse">
              <a:avLst/>
            </a:prstGeom>
            <a:noFill/>
            <a:ln w="15875">
              <a:solidFill>
                <a:srgbClr val="298FC2"/>
              </a:solidFill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87" name="Oval 186"/>
            <p:cNvSpPr/>
            <p:nvPr/>
          </p:nvSpPr>
          <p:spPr bwMode="auto">
            <a:xfrm>
              <a:off x="1595628" y="4978908"/>
              <a:ext cx="82296" cy="82296"/>
            </a:xfrm>
            <a:prstGeom prst="ellipse">
              <a:avLst/>
            </a:prstGeom>
            <a:solidFill>
              <a:srgbClr val="298FC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88" name="TextBox 187"/>
            <p:cNvSpPr txBox="1"/>
            <p:nvPr/>
          </p:nvSpPr>
          <p:spPr bwMode="auto">
            <a:xfrm>
              <a:off x="1819656" y="4828032"/>
              <a:ext cx="1152144" cy="38404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defRPr/>
              </a:pPr>
              <a:r>
                <a:rPr lang="en-US" sz="1000" b="1">
                  <a:solidFill>
                    <a:srgbClr val="101820"/>
                  </a:solidFill>
                  <a:latin typeface="Inter"/>
                  <a:cs typeface="Inter"/>
                </a:rPr>
                <a:t>Cash on delivery</a:t>
              </a:r>
              <a:endParaRPr/>
            </a:p>
          </p:txBody>
        </p:sp>
        <p:sp>
          <p:nvSpPr>
            <p:cNvPr id="189" name="Rounded Rectangle 188"/>
            <p:cNvSpPr/>
            <p:nvPr/>
          </p:nvSpPr>
          <p:spPr bwMode="auto">
            <a:xfrm>
              <a:off x="1435608" y="5285232"/>
              <a:ext cx="1609344" cy="384048"/>
            </a:xfrm>
            <a:prstGeom prst="roundRect">
              <a:avLst>
                <a:gd name="adj" fmla="val 19047"/>
              </a:avLst>
            </a:prstGeom>
            <a:solidFill>
              <a:srgbClr val="FFFFFF"/>
            </a:solidFill>
            <a:ln w="12700">
              <a:solidFill>
                <a:srgbClr val="DDE5ED"/>
              </a:solidFill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90" name="Oval 189"/>
            <p:cNvSpPr/>
            <p:nvPr/>
          </p:nvSpPr>
          <p:spPr bwMode="auto">
            <a:xfrm>
              <a:off x="1554480" y="5394960"/>
              <a:ext cx="164592" cy="164592"/>
            </a:xfrm>
            <a:prstGeom prst="ellipse">
              <a:avLst/>
            </a:prstGeom>
            <a:noFill/>
            <a:ln w="15875">
              <a:solidFill>
                <a:srgbClr val="A9B1B9"/>
              </a:solidFill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91" name="TextBox 190"/>
            <p:cNvSpPr txBox="1"/>
            <p:nvPr/>
          </p:nvSpPr>
          <p:spPr bwMode="auto">
            <a:xfrm>
              <a:off x="1819656" y="5285232"/>
              <a:ext cx="1152144" cy="38404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defRPr/>
              </a:pPr>
              <a:r>
                <a:rPr lang="en-US" sz="1000" b="0">
                  <a:solidFill>
                    <a:srgbClr val="101820"/>
                  </a:solidFill>
                  <a:latin typeface="Inter"/>
                  <a:cs typeface="Inter"/>
                </a:rPr>
                <a:t>Card / e-wallet</a:t>
              </a:r>
              <a:endParaRPr/>
            </a:p>
          </p:txBody>
        </p:sp>
        <p:sp>
          <p:nvSpPr>
            <p:cNvPr id="192" name="Rounded Rectangle 191"/>
            <p:cNvSpPr/>
            <p:nvPr/>
          </p:nvSpPr>
          <p:spPr bwMode="auto">
            <a:xfrm>
              <a:off x="1435608" y="5779008"/>
              <a:ext cx="1609344" cy="384048"/>
            </a:xfrm>
            <a:prstGeom prst="roundRect">
              <a:avLst>
                <a:gd name="adj" fmla="val 28571"/>
              </a:avLst>
            </a:prstGeom>
            <a:solidFill>
              <a:srgbClr val="298FC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93" name="TextBox 192"/>
            <p:cNvSpPr txBox="1"/>
            <p:nvPr/>
          </p:nvSpPr>
          <p:spPr bwMode="auto">
            <a:xfrm>
              <a:off x="1435608" y="5779008"/>
              <a:ext cx="1609344" cy="38404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defRPr/>
              </a:pPr>
              <a:r>
                <a:rPr lang="en-US" sz="1200" b="1">
                  <a:solidFill>
                    <a:srgbClr val="FFFFFF"/>
                  </a:solidFill>
                  <a:latin typeface="Inter"/>
                  <a:cs typeface="Inter"/>
                </a:rPr>
                <a:t>Order now</a:t>
              </a:r>
              <a:endParaRPr/>
            </a:p>
          </p:txBody>
        </p:sp>
      </p:grpSp>
      <p:grpSp>
        <p:nvGrpSpPr>
          <p:cNvPr id="1771305156" name="Group 20"/>
          <p:cNvGrpSpPr/>
          <p:nvPr/>
        </p:nvGrpSpPr>
        <p:grpSpPr bwMode="auto">
          <a:xfrm>
            <a:off x="1307592" y="2468880"/>
            <a:ext cx="1865376" cy="3785616"/>
            <a:chOff x="1307592" y="2468880"/>
            <a:chExt cx="1865376" cy="3785616"/>
          </a:xfrm>
        </p:grpSpPr>
        <p:sp>
          <p:nvSpPr>
            <p:cNvPr id="194" name="Rounded Rectangle 193"/>
            <p:cNvSpPr/>
            <p:nvPr/>
          </p:nvSpPr>
          <p:spPr bwMode="auto">
            <a:xfrm>
              <a:off x="1307592" y="2468880"/>
              <a:ext cx="1865376" cy="3785616"/>
            </a:xfrm>
            <a:prstGeom prst="roundRect">
              <a:avLst>
                <a:gd name="adj" fmla="val 10784"/>
              </a:avLst>
            </a:prstGeom>
            <a:solidFill>
              <a:srgbClr val="FFFFF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95" name="TextBox 194"/>
            <p:cNvSpPr txBox="1"/>
            <p:nvPr/>
          </p:nvSpPr>
          <p:spPr bwMode="auto">
            <a:xfrm>
              <a:off x="1435608" y="2697480"/>
              <a:ext cx="1609344" cy="2743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defRPr/>
              </a:pPr>
              <a:r>
                <a:rPr lang="en-US" sz="1100" b="1">
                  <a:solidFill>
                    <a:srgbClr val="101820"/>
                  </a:solidFill>
                  <a:latin typeface="Inter"/>
                  <a:cs typeface="Inter"/>
                </a:rPr>
                <a:t>Your store · Orders</a:t>
              </a:r>
              <a:endParaRPr/>
            </a:p>
          </p:txBody>
        </p:sp>
        <p:cxnSp>
          <p:nvCxnSpPr>
            <p:cNvPr id="196" name="Connector 195"/>
            <p:cNvCxnSpPr/>
            <p:nvPr/>
          </p:nvCxnSpPr>
          <p:spPr bwMode="auto">
            <a:xfrm>
              <a:off x="1435608" y="3035808"/>
              <a:ext cx="1609344" cy="0"/>
            </a:xfrm>
            <a:prstGeom prst="line">
              <a:avLst/>
            </a:prstGeom>
            <a:ln w="12700">
              <a:solidFill>
                <a:srgbClr val="DDE5ED"/>
              </a:solidFill>
            </a:ln>
            <a:effectLst/>
          </p:spPr>
        </p:cxnSp>
        <p:sp>
          <p:nvSpPr>
            <p:cNvPr id="197" name="Rounded Rectangle 196"/>
            <p:cNvSpPr/>
            <p:nvPr/>
          </p:nvSpPr>
          <p:spPr bwMode="auto">
            <a:xfrm>
              <a:off x="1435608" y="3200400"/>
              <a:ext cx="1609344" cy="1874520"/>
            </a:xfrm>
            <a:prstGeom prst="roundRect">
              <a:avLst>
                <a:gd name="adj" fmla="val 5681"/>
              </a:avLst>
            </a:prstGeom>
            <a:solidFill>
              <a:srgbClr val="FFFFFF"/>
            </a:solidFill>
            <a:ln w="9525">
              <a:solidFill>
                <a:srgbClr val="DDE5ED"/>
              </a:solidFill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98" name="TextBox 197"/>
            <p:cNvSpPr txBox="1"/>
            <p:nvPr/>
          </p:nvSpPr>
          <p:spPr bwMode="auto">
            <a:xfrm>
              <a:off x="1545336" y="3291840"/>
              <a:ext cx="1426464" cy="2286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defRPr/>
              </a:pPr>
              <a:r>
                <a:rPr lang="en-US" sz="1000" b="1">
                  <a:solidFill>
                    <a:srgbClr val="298FC2"/>
                  </a:solidFill>
                  <a:latin typeface="Inter"/>
                  <a:cs typeface="Inter"/>
                </a:rPr>
                <a:t>New order</a:t>
              </a:r>
              <a:endParaRPr/>
            </a:p>
          </p:txBody>
        </p:sp>
        <p:sp>
          <p:nvSpPr>
            <p:cNvPr id="199" name="TextBox 198"/>
            <p:cNvSpPr txBox="1"/>
            <p:nvPr/>
          </p:nvSpPr>
          <p:spPr bwMode="auto">
            <a:xfrm>
              <a:off x="1545336" y="3547872"/>
              <a:ext cx="1426464" cy="2286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defRPr/>
              </a:pPr>
              <a:r>
                <a:rPr lang="en-US" sz="900" b="0">
                  <a:solidFill>
                    <a:srgbClr val="101820"/>
                  </a:solidFill>
                  <a:latin typeface="Inter"/>
                  <a:cs typeface="Inter"/>
                </a:rPr>
                <a:t>Anker 25K · Black · ×1</a:t>
              </a:r>
              <a:endParaRPr/>
            </a:p>
          </p:txBody>
        </p:sp>
        <p:sp>
          <p:nvSpPr>
            <p:cNvPr id="200" name="TextBox 199"/>
            <p:cNvSpPr txBox="1"/>
            <p:nvPr/>
          </p:nvSpPr>
          <p:spPr bwMode="auto">
            <a:xfrm>
              <a:off x="1545336" y="3803904"/>
              <a:ext cx="1426464" cy="3657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defRPr/>
              </a:pPr>
              <a:r>
                <a:rPr lang="en-US" sz="900" b="1">
                  <a:solidFill>
                    <a:srgbClr val="101820"/>
                  </a:solidFill>
                  <a:latin typeface="Inter"/>
                  <a:cs typeface="Inter"/>
                </a:rPr>
                <a:t>95,000 IQD · cash on delivery</a:t>
              </a:r>
              <a:endParaRPr/>
            </a:p>
          </p:txBody>
        </p:sp>
        <p:pic>
          <p:nvPicPr>
            <p:cNvPr id="201" name="Picture 200" descr="map-pin_5A6672.png"/>
            <p:cNvPicPr>
              <a:picLocks noChangeAspect="1"/>
            </p:cNvPicPr>
            <p:nvPr/>
          </p:nvPicPr>
          <p:blipFill rotWithShape="1">
            <a:blip r:embed="rId8"/>
            <a:stretch/>
          </p:blipFill>
          <p:spPr bwMode="auto">
            <a:xfrm>
              <a:off x="1545336" y="4224528"/>
              <a:ext cx="146304" cy="146304"/>
            </a:xfrm>
            <a:prstGeom prst="rect">
              <a:avLst/>
            </a:prstGeom>
          </p:spPr>
        </p:pic>
        <p:sp>
          <p:nvSpPr>
            <p:cNvPr id="202" name="TextBox 201"/>
            <p:cNvSpPr txBox="1"/>
            <p:nvPr/>
          </p:nvSpPr>
          <p:spPr bwMode="auto">
            <a:xfrm>
              <a:off x="1746504" y="4206240"/>
              <a:ext cx="1243584" cy="20116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defRPr/>
              </a:pPr>
              <a:r>
                <a:rPr lang="en-US" sz="900" b="0">
                  <a:solidFill>
                    <a:srgbClr val="5A6672"/>
                  </a:solidFill>
                  <a:latin typeface="Inter"/>
                  <a:cs typeface="Inter"/>
                </a:rPr>
                <a:t>Duhok — Malta</a:t>
              </a:r>
              <a:endParaRPr/>
            </a:p>
          </p:txBody>
        </p:sp>
        <p:sp>
          <p:nvSpPr>
            <p:cNvPr id="203" name="Rounded Rectangle 202"/>
            <p:cNvSpPr/>
            <p:nvPr/>
          </p:nvSpPr>
          <p:spPr bwMode="auto">
            <a:xfrm>
              <a:off x="1545336" y="4572000"/>
              <a:ext cx="603504" cy="310896"/>
            </a:xfrm>
            <a:prstGeom prst="roundRect">
              <a:avLst>
                <a:gd name="adj" fmla="val 23529"/>
              </a:avLst>
            </a:prstGeom>
            <a:solidFill>
              <a:srgbClr val="298FC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204" name="TextBox 203"/>
            <p:cNvSpPr txBox="1"/>
            <p:nvPr/>
          </p:nvSpPr>
          <p:spPr bwMode="auto">
            <a:xfrm>
              <a:off x="1545336" y="4572000"/>
              <a:ext cx="603504" cy="310896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defRPr/>
              </a:pPr>
              <a:r>
                <a:rPr lang="en-US" sz="900" b="1">
                  <a:solidFill>
                    <a:srgbClr val="FFFFFF"/>
                  </a:solidFill>
                  <a:latin typeface="Inter"/>
                  <a:cs typeface="Inter"/>
                </a:rPr>
                <a:t>Accept</a:t>
              </a:r>
              <a:endParaRPr/>
            </a:p>
          </p:txBody>
        </p:sp>
        <p:sp>
          <p:nvSpPr>
            <p:cNvPr id="205" name="Rounded Rectangle 204"/>
            <p:cNvSpPr/>
            <p:nvPr/>
          </p:nvSpPr>
          <p:spPr bwMode="auto">
            <a:xfrm>
              <a:off x="2221992" y="4572000"/>
              <a:ext cx="713232" cy="310896"/>
            </a:xfrm>
            <a:prstGeom prst="roundRect">
              <a:avLst>
                <a:gd name="adj" fmla="val 23529"/>
              </a:avLst>
            </a:prstGeom>
            <a:solidFill>
              <a:srgbClr val="FFFFFF"/>
            </a:solidFill>
            <a:ln w="12700">
              <a:solidFill>
                <a:srgbClr val="298FC2"/>
              </a:solidFill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206" name="TextBox 205"/>
            <p:cNvSpPr txBox="1"/>
            <p:nvPr/>
          </p:nvSpPr>
          <p:spPr bwMode="auto">
            <a:xfrm>
              <a:off x="2221992" y="4572000"/>
              <a:ext cx="713232" cy="310896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defRPr/>
              </a:pPr>
              <a:r>
                <a:rPr lang="en-US" sz="800" b="1">
                  <a:solidFill>
                    <a:srgbClr val="298FC2"/>
                  </a:solidFill>
                  <a:latin typeface="Inter"/>
                  <a:cs typeface="Inter"/>
                </a:rPr>
                <a:t>Print waybill</a:t>
              </a:r>
              <a:endParaRPr/>
            </a:p>
          </p:txBody>
        </p:sp>
        <p:pic>
          <p:nvPicPr>
            <p:cNvPr id="207" name="Picture 206" descr="truck_298FC2.png"/>
            <p:cNvPicPr>
              <a:picLocks noChangeAspect="1"/>
            </p:cNvPicPr>
            <p:nvPr/>
          </p:nvPicPr>
          <p:blipFill rotWithShape="1">
            <a:blip r:embed="rId9"/>
            <a:stretch/>
          </p:blipFill>
          <p:spPr bwMode="auto">
            <a:xfrm>
              <a:off x="1453896" y="5349240"/>
              <a:ext cx="237744" cy="237744"/>
            </a:xfrm>
            <a:prstGeom prst="rect">
              <a:avLst/>
            </a:prstGeom>
          </p:spPr>
        </p:pic>
        <p:sp>
          <p:nvSpPr>
            <p:cNvPr id="208" name="TextBox 207"/>
            <p:cNvSpPr txBox="1"/>
            <p:nvPr/>
          </p:nvSpPr>
          <p:spPr bwMode="auto">
            <a:xfrm>
              <a:off x="1764792" y="5321808"/>
              <a:ext cx="1243584" cy="29260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defRPr/>
              </a:pPr>
              <a:r>
                <a:rPr lang="en-US" sz="1000" b="1">
                  <a:solidFill>
                    <a:srgbClr val="101820"/>
                  </a:solidFill>
                  <a:latin typeface="Inter"/>
                  <a:cs typeface="Inter"/>
                </a:rPr>
                <a:t>Courier pickup today</a:t>
              </a:r>
              <a:endParaRPr/>
            </a:p>
          </p:txBody>
        </p:sp>
      </p:grpSp>
      <p:grpSp>
        <p:nvGrpSpPr>
          <p:cNvPr id="1787314007" name="Group 21"/>
          <p:cNvGrpSpPr/>
          <p:nvPr/>
        </p:nvGrpSpPr>
        <p:grpSpPr bwMode="auto">
          <a:xfrm>
            <a:off x="1307592" y="2468880"/>
            <a:ext cx="1865376" cy="3785616"/>
            <a:chOff x="1307592" y="2468880"/>
            <a:chExt cx="1865376" cy="3785616"/>
          </a:xfrm>
        </p:grpSpPr>
        <p:sp>
          <p:nvSpPr>
            <p:cNvPr id="209" name="Rounded Rectangle 208"/>
            <p:cNvSpPr/>
            <p:nvPr/>
          </p:nvSpPr>
          <p:spPr bwMode="auto">
            <a:xfrm>
              <a:off x="1307592" y="2468880"/>
              <a:ext cx="1865376" cy="3785616"/>
            </a:xfrm>
            <a:prstGeom prst="roundRect">
              <a:avLst>
                <a:gd name="adj" fmla="val 10784"/>
              </a:avLst>
            </a:prstGeom>
            <a:solidFill>
              <a:srgbClr val="FFFFF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210" name="TextBox 209"/>
            <p:cNvSpPr txBox="1"/>
            <p:nvPr/>
          </p:nvSpPr>
          <p:spPr bwMode="auto">
            <a:xfrm>
              <a:off x="1435608" y="2697480"/>
              <a:ext cx="1609344" cy="2743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defRPr/>
              </a:pPr>
              <a:r>
                <a:rPr lang="en-US" sz="1200" b="1">
                  <a:solidFill>
                    <a:srgbClr val="101820"/>
                  </a:solidFill>
                  <a:latin typeface="Inter"/>
                  <a:cs typeface="Inter"/>
                </a:rPr>
                <a:t>Payout sent</a:t>
              </a:r>
              <a:endParaRPr/>
            </a:p>
          </p:txBody>
        </p:sp>
        <p:sp>
          <p:nvSpPr>
            <p:cNvPr id="211" name="TextBox 210"/>
            <p:cNvSpPr txBox="1"/>
            <p:nvPr/>
          </p:nvSpPr>
          <p:spPr bwMode="auto">
            <a:xfrm>
              <a:off x="1435608" y="2999232"/>
              <a:ext cx="1609344" cy="20116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defRPr/>
              </a:pPr>
              <a:r>
                <a:rPr lang="en-US" sz="900" b="0">
                  <a:solidFill>
                    <a:srgbClr val="5A6672"/>
                  </a:solidFill>
                  <a:latin typeface="Inter"/>
                  <a:cs typeface="Inter"/>
                </a:rPr>
                <a:t>Order #1042 · delivered</a:t>
              </a:r>
              <a:endParaRPr/>
            </a:p>
          </p:txBody>
        </p:sp>
        <p:sp>
          <p:nvSpPr>
            <p:cNvPr id="212" name="TextBox 211"/>
            <p:cNvSpPr txBox="1"/>
            <p:nvPr/>
          </p:nvSpPr>
          <p:spPr bwMode="auto">
            <a:xfrm>
              <a:off x="1435608" y="3200400"/>
              <a:ext cx="1609344" cy="20116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defRPr/>
              </a:pPr>
              <a:r>
                <a:rPr lang="en-US" sz="900" b="0">
                  <a:solidFill>
                    <a:srgbClr val="5A6672"/>
                  </a:solidFill>
                  <a:latin typeface="Inter"/>
                  <a:cs typeface="Inter"/>
                </a:rPr>
                <a:t>Return window closed (48 h)</a:t>
              </a:r>
              <a:endParaRPr/>
            </a:p>
          </p:txBody>
        </p:sp>
        <p:sp>
          <p:nvSpPr>
            <p:cNvPr id="213" name="Rounded Rectangle 212"/>
            <p:cNvSpPr/>
            <p:nvPr/>
          </p:nvSpPr>
          <p:spPr bwMode="auto">
            <a:xfrm>
              <a:off x="1435608" y="3566160"/>
              <a:ext cx="1609344" cy="1600200"/>
            </a:xfrm>
            <a:prstGeom prst="roundRect">
              <a:avLst>
                <a:gd name="adj" fmla="val 5714"/>
              </a:avLst>
            </a:prstGeom>
            <a:solidFill>
              <a:srgbClr val="FFFFFF"/>
            </a:solidFill>
            <a:ln w="9525">
              <a:solidFill>
                <a:srgbClr val="DDE5ED"/>
              </a:solidFill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214" name="TextBox 213"/>
            <p:cNvSpPr txBox="1"/>
            <p:nvPr/>
          </p:nvSpPr>
          <p:spPr bwMode="auto">
            <a:xfrm>
              <a:off x="1545336" y="3685032"/>
              <a:ext cx="914400" cy="25603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defRPr/>
              </a:pPr>
              <a:r>
                <a:rPr lang="en-US" sz="950" b="0">
                  <a:solidFill>
                    <a:srgbClr val="101820"/>
                  </a:solidFill>
                  <a:latin typeface="Inter"/>
                  <a:cs typeface="Inter"/>
                </a:rPr>
                <a:t>Item</a:t>
              </a:r>
              <a:endParaRPr/>
            </a:p>
          </p:txBody>
        </p:sp>
        <p:sp>
          <p:nvSpPr>
            <p:cNvPr id="215" name="TextBox 214"/>
            <p:cNvSpPr txBox="1"/>
            <p:nvPr/>
          </p:nvSpPr>
          <p:spPr bwMode="auto">
            <a:xfrm>
              <a:off x="2020824" y="3685032"/>
              <a:ext cx="914400" cy="25603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r">
                <a:defRPr/>
              </a:pPr>
              <a:r>
                <a:rPr lang="en-US" sz="950" b="0">
                  <a:solidFill>
                    <a:srgbClr val="101820"/>
                  </a:solidFill>
                  <a:latin typeface="Inter"/>
                  <a:cs typeface="Inter"/>
                </a:rPr>
                <a:t>92,000</a:t>
              </a:r>
              <a:endParaRPr/>
            </a:p>
          </p:txBody>
        </p:sp>
        <p:sp>
          <p:nvSpPr>
            <p:cNvPr id="216" name="TextBox 215"/>
            <p:cNvSpPr txBox="1"/>
            <p:nvPr/>
          </p:nvSpPr>
          <p:spPr bwMode="auto">
            <a:xfrm>
              <a:off x="1545336" y="3995928"/>
              <a:ext cx="914400" cy="25603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defRPr/>
              </a:pPr>
              <a:r>
                <a:rPr lang="en-US" sz="950" b="0">
                  <a:solidFill>
                    <a:srgbClr val="101820"/>
                  </a:solidFill>
                  <a:latin typeface="Inter"/>
                  <a:cs typeface="Inter"/>
                </a:rPr>
                <a:t>Cheapify fee</a:t>
              </a:r>
              <a:endParaRPr/>
            </a:p>
          </p:txBody>
        </p:sp>
        <p:sp>
          <p:nvSpPr>
            <p:cNvPr id="217" name="TextBox 216"/>
            <p:cNvSpPr txBox="1"/>
            <p:nvPr/>
          </p:nvSpPr>
          <p:spPr bwMode="auto">
            <a:xfrm>
              <a:off x="2020824" y="3995928"/>
              <a:ext cx="914400" cy="25603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r">
                <a:defRPr/>
              </a:pPr>
              <a:r>
                <a:rPr lang="en-US" sz="950" b="0">
                  <a:solidFill>
                    <a:srgbClr val="101820"/>
                  </a:solidFill>
                  <a:latin typeface="Inter"/>
                  <a:cs typeface="Inter"/>
                </a:rPr>
                <a:t>−2,960</a:t>
              </a:r>
              <a:endParaRPr/>
            </a:p>
          </p:txBody>
        </p:sp>
        <p:cxnSp>
          <p:nvCxnSpPr>
            <p:cNvPr id="218" name="Connector 217"/>
            <p:cNvCxnSpPr/>
            <p:nvPr/>
          </p:nvCxnSpPr>
          <p:spPr bwMode="auto">
            <a:xfrm>
              <a:off x="1545336" y="4370832"/>
              <a:ext cx="1389888" cy="0"/>
            </a:xfrm>
            <a:prstGeom prst="line">
              <a:avLst/>
            </a:prstGeom>
            <a:ln w="12700">
              <a:solidFill>
                <a:srgbClr val="DDE5ED"/>
              </a:solidFill>
            </a:ln>
            <a:effectLst/>
          </p:spPr>
        </p:cxnSp>
        <p:sp>
          <p:nvSpPr>
            <p:cNvPr id="219" name="TextBox 218"/>
            <p:cNvSpPr txBox="1"/>
            <p:nvPr/>
          </p:nvSpPr>
          <p:spPr bwMode="auto">
            <a:xfrm>
              <a:off x="1545336" y="4462272"/>
              <a:ext cx="1426464" cy="20116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defRPr/>
              </a:pPr>
              <a:r>
                <a:rPr lang="en-US" sz="950" b="0">
                  <a:solidFill>
                    <a:srgbClr val="5A6672"/>
                  </a:solidFill>
                  <a:latin typeface="Inter"/>
                  <a:cs typeface="Inter"/>
                </a:rPr>
                <a:t>Paid to you</a:t>
              </a:r>
              <a:endParaRPr/>
            </a:p>
          </p:txBody>
        </p:sp>
        <p:sp>
          <p:nvSpPr>
            <p:cNvPr id="220" name="TextBox 219"/>
            <p:cNvSpPr txBox="1"/>
            <p:nvPr/>
          </p:nvSpPr>
          <p:spPr bwMode="auto">
            <a:xfrm>
              <a:off x="1545336" y="4681728"/>
              <a:ext cx="1426464" cy="3657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defRPr/>
              </a:pPr>
              <a:r>
                <a:rPr lang="en-US" sz="1400" b="1">
                  <a:solidFill>
                    <a:srgbClr val="298FC2"/>
                  </a:solidFill>
                  <a:latin typeface="Inter"/>
                  <a:cs typeface="Inter"/>
                </a:rPr>
                <a:t>89,040 IQD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fast" p14:dur="500" advClick="1">
        <p:fade thruBlk="0"/>
      </p:transition>
    </mc:Choice>
    <mc:Fallback>
      <p:transition spd="fast" advClick="1">
        <p:fade thruBlk="0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07070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4707070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05029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20305029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44740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6944740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39613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0139613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84210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6984210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97557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597557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40550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00"/>
                                        <p:tgtEl>
                                          <p:spTgt spid="6540550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13376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00"/>
                                        <p:tgtEl>
                                          <p:spTgt spid="18013376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45539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00"/>
                                        <p:tgtEl>
                                          <p:spTgt spid="19045539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4387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300"/>
                                        <p:tgtEl>
                                          <p:spTgt spid="9314387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" dur="250"/>
                                        <p:tgtEl>
                                          <p:spTgt spid="20305029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0305029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04693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15404693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2265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00"/>
                                        <p:tgtEl>
                                          <p:spTgt spid="1322265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" dur="250"/>
                                        <p:tgtEl>
                                          <p:spTgt spid="180133766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8013376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" dur="250"/>
                                        <p:tgtEl>
                                          <p:spTgt spid="190455398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9045539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579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300"/>
                                        <p:tgtEl>
                                          <p:spTgt spid="308579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8" dur="250"/>
                                        <p:tgtEl>
                                          <p:spTgt spid="93143877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9314387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3408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1413408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70484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00"/>
                                        <p:tgtEl>
                                          <p:spTgt spid="8670484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7" dur="250"/>
                                        <p:tgtEl>
                                          <p:spTgt spid="154046939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5404693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0" dur="250"/>
                                        <p:tgtEl>
                                          <p:spTgt spid="13222658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322265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1305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00"/>
                                        <p:tgtEl>
                                          <p:spTgt spid="1771305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8" dur="250"/>
                                        <p:tgtEl>
                                          <p:spTgt spid="3085791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308579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98959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00"/>
                                        <p:tgtEl>
                                          <p:spTgt spid="5798959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16246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00"/>
                                        <p:tgtEl>
                                          <p:spTgt spid="2716246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7" dur="250"/>
                                        <p:tgtEl>
                                          <p:spTgt spid="1413408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413408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0" dur="250"/>
                                        <p:tgtEl>
                                          <p:spTgt spid="86704848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8670484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73140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300"/>
                                        <p:tgtEl>
                                          <p:spTgt spid="17873140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8" dur="250"/>
                                        <p:tgtEl>
                                          <p:spTgt spid="17713051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771305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46722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300"/>
                                        <p:tgtEl>
                                          <p:spTgt spid="6746722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91297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300"/>
                                        <p:tgtEl>
                                          <p:spTgt spid="21091297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7" dur="250"/>
                                        <p:tgtEl>
                                          <p:spTgt spid="5798959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5798959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0" dur="250"/>
                                        <p:tgtEl>
                                          <p:spTgt spid="27162468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716246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83887858" name="Google Shape;98;p14" title="Center_for_Academic_and_Professional_Advancement.png"/>
          <p:cNvPicPr/>
          <p:nvPr/>
        </p:nvPicPr>
        <p:blipFill rotWithShape="1">
          <a:blip r:embed="rId3">
            <a:alphaModFix/>
          </a:blip>
          <a:stretch/>
        </p:blipFill>
        <p:spPr bwMode="auto">
          <a:xfrm>
            <a:off x="8289593" y="351575"/>
            <a:ext cx="3178502" cy="969349"/>
          </a:xfrm>
          <a:prstGeom prst="rect">
            <a:avLst/>
          </a:prstGeom>
          <a:noFill/>
          <a:ln>
            <a:noFill/>
          </a:ln>
        </p:spPr>
      </p:pic>
      <p:pic>
        <p:nvPicPr>
          <p:cNvPr id="224137448" name="Google Shape;99;p14" title="german cooperation deutsche zusammenarbeit.png"/>
          <p:cNvPicPr/>
          <p:nvPr/>
        </p:nvPicPr>
        <p:blipFill rotWithShape="1">
          <a:blip r:embed="rId4">
            <a:alphaModFix/>
          </a:blip>
          <a:stretch/>
        </p:blipFill>
        <p:spPr bwMode="auto">
          <a:xfrm>
            <a:off x="723900" y="436204"/>
            <a:ext cx="1428202" cy="800089"/>
          </a:xfrm>
          <a:prstGeom prst="rect">
            <a:avLst/>
          </a:prstGeom>
          <a:noFill/>
          <a:ln>
            <a:noFill/>
          </a:ln>
        </p:spPr>
      </p:pic>
      <p:sp>
        <p:nvSpPr>
          <p:cNvPr id="231841103" name="Rectangle 99"/>
          <p:cNvSpPr/>
          <p:nvPr/>
        </p:nvSpPr>
        <p:spPr bwMode="auto">
          <a:xfrm>
            <a:off x="722376" y="1517904"/>
            <a:ext cx="274320" cy="45720"/>
          </a:xfrm>
          <a:prstGeom prst="rect">
            <a:avLst/>
          </a:prstGeom>
          <a:solidFill>
            <a:srgbClr val="298FC2"/>
          </a:solidFill>
          <a:ln>
            <a:noFill/>
          </a:ln>
          <a:effectLst/>
        </p:spPr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561230770" name="TextBox 100"/>
          <p:cNvSpPr txBox="1"/>
          <p:nvPr/>
        </p:nvSpPr>
        <p:spPr bwMode="auto">
          <a:xfrm>
            <a:off x="1133856" y="1426464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defRPr/>
            </a:pPr>
            <a:r>
              <a:rPr lang="en-US" sz="1300" b="0">
                <a:solidFill>
                  <a:srgbClr val="5A6672"/>
                </a:solidFill>
                <a:latin typeface="Inter"/>
                <a:cs typeface="Inter"/>
              </a:rPr>
              <a:t>Business model</a:t>
            </a:r>
            <a:endParaRPr/>
          </a:p>
        </p:txBody>
      </p:sp>
      <p:sp>
        <p:nvSpPr>
          <p:cNvPr id="164671978" name="TextBox 101"/>
          <p:cNvSpPr txBox="1"/>
          <p:nvPr/>
        </p:nvSpPr>
        <p:spPr bwMode="auto">
          <a:xfrm>
            <a:off x="722376" y="1700784"/>
            <a:ext cx="10744200" cy="5669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defRPr/>
            </a:pPr>
            <a:r>
              <a:rPr lang="en-US" sz="3000" b="1">
                <a:solidFill>
                  <a:srgbClr val="101820"/>
                </a:solidFill>
                <a:latin typeface="Comfortaa"/>
                <a:cs typeface="Comfortaa"/>
              </a:rPr>
              <a:t>We earn only when an order is delivered.</a:t>
            </a:r>
            <a:endParaRPr/>
          </a:p>
        </p:txBody>
      </p:sp>
      <p:sp>
        <p:nvSpPr>
          <p:cNvPr id="138451762" name="TextBox 102"/>
          <p:cNvSpPr txBox="1"/>
          <p:nvPr/>
        </p:nvSpPr>
        <p:spPr bwMode="auto">
          <a:xfrm>
            <a:off x="722376" y="6455664"/>
            <a:ext cx="10744200" cy="23774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defRPr/>
            </a:pPr>
            <a:r>
              <a:rPr lang="en-US" sz="900" b="0">
                <a:solidFill>
                  <a:srgbClr val="5A6672"/>
                </a:solidFill>
                <a:latin typeface="Inter"/>
                <a:cs typeface="Inter"/>
              </a:rPr>
              <a:t>Example: 25,000 IQD item, cash on delivery, Duhok city; courier rate 2,500 IQD quoted by Fast Delivery (Duhok). The delivery margin applies once the courier contract is signed. Card processing fees not yet quoted.</a:t>
            </a:r>
            <a:endParaRPr/>
          </a:p>
        </p:txBody>
      </p:sp>
      <p:grpSp>
        <p:nvGrpSpPr>
          <p:cNvPr id="226359499" name="Group 1"/>
          <p:cNvGrpSpPr/>
          <p:nvPr/>
        </p:nvGrpSpPr>
        <p:grpSpPr bwMode="auto">
          <a:xfrm>
            <a:off x="722376" y="2468880"/>
            <a:ext cx="7772400" cy="292608"/>
            <a:chOff x="722376" y="2468880"/>
            <a:chExt cx="7772400" cy="292608"/>
          </a:xfrm>
        </p:grpSpPr>
        <p:sp>
          <p:nvSpPr>
            <p:cNvPr id="104" name="TextBox 103"/>
            <p:cNvSpPr txBox="1"/>
            <p:nvPr/>
          </p:nvSpPr>
          <p:spPr bwMode="auto">
            <a:xfrm>
              <a:off x="722376" y="2468880"/>
              <a:ext cx="7772400" cy="29260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defRPr/>
              </a:pPr>
              <a:r>
                <a:rPr lang="en-US" sz="1600" b="1">
                  <a:solidFill>
                    <a:srgbClr val="101820"/>
                  </a:solidFill>
                  <a:latin typeface="Inter"/>
                  <a:cs typeface="Inter"/>
                </a:rPr>
                <a:t>Shopper pays 28,000 IQD</a:t>
              </a:r>
              <a:r>
                <a:rPr lang="en-US" sz="1200" b="0">
                  <a:solidFill>
                    <a:srgbClr val="5A6672"/>
                  </a:solidFill>
                  <a:latin typeface="Inter"/>
                  <a:cs typeface="Inter"/>
                </a:rPr>
                <a:t>   (25,000 item + 3,000 Duhok delivery)</a:t>
              </a:r>
              <a:endParaRPr/>
            </a:p>
          </p:txBody>
        </p:sp>
      </p:grpSp>
      <p:grpSp>
        <p:nvGrpSpPr>
          <p:cNvPr id="56953474" name="Group 2"/>
          <p:cNvGrpSpPr/>
          <p:nvPr/>
        </p:nvGrpSpPr>
        <p:grpSpPr bwMode="auto">
          <a:xfrm>
            <a:off x="722376" y="2880360"/>
            <a:ext cx="10744200" cy="777240"/>
            <a:chOff x="722376" y="2880360"/>
            <a:chExt cx="10744200" cy="777240"/>
          </a:xfrm>
        </p:grpSpPr>
        <p:sp>
          <p:nvSpPr>
            <p:cNvPr id="105" name="Rectangle 104"/>
            <p:cNvSpPr/>
            <p:nvPr/>
          </p:nvSpPr>
          <p:spPr bwMode="auto">
            <a:xfrm>
              <a:off x="722376" y="2880360"/>
              <a:ext cx="10744200" cy="777240"/>
            </a:xfrm>
            <a:prstGeom prst="rect">
              <a:avLst/>
            </a:prstGeom>
            <a:solidFill>
              <a:srgbClr val="DDE5ED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06" name="TextBox 105"/>
            <p:cNvSpPr txBox="1"/>
            <p:nvPr/>
          </p:nvSpPr>
          <p:spPr bwMode="auto">
            <a:xfrm>
              <a:off x="722376" y="2880360"/>
              <a:ext cx="10744200" cy="7772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defRPr/>
              </a:pPr>
              <a:r>
                <a:rPr lang="en-US" sz="1600" b="1">
                  <a:solidFill>
                    <a:srgbClr val="101820"/>
                  </a:solidFill>
                  <a:latin typeface="Inter"/>
                  <a:cs typeface="Inter"/>
                </a:rPr>
                <a:t>28,000 IQD</a:t>
              </a:r>
              <a:endParaRPr/>
            </a:p>
          </p:txBody>
        </p:sp>
      </p:grpSp>
      <p:grpSp>
        <p:nvGrpSpPr>
          <p:cNvPr id="592185113" name="Group 3"/>
          <p:cNvGrpSpPr/>
          <p:nvPr/>
        </p:nvGrpSpPr>
        <p:grpSpPr bwMode="auto">
          <a:xfrm>
            <a:off x="722376" y="2880360"/>
            <a:ext cx="9229039" cy="777240"/>
            <a:chOff x="722376" y="2880360"/>
            <a:chExt cx="9229039" cy="777240"/>
          </a:xfrm>
        </p:grpSpPr>
        <p:sp>
          <p:nvSpPr>
            <p:cNvPr id="107" name="Rectangle 106"/>
            <p:cNvSpPr/>
            <p:nvPr/>
          </p:nvSpPr>
          <p:spPr bwMode="auto">
            <a:xfrm>
              <a:off x="722376" y="2880360"/>
              <a:ext cx="9229039" cy="777240"/>
            </a:xfrm>
            <a:prstGeom prst="rect">
              <a:avLst/>
            </a:prstGeom>
            <a:solidFill>
              <a:srgbClr val="298FC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</p:grpSp>
      <p:grpSp>
        <p:nvGrpSpPr>
          <p:cNvPr id="1704008362" name="Group 4"/>
          <p:cNvGrpSpPr/>
          <p:nvPr/>
        </p:nvGrpSpPr>
        <p:grpSpPr bwMode="auto">
          <a:xfrm>
            <a:off x="9951415" y="2880360"/>
            <a:ext cx="959206" cy="777240"/>
            <a:chOff x="9951415" y="2880360"/>
            <a:chExt cx="959206" cy="777240"/>
          </a:xfrm>
        </p:grpSpPr>
        <p:sp>
          <p:nvSpPr>
            <p:cNvPr id="108" name="Rectangle 107"/>
            <p:cNvSpPr/>
            <p:nvPr/>
          </p:nvSpPr>
          <p:spPr bwMode="auto">
            <a:xfrm>
              <a:off x="9951415" y="2880360"/>
              <a:ext cx="959206" cy="777240"/>
            </a:xfrm>
            <a:prstGeom prst="rect">
              <a:avLst/>
            </a:prstGeom>
            <a:solidFill>
              <a:srgbClr val="5A667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</p:grpSp>
      <p:grpSp>
        <p:nvGrpSpPr>
          <p:cNvPr id="1508282404" name="Group 5"/>
          <p:cNvGrpSpPr/>
          <p:nvPr/>
        </p:nvGrpSpPr>
        <p:grpSpPr bwMode="auto">
          <a:xfrm>
            <a:off x="10910621" y="2880360"/>
            <a:ext cx="555955" cy="777240"/>
            <a:chOff x="10910621" y="2880360"/>
            <a:chExt cx="555955" cy="777240"/>
          </a:xfrm>
        </p:grpSpPr>
        <p:sp>
          <p:nvSpPr>
            <p:cNvPr id="109" name="Rectangle 108"/>
            <p:cNvSpPr/>
            <p:nvPr/>
          </p:nvSpPr>
          <p:spPr bwMode="auto">
            <a:xfrm>
              <a:off x="10910621" y="2880360"/>
              <a:ext cx="555955" cy="777240"/>
            </a:xfrm>
            <a:prstGeom prst="rect">
              <a:avLst/>
            </a:prstGeom>
            <a:solidFill>
              <a:srgbClr val="101820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</p:grpSp>
      <p:grpSp>
        <p:nvGrpSpPr>
          <p:cNvPr id="1500727915" name="Group 6"/>
          <p:cNvGrpSpPr/>
          <p:nvPr/>
        </p:nvGrpSpPr>
        <p:grpSpPr bwMode="auto">
          <a:xfrm>
            <a:off x="722376" y="3749040"/>
            <a:ext cx="7315200" cy="310896"/>
            <a:chOff x="722376" y="3749040"/>
            <a:chExt cx="7315200" cy="310896"/>
          </a:xfrm>
        </p:grpSpPr>
        <p:sp>
          <p:nvSpPr>
            <p:cNvPr id="110" name="TextBox 109"/>
            <p:cNvSpPr txBox="1"/>
            <p:nvPr/>
          </p:nvSpPr>
          <p:spPr bwMode="auto">
            <a:xfrm>
              <a:off x="722376" y="3749040"/>
              <a:ext cx="7315200" cy="310896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defRPr/>
              </a:pPr>
              <a:r>
                <a:rPr lang="en-US" sz="1400" b="1">
                  <a:solidFill>
                    <a:srgbClr val="101820"/>
                  </a:solidFill>
                  <a:latin typeface="Inter"/>
                  <a:cs typeface="Inter"/>
                </a:rPr>
                <a:t>Merchant 24,050 IQD — keeps </a:t>
              </a:r>
              <a:r>
                <a:rPr lang="en-US" sz="1400" b="1">
                  <a:solidFill>
                    <a:srgbClr val="298FC2"/>
                  </a:solidFill>
                  <a:latin typeface="Inter"/>
                  <a:cs typeface="Inter"/>
                </a:rPr>
                <a:t>96%</a:t>
              </a:r>
              <a:r>
                <a:rPr lang="en-US" sz="1400" b="1">
                  <a:solidFill>
                    <a:srgbClr val="101820"/>
                  </a:solidFill>
                  <a:latin typeface="Inter"/>
                  <a:cs typeface="Inter"/>
                </a:rPr>
                <a:t> of the item price</a:t>
              </a:r>
              <a:endParaRPr/>
            </a:p>
          </p:txBody>
        </p:sp>
      </p:grpSp>
      <p:grpSp>
        <p:nvGrpSpPr>
          <p:cNvPr id="2113571050" name="Group 7"/>
          <p:cNvGrpSpPr/>
          <p:nvPr/>
        </p:nvGrpSpPr>
        <p:grpSpPr bwMode="auto">
          <a:xfrm>
            <a:off x="8138160" y="3675888"/>
            <a:ext cx="2292858" cy="329184"/>
            <a:chOff x="8138160" y="3675888"/>
            <a:chExt cx="2292858" cy="329184"/>
          </a:xfrm>
        </p:grpSpPr>
        <p:cxnSp>
          <p:nvCxnSpPr>
            <p:cNvPr id="111" name="Connector 110"/>
            <p:cNvCxnSpPr/>
            <p:nvPr/>
          </p:nvCxnSpPr>
          <p:spPr bwMode="auto">
            <a:xfrm>
              <a:off x="10431018" y="3675888"/>
              <a:ext cx="0" cy="237744"/>
            </a:xfrm>
            <a:prstGeom prst="line">
              <a:avLst/>
            </a:prstGeom>
            <a:ln w="12700">
              <a:solidFill>
                <a:srgbClr val="5A6672"/>
              </a:solidFill>
            </a:ln>
            <a:effectLst/>
          </p:spPr>
        </p:cxnSp>
        <p:sp>
          <p:nvSpPr>
            <p:cNvPr id="112" name="TextBox 111"/>
            <p:cNvSpPr txBox="1"/>
            <p:nvPr/>
          </p:nvSpPr>
          <p:spPr bwMode="auto">
            <a:xfrm>
              <a:off x="8138160" y="3730752"/>
              <a:ext cx="2219706" cy="2743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r">
                <a:defRPr/>
              </a:pPr>
              <a:r>
                <a:rPr lang="en-US" sz="1300" b="1">
                  <a:solidFill>
                    <a:srgbClr val="101820"/>
                  </a:solidFill>
                  <a:latin typeface="Inter"/>
                  <a:cs typeface="Inter"/>
                </a:rPr>
                <a:t>Courier 2,500</a:t>
              </a:r>
              <a:endParaRPr/>
            </a:p>
          </p:txBody>
        </p:sp>
      </p:grpSp>
      <p:grpSp>
        <p:nvGrpSpPr>
          <p:cNvPr id="1596500617" name="Group 8"/>
          <p:cNvGrpSpPr/>
          <p:nvPr/>
        </p:nvGrpSpPr>
        <p:grpSpPr bwMode="auto">
          <a:xfrm>
            <a:off x="9509760" y="3675888"/>
            <a:ext cx="1678837" cy="621792"/>
            <a:chOff x="9509760" y="3675888"/>
            <a:chExt cx="1678837" cy="621792"/>
          </a:xfrm>
        </p:grpSpPr>
        <p:cxnSp>
          <p:nvCxnSpPr>
            <p:cNvPr id="113" name="Connector 112"/>
            <p:cNvCxnSpPr/>
            <p:nvPr/>
          </p:nvCxnSpPr>
          <p:spPr bwMode="auto">
            <a:xfrm>
              <a:off x="11188598" y="3675888"/>
              <a:ext cx="0" cy="457200"/>
            </a:xfrm>
            <a:prstGeom prst="line">
              <a:avLst/>
            </a:prstGeom>
            <a:ln w="12700">
              <a:solidFill>
                <a:srgbClr val="101820"/>
              </a:solidFill>
            </a:ln>
            <a:effectLst/>
          </p:spPr>
        </p:cxnSp>
        <p:sp>
          <p:nvSpPr>
            <p:cNvPr id="114" name="TextBox 113"/>
            <p:cNvSpPr txBox="1"/>
            <p:nvPr/>
          </p:nvSpPr>
          <p:spPr bwMode="auto">
            <a:xfrm>
              <a:off x="9509760" y="4023360"/>
              <a:ext cx="1605686" cy="2743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r">
                <a:defRPr/>
              </a:pPr>
              <a:r>
                <a:rPr lang="en-US" sz="1300" b="1">
                  <a:solidFill>
                    <a:srgbClr val="101820"/>
                  </a:solidFill>
                  <a:latin typeface="Inter"/>
                  <a:cs typeface="Inter"/>
                </a:rPr>
                <a:t>Cheapify 1,450</a:t>
              </a:r>
              <a:endParaRPr/>
            </a:p>
          </p:txBody>
        </p:sp>
      </p:grpSp>
      <p:grpSp>
        <p:nvGrpSpPr>
          <p:cNvPr id="1452704973" name="Group 9"/>
          <p:cNvGrpSpPr/>
          <p:nvPr/>
        </p:nvGrpSpPr>
        <p:grpSpPr bwMode="auto">
          <a:xfrm>
            <a:off x="7772400" y="2468880"/>
            <a:ext cx="3694176" cy="365760"/>
            <a:chOff x="7772400" y="2468880"/>
            <a:chExt cx="3694176" cy="365760"/>
          </a:xfrm>
        </p:grpSpPr>
        <p:sp>
          <p:nvSpPr>
            <p:cNvPr id="115" name="TextBox 114"/>
            <p:cNvSpPr txBox="1"/>
            <p:nvPr/>
          </p:nvSpPr>
          <p:spPr bwMode="auto">
            <a:xfrm>
              <a:off x="7772400" y="2468880"/>
              <a:ext cx="3694176" cy="3657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r">
                <a:defRPr/>
              </a:pPr>
              <a:r>
                <a:rPr lang="en-US" sz="1200" b="0">
                  <a:solidFill>
                    <a:srgbClr val="5A6672"/>
                  </a:solidFill>
                  <a:latin typeface="Inter"/>
                  <a:cs typeface="Inter"/>
                </a:rPr>
                <a:t>950 fee + 500 delivery margin</a:t>
              </a:r>
              <a:endParaRPr/>
            </a:p>
          </p:txBody>
        </p:sp>
      </p:grpSp>
      <p:grpSp>
        <p:nvGrpSpPr>
          <p:cNvPr id="1991608923" name="Group 10"/>
          <p:cNvGrpSpPr/>
          <p:nvPr/>
        </p:nvGrpSpPr>
        <p:grpSpPr bwMode="auto">
          <a:xfrm>
            <a:off x="722376" y="4526280"/>
            <a:ext cx="1417320" cy="914400"/>
            <a:chOff x="722376" y="4526280"/>
            <a:chExt cx="1417320" cy="914400"/>
          </a:xfrm>
        </p:grpSpPr>
        <p:sp>
          <p:nvSpPr>
            <p:cNvPr id="116" name="TextBox 115"/>
            <p:cNvSpPr txBox="1"/>
            <p:nvPr/>
          </p:nvSpPr>
          <p:spPr bwMode="auto">
            <a:xfrm>
              <a:off x="722376" y="4526280"/>
              <a:ext cx="1417320" cy="914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defRPr/>
              </a:pPr>
              <a:r>
                <a:rPr lang="en-US" sz="1500" b="1">
                  <a:solidFill>
                    <a:srgbClr val="101820"/>
                  </a:solidFill>
                  <a:latin typeface="Inter"/>
                  <a:cs typeface="Inter"/>
                </a:rPr>
                <a:t>Our fee gets lighter as prices rise</a:t>
              </a:r>
              <a:endParaRPr/>
            </a:p>
          </p:txBody>
        </p:sp>
      </p:grpSp>
      <p:grpSp>
        <p:nvGrpSpPr>
          <p:cNvPr id="1091522699" name="Group 11"/>
          <p:cNvGrpSpPr/>
          <p:nvPr/>
        </p:nvGrpSpPr>
        <p:grpSpPr bwMode="auto">
          <a:xfrm>
            <a:off x="2148840" y="4389120"/>
            <a:ext cx="1463040" cy="1874520"/>
            <a:chOff x="2148840" y="4389120"/>
            <a:chExt cx="1463040" cy="1874520"/>
          </a:xfrm>
        </p:grpSpPr>
        <p:sp>
          <p:nvSpPr>
            <p:cNvPr id="117" name="Rectangle 116"/>
            <p:cNvSpPr/>
            <p:nvPr/>
          </p:nvSpPr>
          <p:spPr bwMode="auto">
            <a:xfrm>
              <a:off x="2331720" y="4754880"/>
              <a:ext cx="1097280" cy="1234440"/>
            </a:xfrm>
            <a:prstGeom prst="rect">
              <a:avLst/>
            </a:prstGeom>
            <a:solidFill>
              <a:srgbClr val="298FC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18" name="TextBox 117"/>
            <p:cNvSpPr txBox="1"/>
            <p:nvPr/>
          </p:nvSpPr>
          <p:spPr bwMode="auto">
            <a:xfrm>
              <a:off x="2148840" y="4389120"/>
              <a:ext cx="1463040" cy="3291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defRPr/>
              </a:pPr>
              <a:r>
                <a:rPr lang="en-US" sz="2000" b="1">
                  <a:solidFill>
                    <a:srgbClr val="101820"/>
                  </a:solidFill>
                  <a:latin typeface="Comfortaa"/>
                  <a:cs typeface="Comfortaa"/>
                </a:rPr>
                <a:t>5%</a:t>
              </a:r>
              <a:endParaRPr/>
            </a:p>
          </p:txBody>
        </p:sp>
        <p:sp>
          <p:nvSpPr>
            <p:cNvPr id="119" name="TextBox 118"/>
            <p:cNvSpPr txBox="1"/>
            <p:nvPr/>
          </p:nvSpPr>
          <p:spPr bwMode="auto">
            <a:xfrm>
              <a:off x="2148840" y="6035039"/>
              <a:ext cx="1463040" cy="2286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ctr">
                <a:defRPr/>
              </a:pPr>
              <a:r>
                <a:rPr lang="en-US" sz="1100" b="0">
                  <a:solidFill>
                    <a:srgbClr val="5A6672"/>
                  </a:solidFill>
                  <a:latin typeface="Inter"/>
                  <a:cs typeface="Inter"/>
                </a:rPr>
                <a:t>first 10,000 IQD</a:t>
              </a:r>
              <a:endParaRPr/>
            </a:p>
          </p:txBody>
        </p:sp>
      </p:grpSp>
      <p:grpSp>
        <p:nvGrpSpPr>
          <p:cNvPr id="2059920108" name="Group 12"/>
          <p:cNvGrpSpPr/>
          <p:nvPr/>
        </p:nvGrpSpPr>
        <p:grpSpPr bwMode="auto">
          <a:xfrm>
            <a:off x="3429000" y="4882896"/>
            <a:ext cx="1463040" cy="1380744"/>
            <a:chOff x="3429000" y="4882896"/>
            <a:chExt cx="1463040" cy="1380744"/>
          </a:xfrm>
        </p:grpSpPr>
        <p:sp>
          <p:nvSpPr>
            <p:cNvPr id="120" name="Rectangle 119"/>
            <p:cNvSpPr/>
            <p:nvPr/>
          </p:nvSpPr>
          <p:spPr bwMode="auto">
            <a:xfrm>
              <a:off x="3611880" y="5248656"/>
              <a:ext cx="1097280" cy="740664"/>
            </a:xfrm>
            <a:prstGeom prst="rect">
              <a:avLst/>
            </a:prstGeom>
            <a:solidFill>
              <a:srgbClr val="298FC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21" name="TextBox 120"/>
            <p:cNvSpPr txBox="1"/>
            <p:nvPr/>
          </p:nvSpPr>
          <p:spPr bwMode="auto">
            <a:xfrm>
              <a:off x="3429000" y="4882896"/>
              <a:ext cx="1463040" cy="3291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defRPr/>
              </a:pPr>
              <a:r>
                <a:rPr lang="en-US" sz="2000" b="1">
                  <a:solidFill>
                    <a:srgbClr val="101820"/>
                  </a:solidFill>
                  <a:latin typeface="Comfortaa"/>
                  <a:cs typeface="Comfortaa"/>
                </a:rPr>
                <a:t>3%</a:t>
              </a:r>
              <a:endParaRPr/>
            </a:p>
          </p:txBody>
        </p:sp>
        <p:sp>
          <p:nvSpPr>
            <p:cNvPr id="122" name="TextBox 121"/>
            <p:cNvSpPr txBox="1"/>
            <p:nvPr/>
          </p:nvSpPr>
          <p:spPr bwMode="auto">
            <a:xfrm>
              <a:off x="3429000" y="6035039"/>
              <a:ext cx="1463040" cy="2286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ctr">
                <a:defRPr/>
              </a:pPr>
              <a:r>
                <a:rPr lang="en-US" sz="1100" b="0">
                  <a:solidFill>
                    <a:srgbClr val="5A6672"/>
                  </a:solidFill>
                  <a:latin typeface="Inter"/>
                  <a:cs typeface="Inter"/>
                </a:rPr>
                <a:t>10,001 – 100,000</a:t>
              </a:r>
              <a:endParaRPr/>
            </a:p>
          </p:txBody>
        </p:sp>
      </p:grpSp>
      <p:grpSp>
        <p:nvGrpSpPr>
          <p:cNvPr id="1154451891" name="Group 13"/>
          <p:cNvGrpSpPr/>
          <p:nvPr/>
        </p:nvGrpSpPr>
        <p:grpSpPr bwMode="auto">
          <a:xfrm>
            <a:off x="4709160" y="5248656"/>
            <a:ext cx="1463040" cy="1014984"/>
            <a:chOff x="4709160" y="5248656"/>
            <a:chExt cx="1463040" cy="1014984"/>
          </a:xfrm>
        </p:grpSpPr>
        <p:sp>
          <p:nvSpPr>
            <p:cNvPr id="123" name="Rectangle 122"/>
            <p:cNvSpPr/>
            <p:nvPr/>
          </p:nvSpPr>
          <p:spPr bwMode="auto">
            <a:xfrm>
              <a:off x="4892039" y="5614416"/>
              <a:ext cx="1097280" cy="374904"/>
            </a:xfrm>
            <a:prstGeom prst="rect">
              <a:avLst/>
            </a:prstGeom>
            <a:solidFill>
              <a:srgbClr val="298FC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24" name="TextBox 123"/>
            <p:cNvSpPr txBox="1"/>
            <p:nvPr/>
          </p:nvSpPr>
          <p:spPr bwMode="auto">
            <a:xfrm>
              <a:off x="4709160" y="5248656"/>
              <a:ext cx="1463040" cy="3291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defRPr/>
              </a:pPr>
              <a:r>
                <a:rPr lang="en-US" sz="2000" b="1">
                  <a:solidFill>
                    <a:srgbClr val="101820"/>
                  </a:solidFill>
                  <a:latin typeface="Comfortaa"/>
                  <a:cs typeface="Comfortaa"/>
                </a:rPr>
                <a:t>1.5%</a:t>
              </a:r>
              <a:endParaRPr/>
            </a:p>
          </p:txBody>
        </p:sp>
        <p:sp>
          <p:nvSpPr>
            <p:cNvPr id="125" name="TextBox 124"/>
            <p:cNvSpPr txBox="1"/>
            <p:nvPr/>
          </p:nvSpPr>
          <p:spPr bwMode="auto">
            <a:xfrm>
              <a:off x="4709160" y="6035039"/>
              <a:ext cx="1463040" cy="2286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ctr">
                <a:defRPr/>
              </a:pPr>
              <a:r>
                <a:rPr lang="en-US" sz="1100" b="0">
                  <a:solidFill>
                    <a:srgbClr val="5A6672"/>
                  </a:solidFill>
                  <a:latin typeface="Inter"/>
                  <a:cs typeface="Inter"/>
                </a:rPr>
                <a:t>above 100,000</a:t>
              </a:r>
              <a:endParaRPr/>
            </a:p>
          </p:txBody>
        </p:sp>
      </p:grpSp>
      <p:grpSp>
        <p:nvGrpSpPr>
          <p:cNvPr id="825565384" name="Group 14"/>
          <p:cNvGrpSpPr/>
          <p:nvPr/>
        </p:nvGrpSpPr>
        <p:grpSpPr bwMode="auto">
          <a:xfrm>
            <a:off x="6309360" y="3913632"/>
            <a:ext cx="2926080" cy="237744"/>
            <a:chOff x="6309360" y="3913632"/>
            <a:chExt cx="2926080" cy="237744"/>
          </a:xfrm>
        </p:grpSpPr>
        <p:sp>
          <p:nvSpPr>
            <p:cNvPr id="126" name="TextBox 125"/>
            <p:cNvSpPr txBox="1"/>
            <p:nvPr/>
          </p:nvSpPr>
          <p:spPr bwMode="auto">
            <a:xfrm>
              <a:off x="6309360" y="3913632"/>
              <a:ext cx="2926080" cy="23774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defRPr/>
              </a:pPr>
              <a:r>
                <a:rPr lang="en-US" sz="1300" b="1">
                  <a:solidFill>
                    <a:srgbClr val="101820"/>
                  </a:solidFill>
                  <a:latin typeface="Inter"/>
                  <a:cs typeface="Inter"/>
                </a:rPr>
                <a:t>Per order, after costs</a:t>
              </a:r>
              <a:endParaRPr/>
            </a:p>
          </p:txBody>
        </p:sp>
      </p:grpSp>
      <p:grpSp>
        <p:nvGrpSpPr>
          <p:cNvPr id="1043046916" name="Group 15"/>
          <p:cNvGrpSpPr/>
          <p:nvPr/>
        </p:nvGrpSpPr>
        <p:grpSpPr bwMode="auto">
          <a:xfrm>
            <a:off x="6309360" y="4178808"/>
            <a:ext cx="841248" cy="2039112"/>
            <a:chOff x="6309360" y="4178808"/>
            <a:chExt cx="841248" cy="2039112"/>
          </a:xfrm>
        </p:grpSpPr>
        <p:sp>
          <p:nvSpPr>
            <p:cNvPr id="127" name="Rectangle 126"/>
            <p:cNvSpPr/>
            <p:nvPr/>
          </p:nvSpPr>
          <p:spPr bwMode="auto">
            <a:xfrm>
              <a:off x="6446520" y="4434840"/>
              <a:ext cx="566928" cy="1554480"/>
            </a:xfrm>
            <a:prstGeom prst="rect">
              <a:avLst/>
            </a:prstGeom>
            <a:solidFill>
              <a:srgbClr val="101820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28" name="TextBox 127"/>
            <p:cNvSpPr txBox="1"/>
            <p:nvPr/>
          </p:nvSpPr>
          <p:spPr bwMode="auto">
            <a:xfrm>
              <a:off x="6309360" y="4178808"/>
              <a:ext cx="841248" cy="219456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defRPr/>
              </a:pPr>
              <a:r>
                <a:rPr lang="en-US" sz="1100" b="1">
                  <a:solidFill>
                    <a:srgbClr val="101820"/>
                  </a:solidFill>
                  <a:latin typeface="Inter"/>
                  <a:cs typeface="Inter"/>
                </a:rPr>
                <a:t>1,450</a:t>
              </a:r>
              <a:endParaRPr/>
            </a:p>
          </p:txBody>
        </p:sp>
        <p:sp>
          <p:nvSpPr>
            <p:cNvPr id="129" name="TextBox 128"/>
            <p:cNvSpPr txBox="1"/>
            <p:nvPr/>
          </p:nvSpPr>
          <p:spPr bwMode="auto">
            <a:xfrm>
              <a:off x="6309360" y="6035039"/>
              <a:ext cx="841248" cy="18288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ctr">
                <a:defRPr/>
              </a:pPr>
              <a:r>
                <a:rPr lang="en-US" sz="1000" b="0">
                  <a:solidFill>
                    <a:srgbClr val="5A6672"/>
                  </a:solidFill>
                  <a:latin typeface="Inter"/>
                  <a:cs typeface="Inter"/>
                </a:rPr>
                <a:t>Our share</a:t>
              </a:r>
              <a:endParaRPr/>
            </a:p>
          </p:txBody>
        </p:sp>
      </p:grpSp>
      <p:grpSp>
        <p:nvGrpSpPr>
          <p:cNvPr id="564276163" name="Group 16"/>
          <p:cNvGrpSpPr/>
          <p:nvPr/>
        </p:nvGrpSpPr>
        <p:grpSpPr bwMode="auto">
          <a:xfrm>
            <a:off x="7013448" y="4178808"/>
            <a:ext cx="978408" cy="2039112"/>
            <a:chOff x="7013448" y="4178808"/>
            <a:chExt cx="978408" cy="2039112"/>
          </a:xfrm>
        </p:grpSpPr>
        <p:cxnSp>
          <p:nvCxnSpPr>
            <p:cNvPr id="130" name="Connector 129"/>
            <p:cNvCxnSpPr/>
            <p:nvPr/>
          </p:nvCxnSpPr>
          <p:spPr bwMode="auto">
            <a:xfrm>
              <a:off x="7013448" y="4434840"/>
              <a:ext cx="274320" cy="0"/>
            </a:xfrm>
            <a:prstGeom prst="line">
              <a:avLst/>
            </a:prstGeom>
            <a:ln w="12700">
              <a:solidFill>
                <a:srgbClr val="A9B1B9"/>
              </a:solidFill>
            </a:ln>
            <a:effectLst/>
          </p:spPr>
        </p:cxnSp>
        <p:sp>
          <p:nvSpPr>
            <p:cNvPr id="131" name="Rectangle 130"/>
            <p:cNvSpPr/>
            <p:nvPr/>
          </p:nvSpPr>
          <p:spPr bwMode="auto">
            <a:xfrm>
              <a:off x="7287768" y="4434840"/>
              <a:ext cx="566928" cy="96485"/>
            </a:xfrm>
            <a:prstGeom prst="rect">
              <a:avLst/>
            </a:prstGeom>
            <a:solidFill>
              <a:srgbClr val="D22730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32" name="TextBox 131"/>
            <p:cNvSpPr txBox="1"/>
            <p:nvPr/>
          </p:nvSpPr>
          <p:spPr bwMode="auto">
            <a:xfrm>
              <a:off x="7150607" y="4178808"/>
              <a:ext cx="841248" cy="219456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defRPr/>
              </a:pPr>
              <a:r>
                <a:rPr lang="en-US" sz="1100" b="1">
                  <a:solidFill>
                    <a:srgbClr val="101820"/>
                  </a:solidFill>
                  <a:latin typeface="Inter"/>
                  <a:cs typeface="Inter"/>
                </a:rPr>
                <a:t>−90</a:t>
              </a:r>
              <a:endParaRPr/>
            </a:p>
          </p:txBody>
        </p:sp>
        <p:sp>
          <p:nvSpPr>
            <p:cNvPr id="133" name="TextBox 132"/>
            <p:cNvSpPr txBox="1"/>
            <p:nvPr/>
          </p:nvSpPr>
          <p:spPr bwMode="auto">
            <a:xfrm>
              <a:off x="7150607" y="6035039"/>
              <a:ext cx="841248" cy="18288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ctr">
                <a:defRPr/>
              </a:pPr>
              <a:r>
                <a:rPr lang="en-US" sz="1000" b="0">
                  <a:solidFill>
                    <a:srgbClr val="5A6672"/>
                  </a:solidFill>
                  <a:latin typeface="Inter"/>
                  <a:cs typeface="Inter"/>
                </a:rPr>
                <a:t>Messages</a:t>
              </a:r>
              <a:endParaRPr/>
            </a:p>
          </p:txBody>
        </p:sp>
      </p:grpSp>
      <p:grpSp>
        <p:nvGrpSpPr>
          <p:cNvPr id="25557551" name="Group 17"/>
          <p:cNvGrpSpPr/>
          <p:nvPr/>
        </p:nvGrpSpPr>
        <p:grpSpPr bwMode="auto">
          <a:xfrm>
            <a:off x="7854696" y="4275293"/>
            <a:ext cx="978408" cy="1942627"/>
            <a:chOff x="7854696" y="4275293"/>
            <a:chExt cx="978408" cy="1942627"/>
          </a:xfrm>
        </p:grpSpPr>
        <p:cxnSp>
          <p:nvCxnSpPr>
            <p:cNvPr id="134" name="Connector 133"/>
            <p:cNvCxnSpPr/>
            <p:nvPr/>
          </p:nvCxnSpPr>
          <p:spPr bwMode="auto">
            <a:xfrm>
              <a:off x="7854696" y="4531325"/>
              <a:ext cx="274320" cy="0"/>
            </a:xfrm>
            <a:prstGeom prst="line">
              <a:avLst/>
            </a:prstGeom>
            <a:ln w="12700">
              <a:solidFill>
                <a:srgbClr val="A9B1B9"/>
              </a:solidFill>
            </a:ln>
            <a:effectLst/>
          </p:spPr>
        </p:cxnSp>
        <p:sp>
          <p:nvSpPr>
            <p:cNvPr id="135" name="Rectangle 134"/>
            <p:cNvSpPr/>
            <p:nvPr/>
          </p:nvSpPr>
          <p:spPr bwMode="auto">
            <a:xfrm>
              <a:off x="8129016" y="4531325"/>
              <a:ext cx="566928" cy="54864"/>
            </a:xfrm>
            <a:prstGeom prst="rect">
              <a:avLst/>
            </a:prstGeom>
            <a:solidFill>
              <a:srgbClr val="D22730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36" name="TextBox 135"/>
            <p:cNvSpPr txBox="1"/>
            <p:nvPr/>
          </p:nvSpPr>
          <p:spPr bwMode="auto">
            <a:xfrm>
              <a:off x="7991856" y="4275293"/>
              <a:ext cx="841248" cy="219456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defRPr/>
              </a:pPr>
              <a:r>
                <a:rPr lang="en-US" sz="1100" b="1">
                  <a:solidFill>
                    <a:srgbClr val="101820"/>
                  </a:solidFill>
                  <a:latin typeface="Inter"/>
                  <a:cs typeface="Inter"/>
                </a:rPr>
                <a:t>−25</a:t>
              </a:r>
              <a:endParaRPr/>
            </a:p>
          </p:txBody>
        </p:sp>
        <p:sp>
          <p:nvSpPr>
            <p:cNvPr id="137" name="TextBox 136"/>
            <p:cNvSpPr txBox="1"/>
            <p:nvPr/>
          </p:nvSpPr>
          <p:spPr bwMode="auto">
            <a:xfrm>
              <a:off x="7991856" y="6035039"/>
              <a:ext cx="841248" cy="18288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ctr">
                <a:defRPr/>
              </a:pPr>
              <a:r>
                <a:rPr lang="en-US" sz="1000" b="0">
                  <a:solidFill>
                    <a:srgbClr val="5A6672"/>
                  </a:solidFill>
                  <a:latin typeface="Inter"/>
                  <a:cs typeface="Inter"/>
                </a:rPr>
                <a:t>Logins</a:t>
              </a:r>
              <a:endParaRPr/>
            </a:p>
          </p:txBody>
        </p:sp>
      </p:grpSp>
      <p:grpSp>
        <p:nvGrpSpPr>
          <p:cNvPr id="688607882" name="Group 18"/>
          <p:cNvGrpSpPr/>
          <p:nvPr/>
        </p:nvGrpSpPr>
        <p:grpSpPr bwMode="auto">
          <a:xfrm>
            <a:off x="8695944" y="4302094"/>
            <a:ext cx="978408" cy="1915826"/>
            <a:chOff x="8695944" y="4302094"/>
            <a:chExt cx="978408" cy="1915826"/>
          </a:xfrm>
        </p:grpSpPr>
        <p:cxnSp>
          <p:nvCxnSpPr>
            <p:cNvPr id="138" name="Connector 137"/>
            <p:cNvCxnSpPr/>
            <p:nvPr/>
          </p:nvCxnSpPr>
          <p:spPr bwMode="auto">
            <a:xfrm>
              <a:off x="8695944" y="4586189"/>
              <a:ext cx="274320" cy="0"/>
            </a:xfrm>
            <a:prstGeom prst="line">
              <a:avLst/>
            </a:prstGeom>
            <a:ln w="12700">
              <a:solidFill>
                <a:srgbClr val="A9B1B9"/>
              </a:solidFill>
            </a:ln>
            <a:effectLst/>
          </p:spPr>
        </p:cxnSp>
        <p:sp>
          <p:nvSpPr>
            <p:cNvPr id="139" name="Rectangle 138"/>
            <p:cNvSpPr/>
            <p:nvPr/>
          </p:nvSpPr>
          <p:spPr bwMode="auto">
            <a:xfrm>
              <a:off x="8970264" y="4558126"/>
              <a:ext cx="566928" cy="54864"/>
            </a:xfrm>
            <a:prstGeom prst="rect">
              <a:avLst/>
            </a:prstGeom>
            <a:solidFill>
              <a:srgbClr val="D22730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40" name="TextBox 139"/>
            <p:cNvSpPr txBox="1"/>
            <p:nvPr/>
          </p:nvSpPr>
          <p:spPr bwMode="auto">
            <a:xfrm>
              <a:off x="8833104" y="4302094"/>
              <a:ext cx="841248" cy="219456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defRPr/>
              </a:pPr>
              <a:r>
                <a:rPr lang="en-US" sz="1100" b="1">
                  <a:solidFill>
                    <a:srgbClr val="101820"/>
                  </a:solidFill>
                  <a:latin typeface="Inter"/>
                  <a:cs typeface="Inter"/>
                </a:rPr>
                <a:t>−20</a:t>
              </a:r>
              <a:endParaRPr/>
            </a:p>
          </p:txBody>
        </p:sp>
        <p:sp>
          <p:nvSpPr>
            <p:cNvPr id="141" name="TextBox 140"/>
            <p:cNvSpPr txBox="1"/>
            <p:nvPr/>
          </p:nvSpPr>
          <p:spPr bwMode="auto">
            <a:xfrm>
              <a:off x="8833104" y="6035039"/>
              <a:ext cx="841248" cy="18288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ctr">
                <a:defRPr/>
              </a:pPr>
              <a:r>
                <a:rPr lang="en-US" sz="1000" b="0">
                  <a:solidFill>
                    <a:srgbClr val="5A6672"/>
                  </a:solidFill>
                  <a:latin typeface="Inter"/>
                  <a:cs typeface="Inter"/>
                </a:rPr>
                <a:t>Returns</a:t>
              </a:r>
              <a:endParaRPr/>
            </a:p>
          </p:txBody>
        </p:sp>
      </p:grpSp>
      <p:grpSp>
        <p:nvGrpSpPr>
          <p:cNvPr id="634479175" name="Group 19"/>
          <p:cNvGrpSpPr/>
          <p:nvPr/>
        </p:nvGrpSpPr>
        <p:grpSpPr bwMode="auto">
          <a:xfrm>
            <a:off x="9537192" y="4323535"/>
            <a:ext cx="978408" cy="1894385"/>
            <a:chOff x="9537192" y="4323535"/>
            <a:chExt cx="978408" cy="1894385"/>
          </a:xfrm>
        </p:grpSpPr>
        <p:cxnSp>
          <p:nvCxnSpPr>
            <p:cNvPr id="142" name="Connector 141"/>
            <p:cNvCxnSpPr/>
            <p:nvPr/>
          </p:nvCxnSpPr>
          <p:spPr bwMode="auto">
            <a:xfrm>
              <a:off x="9537192" y="4612990"/>
              <a:ext cx="274320" cy="0"/>
            </a:xfrm>
            <a:prstGeom prst="line">
              <a:avLst/>
            </a:prstGeom>
            <a:ln w="12700">
              <a:solidFill>
                <a:srgbClr val="A9B1B9"/>
              </a:solidFill>
            </a:ln>
            <a:effectLst/>
          </p:spPr>
        </p:cxnSp>
        <p:sp>
          <p:nvSpPr>
            <p:cNvPr id="143" name="Rectangle 142"/>
            <p:cNvSpPr/>
            <p:nvPr/>
          </p:nvSpPr>
          <p:spPr bwMode="auto">
            <a:xfrm>
              <a:off x="9811511" y="4579567"/>
              <a:ext cx="566928" cy="214411"/>
            </a:xfrm>
            <a:prstGeom prst="rect">
              <a:avLst/>
            </a:prstGeom>
            <a:solidFill>
              <a:srgbClr val="D22730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44" name="TextBox 143"/>
            <p:cNvSpPr txBox="1"/>
            <p:nvPr/>
          </p:nvSpPr>
          <p:spPr bwMode="auto">
            <a:xfrm>
              <a:off x="9674352" y="4323535"/>
              <a:ext cx="841248" cy="219456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defRPr/>
              </a:pPr>
              <a:r>
                <a:rPr lang="en-US" sz="1100" b="1">
                  <a:solidFill>
                    <a:srgbClr val="101820"/>
                  </a:solidFill>
                  <a:latin typeface="Inter"/>
                  <a:cs typeface="Inter"/>
                </a:rPr>
                <a:t>−200</a:t>
              </a:r>
              <a:endParaRPr/>
            </a:p>
          </p:txBody>
        </p:sp>
        <p:sp>
          <p:nvSpPr>
            <p:cNvPr id="145" name="TextBox 144"/>
            <p:cNvSpPr txBox="1"/>
            <p:nvPr/>
          </p:nvSpPr>
          <p:spPr bwMode="auto">
            <a:xfrm>
              <a:off x="9674352" y="6035039"/>
              <a:ext cx="841248" cy="18288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ctr">
                <a:defRPr/>
              </a:pPr>
              <a:r>
                <a:rPr lang="en-US" sz="1000" b="0">
                  <a:solidFill>
                    <a:srgbClr val="5A6672"/>
                  </a:solidFill>
                  <a:latin typeface="Inter"/>
                  <a:cs typeface="Inter"/>
                </a:rPr>
                <a:t>Re-delivery</a:t>
              </a:r>
              <a:endParaRPr/>
            </a:p>
          </p:txBody>
        </p:sp>
      </p:grpSp>
      <p:grpSp>
        <p:nvGrpSpPr>
          <p:cNvPr id="270736988" name="Group 20"/>
          <p:cNvGrpSpPr/>
          <p:nvPr/>
        </p:nvGrpSpPr>
        <p:grpSpPr bwMode="auto">
          <a:xfrm>
            <a:off x="10369296" y="4428218"/>
            <a:ext cx="1133856" cy="1789702"/>
            <a:chOff x="10369296" y="4428218"/>
            <a:chExt cx="1133856" cy="1789702"/>
          </a:xfrm>
        </p:grpSpPr>
        <p:cxnSp>
          <p:nvCxnSpPr>
            <p:cNvPr id="146" name="Connector 145"/>
            <p:cNvCxnSpPr/>
            <p:nvPr/>
          </p:nvCxnSpPr>
          <p:spPr bwMode="auto">
            <a:xfrm>
              <a:off x="10378440" y="4793978"/>
              <a:ext cx="274320" cy="0"/>
            </a:xfrm>
            <a:prstGeom prst="line">
              <a:avLst/>
            </a:prstGeom>
            <a:ln w="12700">
              <a:solidFill>
                <a:srgbClr val="A9B1B9"/>
              </a:solidFill>
            </a:ln>
            <a:effectLst/>
          </p:spPr>
        </p:cxnSp>
        <p:sp>
          <p:nvSpPr>
            <p:cNvPr id="147" name="Rectangle 146"/>
            <p:cNvSpPr/>
            <p:nvPr/>
          </p:nvSpPr>
          <p:spPr bwMode="auto">
            <a:xfrm>
              <a:off x="10652760" y="4793978"/>
              <a:ext cx="566928" cy="1195342"/>
            </a:xfrm>
            <a:prstGeom prst="rect">
              <a:avLst/>
            </a:prstGeom>
            <a:solidFill>
              <a:srgbClr val="298FC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48" name="TextBox 147"/>
            <p:cNvSpPr txBox="1"/>
            <p:nvPr/>
          </p:nvSpPr>
          <p:spPr bwMode="auto">
            <a:xfrm>
              <a:off x="10369296" y="4428218"/>
              <a:ext cx="1133856" cy="3291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defRPr/>
              </a:pPr>
              <a:r>
                <a:rPr lang="en-US" sz="1800" b="1">
                  <a:solidFill>
                    <a:srgbClr val="298FC2"/>
                  </a:solidFill>
                  <a:latin typeface="Comfortaa"/>
                  <a:cs typeface="Comfortaa"/>
                </a:rPr>
                <a:t>1,115 IQD</a:t>
              </a:r>
              <a:endParaRPr/>
            </a:p>
          </p:txBody>
        </p:sp>
        <p:sp>
          <p:nvSpPr>
            <p:cNvPr id="149" name="TextBox 148"/>
            <p:cNvSpPr txBox="1"/>
            <p:nvPr/>
          </p:nvSpPr>
          <p:spPr bwMode="auto">
            <a:xfrm>
              <a:off x="10515600" y="6035039"/>
              <a:ext cx="841248" cy="18288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ctr">
                <a:defRPr/>
              </a:pPr>
              <a:r>
                <a:rPr lang="en-US" sz="1000" b="0">
                  <a:solidFill>
                    <a:srgbClr val="5A6672"/>
                  </a:solidFill>
                  <a:latin typeface="Inter"/>
                  <a:cs typeface="Inter"/>
                </a:rPr>
                <a:t>Profit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fast" p14:dur="500" advClick="1">
        <p:fade thruBlk="0"/>
      </p:transition>
    </mc:Choice>
    <mc:Fallback>
      <p:transition spd="fast" advClick="1">
        <p:fade thruBlk="0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3594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263594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9534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569534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2185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592185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07279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00"/>
                                        <p:tgtEl>
                                          <p:spTgt spid="15007279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40083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00"/>
                                        <p:tgtEl>
                                          <p:spTgt spid="17040083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3571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00"/>
                                        <p:tgtEl>
                                          <p:spTgt spid="21135710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82824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00"/>
                                        <p:tgtEl>
                                          <p:spTgt spid="15082824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65006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00"/>
                                        <p:tgtEl>
                                          <p:spTgt spid="15965006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27049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14527049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16089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19916089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300"/>
                            </p:stCondLst>
                            <p:childTnLst>
                              <p:par>
                                <p:cTn id="44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15226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250" fill="hold"/>
                                        <p:tgtEl>
                                          <p:spTgt spid="109152269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250" fill="hold"/>
                                        <p:tgtEl>
                                          <p:spTgt spid="109152269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8" dur="250"/>
                                        <p:tgtEl>
                                          <p:spTgt spid="10915226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53" presetClass="entr" presetSubtype="16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9920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1" dur="250" fill="hold"/>
                                        <p:tgtEl>
                                          <p:spTgt spid="205992010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250" fill="hold"/>
                                        <p:tgtEl>
                                          <p:spTgt spid="205992010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3" dur="250"/>
                                        <p:tgtEl>
                                          <p:spTgt spid="2059920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53" presetClass="entr" presetSubtype="16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44518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6" dur="250" fill="hold"/>
                                        <p:tgtEl>
                                          <p:spTgt spid="115445189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250" fill="hold"/>
                                        <p:tgtEl>
                                          <p:spTgt spid="115445189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8" dur="250"/>
                                        <p:tgtEl>
                                          <p:spTgt spid="11544518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55653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300"/>
                                        <p:tgtEl>
                                          <p:spTgt spid="8255653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30469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250"/>
                                        <p:tgtEl>
                                          <p:spTgt spid="10430469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4276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250"/>
                                        <p:tgtEl>
                                          <p:spTgt spid="564276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575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250"/>
                                        <p:tgtEl>
                                          <p:spTgt spid="255575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86078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250"/>
                                        <p:tgtEl>
                                          <p:spTgt spid="6886078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4479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250"/>
                                        <p:tgtEl>
                                          <p:spTgt spid="6344791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570"/>
                            </p:stCondLst>
                            <p:childTnLst>
                              <p:par>
                                <p:cTn id="80" presetID="53" presetClass="entr" presetSubtype="16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07369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2" dur="300" fill="hold"/>
                                        <p:tgtEl>
                                          <p:spTgt spid="27073698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3" dur="300" fill="hold"/>
                                        <p:tgtEl>
                                          <p:spTgt spid="27073698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4" dur="300"/>
                                        <p:tgtEl>
                                          <p:spTgt spid="2707369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09760939" name="Google Shape;98;p14" title="Center_for_Academic_and_Professional_Advancement.png"/>
          <p:cNvPicPr/>
          <p:nvPr/>
        </p:nvPicPr>
        <p:blipFill rotWithShape="1">
          <a:blip r:embed="rId3">
            <a:alphaModFix/>
          </a:blip>
          <a:stretch/>
        </p:blipFill>
        <p:spPr bwMode="auto">
          <a:xfrm>
            <a:off x="8289593" y="351575"/>
            <a:ext cx="3178502" cy="969349"/>
          </a:xfrm>
          <a:prstGeom prst="rect">
            <a:avLst/>
          </a:prstGeom>
          <a:noFill/>
          <a:ln>
            <a:noFill/>
          </a:ln>
        </p:spPr>
      </p:pic>
      <p:pic>
        <p:nvPicPr>
          <p:cNvPr id="544254749" name="Google Shape;99;p14" title="german cooperation deutsche zusammenarbeit.png"/>
          <p:cNvPicPr/>
          <p:nvPr/>
        </p:nvPicPr>
        <p:blipFill rotWithShape="1">
          <a:blip r:embed="rId4">
            <a:alphaModFix/>
          </a:blip>
          <a:stretch/>
        </p:blipFill>
        <p:spPr bwMode="auto">
          <a:xfrm>
            <a:off x="723900" y="436204"/>
            <a:ext cx="1428202" cy="800089"/>
          </a:xfrm>
          <a:prstGeom prst="rect">
            <a:avLst/>
          </a:prstGeom>
          <a:noFill/>
          <a:ln>
            <a:noFill/>
          </a:ln>
        </p:spPr>
      </p:pic>
      <p:sp>
        <p:nvSpPr>
          <p:cNvPr id="1843254048" name="Rectangle 99"/>
          <p:cNvSpPr/>
          <p:nvPr/>
        </p:nvSpPr>
        <p:spPr bwMode="auto">
          <a:xfrm>
            <a:off x="722376" y="1517904"/>
            <a:ext cx="274320" cy="45720"/>
          </a:xfrm>
          <a:prstGeom prst="rect">
            <a:avLst/>
          </a:prstGeom>
          <a:solidFill>
            <a:srgbClr val="298FC2"/>
          </a:solidFill>
          <a:ln>
            <a:noFill/>
          </a:ln>
          <a:effectLst/>
        </p:spPr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029104070" name="TextBox 100"/>
          <p:cNvSpPr txBox="1"/>
          <p:nvPr/>
        </p:nvSpPr>
        <p:spPr bwMode="auto">
          <a:xfrm>
            <a:off x="1133856" y="1426464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defRPr/>
            </a:pPr>
            <a:r>
              <a:rPr lang="en-US" sz="1300" b="0">
                <a:solidFill>
                  <a:srgbClr val="5A6672"/>
                </a:solidFill>
                <a:latin typeface="Inter"/>
                <a:cs typeface="Inter"/>
              </a:rPr>
              <a:t>Competitor analysis</a:t>
            </a:r>
            <a:endParaRPr/>
          </a:p>
        </p:txBody>
      </p:sp>
      <p:sp>
        <p:nvSpPr>
          <p:cNvPr id="2137251659" name="TextBox 101"/>
          <p:cNvSpPr txBox="1"/>
          <p:nvPr/>
        </p:nvSpPr>
        <p:spPr bwMode="auto">
          <a:xfrm>
            <a:off x="722376" y="1700784"/>
            <a:ext cx="10744200" cy="5669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defRPr/>
            </a:pPr>
            <a:r>
              <a:rPr lang="en-US" sz="3000" b="1">
                <a:solidFill>
                  <a:srgbClr val="101820"/>
                </a:solidFill>
                <a:latin typeface="Comfortaa"/>
                <a:cs typeface="Comfortaa"/>
              </a:rPr>
              <a:t>Nobody else puts every seller on one page.</a:t>
            </a:r>
            <a:endParaRPr/>
          </a:p>
        </p:txBody>
      </p:sp>
      <p:sp>
        <p:nvSpPr>
          <p:cNvPr id="636193258" name="TextBox 102"/>
          <p:cNvSpPr txBox="1"/>
          <p:nvPr/>
        </p:nvSpPr>
        <p:spPr bwMode="auto">
          <a:xfrm>
            <a:off x="722376" y="6455664"/>
            <a:ext cx="10744200" cy="23774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defRPr/>
            </a:pPr>
            <a:r>
              <a:rPr lang="en-US" sz="900" b="0">
                <a:solidFill>
                  <a:srgbClr val="5A6672"/>
                </a:solidFill>
                <a:latin typeface="Inter"/>
                <a:cs typeface="Inter"/>
              </a:rPr>
              <a:t>Based on in-app screenshots (Sep–Oct 2026) and public platform information.</a:t>
            </a:r>
            <a:endParaRPr/>
          </a:p>
        </p:txBody>
      </p:sp>
      <p:grpSp>
        <p:nvGrpSpPr>
          <p:cNvPr id="1222592545" name="Group 1"/>
          <p:cNvGrpSpPr/>
          <p:nvPr/>
        </p:nvGrpSpPr>
        <p:grpSpPr bwMode="auto">
          <a:xfrm>
            <a:off x="722376" y="2578608"/>
            <a:ext cx="9244584" cy="3438144"/>
            <a:chOff x="722376" y="2578608"/>
            <a:chExt cx="9244584" cy="3438144"/>
          </a:xfrm>
        </p:grpSpPr>
        <p:sp>
          <p:nvSpPr>
            <p:cNvPr id="104" name="TextBox 103"/>
            <p:cNvSpPr txBox="1"/>
            <p:nvPr/>
          </p:nvSpPr>
          <p:spPr bwMode="auto">
            <a:xfrm>
              <a:off x="722376" y="3383280"/>
              <a:ext cx="3200400" cy="65836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defRPr/>
              </a:pPr>
              <a:r>
                <a:rPr lang="en-US" sz="1500" b="1">
                  <a:solidFill>
                    <a:srgbClr val="101820"/>
                  </a:solidFill>
                  <a:latin typeface="Inter"/>
                  <a:cs typeface="Inter"/>
                </a:rPr>
                <a:t>Prices shown upfront</a:t>
              </a:r>
              <a:endParaRPr/>
            </a:p>
          </p:txBody>
        </p:sp>
        <p:sp>
          <p:nvSpPr>
            <p:cNvPr id="105" name="TextBox 104"/>
            <p:cNvSpPr txBox="1"/>
            <p:nvPr/>
          </p:nvSpPr>
          <p:spPr bwMode="auto">
            <a:xfrm>
              <a:off x="722376" y="4041648"/>
              <a:ext cx="3200400" cy="65836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defRPr/>
              </a:pPr>
              <a:r>
                <a:rPr lang="en-US" sz="1500" b="1">
                  <a:solidFill>
                    <a:srgbClr val="101820"/>
                  </a:solidFill>
                  <a:latin typeface="Inter"/>
                  <a:cs typeface="Inter"/>
                </a:rPr>
                <a:t>One page per product</a:t>
              </a:r>
              <a:endParaRPr/>
            </a:p>
          </p:txBody>
        </p:sp>
        <p:sp>
          <p:nvSpPr>
            <p:cNvPr id="106" name="TextBox 105"/>
            <p:cNvSpPr txBox="1"/>
            <p:nvPr/>
          </p:nvSpPr>
          <p:spPr bwMode="auto">
            <a:xfrm>
              <a:off x="722376" y="4700016"/>
              <a:ext cx="3200400" cy="65836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defRPr/>
              </a:pPr>
              <a:r>
                <a:rPr lang="en-US" sz="1500" b="1">
                  <a:solidFill>
                    <a:srgbClr val="101820"/>
                  </a:solidFill>
                  <a:latin typeface="Inter"/>
                  <a:cs typeface="Inter"/>
                </a:rPr>
                <a:t>Every seller compared on that page</a:t>
              </a:r>
              <a:endParaRPr/>
            </a:p>
          </p:txBody>
        </p:sp>
        <p:sp>
          <p:nvSpPr>
            <p:cNvPr id="107" name="TextBox 106"/>
            <p:cNvSpPr txBox="1"/>
            <p:nvPr/>
          </p:nvSpPr>
          <p:spPr bwMode="auto">
            <a:xfrm>
              <a:off x="722376" y="5358384"/>
              <a:ext cx="3200400" cy="65836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defRPr/>
              </a:pPr>
              <a:r>
                <a:rPr lang="en-US" sz="1500" b="1">
                  <a:solidFill>
                    <a:srgbClr val="101820"/>
                  </a:solidFill>
                  <a:latin typeface="Inter"/>
                  <a:cs typeface="Inter"/>
                </a:rPr>
                <a:t>Third-party sellers can join</a:t>
              </a:r>
              <a:endParaRPr/>
            </a:p>
          </p:txBody>
        </p:sp>
        <p:sp>
          <p:nvSpPr>
            <p:cNvPr id="108" name="TextBox 107"/>
            <p:cNvSpPr txBox="1"/>
            <p:nvPr/>
          </p:nvSpPr>
          <p:spPr bwMode="auto">
            <a:xfrm>
              <a:off x="4114800" y="2578608"/>
              <a:ext cx="1463040" cy="502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defRPr/>
              </a:pPr>
              <a:r>
                <a:rPr lang="en-US" sz="1300" b="1">
                  <a:solidFill>
                    <a:srgbClr val="101820"/>
                  </a:solidFill>
                  <a:latin typeface="Inter"/>
                  <a:cs typeface="Inter"/>
                </a:rPr>
                <a:t>Instagram / Facebook</a:t>
              </a:r>
              <a:endParaRPr/>
            </a:p>
          </p:txBody>
        </p:sp>
        <p:sp>
          <p:nvSpPr>
            <p:cNvPr id="109" name="TextBox 108"/>
            <p:cNvSpPr txBox="1"/>
            <p:nvPr/>
          </p:nvSpPr>
          <p:spPr bwMode="auto">
            <a:xfrm>
              <a:off x="5577840" y="2578608"/>
              <a:ext cx="1463040" cy="502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defRPr/>
              </a:pPr>
              <a:r>
                <a:rPr lang="en-US" sz="1300" b="1">
                  <a:solidFill>
                    <a:srgbClr val="101820"/>
                  </a:solidFill>
                  <a:latin typeface="Inter"/>
                  <a:cs typeface="Inter"/>
                </a:rPr>
                <a:t>Miswag</a:t>
              </a:r>
              <a:endParaRPr/>
            </a:p>
          </p:txBody>
        </p:sp>
        <p:sp>
          <p:nvSpPr>
            <p:cNvPr id="110" name="TextBox 109"/>
            <p:cNvSpPr txBox="1"/>
            <p:nvPr/>
          </p:nvSpPr>
          <p:spPr bwMode="auto">
            <a:xfrm>
              <a:off x="7040880" y="2578608"/>
              <a:ext cx="1463040" cy="502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defRPr/>
              </a:pPr>
              <a:r>
                <a:rPr lang="en-US" sz="1300" b="1">
                  <a:solidFill>
                    <a:srgbClr val="101820"/>
                  </a:solidFill>
                  <a:latin typeface="Inter"/>
                  <a:cs typeface="Inter"/>
                </a:rPr>
                <a:t>iBazzar</a:t>
              </a:r>
              <a:endParaRPr/>
            </a:p>
          </p:txBody>
        </p:sp>
        <p:sp>
          <p:nvSpPr>
            <p:cNvPr id="111" name="TextBox 110"/>
            <p:cNvSpPr txBox="1"/>
            <p:nvPr/>
          </p:nvSpPr>
          <p:spPr bwMode="auto">
            <a:xfrm>
              <a:off x="8503920" y="2578608"/>
              <a:ext cx="1463040" cy="502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defRPr/>
              </a:pPr>
              <a:r>
                <a:rPr lang="en-US" sz="1300" b="1">
                  <a:solidFill>
                    <a:srgbClr val="101820"/>
                  </a:solidFill>
                  <a:latin typeface="Inter"/>
                  <a:cs typeface="Inter"/>
                </a:rPr>
                <a:t>Elryan</a:t>
              </a:r>
              <a:endParaRPr/>
            </a:p>
          </p:txBody>
        </p:sp>
        <p:cxnSp>
          <p:nvCxnSpPr>
            <p:cNvPr id="112" name="Connector 111"/>
            <p:cNvCxnSpPr/>
            <p:nvPr/>
          </p:nvCxnSpPr>
          <p:spPr bwMode="auto">
            <a:xfrm>
              <a:off x="722376" y="4041648"/>
              <a:ext cx="9061704" cy="0"/>
            </a:xfrm>
            <a:prstGeom prst="line">
              <a:avLst/>
            </a:prstGeom>
            <a:ln w="9525">
              <a:solidFill>
                <a:srgbClr val="DDE5ED"/>
              </a:solidFill>
            </a:ln>
            <a:effectLst/>
          </p:spPr>
        </p:cxnSp>
        <p:cxnSp>
          <p:nvCxnSpPr>
            <p:cNvPr id="113" name="Connector 112"/>
            <p:cNvCxnSpPr/>
            <p:nvPr/>
          </p:nvCxnSpPr>
          <p:spPr bwMode="auto">
            <a:xfrm>
              <a:off x="722376" y="4700016"/>
              <a:ext cx="9061704" cy="0"/>
            </a:xfrm>
            <a:prstGeom prst="line">
              <a:avLst/>
            </a:prstGeom>
            <a:ln w="9525">
              <a:solidFill>
                <a:srgbClr val="DDE5ED"/>
              </a:solidFill>
            </a:ln>
            <a:effectLst/>
          </p:spPr>
        </p:cxnSp>
        <p:cxnSp>
          <p:nvCxnSpPr>
            <p:cNvPr id="114" name="Connector 113"/>
            <p:cNvCxnSpPr/>
            <p:nvPr/>
          </p:nvCxnSpPr>
          <p:spPr bwMode="auto">
            <a:xfrm>
              <a:off x="722376" y="5358384"/>
              <a:ext cx="9061704" cy="0"/>
            </a:xfrm>
            <a:prstGeom prst="line">
              <a:avLst/>
            </a:prstGeom>
            <a:ln w="9525">
              <a:solidFill>
                <a:srgbClr val="DDE5ED"/>
              </a:solidFill>
            </a:ln>
            <a:effectLst/>
          </p:spPr>
        </p:cxnSp>
        <p:cxnSp>
          <p:nvCxnSpPr>
            <p:cNvPr id="115" name="Connector 114"/>
            <p:cNvCxnSpPr/>
            <p:nvPr/>
          </p:nvCxnSpPr>
          <p:spPr bwMode="auto">
            <a:xfrm>
              <a:off x="722376" y="3355848"/>
              <a:ext cx="9061704" cy="0"/>
            </a:xfrm>
            <a:prstGeom prst="line">
              <a:avLst/>
            </a:prstGeom>
            <a:ln w="9525">
              <a:solidFill>
                <a:srgbClr val="DDE5ED"/>
              </a:solidFill>
            </a:ln>
            <a:effectLst/>
          </p:spPr>
        </p:cxnSp>
        <p:cxnSp>
          <p:nvCxnSpPr>
            <p:cNvPr id="116" name="Connector 115"/>
            <p:cNvCxnSpPr/>
            <p:nvPr/>
          </p:nvCxnSpPr>
          <p:spPr bwMode="auto">
            <a:xfrm>
              <a:off x="722376" y="6016752"/>
              <a:ext cx="9061704" cy="0"/>
            </a:xfrm>
            <a:prstGeom prst="line">
              <a:avLst/>
            </a:prstGeom>
            <a:ln w="9525">
              <a:solidFill>
                <a:srgbClr val="DDE5ED"/>
              </a:solidFill>
            </a:ln>
            <a:effectLst/>
          </p:spPr>
        </p:cxnSp>
      </p:grpSp>
      <p:grpSp>
        <p:nvGrpSpPr>
          <p:cNvPr id="1499659603" name="Group 2"/>
          <p:cNvGrpSpPr/>
          <p:nvPr/>
        </p:nvGrpSpPr>
        <p:grpSpPr bwMode="auto">
          <a:xfrm>
            <a:off x="4681728" y="3547872"/>
            <a:ext cx="329184" cy="2304288"/>
            <a:chOff x="4681728" y="3547872"/>
            <a:chExt cx="329184" cy="2304288"/>
          </a:xfrm>
        </p:grpSpPr>
        <p:pic>
          <p:nvPicPr>
            <p:cNvPr id="117" name="Picture 116" descr="contrast_5A6672.png"/>
            <p:cNvPicPr>
              <a:picLocks noChangeAspect="1"/>
            </p:cNvPicPr>
            <p:nvPr/>
          </p:nvPicPr>
          <p:blipFill rotWithShape="1">
            <a:blip r:embed="rId5"/>
            <a:stretch/>
          </p:blipFill>
          <p:spPr bwMode="auto">
            <a:xfrm>
              <a:off x="4681728" y="3547872"/>
              <a:ext cx="329184" cy="329184"/>
            </a:xfrm>
            <a:prstGeom prst="rect">
              <a:avLst/>
            </a:prstGeom>
          </p:spPr>
        </p:pic>
        <p:pic>
          <p:nvPicPr>
            <p:cNvPr id="118" name="Picture 117" descr="circle-x_D22730.png"/>
            <p:cNvPicPr>
              <a:picLocks noChangeAspect="1"/>
            </p:cNvPicPr>
            <p:nvPr/>
          </p:nvPicPr>
          <p:blipFill rotWithShape="1">
            <a:blip r:embed="rId6"/>
            <a:stretch/>
          </p:blipFill>
          <p:spPr bwMode="auto">
            <a:xfrm>
              <a:off x="4681728" y="4206240"/>
              <a:ext cx="329184" cy="329184"/>
            </a:xfrm>
            <a:prstGeom prst="rect">
              <a:avLst/>
            </a:prstGeom>
          </p:spPr>
        </p:pic>
        <p:pic>
          <p:nvPicPr>
            <p:cNvPr id="119" name="Picture 118" descr="circle-x_D22730.png"/>
            <p:cNvPicPr>
              <a:picLocks noChangeAspect="1"/>
            </p:cNvPicPr>
            <p:nvPr/>
          </p:nvPicPr>
          <p:blipFill rotWithShape="1">
            <a:blip r:embed="rId6"/>
            <a:stretch/>
          </p:blipFill>
          <p:spPr bwMode="auto">
            <a:xfrm>
              <a:off x="4681728" y="4864607"/>
              <a:ext cx="329184" cy="329184"/>
            </a:xfrm>
            <a:prstGeom prst="rect">
              <a:avLst/>
            </a:prstGeom>
          </p:spPr>
        </p:pic>
        <p:pic>
          <p:nvPicPr>
            <p:cNvPr id="120" name="Picture 119" descr="circle-check_5A6672.png"/>
            <p:cNvPicPr>
              <a:picLocks noChangeAspect="1"/>
            </p:cNvPicPr>
            <p:nvPr/>
          </p:nvPicPr>
          <p:blipFill rotWithShape="1">
            <a:blip r:embed="rId7"/>
            <a:stretch/>
          </p:blipFill>
          <p:spPr bwMode="auto">
            <a:xfrm>
              <a:off x="4681728" y="5522976"/>
              <a:ext cx="329184" cy="329184"/>
            </a:xfrm>
            <a:prstGeom prst="rect">
              <a:avLst/>
            </a:prstGeom>
          </p:spPr>
        </p:pic>
      </p:grpSp>
      <p:grpSp>
        <p:nvGrpSpPr>
          <p:cNvPr id="1364175977" name="Group 3"/>
          <p:cNvGrpSpPr/>
          <p:nvPr/>
        </p:nvGrpSpPr>
        <p:grpSpPr bwMode="auto">
          <a:xfrm>
            <a:off x="6144768" y="3547872"/>
            <a:ext cx="329184" cy="2304288"/>
            <a:chOff x="6144768" y="3547872"/>
            <a:chExt cx="329184" cy="2304288"/>
          </a:xfrm>
        </p:grpSpPr>
        <p:pic>
          <p:nvPicPr>
            <p:cNvPr id="121" name="Picture 120" descr="circle-check_5A6672.png"/>
            <p:cNvPicPr>
              <a:picLocks noChangeAspect="1"/>
            </p:cNvPicPr>
            <p:nvPr/>
          </p:nvPicPr>
          <p:blipFill rotWithShape="1">
            <a:blip r:embed="rId7"/>
            <a:stretch/>
          </p:blipFill>
          <p:spPr bwMode="auto">
            <a:xfrm>
              <a:off x="6144768" y="3547872"/>
              <a:ext cx="329184" cy="329184"/>
            </a:xfrm>
            <a:prstGeom prst="rect">
              <a:avLst/>
            </a:prstGeom>
          </p:spPr>
        </p:pic>
        <p:pic>
          <p:nvPicPr>
            <p:cNvPr id="122" name="Picture 121" descr="circle-x_D22730.png"/>
            <p:cNvPicPr>
              <a:picLocks noChangeAspect="1"/>
            </p:cNvPicPr>
            <p:nvPr/>
          </p:nvPicPr>
          <p:blipFill rotWithShape="1">
            <a:blip r:embed="rId6"/>
            <a:stretch/>
          </p:blipFill>
          <p:spPr bwMode="auto">
            <a:xfrm>
              <a:off x="6144768" y="4206240"/>
              <a:ext cx="329184" cy="329184"/>
            </a:xfrm>
            <a:prstGeom prst="rect">
              <a:avLst/>
            </a:prstGeom>
          </p:spPr>
        </p:pic>
        <p:pic>
          <p:nvPicPr>
            <p:cNvPr id="123" name="Picture 122" descr="circle-x_D22730.png"/>
            <p:cNvPicPr>
              <a:picLocks noChangeAspect="1"/>
            </p:cNvPicPr>
            <p:nvPr/>
          </p:nvPicPr>
          <p:blipFill rotWithShape="1">
            <a:blip r:embed="rId6"/>
            <a:stretch/>
          </p:blipFill>
          <p:spPr bwMode="auto">
            <a:xfrm>
              <a:off x="6144768" y="4864607"/>
              <a:ext cx="329184" cy="329184"/>
            </a:xfrm>
            <a:prstGeom prst="rect">
              <a:avLst/>
            </a:prstGeom>
          </p:spPr>
        </p:pic>
        <p:pic>
          <p:nvPicPr>
            <p:cNvPr id="124" name="Picture 123" descr="circle-check_5A6672.png"/>
            <p:cNvPicPr>
              <a:picLocks noChangeAspect="1"/>
            </p:cNvPicPr>
            <p:nvPr/>
          </p:nvPicPr>
          <p:blipFill rotWithShape="1">
            <a:blip r:embed="rId7"/>
            <a:stretch/>
          </p:blipFill>
          <p:spPr bwMode="auto">
            <a:xfrm>
              <a:off x="6144768" y="5522976"/>
              <a:ext cx="329184" cy="329184"/>
            </a:xfrm>
            <a:prstGeom prst="rect">
              <a:avLst/>
            </a:prstGeom>
          </p:spPr>
        </p:pic>
      </p:grpSp>
      <p:grpSp>
        <p:nvGrpSpPr>
          <p:cNvPr id="862028108" name="Group 4"/>
          <p:cNvGrpSpPr/>
          <p:nvPr/>
        </p:nvGrpSpPr>
        <p:grpSpPr bwMode="auto">
          <a:xfrm>
            <a:off x="7607808" y="3547872"/>
            <a:ext cx="329184" cy="2304288"/>
            <a:chOff x="7607808" y="3547872"/>
            <a:chExt cx="329184" cy="2304288"/>
          </a:xfrm>
        </p:grpSpPr>
        <p:pic>
          <p:nvPicPr>
            <p:cNvPr id="125" name="Picture 124" descr="circle-check_5A6672.png"/>
            <p:cNvPicPr>
              <a:picLocks noChangeAspect="1"/>
            </p:cNvPicPr>
            <p:nvPr/>
          </p:nvPicPr>
          <p:blipFill rotWithShape="1">
            <a:blip r:embed="rId7"/>
            <a:stretch/>
          </p:blipFill>
          <p:spPr bwMode="auto">
            <a:xfrm>
              <a:off x="7607808" y="3547872"/>
              <a:ext cx="329184" cy="329184"/>
            </a:xfrm>
            <a:prstGeom prst="rect">
              <a:avLst/>
            </a:prstGeom>
          </p:spPr>
        </p:pic>
        <p:pic>
          <p:nvPicPr>
            <p:cNvPr id="126" name="Picture 125" descr="circle-x_D22730.png"/>
            <p:cNvPicPr>
              <a:picLocks noChangeAspect="1"/>
            </p:cNvPicPr>
            <p:nvPr/>
          </p:nvPicPr>
          <p:blipFill rotWithShape="1">
            <a:blip r:embed="rId6"/>
            <a:stretch/>
          </p:blipFill>
          <p:spPr bwMode="auto">
            <a:xfrm>
              <a:off x="7607808" y="4206240"/>
              <a:ext cx="329184" cy="329184"/>
            </a:xfrm>
            <a:prstGeom prst="rect">
              <a:avLst/>
            </a:prstGeom>
          </p:spPr>
        </p:pic>
        <p:pic>
          <p:nvPicPr>
            <p:cNvPr id="127" name="Picture 126" descr="circle-x_D22730.png"/>
            <p:cNvPicPr>
              <a:picLocks noChangeAspect="1"/>
            </p:cNvPicPr>
            <p:nvPr/>
          </p:nvPicPr>
          <p:blipFill rotWithShape="1">
            <a:blip r:embed="rId6"/>
            <a:stretch/>
          </p:blipFill>
          <p:spPr bwMode="auto">
            <a:xfrm>
              <a:off x="7607808" y="4864607"/>
              <a:ext cx="329184" cy="329184"/>
            </a:xfrm>
            <a:prstGeom prst="rect">
              <a:avLst/>
            </a:prstGeom>
          </p:spPr>
        </p:pic>
        <p:pic>
          <p:nvPicPr>
            <p:cNvPr id="128" name="Picture 127" descr="circle-check_5A6672.png"/>
            <p:cNvPicPr>
              <a:picLocks noChangeAspect="1"/>
            </p:cNvPicPr>
            <p:nvPr/>
          </p:nvPicPr>
          <p:blipFill rotWithShape="1">
            <a:blip r:embed="rId7"/>
            <a:stretch/>
          </p:blipFill>
          <p:spPr bwMode="auto">
            <a:xfrm>
              <a:off x="7607808" y="5522976"/>
              <a:ext cx="329184" cy="329184"/>
            </a:xfrm>
            <a:prstGeom prst="rect">
              <a:avLst/>
            </a:prstGeom>
          </p:spPr>
        </p:pic>
      </p:grpSp>
      <p:grpSp>
        <p:nvGrpSpPr>
          <p:cNvPr id="590370730" name="Group 5"/>
          <p:cNvGrpSpPr/>
          <p:nvPr/>
        </p:nvGrpSpPr>
        <p:grpSpPr bwMode="auto">
          <a:xfrm>
            <a:off x="9070848" y="3547872"/>
            <a:ext cx="329184" cy="2304288"/>
            <a:chOff x="9070848" y="3547872"/>
            <a:chExt cx="329184" cy="2304288"/>
          </a:xfrm>
        </p:grpSpPr>
        <p:pic>
          <p:nvPicPr>
            <p:cNvPr id="129" name="Picture 128" descr="circle-check_5A6672.png"/>
            <p:cNvPicPr>
              <a:picLocks noChangeAspect="1"/>
            </p:cNvPicPr>
            <p:nvPr/>
          </p:nvPicPr>
          <p:blipFill rotWithShape="1">
            <a:blip r:embed="rId7"/>
            <a:stretch/>
          </p:blipFill>
          <p:spPr bwMode="auto">
            <a:xfrm>
              <a:off x="9070848" y="3547872"/>
              <a:ext cx="329184" cy="329184"/>
            </a:xfrm>
            <a:prstGeom prst="rect">
              <a:avLst/>
            </a:prstGeom>
          </p:spPr>
        </p:pic>
        <p:pic>
          <p:nvPicPr>
            <p:cNvPr id="130" name="Picture 129" descr="circle-x_D22730.png"/>
            <p:cNvPicPr>
              <a:picLocks noChangeAspect="1"/>
            </p:cNvPicPr>
            <p:nvPr/>
          </p:nvPicPr>
          <p:blipFill rotWithShape="1">
            <a:blip r:embed="rId6"/>
            <a:stretch/>
          </p:blipFill>
          <p:spPr bwMode="auto">
            <a:xfrm>
              <a:off x="9070848" y="4206240"/>
              <a:ext cx="329184" cy="329184"/>
            </a:xfrm>
            <a:prstGeom prst="rect">
              <a:avLst/>
            </a:prstGeom>
          </p:spPr>
        </p:pic>
        <p:pic>
          <p:nvPicPr>
            <p:cNvPr id="131" name="Picture 130" descr="circle-x_D22730.png"/>
            <p:cNvPicPr>
              <a:picLocks noChangeAspect="1"/>
            </p:cNvPicPr>
            <p:nvPr/>
          </p:nvPicPr>
          <p:blipFill rotWithShape="1">
            <a:blip r:embed="rId6"/>
            <a:stretch/>
          </p:blipFill>
          <p:spPr bwMode="auto">
            <a:xfrm>
              <a:off x="9070848" y="4864607"/>
              <a:ext cx="329184" cy="329184"/>
            </a:xfrm>
            <a:prstGeom prst="rect">
              <a:avLst/>
            </a:prstGeom>
          </p:spPr>
        </p:pic>
        <p:pic>
          <p:nvPicPr>
            <p:cNvPr id="132" name="Picture 131" descr="circle-x_D22730.png"/>
            <p:cNvPicPr>
              <a:picLocks noChangeAspect="1"/>
            </p:cNvPicPr>
            <p:nvPr/>
          </p:nvPicPr>
          <p:blipFill rotWithShape="1">
            <a:blip r:embed="rId6"/>
            <a:stretch/>
          </p:blipFill>
          <p:spPr bwMode="auto">
            <a:xfrm>
              <a:off x="9070848" y="5522976"/>
              <a:ext cx="329184" cy="329184"/>
            </a:xfrm>
            <a:prstGeom prst="rect">
              <a:avLst/>
            </a:prstGeom>
          </p:spPr>
        </p:pic>
      </p:grpSp>
      <p:grpSp>
        <p:nvGrpSpPr>
          <p:cNvPr id="597293874" name="Group 6"/>
          <p:cNvGrpSpPr/>
          <p:nvPr/>
        </p:nvGrpSpPr>
        <p:grpSpPr bwMode="auto">
          <a:xfrm>
            <a:off x="9966960" y="2441448"/>
            <a:ext cx="1463040" cy="3648456"/>
            <a:chOff x="9966960" y="2441448"/>
            <a:chExt cx="1463040" cy="3648456"/>
          </a:xfrm>
        </p:grpSpPr>
        <p:sp>
          <p:nvSpPr>
            <p:cNvPr id="133" name="Rounded Rectangle 132"/>
            <p:cNvSpPr/>
            <p:nvPr/>
          </p:nvSpPr>
          <p:spPr bwMode="auto">
            <a:xfrm>
              <a:off x="9966960" y="2441448"/>
              <a:ext cx="1463040" cy="3648456"/>
            </a:xfrm>
            <a:prstGeom prst="roundRect">
              <a:avLst>
                <a:gd name="adj" fmla="val 8750"/>
              </a:avLst>
            </a:prstGeom>
            <a:solidFill>
              <a:srgbClr val="E5F2F8"/>
            </a:solidFill>
            <a:ln w="19050">
              <a:solidFill>
                <a:srgbClr val="298FC2"/>
              </a:solidFill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pic>
          <p:nvPicPr>
            <p:cNvPr id="134" name="Picture 133" descr="cheapify-logo.png"/>
            <p:cNvPicPr>
              <a:picLocks noChangeAspect="1"/>
            </p:cNvPicPr>
            <p:nvPr/>
          </p:nvPicPr>
          <p:blipFill rotWithShape="1">
            <a:blip r:embed="rId8"/>
            <a:stretch/>
          </p:blipFill>
          <p:spPr bwMode="auto">
            <a:xfrm>
              <a:off x="10506456" y="2596896"/>
              <a:ext cx="384048" cy="493776"/>
            </a:xfrm>
            <a:prstGeom prst="rect">
              <a:avLst/>
            </a:prstGeom>
          </p:spPr>
        </p:pic>
        <p:sp>
          <p:nvSpPr>
            <p:cNvPr id="135" name="TextBox 134"/>
            <p:cNvSpPr txBox="1"/>
            <p:nvPr/>
          </p:nvSpPr>
          <p:spPr bwMode="auto">
            <a:xfrm>
              <a:off x="10012680" y="3108960"/>
              <a:ext cx="1371600" cy="23774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defRPr/>
              </a:pPr>
              <a:r>
                <a:rPr lang="en-US" sz="1300" b="1">
                  <a:solidFill>
                    <a:srgbClr val="298FC2"/>
                  </a:solidFill>
                  <a:latin typeface="Comfortaa"/>
                  <a:cs typeface="Comfortaa"/>
                </a:rPr>
                <a:t>Cheapify</a:t>
              </a:r>
              <a:endParaRPr/>
            </a:p>
          </p:txBody>
        </p:sp>
      </p:grpSp>
      <p:grpSp>
        <p:nvGrpSpPr>
          <p:cNvPr id="638181259" name="Group 7"/>
          <p:cNvGrpSpPr/>
          <p:nvPr/>
        </p:nvGrpSpPr>
        <p:grpSpPr bwMode="auto">
          <a:xfrm>
            <a:off x="10533888" y="3547872"/>
            <a:ext cx="329184" cy="329184"/>
            <a:chOff x="10533888" y="3547872"/>
            <a:chExt cx="329184" cy="329184"/>
          </a:xfrm>
        </p:grpSpPr>
        <p:pic>
          <p:nvPicPr>
            <p:cNvPr id="136" name="Picture 135" descr="circle-check_228848.png"/>
            <p:cNvPicPr>
              <a:picLocks noChangeAspect="1"/>
            </p:cNvPicPr>
            <p:nvPr/>
          </p:nvPicPr>
          <p:blipFill rotWithShape="1">
            <a:blip r:embed="rId9"/>
            <a:stretch/>
          </p:blipFill>
          <p:spPr bwMode="auto">
            <a:xfrm>
              <a:off x="10533888" y="3547872"/>
              <a:ext cx="329184" cy="329184"/>
            </a:xfrm>
            <a:prstGeom prst="rect">
              <a:avLst/>
            </a:prstGeom>
          </p:spPr>
        </p:pic>
      </p:grpSp>
      <p:grpSp>
        <p:nvGrpSpPr>
          <p:cNvPr id="669500134" name="Group 8"/>
          <p:cNvGrpSpPr/>
          <p:nvPr/>
        </p:nvGrpSpPr>
        <p:grpSpPr bwMode="auto">
          <a:xfrm>
            <a:off x="10533888" y="4206240"/>
            <a:ext cx="329184" cy="329184"/>
            <a:chOff x="10533888" y="4206240"/>
            <a:chExt cx="329184" cy="329184"/>
          </a:xfrm>
        </p:grpSpPr>
        <p:pic>
          <p:nvPicPr>
            <p:cNvPr id="137" name="Picture 136" descr="circle-check_228848.png"/>
            <p:cNvPicPr>
              <a:picLocks noChangeAspect="1"/>
            </p:cNvPicPr>
            <p:nvPr/>
          </p:nvPicPr>
          <p:blipFill rotWithShape="1">
            <a:blip r:embed="rId9"/>
            <a:stretch/>
          </p:blipFill>
          <p:spPr bwMode="auto">
            <a:xfrm>
              <a:off x="10533888" y="4206240"/>
              <a:ext cx="329184" cy="329184"/>
            </a:xfrm>
            <a:prstGeom prst="rect">
              <a:avLst/>
            </a:prstGeom>
          </p:spPr>
        </p:pic>
      </p:grpSp>
      <p:grpSp>
        <p:nvGrpSpPr>
          <p:cNvPr id="1991760509" name="Group 9"/>
          <p:cNvGrpSpPr/>
          <p:nvPr/>
        </p:nvGrpSpPr>
        <p:grpSpPr bwMode="auto">
          <a:xfrm>
            <a:off x="10533888" y="4864607"/>
            <a:ext cx="329184" cy="329184"/>
            <a:chOff x="10533888" y="4864607"/>
            <a:chExt cx="329184" cy="329184"/>
          </a:xfrm>
        </p:grpSpPr>
        <p:pic>
          <p:nvPicPr>
            <p:cNvPr id="138" name="Picture 137" descr="circle-check_228848.png"/>
            <p:cNvPicPr>
              <a:picLocks noChangeAspect="1"/>
            </p:cNvPicPr>
            <p:nvPr/>
          </p:nvPicPr>
          <p:blipFill rotWithShape="1">
            <a:blip r:embed="rId9"/>
            <a:stretch/>
          </p:blipFill>
          <p:spPr bwMode="auto">
            <a:xfrm>
              <a:off x="10533888" y="4864607"/>
              <a:ext cx="329184" cy="329184"/>
            </a:xfrm>
            <a:prstGeom prst="rect">
              <a:avLst/>
            </a:prstGeom>
          </p:spPr>
        </p:pic>
      </p:grpSp>
      <p:grpSp>
        <p:nvGrpSpPr>
          <p:cNvPr id="339648722" name="Group 10"/>
          <p:cNvGrpSpPr/>
          <p:nvPr/>
        </p:nvGrpSpPr>
        <p:grpSpPr bwMode="auto">
          <a:xfrm>
            <a:off x="10533888" y="5522976"/>
            <a:ext cx="329184" cy="329184"/>
            <a:chOff x="10533888" y="5522976"/>
            <a:chExt cx="329184" cy="329184"/>
          </a:xfrm>
        </p:grpSpPr>
        <p:pic>
          <p:nvPicPr>
            <p:cNvPr id="139" name="Picture 138" descr="circle-check_228848.png"/>
            <p:cNvPicPr>
              <a:picLocks noChangeAspect="1"/>
            </p:cNvPicPr>
            <p:nvPr/>
          </p:nvPicPr>
          <p:blipFill rotWithShape="1">
            <a:blip r:embed="rId9"/>
            <a:stretch/>
          </p:blipFill>
          <p:spPr bwMode="auto">
            <a:xfrm>
              <a:off x="10533888" y="5522976"/>
              <a:ext cx="329184" cy="329184"/>
            </a:xfrm>
            <a:prstGeom prst="rect">
              <a:avLst/>
            </a:prstGeom>
          </p:spPr>
        </p:pic>
      </p:grpSp>
      <p:grpSp>
        <p:nvGrpSpPr>
          <p:cNvPr id="542792995" name="Group 11"/>
          <p:cNvGrpSpPr/>
          <p:nvPr/>
        </p:nvGrpSpPr>
        <p:grpSpPr bwMode="auto">
          <a:xfrm>
            <a:off x="722376" y="6144768"/>
            <a:ext cx="3291840" cy="237744"/>
            <a:chOff x="722376" y="6144768"/>
            <a:chExt cx="3291840" cy="237744"/>
          </a:xfrm>
        </p:grpSpPr>
        <p:pic>
          <p:nvPicPr>
            <p:cNvPr id="140" name="Picture 139" descr="circle-check_5A6672.png"/>
            <p:cNvPicPr>
              <a:picLocks noChangeAspect="1"/>
            </p:cNvPicPr>
            <p:nvPr/>
          </p:nvPicPr>
          <p:blipFill rotWithShape="1">
            <a:blip r:embed="rId7"/>
            <a:stretch/>
          </p:blipFill>
          <p:spPr bwMode="auto">
            <a:xfrm>
              <a:off x="722376" y="6163056"/>
              <a:ext cx="201168" cy="201168"/>
            </a:xfrm>
            <a:prstGeom prst="rect">
              <a:avLst/>
            </a:prstGeom>
          </p:spPr>
        </p:pic>
        <p:sp>
          <p:nvSpPr>
            <p:cNvPr id="141" name="TextBox 140"/>
            <p:cNvSpPr txBox="1"/>
            <p:nvPr/>
          </p:nvSpPr>
          <p:spPr bwMode="auto">
            <a:xfrm>
              <a:off x="996696" y="6144768"/>
              <a:ext cx="731520" cy="23774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defRPr/>
              </a:pPr>
              <a:r>
                <a:rPr lang="en-US" sz="1100" b="0">
                  <a:solidFill>
                    <a:srgbClr val="5A6672"/>
                  </a:solidFill>
                  <a:latin typeface="Inter"/>
                  <a:cs typeface="Inter"/>
                </a:rPr>
                <a:t>yes</a:t>
              </a:r>
              <a:endParaRPr/>
            </a:p>
          </p:txBody>
        </p:sp>
        <p:pic>
          <p:nvPicPr>
            <p:cNvPr id="142" name="Picture 141" descr="contrast_5A6672.png"/>
            <p:cNvPicPr>
              <a:picLocks noChangeAspect="1"/>
            </p:cNvPicPr>
            <p:nvPr/>
          </p:nvPicPr>
          <p:blipFill rotWithShape="1">
            <a:blip r:embed="rId5"/>
            <a:stretch/>
          </p:blipFill>
          <p:spPr bwMode="auto">
            <a:xfrm>
              <a:off x="1865376" y="6163056"/>
              <a:ext cx="201168" cy="201168"/>
            </a:xfrm>
            <a:prstGeom prst="rect">
              <a:avLst/>
            </a:prstGeom>
          </p:spPr>
        </p:pic>
        <p:sp>
          <p:nvSpPr>
            <p:cNvPr id="143" name="TextBox 142"/>
            <p:cNvSpPr txBox="1"/>
            <p:nvPr/>
          </p:nvSpPr>
          <p:spPr bwMode="auto">
            <a:xfrm>
              <a:off x="2139696" y="6144768"/>
              <a:ext cx="731520" cy="23774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defRPr/>
              </a:pPr>
              <a:r>
                <a:rPr lang="en-US" sz="1100" b="0">
                  <a:solidFill>
                    <a:srgbClr val="5A6672"/>
                  </a:solidFill>
                  <a:latin typeface="Inter"/>
                  <a:cs typeface="Inter"/>
                </a:rPr>
                <a:t>partly</a:t>
              </a:r>
              <a:endParaRPr/>
            </a:p>
          </p:txBody>
        </p:sp>
        <p:pic>
          <p:nvPicPr>
            <p:cNvPr id="144" name="Picture 143" descr="circle-x_D22730.png"/>
            <p:cNvPicPr>
              <a:picLocks noChangeAspect="1"/>
            </p:cNvPicPr>
            <p:nvPr/>
          </p:nvPicPr>
          <p:blipFill rotWithShape="1">
            <a:blip r:embed="rId6"/>
            <a:stretch/>
          </p:blipFill>
          <p:spPr bwMode="auto">
            <a:xfrm>
              <a:off x="3008376" y="6163056"/>
              <a:ext cx="201168" cy="201168"/>
            </a:xfrm>
            <a:prstGeom prst="rect">
              <a:avLst/>
            </a:prstGeom>
          </p:spPr>
        </p:pic>
        <p:sp>
          <p:nvSpPr>
            <p:cNvPr id="145" name="TextBox 144"/>
            <p:cNvSpPr txBox="1"/>
            <p:nvPr/>
          </p:nvSpPr>
          <p:spPr bwMode="auto">
            <a:xfrm>
              <a:off x="3282696" y="6144768"/>
              <a:ext cx="731520" cy="23774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defRPr/>
              </a:pPr>
              <a:r>
                <a:rPr lang="en-US" sz="1100" b="0">
                  <a:solidFill>
                    <a:srgbClr val="5A6672"/>
                  </a:solidFill>
                  <a:latin typeface="Inter"/>
                  <a:cs typeface="Inter"/>
                </a:rPr>
                <a:t>no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fast" p14:dur="500" advClick="1">
        <p:fade thruBlk="0"/>
      </p:transition>
    </mc:Choice>
    <mc:Fallback>
      <p:transition spd="fast" advClick="1">
        <p:fade thruBlk="0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25925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225925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27929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5427929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96596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50"/>
                                        <p:tgtEl>
                                          <p:spTgt spid="14996596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25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41759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50"/>
                                        <p:tgtEl>
                                          <p:spTgt spid="13641759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2028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50"/>
                                        <p:tgtEl>
                                          <p:spTgt spid="862028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75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03707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50"/>
                                        <p:tgtEl>
                                          <p:spTgt spid="5903707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72938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300" fill="hold"/>
                                        <p:tgtEl>
                                          <p:spTgt spid="59729387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300" fill="hold"/>
                                        <p:tgtEl>
                                          <p:spTgt spid="59729387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300"/>
                                        <p:tgtEl>
                                          <p:spTgt spid="5972938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00"/>
                            </p:stCondLst>
                            <p:childTnLst>
                              <p:par>
                                <p:cTn id="3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81812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" dur="150" fill="hold"/>
                                        <p:tgtEl>
                                          <p:spTgt spid="63818125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150" fill="hold"/>
                                        <p:tgtEl>
                                          <p:spTgt spid="63818125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7" dur="150"/>
                                        <p:tgtEl>
                                          <p:spTgt spid="6381812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53" presetClass="entr" presetSubtype="16" fill="hold" grpId="0" nodeType="withEffect">
                                  <p:stCondLst>
                                    <p:cond delay="25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9500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0" dur="150" fill="hold"/>
                                        <p:tgtEl>
                                          <p:spTgt spid="6695001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50" fill="hold"/>
                                        <p:tgtEl>
                                          <p:spTgt spid="6695001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" dur="150"/>
                                        <p:tgtEl>
                                          <p:spTgt spid="669500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53" presetClass="entr" presetSubtype="16" fill="hold" grpId="0" nodeType="with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17605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5" dur="150" fill="hold"/>
                                        <p:tgtEl>
                                          <p:spTgt spid="199176050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150" fill="hold"/>
                                        <p:tgtEl>
                                          <p:spTgt spid="199176050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7" dur="150"/>
                                        <p:tgtEl>
                                          <p:spTgt spid="19917605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53" presetClass="entr" presetSubtype="16" fill="hold" grpId="0" nodeType="withEffect">
                                  <p:stCondLst>
                                    <p:cond delay="75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96487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150" fill="hold"/>
                                        <p:tgtEl>
                                          <p:spTgt spid="3396487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50" fill="hold"/>
                                        <p:tgtEl>
                                          <p:spTgt spid="3396487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2" dur="150"/>
                                        <p:tgtEl>
                                          <p:spTgt spid="3396487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309453" name="Google Shape;98;p14" title="Center_for_Academic_and_Professional_Advancement.png"/>
          <p:cNvPicPr/>
          <p:nvPr/>
        </p:nvPicPr>
        <p:blipFill rotWithShape="1">
          <a:blip r:embed="rId3">
            <a:alphaModFix/>
          </a:blip>
          <a:stretch/>
        </p:blipFill>
        <p:spPr bwMode="auto">
          <a:xfrm>
            <a:off x="8289593" y="351575"/>
            <a:ext cx="3178502" cy="969349"/>
          </a:xfrm>
          <a:prstGeom prst="rect">
            <a:avLst/>
          </a:prstGeom>
          <a:noFill/>
          <a:ln>
            <a:noFill/>
          </a:ln>
        </p:spPr>
      </p:pic>
      <p:pic>
        <p:nvPicPr>
          <p:cNvPr id="32953146" name="Google Shape;99;p14" title="german cooperation deutsche zusammenarbeit.png"/>
          <p:cNvPicPr/>
          <p:nvPr/>
        </p:nvPicPr>
        <p:blipFill rotWithShape="1">
          <a:blip r:embed="rId4">
            <a:alphaModFix/>
          </a:blip>
          <a:stretch/>
        </p:blipFill>
        <p:spPr bwMode="auto">
          <a:xfrm>
            <a:off x="723900" y="436204"/>
            <a:ext cx="1428202" cy="800089"/>
          </a:xfrm>
          <a:prstGeom prst="rect">
            <a:avLst/>
          </a:prstGeom>
          <a:noFill/>
          <a:ln>
            <a:noFill/>
          </a:ln>
        </p:spPr>
      </p:pic>
      <p:sp>
        <p:nvSpPr>
          <p:cNvPr id="531020341" name="Rectangle 99"/>
          <p:cNvSpPr/>
          <p:nvPr/>
        </p:nvSpPr>
        <p:spPr bwMode="auto">
          <a:xfrm>
            <a:off x="722376" y="1517904"/>
            <a:ext cx="274320" cy="45720"/>
          </a:xfrm>
          <a:prstGeom prst="rect">
            <a:avLst/>
          </a:prstGeom>
          <a:solidFill>
            <a:srgbClr val="298FC2"/>
          </a:solidFill>
          <a:ln>
            <a:noFill/>
          </a:ln>
          <a:effectLst/>
        </p:spPr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252458606" name="TextBox 100"/>
          <p:cNvSpPr txBox="1"/>
          <p:nvPr/>
        </p:nvSpPr>
        <p:spPr bwMode="auto">
          <a:xfrm>
            <a:off x="1133856" y="1426464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defRPr/>
            </a:pPr>
            <a:r>
              <a:rPr lang="en-US" sz="1300" b="0">
                <a:solidFill>
                  <a:srgbClr val="5A6672"/>
                </a:solidFill>
                <a:latin typeface="Inter"/>
                <a:cs typeface="Inter"/>
              </a:rPr>
              <a:t>Growth strategy</a:t>
            </a:r>
            <a:endParaRPr/>
          </a:p>
        </p:txBody>
      </p:sp>
      <p:sp>
        <p:nvSpPr>
          <p:cNvPr id="610655963" name="TextBox 101"/>
          <p:cNvSpPr txBox="1"/>
          <p:nvPr/>
        </p:nvSpPr>
        <p:spPr bwMode="auto">
          <a:xfrm>
            <a:off x="722376" y="1700784"/>
            <a:ext cx="10744200" cy="5669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defRPr/>
            </a:pPr>
            <a:r>
              <a:rPr lang="en-US" sz="3000" b="1">
                <a:solidFill>
                  <a:srgbClr val="101820"/>
                </a:solidFill>
                <a:latin typeface="Comfortaa"/>
                <a:cs typeface="Comfortaa"/>
              </a:rPr>
              <a:t>We grow on two sides: stores and shoppers.</a:t>
            </a:r>
            <a:endParaRPr/>
          </a:p>
        </p:txBody>
      </p:sp>
      <p:grpSp>
        <p:nvGrpSpPr>
          <p:cNvPr id="1633627448" name="Group 1"/>
          <p:cNvGrpSpPr/>
          <p:nvPr/>
        </p:nvGrpSpPr>
        <p:grpSpPr bwMode="auto">
          <a:xfrm>
            <a:off x="4864607" y="3108960"/>
            <a:ext cx="2468880" cy="2468880"/>
            <a:chOff x="4864607" y="3108960"/>
            <a:chExt cx="2468880" cy="2468880"/>
          </a:xfrm>
        </p:grpSpPr>
        <p:sp>
          <p:nvSpPr>
            <p:cNvPr id="103" name="Oval 102"/>
            <p:cNvSpPr/>
            <p:nvPr/>
          </p:nvSpPr>
          <p:spPr bwMode="auto">
            <a:xfrm>
              <a:off x="4864607" y="3108960"/>
              <a:ext cx="2468880" cy="2468880"/>
            </a:xfrm>
            <a:prstGeom prst="ellipse">
              <a:avLst/>
            </a:prstGeom>
            <a:noFill/>
            <a:ln w="31750">
              <a:solidFill>
                <a:srgbClr val="298FC2"/>
              </a:solidFill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pic>
          <p:nvPicPr>
            <p:cNvPr id="104" name="Picture 103" descr="cheapify-logo.png"/>
            <p:cNvPicPr>
              <a:picLocks noChangeAspect="1"/>
            </p:cNvPicPr>
            <p:nvPr/>
          </p:nvPicPr>
          <p:blipFill rotWithShape="1">
            <a:blip r:embed="rId5"/>
            <a:stretch/>
          </p:blipFill>
          <p:spPr bwMode="auto">
            <a:xfrm>
              <a:off x="5824880" y="3990442"/>
              <a:ext cx="548335" cy="705001"/>
            </a:xfrm>
            <a:prstGeom prst="rect">
              <a:avLst/>
            </a:prstGeom>
          </p:spPr>
        </p:pic>
      </p:grpSp>
      <p:grpSp>
        <p:nvGrpSpPr>
          <p:cNvPr id="594521420" name="Group 2"/>
          <p:cNvGrpSpPr/>
          <p:nvPr/>
        </p:nvGrpSpPr>
        <p:grpSpPr bwMode="auto">
          <a:xfrm>
            <a:off x="5321808" y="2880360"/>
            <a:ext cx="1554480" cy="457200"/>
            <a:chOff x="5321808" y="2880360"/>
            <a:chExt cx="1554480" cy="457200"/>
          </a:xfrm>
        </p:grpSpPr>
        <p:sp>
          <p:nvSpPr>
            <p:cNvPr id="105" name="Rounded Rectangle 104"/>
            <p:cNvSpPr/>
            <p:nvPr/>
          </p:nvSpPr>
          <p:spPr bwMode="auto">
            <a:xfrm>
              <a:off x="5321808" y="2880360"/>
              <a:ext cx="1554480" cy="457200"/>
            </a:xfrm>
            <a:prstGeom prst="roundRect">
              <a:avLst>
                <a:gd name="adj" fmla="val 28000"/>
              </a:avLst>
            </a:prstGeom>
            <a:solidFill>
              <a:srgbClr val="FFFFFF"/>
            </a:solidFill>
            <a:ln w="12700">
              <a:solidFill>
                <a:srgbClr val="DDE5ED"/>
              </a:solidFill>
            </a:ln>
            <a:effectLst>
              <a:outerShdw blurRad="101600" dist="25400" dir="5400000" algn="t" rotWithShape="0">
                <a:srgbClr val="101820">
                  <a:alpha val="9000"/>
                </a:srgbClr>
              </a:outerShdw>
            </a:effectLst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06" name="TextBox 105"/>
            <p:cNvSpPr txBox="1"/>
            <p:nvPr/>
          </p:nvSpPr>
          <p:spPr bwMode="auto">
            <a:xfrm>
              <a:off x="5321808" y="2880360"/>
              <a:ext cx="1554480" cy="4572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defRPr/>
              </a:pPr>
              <a:r>
                <a:rPr lang="en-US" sz="1250" b="1">
                  <a:solidFill>
                    <a:srgbClr val="101820"/>
                  </a:solidFill>
                  <a:latin typeface="Inter"/>
                  <a:cs typeface="Inter"/>
                </a:rPr>
                <a:t>Lower prices</a:t>
              </a:r>
              <a:endParaRPr/>
            </a:p>
          </p:txBody>
        </p:sp>
      </p:grpSp>
      <p:grpSp>
        <p:nvGrpSpPr>
          <p:cNvPr id="577172869" name="Group 3"/>
          <p:cNvGrpSpPr/>
          <p:nvPr/>
        </p:nvGrpSpPr>
        <p:grpSpPr bwMode="auto">
          <a:xfrm>
            <a:off x="6556248" y="4114800"/>
            <a:ext cx="1554480" cy="457200"/>
            <a:chOff x="6556248" y="4114800"/>
            <a:chExt cx="1554480" cy="457200"/>
          </a:xfrm>
        </p:grpSpPr>
        <p:sp>
          <p:nvSpPr>
            <p:cNvPr id="107" name="Rounded Rectangle 106"/>
            <p:cNvSpPr/>
            <p:nvPr/>
          </p:nvSpPr>
          <p:spPr bwMode="auto">
            <a:xfrm>
              <a:off x="6556248" y="4114800"/>
              <a:ext cx="1554480" cy="457200"/>
            </a:xfrm>
            <a:prstGeom prst="roundRect">
              <a:avLst>
                <a:gd name="adj" fmla="val 28000"/>
              </a:avLst>
            </a:prstGeom>
            <a:solidFill>
              <a:srgbClr val="FFFFFF"/>
            </a:solidFill>
            <a:ln w="12700">
              <a:solidFill>
                <a:srgbClr val="DDE5ED"/>
              </a:solidFill>
            </a:ln>
            <a:effectLst>
              <a:outerShdw blurRad="101600" dist="25400" dir="5400000" algn="t" rotWithShape="0">
                <a:srgbClr val="101820">
                  <a:alpha val="9000"/>
                </a:srgbClr>
              </a:outerShdw>
            </a:effectLst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08" name="TextBox 107"/>
            <p:cNvSpPr txBox="1"/>
            <p:nvPr/>
          </p:nvSpPr>
          <p:spPr bwMode="auto">
            <a:xfrm>
              <a:off x="6556248" y="4114800"/>
              <a:ext cx="1554480" cy="4572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defRPr/>
              </a:pPr>
              <a:r>
                <a:rPr lang="en-US" sz="1250" b="1">
                  <a:solidFill>
                    <a:srgbClr val="101820"/>
                  </a:solidFill>
                  <a:latin typeface="Inter"/>
                  <a:cs typeface="Inter"/>
                </a:rPr>
                <a:t>More shoppers</a:t>
              </a:r>
              <a:endParaRPr/>
            </a:p>
          </p:txBody>
        </p:sp>
      </p:grpSp>
      <p:grpSp>
        <p:nvGrpSpPr>
          <p:cNvPr id="1963008527" name="Group 4"/>
          <p:cNvGrpSpPr/>
          <p:nvPr/>
        </p:nvGrpSpPr>
        <p:grpSpPr bwMode="auto">
          <a:xfrm>
            <a:off x="5321808" y="5349240"/>
            <a:ext cx="1554480" cy="457200"/>
            <a:chOff x="5321808" y="5349240"/>
            <a:chExt cx="1554480" cy="457200"/>
          </a:xfrm>
        </p:grpSpPr>
        <p:sp>
          <p:nvSpPr>
            <p:cNvPr id="109" name="Rounded Rectangle 108"/>
            <p:cNvSpPr/>
            <p:nvPr/>
          </p:nvSpPr>
          <p:spPr bwMode="auto">
            <a:xfrm>
              <a:off x="5321808" y="5349240"/>
              <a:ext cx="1554480" cy="457200"/>
            </a:xfrm>
            <a:prstGeom prst="roundRect">
              <a:avLst>
                <a:gd name="adj" fmla="val 28000"/>
              </a:avLst>
            </a:prstGeom>
            <a:solidFill>
              <a:srgbClr val="FFFFFF"/>
            </a:solidFill>
            <a:ln w="12700">
              <a:solidFill>
                <a:srgbClr val="DDE5ED"/>
              </a:solidFill>
            </a:ln>
            <a:effectLst>
              <a:outerShdw blurRad="101600" dist="25400" dir="5400000" algn="t" rotWithShape="0">
                <a:srgbClr val="101820">
                  <a:alpha val="9000"/>
                </a:srgbClr>
              </a:outerShdw>
            </a:effectLst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10" name="TextBox 109"/>
            <p:cNvSpPr txBox="1"/>
            <p:nvPr/>
          </p:nvSpPr>
          <p:spPr bwMode="auto">
            <a:xfrm>
              <a:off x="5321808" y="5349240"/>
              <a:ext cx="1554480" cy="4572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defRPr/>
              </a:pPr>
              <a:r>
                <a:rPr lang="en-US" sz="1250" b="1">
                  <a:solidFill>
                    <a:srgbClr val="101820"/>
                  </a:solidFill>
                  <a:latin typeface="Inter"/>
                  <a:cs typeface="Inter"/>
                </a:rPr>
                <a:t>More orders</a:t>
              </a:r>
              <a:endParaRPr/>
            </a:p>
          </p:txBody>
        </p:sp>
      </p:grpSp>
      <p:grpSp>
        <p:nvGrpSpPr>
          <p:cNvPr id="405809232" name="Group 5"/>
          <p:cNvGrpSpPr/>
          <p:nvPr/>
        </p:nvGrpSpPr>
        <p:grpSpPr bwMode="auto">
          <a:xfrm>
            <a:off x="4087368" y="4114800"/>
            <a:ext cx="1554480" cy="457200"/>
            <a:chOff x="4087368" y="4114800"/>
            <a:chExt cx="1554480" cy="457200"/>
          </a:xfrm>
        </p:grpSpPr>
        <p:sp>
          <p:nvSpPr>
            <p:cNvPr id="111" name="Rounded Rectangle 110"/>
            <p:cNvSpPr/>
            <p:nvPr/>
          </p:nvSpPr>
          <p:spPr bwMode="auto">
            <a:xfrm>
              <a:off x="4087368" y="4114800"/>
              <a:ext cx="1554480" cy="457200"/>
            </a:xfrm>
            <a:prstGeom prst="roundRect">
              <a:avLst>
                <a:gd name="adj" fmla="val 28000"/>
              </a:avLst>
            </a:prstGeom>
            <a:solidFill>
              <a:srgbClr val="FFFFFF"/>
            </a:solidFill>
            <a:ln w="12700">
              <a:solidFill>
                <a:srgbClr val="DDE5ED"/>
              </a:solidFill>
            </a:ln>
            <a:effectLst>
              <a:outerShdw blurRad="101600" dist="25400" dir="5400000" algn="t" rotWithShape="0">
                <a:srgbClr val="101820">
                  <a:alpha val="9000"/>
                </a:srgbClr>
              </a:outerShdw>
            </a:effectLst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12" name="TextBox 111"/>
            <p:cNvSpPr txBox="1"/>
            <p:nvPr/>
          </p:nvSpPr>
          <p:spPr bwMode="auto">
            <a:xfrm>
              <a:off x="4087368" y="4114800"/>
              <a:ext cx="1554480" cy="4572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defRPr/>
              </a:pPr>
              <a:r>
                <a:rPr lang="en-US" sz="1250" b="1">
                  <a:solidFill>
                    <a:srgbClr val="101820"/>
                  </a:solidFill>
                  <a:latin typeface="Inter"/>
                  <a:cs typeface="Inter"/>
                </a:rPr>
                <a:t>More stores</a:t>
              </a:r>
              <a:endParaRPr/>
            </a:p>
          </p:txBody>
        </p:sp>
      </p:grpSp>
      <p:grpSp>
        <p:nvGrpSpPr>
          <p:cNvPr id="499093789" name="Group 6"/>
          <p:cNvGrpSpPr/>
          <p:nvPr/>
        </p:nvGrpSpPr>
        <p:grpSpPr bwMode="auto">
          <a:xfrm>
            <a:off x="6871345" y="3342503"/>
            <a:ext cx="201168" cy="256032"/>
            <a:chOff x="6871345" y="3342503"/>
            <a:chExt cx="201168" cy="256032"/>
          </a:xfrm>
        </p:grpSpPr>
        <p:sp>
          <p:nvSpPr>
            <p:cNvPr id="113" name="Chevron 112"/>
            <p:cNvSpPr/>
            <p:nvPr/>
          </p:nvSpPr>
          <p:spPr bwMode="auto">
            <a:xfrm rot="2700000">
              <a:off x="6871345" y="3342503"/>
              <a:ext cx="201168" cy="256032"/>
            </a:xfrm>
            <a:prstGeom prst="chevron">
              <a:avLst>
                <a:gd name="adj" fmla="val 50000"/>
              </a:avLst>
            </a:prstGeom>
            <a:solidFill>
              <a:srgbClr val="298FC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</p:grpSp>
      <p:grpSp>
        <p:nvGrpSpPr>
          <p:cNvPr id="1954791037" name="Group 7"/>
          <p:cNvGrpSpPr/>
          <p:nvPr/>
        </p:nvGrpSpPr>
        <p:grpSpPr bwMode="auto">
          <a:xfrm>
            <a:off x="6871345" y="5088265"/>
            <a:ext cx="201168" cy="256032"/>
            <a:chOff x="6871345" y="5088265"/>
            <a:chExt cx="201168" cy="256032"/>
          </a:xfrm>
        </p:grpSpPr>
        <p:sp>
          <p:nvSpPr>
            <p:cNvPr id="114" name="Chevron 113"/>
            <p:cNvSpPr/>
            <p:nvPr/>
          </p:nvSpPr>
          <p:spPr bwMode="auto">
            <a:xfrm rot="8099999">
              <a:off x="6871345" y="5088265"/>
              <a:ext cx="201168" cy="256032"/>
            </a:xfrm>
            <a:prstGeom prst="chevron">
              <a:avLst>
                <a:gd name="adj" fmla="val 50000"/>
              </a:avLst>
            </a:prstGeom>
            <a:solidFill>
              <a:srgbClr val="298FC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</p:grpSp>
      <p:grpSp>
        <p:nvGrpSpPr>
          <p:cNvPr id="547975784" name="Group 8"/>
          <p:cNvGrpSpPr/>
          <p:nvPr/>
        </p:nvGrpSpPr>
        <p:grpSpPr bwMode="auto">
          <a:xfrm>
            <a:off x="5125583" y="5088265"/>
            <a:ext cx="201168" cy="256032"/>
            <a:chOff x="5125583" y="5088265"/>
            <a:chExt cx="201168" cy="256032"/>
          </a:xfrm>
        </p:grpSpPr>
        <p:sp>
          <p:nvSpPr>
            <p:cNvPr id="115" name="Chevron 114"/>
            <p:cNvSpPr/>
            <p:nvPr/>
          </p:nvSpPr>
          <p:spPr bwMode="auto">
            <a:xfrm rot="13500000">
              <a:off x="5125583" y="5088265"/>
              <a:ext cx="201168" cy="256032"/>
            </a:xfrm>
            <a:prstGeom prst="chevron">
              <a:avLst>
                <a:gd name="adj" fmla="val 50000"/>
              </a:avLst>
            </a:prstGeom>
            <a:solidFill>
              <a:srgbClr val="298FC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</p:grpSp>
      <p:grpSp>
        <p:nvGrpSpPr>
          <p:cNvPr id="1749681243" name="Group 9"/>
          <p:cNvGrpSpPr/>
          <p:nvPr/>
        </p:nvGrpSpPr>
        <p:grpSpPr bwMode="auto">
          <a:xfrm>
            <a:off x="5125583" y="3342503"/>
            <a:ext cx="201168" cy="256032"/>
            <a:chOff x="5125583" y="3342503"/>
            <a:chExt cx="201168" cy="256032"/>
          </a:xfrm>
        </p:grpSpPr>
        <p:sp>
          <p:nvSpPr>
            <p:cNvPr id="116" name="Chevron 115"/>
            <p:cNvSpPr/>
            <p:nvPr/>
          </p:nvSpPr>
          <p:spPr bwMode="auto">
            <a:xfrm rot="18900000">
              <a:off x="5125583" y="3342503"/>
              <a:ext cx="201168" cy="256032"/>
            </a:xfrm>
            <a:prstGeom prst="chevron">
              <a:avLst>
                <a:gd name="adj" fmla="val 50000"/>
              </a:avLst>
            </a:prstGeom>
            <a:solidFill>
              <a:srgbClr val="298FC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</p:grpSp>
      <p:grpSp>
        <p:nvGrpSpPr>
          <p:cNvPr id="97503462" name="Group 10"/>
          <p:cNvGrpSpPr/>
          <p:nvPr/>
        </p:nvGrpSpPr>
        <p:grpSpPr bwMode="auto">
          <a:xfrm>
            <a:off x="722376" y="2468880"/>
            <a:ext cx="2743200" cy="310896"/>
            <a:chOff x="722376" y="2468880"/>
            <a:chExt cx="2743200" cy="310896"/>
          </a:xfrm>
        </p:grpSpPr>
        <p:sp>
          <p:nvSpPr>
            <p:cNvPr id="117" name="TextBox 116"/>
            <p:cNvSpPr txBox="1"/>
            <p:nvPr/>
          </p:nvSpPr>
          <p:spPr bwMode="auto">
            <a:xfrm>
              <a:off x="722376" y="2468880"/>
              <a:ext cx="2743200" cy="310896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defRPr/>
              </a:pPr>
              <a:r>
                <a:rPr lang="en-US" sz="1600" b="1">
                  <a:solidFill>
                    <a:srgbClr val="298FC2"/>
                  </a:solidFill>
                  <a:latin typeface="Inter"/>
                  <a:cs typeface="Inter"/>
                </a:rPr>
                <a:t>Stores</a:t>
              </a:r>
              <a:endParaRPr/>
            </a:p>
          </p:txBody>
        </p:sp>
      </p:grpSp>
      <p:grpSp>
        <p:nvGrpSpPr>
          <p:cNvPr id="269381051" name="Group 11"/>
          <p:cNvGrpSpPr/>
          <p:nvPr/>
        </p:nvGrpSpPr>
        <p:grpSpPr bwMode="auto">
          <a:xfrm>
            <a:off x="722376" y="2926080"/>
            <a:ext cx="2788920" cy="457200"/>
            <a:chOff x="722376" y="2926080"/>
            <a:chExt cx="2788920" cy="457200"/>
          </a:xfrm>
        </p:grpSpPr>
        <p:sp>
          <p:nvSpPr>
            <p:cNvPr id="118" name="Oval 117"/>
            <p:cNvSpPr/>
            <p:nvPr/>
          </p:nvSpPr>
          <p:spPr bwMode="auto">
            <a:xfrm>
              <a:off x="722376" y="2926080"/>
              <a:ext cx="457200" cy="457200"/>
            </a:xfrm>
            <a:prstGeom prst="ellipse">
              <a:avLst/>
            </a:prstGeom>
            <a:solidFill>
              <a:srgbClr val="E5F2F8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pic>
          <p:nvPicPr>
            <p:cNvPr id="119" name="Picture 118" descr="handshake_298FC2.png"/>
            <p:cNvPicPr>
              <a:picLocks noChangeAspect="1"/>
            </p:cNvPicPr>
            <p:nvPr/>
          </p:nvPicPr>
          <p:blipFill rotWithShape="1">
            <a:blip r:embed="rId6"/>
            <a:stretch/>
          </p:blipFill>
          <p:spPr bwMode="auto">
            <a:xfrm>
              <a:off x="822960" y="3026664"/>
              <a:ext cx="256032" cy="256032"/>
            </a:xfrm>
            <a:prstGeom prst="rect">
              <a:avLst/>
            </a:prstGeom>
          </p:spPr>
        </p:pic>
        <p:sp>
          <p:nvSpPr>
            <p:cNvPr id="120" name="TextBox 119"/>
            <p:cNvSpPr txBox="1"/>
            <p:nvPr/>
          </p:nvSpPr>
          <p:spPr bwMode="auto">
            <a:xfrm>
              <a:off x="1316736" y="2926080"/>
              <a:ext cx="2194560" cy="4572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defRPr/>
              </a:pPr>
              <a:r>
                <a:rPr lang="en-US" sz="1300" b="1">
                  <a:solidFill>
                    <a:srgbClr val="101820"/>
                  </a:solidFill>
                  <a:latin typeface="Inter"/>
                  <a:cs typeface="Inter"/>
                </a:rPr>
                <a:t>Signed in person</a:t>
              </a:r>
              <a:endParaRPr/>
            </a:p>
          </p:txBody>
        </p:sp>
      </p:grpSp>
      <p:grpSp>
        <p:nvGrpSpPr>
          <p:cNvPr id="760697275" name="Group 12"/>
          <p:cNvGrpSpPr/>
          <p:nvPr/>
        </p:nvGrpSpPr>
        <p:grpSpPr bwMode="auto">
          <a:xfrm>
            <a:off x="722376" y="3611880"/>
            <a:ext cx="2788920" cy="457200"/>
            <a:chOff x="722376" y="3611880"/>
            <a:chExt cx="2788920" cy="457200"/>
          </a:xfrm>
        </p:grpSpPr>
        <p:sp>
          <p:nvSpPr>
            <p:cNvPr id="121" name="Oval 120"/>
            <p:cNvSpPr/>
            <p:nvPr/>
          </p:nvSpPr>
          <p:spPr bwMode="auto">
            <a:xfrm>
              <a:off x="722376" y="3611880"/>
              <a:ext cx="457200" cy="457200"/>
            </a:xfrm>
            <a:prstGeom prst="ellipse">
              <a:avLst/>
            </a:prstGeom>
            <a:solidFill>
              <a:srgbClr val="E5F2F8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pic>
          <p:nvPicPr>
            <p:cNvPr id="122" name="Picture 121" descr="gift_298FC2.png"/>
            <p:cNvPicPr>
              <a:picLocks noChangeAspect="1"/>
            </p:cNvPicPr>
            <p:nvPr/>
          </p:nvPicPr>
          <p:blipFill rotWithShape="1">
            <a:blip r:embed="rId7"/>
            <a:stretch/>
          </p:blipFill>
          <p:spPr bwMode="auto">
            <a:xfrm>
              <a:off x="822960" y="3712464"/>
              <a:ext cx="256032" cy="256032"/>
            </a:xfrm>
            <a:prstGeom prst="rect">
              <a:avLst/>
            </a:prstGeom>
          </p:spPr>
        </p:pic>
        <p:sp>
          <p:nvSpPr>
            <p:cNvPr id="123" name="TextBox 122"/>
            <p:cNvSpPr txBox="1"/>
            <p:nvPr/>
          </p:nvSpPr>
          <p:spPr bwMode="auto">
            <a:xfrm>
              <a:off x="1316736" y="3611880"/>
              <a:ext cx="2194560" cy="4572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defRPr/>
              </a:pPr>
              <a:r>
                <a:rPr lang="en-US" sz="1300" b="1">
                  <a:solidFill>
                    <a:srgbClr val="101820"/>
                  </a:solidFill>
                  <a:latin typeface="Inter"/>
                  <a:cs typeface="Inter"/>
                </a:rPr>
                <a:t>0% in month 1</a:t>
              </a:r>
              <a:endParaRPr/>
            </a:p>
          </p:txBody>
        </p:sp>
      </p:grpSp>
      <p:grpSp>
        <p:nvGrpSpPr>
          <p:cNvPr id="369930065" name="Group 13"/>
          <p:cNvGrpSpPr/>
          <p:nvPr/>
        </p:nvGrpSpPr>
        <p:grpSpPr bwMode="auto">
          <a:xfrm>
            <a:off x="722376" y="4297680"/>
            <a:ext cx="2788920" cy="457200"/>
            <a:chOff x="722376" y="4297680"/>
            <a:chExt cx="2788920" cy="457200"/>
          </a:xfrm>
        </p:grpSpPr>
        <p:sp>
          <p:nvSpPr>
            <p:cNvPr id="124" name="Oval 123"/>
            <p:cNvSpPr/>
            <p:nvPr/>
          </p:nvSpPr>
          <p:spPr bwMode="auto">
            <a:xfrm>
              <a:off x="722376" y="4297680"/>
              <a:ext cx="457200" cy="457200"/>
            </a:xfrm>
            <a:prstGeom prst="ellipse">
              <a:avLst/>
            </a:prstGeom>
            <a:solidFill>
              <a:srgbClr val="E5F2F8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pic>
          <p:nvPicPr>
            <p:cNvPr id="125" name="Picture 124" descr="rocket_298FC2.png"/>
            <p:cNvPicPr>
              <a:picLocks noChangeAspect="1"/>
            </p:cNvPicPr>
            <p:nvPr/>
          </p:nvPicPr>
          <p:blipFill rotWithShape="1">
            <a:blip r:embed="rId8"/>
            <a:stretch/>
          </p:blipFill>
          <p:spPr bwMode="auto">
            <a:xfrm>
              <a:off x="822960" y="4398264"/>
              <a:ext cx="256032" cy="256032"/>
            </a:xfrm>
            <a:prstGeom prst="rect">
              <a:avLst/>
            </a:prstGeom>
          </p:spPr>
        </p:pic>
        <p:sp>
          <p:nvSpPr>
            <p:cNvPr id="126" name="TextBox 125"/>
            <p:cNvSpPr txBox="1"/>
            <p:nvPr/>
          </p:nvSpPr>
          <p:spPr bwMode="auto">
            <a:xfrm>
              <a:off x="1316736" y="4297680"/>
              <a:ext cx="2194560" cy="4572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defRPr/>
              </a:pPr>
              <a:r>
                <a:rPr lang="en-US" sz="1300" b="1">
                  <a:solidFill>
                    <a:srgbClr val="101820"/>
                  </a:solidFill>
                  <a:latin typeface="Inter"/>
                  <a:cs typeface="Inter"/>
                </a:rPr>
                <a:t>Free ads</a:t>
              </a:r>
              <a:endParaRPr/>
            </a:p>
          </p:txBody>
        </p:sp>
      </p:grpSp>
      <p:grpSp>
        <p:nvGrpSpPr>
          <p:cNvPr id="1420314837" name="Group 14"/>
          <p:cNvGrpSpPr/>
          <p:nvPr/>
        </p:nvGrpSpPr>
        <p:grpSpPr bwMode="auto">
          <a:xfrm>
            <a:off x="722376" y="4983480"/>
            <a:ext cx="2788920" cy="457200"/>
            <a:chOff x="722376" y="4983480"/>
            <a:chExt cx="2788920" cy="457200"/>
          </a:xfrm>
        </p:grpSpPr>
        <p:sp>
          <p:nvSpPr>
            <p:cNvPr id="127" name="Oval 126"/>
            <p:cNvSpPr/>
            <p:nvPr/>
          </p:nvSpPr>
          <p:spPr bwMode="auto">
            <a:xfrm>
              <a:off x="722376" y="4983480"/>
              <a:ext cx="457200" cy="457200"/>
            </a:xfrm>
            <a:prstGeom prst="ellipse">
              <a:avLst/>
            </a:prstGeom>
            <a:solidFill>
              <a:srgbClr val="E5F2F8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pic>
          <p:nvPicPr>
            <p:cNvPr id="128" name="Picture 127" descr="link_298FC2.png"/>
            <p:cNvPicPr>
              <a:picLocks noChangeAspect="1"/>
            </p:cNvPicPr>
            <p:nvPr/>
          </p:nvPicPr>
          <p:blipFill rotWithShape="1">
            <a:blip r:embed="rId9"/>
            <a:stretch/>
          </p:blipFill>
          <p:spPr bwMode="auto">
            <a:xfrm>
              <a:off x="822960" y="5084064"/>
              <a:ext cx="256032" cy="256032"/>
            </a:xfrm>
            <a:prstGeom prst="rect">
              <a:avLst/>
            </a:prstGeom>
          </p:spPr>
        </p:pic>
        <p:sp>
          <p:nvSpPr>
            <p:cNvPr id="129" name="TextBox 128"/>
            <p:cNvSpPr txBox="1"/>
            <p:nvPr/>
          </p:nvSpPr>
          <p:spPr bwMode="auto">
            <a:xfrm>
              <a:off x="1316736" y="4983480"/>
              <a:ext cx="2194560" cy="4572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defRPr/>
              </a:pPr>
              <a:r>
                <a:rPr lang="en-US" sz="1300" b="1">
                  <a:solidFill>
                    <a:srgbClr val="101820"/>
                  </a:solidFill>
                  <a:latin typeface="Inter"/>
                  <a:cs typeface="Inter"/>
                </a:rPr>
                <a:t>Their followers</a:t>
              </a:r>
              <a:endParaRPr/>
            </a:p>
          </p:txBody>
        </p:sp>
      </p:grpSp>
      <p:grpSp>
        <p:nvGrpSpPr>
          <p:cNvPr id="1634621099" name="Group 15"/>
          <p:cNvGrpSpPr/>
          <p:nvPr/>
        </p:nvGrpSpPr>
        <p:grpSpPr bwMode="auto">
          <a:xfrm>
            <a:off x="8641080" y="2468880"/>
            <a:ext cx="2743200" cy="310896"/>
            <a:chOff x="8641080" y="2468880"/>
            <a:chExt cx="2743200" cy="310896"/>
          </a:xfrm>
        </p:grpSpPr>
        <p:sp>
          <p:nvSpPr>
            <p:cNvPr id="130" name="TextBox 129"/>
            <p:cNvSpPr txBox="1"/>
            <p:nvPr/>
          </p:nvSpPr>
          <p:spPr bwMode="auto">
            <a:xfrm>
              <a:off x="8641080" y="2468880"/>
              <a:ext cx="2743200" cy="310896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defRPr/>
              </a:pPr>
              <a:r>
                <a:rPr lang="en-US" sz="1600" b="1">
                  <a:solidFill>
                    <a:srgbClr val="298FC2"/>
                  </a:solidFill>
                  <a:latin typeface="Inter"/>
                  <a:cs typeface="Inter"/>
                </a:rPr>
                <a:t>Shoppers</a:t>
              </a:r>
              <a:endParaRPr/>
            </a:p>
          </p:txBody>
        </p:sp>
      </p:grpSp>
      <p:grpSp>
        <p:nvGrpSpPr>
          <p:cNvPr id="151050042" name="Group 16"/>
          <p:cNvGrpSpPr/>
          <p:nvPr/>
        </p:nvGrpSpPr>
        <p:grpSpPr bwMode="auto">
          <a:xfrm>
            <a:off x="8641080" y="2926080"/>
            <a:ext cx="2788920" cy="457200"/>
            <a:chOff x="8641080" y="2926080"/>
            <a:chExt cx="2788920" cy="457200"/>
          </a:xfrm>
        </p:grpSpPr>
        <p:sp>
          <p:nvSpPr>
            <p:cNvPr id="131" name="Oval 130"/>
            <p:cNvSpPr/>
            <p:nvPr/>
          </p:nvSpPr>
          <p:spPr bwMode="auto">
            <a:xfrm>
              <a:off x="8641080" y="2926080"/>
              <a:ext cx="457200" cy="457200"/>
            </a:xfrm>
            <a:prstGeom prst="ellipse">
              <a:avLst/>
            </a:prstGeom>
            <a:solidFill>
              <a:srgbClr val="E5F2F8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pic>
          <p:nvPicPr>
            <p:cNvPr id="132" name="Picture 131" descr="megaphone_298FC2.png"/>
            <p:cNvPicPr>
              <a:picLocks noChangeAspect="1"/>
            </p:cNvPicPr>
            <p:nvPr/>
          </p:nvPicPr>
          <p:blipFill rotWithShape="1">
            <a:blip r:embed="rId10"/>
            <a:stretch/>
          </p:blipFill>
          <p:spPr bwMode="auto">
            <a:xfrm>
              <a:off x="8741664" y="3026664"/>
              <a:ext cx="256032" cy="256032"/>
            </a:xfrm>
            <a:prstGeom prst="rect">
              <a:avLst/>
            </a:prstGeom>
          </p:spPr>
        </p:pic>
        <p:sp>
          <p:nvSpPr>
            <p:cNvPr id="133" name="TextBox 132"/>
            <p:cNvSpPr txBox="1"/>
            <p:nvPr/>
          </p:nvSpPr>
          <p:spPr bwMode="auto">
            <a:xfrm>
              <a:off x="9235440" y="2926080"/>
              <a:ext cx="2194560" cy="4572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defRPr/>
              </a:pPr>
              <a:r>
                <a:rPr lang="en-US" sz="1300" b="1">
                  <a:solidFill>
                    <a:srgbClr val="101820"/>
                  </a:solidFill>
                  <a:latin typeface="Inter"/>
                  <a:cs typeface="Inter"/>
                </a:rPr>
                <a:t>Targeted ads</a:t>
              </a:r>
              <a:endParaRPr/>
            </a:p>
          </p:txBody>
        </p:sp>
      </p:grpSp>
      <p:grpSp>
        <p:nvGrpSpPr>
          <p:cNvPr id="1929526411" name="Group 17"/>
          <p:cNvGrpSpPr/>
          <p:nvPr/>
        </p:nvGrpSpPr>
        <p:grpSpPr bwMode="auto">
          <a:xfrm>
            <a:off x="8641080" y="3611880"/>
            <a:ext cx="2788920" cy="457200"/>
            <a:chOff x="8641080" y="3611880"/>
            <a:chExt cx="2788920" cy="457200"/>
          </a:xfrm>
        </p:grpSpPr>
        <p:sp>
          <p:nvSpPr>
            <p:cNvPr id="134" name="Oval 133"/>
            <p:cNvSpPr/>
            <p:nvPr/>
          </p:nvSpPr>
          <p:spPr bwMode="auto">
            <a:xfrm>
              <a:off x="8641080" y="3611880"/>
              <a:ext cx="457200" cy="457200"/>
            </a:xfrm>
            <a:prstGeom prst="ellipse">
              <a:avLst/>
            </a:prstGeom>
            <a:solidFill>
              <a:srgbClr val="E5F2F8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pic>
          <p:nvPicPr>
            <p:cNvPr id="135" name="Picture 134" descr="clapperboard_298FC2.png"/>
            <p:cNvPicPr>
              <a:picLocks noChangeAspect="1"/>
            </p:cNvPicPr>
            <p:nvPr/>
          </p:nvPicPr>
          <p:blipFill rotWithShape="1">
            <a:blip r:embed="rId11"/>
            <a:stretch/>
          </p:blipFill>
          <p:spPr bwMode="auto">
            <a:xfrm>
              <a:off x="8741664" y="3712464"/>
              <a:ext cx="256032" cy="256032"/>
            </a:xfrm>
            <a:prstGeom prst="rect">
              <a:avLst/>
            </a:prstGeom>
          </p:spPr>
        </p:pic>
        <p:sp>
          <p:nvSpPr>
            <p:cNvPr id="136" name="TextBox 135"/>
            <p:cNvSpPr txBox="1"/>
            <p:nvPr/>
          </p:nvSpPr>
          <p:spPr bwMode="auto">
            <a:xfrm>
              <a:off x="9235440" y="3611880"/>
              <a:ext cx="2194560" cy="4572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defRPr/>
              </a:pPr>
              <a:r>
                <a:rPr lang="en-US" sz="1300" b="1">
                  <a:solidFill>
                    <a:srgbClr val="101820"/>
                  </a:solidFill>
                  <a:latin typeface="Inter"/>
                  <a:cs typeface="Inter"/>
                </a:rPr>
                <a:t>Short videos</a:t>
              </a:r>
              <a:endParaRPr/>
            </a:p>
          </p:txBody>
        </p:sp>
      </p:grpSp>
      <p:grpSp>
        <p:nvGrpSpPr>
          <p:cNvPr id="763792706" name="Group 18"/>
          <p:cNvGrpSpPr/>
          <p:nvPr/>
        </p:nvGrpSpPr>
        <p:grpSpPr bwMode="auto">
          <a:xfrm>
            <a:off x="8641080" y="4297680"/>
            <a:ext cx="2788920" cy="457200"/>
            <a:chOff x="8641080" y="4297680"/>
            <a:chExt cx="2788920" cy="457200"/>
          </a:xfrm>
        </p:grpSpPr>
        <p:sp>
          <p:nvSpPr>
            <p:cNvPr id="137" name="Oval 136"/>
            <p:cNvSpPr/>
            <p:nvPr/>
          </p:nvSpPr>
          <p:spPr bwMode="auto">
            <a:xfrm>
              <a:off x="8641080" y="4297680"/>
              <a:ext cx="457200" cy="457200"/>
            </a:xfrm>
            <a:prstGeom prst="ellipse">
              <a:avLst/>
            </a:prstGeom>
            <a:solidFill>
              <a:srgbClr val="E5F2F8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pic>
          <p:nvPicPr>
            <p:cNvPr id="138" name="Picture 137" descr="graduation-cap_298FC2.png"/>
            <p:cNvPicPr>
              <a:picLocks noChangeAspect="1"/>
            </p:cNvPicPr>
            <p:nvPr/>
          </p:nvPicPr>
          <p:blipFill rotWithShape="1">
            <a:blip r:embed="rId12"/>
            <a:stretch/>
          </p:blipFill>
          <p:spPr bwMode="auto">
            <a:xfrm>
              <a:off x="8741664" y="4398264"/>
              <a:ext cx="256032" cy="256032"/>
            </a:xfrm>
            <a:prstGeom prst="rect">
              <a:avLst/>
            </a:prstGeom>
          </p:spPr>
        </p:pic>
        <p:sp>
          <p:nvSpPr>
            <p:cNvPr id="139" name="TextBox 138"/>
            <p:cNvSpPr txBox="1"/>
            <p:nvPr/>
          </p:nvSpPr>
          <p:spPr bwMode="auto">
            <a:xfrm>
              <a:off x="9235440" y="4297680"/>
              <a:ext cx="2194560" cy="4572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defRPr/>
              </a:pPr>
              <a:r>
                <a:rPr lang="en-US" sz="1300" b="1">
                  <a:solidFill>
                    <a:srgbClr val="101820"/>
                  </a:solidFill>
                  <a:latin typeface="Inter"/>
                  <a:cs typeface="Inter"/>
                </a:rPr>
                <a:t>Campus deals</a:t>
              </a:r>
              <a:endParaRPr/>
            </a:p>
          </p:txBody>
        </p:sp>
      </p:grpSp>
      <p:grpSp>
        <p:nvGrpSpPr>
          <p:cNvPr id="74146224" name="Group 19"/>
          <p:cNvGrpSpPr/>
          <p:nvPr/>
        </p:nvGrpSpPr>
        <p:grpSpPr bwMode="auto">
          <a:xfrm>
            <a:off x="8641080" y="4983480"/>
            <a:ext cx="2788920" cy="457200"/>
            <a:chOff x="8641080" y="4983480"/>
            <a:chExt cx="2788920" cy="457200"/>
          </a:xfrm>
        </p:grpSpPr>
        <p:sp>
          <p:nvSpPr>
            <p:cNvPr id="140" name="Oval 139"/>
            <p:cNvSpPr/>
            <p:nvPr/>
          </p:nvSpPr>
          <p:spPr bwMode="auto">
            <a:xfrm>
              <a:off x="8641080" y="4983480"/>
              <a:ext cx="457200" cy="457200"/>
            </a:xfrm>
            <a:prstGeom prst="ellipse">
              <a:avLst/>
            </a:prstGeom>
            <a:solidFill>
              <a:srgbClr val="E5F2F8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pic>
          <p:nvPicPr>
            <p:cNvPr id="141" name="Picture 140" descr="users_298FC2.png"/>
            <p:cNvPicPr>
              <a:picLocks noChangeAspect="1"/>
            </p:cNvPicPr>
            <p:nvPr/>
          </p:nvPicPr>
          <p:blipFill rotWithShape="1">
            <a:blip r:embed="rId13"/>
            <a:stretch/>
          </p:blipFill>
          <p:spPr bwMode="auto">
            <a:xfrm>
              <a:off x="8741664" y="5084064"/>
              <a:ext cx="256032" cy="256032"/>
            </a:xfrm>
            <a:prstGeom prst="rect">
              <a:avLst/>
            </a:prstGeom>
          </p:spPr>
        </p:pic>
        <p:sp>
          <p:nvSpPr>
            <p:cNvPr id="142" name="TextBox 141"/>
            <p:cNvSpPr txBox="1"/>
            <p:nvPr/>
          </p:nvSpPr>
          <p:spPr bwMode="auto">
            <a:xfrm>
              <a:off x="9235440" y="4983480"/>
              <a:ext cx="2194560" cy="4572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defRPr/>
              </a:pPr>
              <a:r>
                <a:rPr lang="en-US" sz="1300" b="1">
                  <a:solidFill>
                    <a:srgbClr val="101820"/>
                  </a:solidFill>
                  <a:latin typeface="Inter"/>
                  <a:cs typeface="Inter"/>
                </a:rPr>
                <a:t>Referrals</a:t>
              </a:r>
              <a:endParaRPr/>
            </a:p>
          </p:txBody>
        </p:sp>
      </p:grpSp>
      <p:grpSp>
        <p:nvGrpSpPr>
          <p:cNvPr id="1951501749" name="Group 20"/>
          <p:cNvGrpSpPr/>
          <p:nvPr/>
        </p:nvGrpSpPr>
        <p:grpSpPr bwMode="auto">
          <a:xfrm>
            <a:off x="3657600" y="4242816"/>
            <a:ext cx="365760" cy="201168"/>
            <a:chOff x="3657600" y="4242816"/>
            <a:chExt cx="365760" cy="201168"/>
          </a:xfrm>
        </p:grpSpPr>
        <p:sp>
          <p:nvSpPr>
            <p:cNvPr id="143" name="Right Arrow 142"/>
            <p:cNvSpPr/>
            <p:nvPr/>
          </p:nvSpPr>
          <p:spPr bwMode="auto">
            <a:xfrm>
              <a:off x="3657600" y="4242816"/>
              <a:ext cx="365760" cy="201168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298FC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</p:grpSp>
      <p:grpSp>
        <p:nvGrpSpPr>
          <p:cNvPr id="2039217604" name="Group 21"/>
          <p:cNvGrpSpPr/>
          <p:nvPr/>
        </p:nvGrpSpPr>
        <p:grpSpPr bwMode="auto">
          <a:xfrm>
            <a:off x="8183880" y="4242816"/>
            <a:ext cx="365760" cy="201168"/>
            <a:chOff x="8183880" y="4242816"/>
            <a:chExt cx="365760" cy="201168"/>
          </a:xfrm>
        </p:grpSpPr>
        <p:sp>
          <p:nvSpPr>
            <p:cNvPr id="144" name="Left Arrow 143"/>
            <p:cNvSpPr/>
            <p:nvPr/>
          </p:nvSpPr>
          <p:spPr bwMode="auto">
            <a:xfrm>
              <a:off x="8183880" y="4242816"/>
              <a:ext cx="365760" cy="201168"/>
            </a:xfrm>
            <a:prstGeom prst="leftArrow">
              <a:avLst>
                <a:gd name="adj1" fmla="val 50000"/>
                <a:gd name="adj2" fmla="val 50000"/>
              </a:avLst>
            </a:prstGeom>
            <a:solidFill>
              <a:srgbClr val="298FC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fast" p14:dur="500" advClick="1">
        <p:fade thruBlk="0"/>
      </p:transition>
    </mc:Choice>
    <mc:Fallback>
      <p:transition spd="fast" advClick="1">
        <p:fade thruBlk="0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36274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336274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5034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975034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30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93810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50"/>
                                        <p:tgtEl>
                                          <p:spTgt spid="2693810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0697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50"/>
                                        <p:tgtEl>
                                          <p:spTgt spid="7606972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9300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50"/>
                                        <p:tgtEl>
                                          <p:spTgt spid="3699300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03148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50"/>
                                        <p:tgtEl>
                                          <p:spTgt spid="14203148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630"/>
                            </p:stCondLst>
                            <p:childTnLst>
                              <p:par>
                                <p:cTn id="2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15017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00"/>
                                        <p:tgtEl>
                                          <p:spTgt spid="19515017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46210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00"/>
                                        <p:tgtEl>
                                          <p:spTgt spid="16346210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92176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0392176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300"/>
                            </p:stCondLst>
                            <p:childTnLst>
                              <p:par>
                                <p:cTn id="3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0500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150"/>
                                        <p:tgtEl>
                                          <p:spTgt spid="1510500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95264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50"/>
                                        <p:tgtEl>
                                          <p:spTgt spid="19295264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37927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50"/>
                                        <p:tgtEl>
                                          <p:spTgt spid="7637927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146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150"/>
                                        <p:tgtEl>
                                          <p:spTgt spid="741462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5809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5" dur="150" fill="hold"/>
                                        <p:tgtEl>
                                          <p:spTgt spid="4058092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150" fill="hold"/>
                                        <p:tgtEl>
                                          <p:spTgt spid="4058092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7" dur="150"/>
                                        <p:tgtEl>
                                          <p:spTgt spid="4058092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53" presetClass="entr" presetSubtype="16" fill="hold" grpId="0" nodeType="withEffect">
                                  <p:stCondLst>
                                    <p:cond delay="25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45214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0" dur="150" fill="hold"/>
                                        <p:tgtEl>
                                          <p:spTgt spid="5945214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150" fill="hold"/>
                                        <p:tgtEl>
                                          <p:spTgt spid="5945214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2" dur="150"/>
                                        <p:tgtEl>
                                          <p:spTgt spid="5945214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53" presetClass="entr" presetSubtype="16" fill="hold" grpId="0" nodeType="with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71728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5" dur="150" fill="hold"/>
                                        <p:tgtEl>
                                          <p:spTgt spid="57717286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150" fill="hold"/>
                                        <p:tgtEl>
                                          <p:spTgt spid="57717286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7" dur="150"/>
                                        <p:tgtEl>
                                          <p:spTgt spid="5771728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53" presetClass="entr" presetSubtype="16" fill="hold" grpId="0" nodeType="withEffect">
                                  <p:stCondLst>
                                    <p:cond delay="75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30085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0" dur="150" fill="hold"/>
                                        <p:tgtEl>
                                          <p:spTgt spid="19630085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1" dur="150" fill="hold"/>
                                        <p:tgtEl>
                                          <p:spTgt spid="19630085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2" dur="150"/>
                                        <p:tgtEl>
                                          <p:spTgt spid="19630085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3" fill="hold">
                            <p:stCondLst>
                              <p:cond delay="225"/>
                            </p:stCondLst>
                            <p:childTnLst>
                              <p:par>
                                <p:cTn id="7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90937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250"/>
                                        <p:tgtEl>
                                          <p:spTgt spid="4990937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47910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250"/>
                                        <p:tgtEl>
                                          <p:spTgt spid="19547910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79757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250"/>
                                        <p:tgtEl>
                                          <p:spTgt spid="5479757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9681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250"/>
                                        <p:tgtEl>
                                          <p:spTgt spid="17496812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017519254" name="Google Shape;98;p14" title="Center_for_Academic_and_Professional_Advancement.png"/>
          <p:cNvPicPr/>
          <p:nvPr/>
        </p:nvPicPr>
        <p:blipFill rotWithShape="1">
          <a:blip r:embed="rId3">
            <a:alphaModFix/>
          </a:blip>
          <a:stretch/>
        </p:blipFill>
        <p:spPr bwMode="auto">
          <a:xfrm>
            <a:off x="8289593" y="351575"/>
            <a:ext cx="3178502" cy="9693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2892443" name="Google Shape;99;p14" title="german cooperation deutsche zusammenarbeit.png"/>
          <p:cNvPicPr/>
          <p:nvPr/>
        </p:nvPicPr>
        <p:blipFill rotWithShape="1">
          <a:blip r:embed="rId4">
            <a:alphaModFix/>
          </a:blip>
          <a:stretch/>
        </p:blipFill>
        <p:spPr bwMode="auto">
          <a:xfrm>
            <a:off x="723900" y="436204"/>
            <a:ext cx="1428202" cy="800089"/>
          </a:xfrm>
          <a:prstGeom prst="rect">
            <a:avLst/>
          </a:prstGeom>
          <a:noFill/>
          <a:ln>
            <a:noFill/>
          </a:ln>
        </p:spPr>
      </p:pic>
      <p:sp>
        <p:nvSpPr>
          <p:cNvPr id="382008650" name="Rectangle 99"/>
          <p:cNvSpPr/>
          <p:nvPr/>
        </p:nvSpPr>
        <p:spPr bwMode="auto">
          <a:xfrm>
            <a:off x="722376" y="1517904"/>
            <a:ext cx="274320" cy="45720"/>
          </a:xfrm>
          <a:prstGeom prst="rect">
            <a:avLst/>
          </a:prstGeom>
          <a:solidFill>
            <a:srgbClr val="298FC2"/>
          </a:solidFill>
          <a:ln>
            <a:noFill/>
          </a:ln>
          <a:effectLst/>
        </p:spPr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556863410" name="TextBox 100"/>
          <p:cNvSpPr txBox="1"/>
          <p:nvPr/>
        </p:nvSpPr>
        <p:spPr bwMode="auto">
          <a:xfrm>
            <a:off x="1133856" y="1426464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defRPr/>
            </a:pPr>
            <a:r>
              <a:rPr lang="en-US" sz="1300" b="0">
                <a:solidFill>
                  <a:srgbClr val="5A6672"/>
                </a:solidFill>
                <a:latin typeface="Inter"/>
                <a:cs typeface="Inter"/>
              </a:rPr>
              <a:t>Financial feasibility</a:t>
            </a:r>
            <a:endParaRPr/>
          </a:p>
        </p:txBody>
      </p:sp>
      <p:sp>
        <p:nvSpPr>
          <p:cNvPr id="1882319582" name="TextBox 101"/>
          <p:cNvSpPr txBox="1"/>
          <p:nvPr/>
        </p:nvSpPr>
        <p:spPr bwMode="auto">
          <a:xfrm>
            <a:off x="722376" y="1700784"/>
            <a:ext cx="10744200" cy="5669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defRPr/>
            </a:pPr>
            <a:r>
              <a:rPr lang="en-US" sz="3000" b="1">
                <a:solidFill>
                  <a:srgbClr val="101820"/>
                </a:solidFill>
                <a:latin typeface="Comfortaa"/>
                <a:cs typeface="Comfortaa"/>
              </a:rPr>
              <a:t>Break-even at about 20 orders a day.</a:t>
            </a:r>
            <a:endParaRPr/>
          </a:p>
        </p:txBody>
      </p:sp>
      <p:sp>
        <p:nvSpPr>
          <p:cNvPr id="621840956" name="TextBox 102"/>
          <p:cNvSpPr txBox="1"/>
          <p:nvPr/>
        </p:nvSpPr>
        <p:spPr bwMode="auto">
          <a:xfrm>
            <a:off x="722376" y="6455664"/>
            <a:ext cx="10744200" cy="23774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defRPr/>
            </a:pPr>
            <a:r>
              <a:rPr lang="en-US" sz="900" b="0">
                <a:solidFill>
                  <a:srgbClr val="5A6672"/>
                </a:solidFill>
                <a:latin typeface="Inter"/>
                <a:cs typeface="Inter"/>
              </a:rPr>
              <a:t>Planned: orders grow 100 → 2,000 a month; Fast: twice that pace; Slow: half. Costs 652,000 IQD/month after launch (790,000 from month 6), incl. 1.7M IQD startup. Assumes 25,000 IQD average order and a signed courier contract. USD at 1,500 IQD.</a:t>
            </a:r>
            <a:endParaRPr/>
          </a:p>
        </p:txBody>
      </p:sp>
      <p:grpSp>
        <p:nvGrpSpPr>
          <p:cNvPr id="1410974118" name="Group 1"/>
          <p:cNvGrpSpPr/>
          <p:nvPr/>
        </p:nvGrpSpPr>
        <p:grpSpPr bwMode="auto">
          <a:xfrm>
            <a:off x="722376" y="2395728"/>
            <a:ext cx="5394960" cy="365760"/>
            <a:chOff x="722376" y="2395728"/>
            <a:chExt cx="5394960" cy="365760"/>
          </a:xfrm>
        </p:grpSpPr>
        <p:sp>
          <p:nvSpPr>
            <p:cNvPr id="104" name="Rounded Rectangle 103"/>
            <p:cNvSpPr/>
            <p:nvPr/>
          </p:nvSpPr>
          <p:spPr bwMode="auto">
            <a:xfrm>
              <a:off x="722376" y="2395728"/>
              <a:ext cx="5394960" cy="365760"/>
            </a:xfrm>
            <a:prstGeom prst="roundRect">
              <a:avLst>
                <a:gd name="adj" fmla="val 50000"/>
              </a:avLst>
            </a:prstGeom>
            <a:solidFill>
              <a:srgbClr val="E5F2F8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05" name="TextBox 104"/>
            <p:cNvSpPr txBox="1"/>
            <p:nvPr/>
          </p:nvSpPr>
          <p:spPr bwMode="auto">
            <a:xfrm>
              <a:off x="722376" y="2395728"/>
              <a:ext cx="5394960" cy="3657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defRPr/>
              </a:pPr>
              <a:r>
                <a:rPr lang="en-US" sz="1400" b="1">
                  <a:solidFill>
                    <a:srgbClr val="101820"/>
                  </a:solidFill>
                  <a:latin typeface="Inter"/>
                  <a:cs typeface="Inter"/>
                </a:rPr>
                <a:t>Break-even ≈ 585 orders / month · about 20 a day</a:t>
              </a:r>
              <a:endParaRPr/>
            </a:p>
          </p:txBody>
        </p:sp>
      </p:grpSp>
      <p:grpSp>
        <p:nvGrpSpPr>
          <p:cNvPr id="1134007984" name="Group 2"/>
          <p:cNvGrpSpPr/>
          <p:nvPr/>
        </p:nvGrpSpPr>
        <p:grpSpPr bwMode="auto">
          <a:xfrm>
            <a:off x="777240" y="3071681"/>
            <a:ext cx="10835640" cy="3329119"/>
            <a:chOff x="777240" y="3071681"/>
            <a:chExt cx="10835640" cy="3329119"/>
          </a:xfrm>
        </p:grpSpPr>
        <p:cxnSp>
          <p:nvCxnSpPr>
            <p:cNvPr id="106" name="Connector 105"/>
            <p:cNvCxnSpPr/>
            <p:nvPr/>
          </p:nvCxnSpPr>
          <p:spPr bwMode="auto">
            <a:xfrm>
              <a:off x="1371600" y="3172265"/>
              <a:ext cx="9875520" cy="0"/>
            </a:xfrm>
            <a:prstGeom prst="line">
              <a:avLst/>
            </a:prstGeom>
            <a:ln w="6350">
              <a:solidFill>
                <a:srgbClr val="DDE5ED"/>
              </a:solidFill>
            </a:ln>
            <a:effectLst/>
          </p:spPr>
        </p:cxnSp>
        <p:sp>
          <p:nvSpPr>
            <p:cNvPr id="107" name="TextBox 106"/>
            <p:cNvSpPr txBox="1"/>
            <p:nvPr/>
          </p:nvSpPr>
          <p:spPr bwMode="auto">
            <a:xfrm>
              <a:off x="777240" y="3071681"/>
              <a:ext cx="502920" cy="20116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r">
                <a:defRPr/>
              </a:pPr>
              <a:r>
                <a:rPr lang="en-US" sz="1000" b="0">
                  <a:solidFill>
                    <a:srgbClr val="5A6672"/>
                  </a:solidFill>
                  <a:latin typeface="Inter"/>
                  <a:cs typeface="Inter"/>
                </a:rPr>
                <a:t>+$3k</a:t>
              </a:r>
              <a:endParaRPr/>
            </a:p>
          </p:txBody>
        </p:sp>
        <p:cxnSp>
          <p:nvCxnSpPr>
            <p:cNvPr id="108" name="Connector 107"/>
            <p:cNvCxnSpPr/>
            <p:nvPr/>
          </p:nvCxnSpPr>
          <p:spPr bwMode="auto">
            <a:xfrm>
              <a:off x="1371600" y="3664634"/>
              <a:ext cx="9875520" cy="0"/>
            </a:xfrm>
            <a:prstGeom prst="line">
              <a:avLst/>
            </a:prstGeom>
            <a:ln w="6350">
              <a:solidFill>
                <a:srgbClr val="DDE5ED"/>
              </a:solidFill>
            </a:ln>
            <a:effectLst/>
          </p:spPr>
        </p:cxnSp>
        <p:sp>
          <p:nvSpPr>
            <p:cNvPr id="109" name="TextBox 108"/>
            <p:cNvSpPr txBox="1"/>
            <p:nvPr/>
          </p:nvSpPr>
          <p:spPr bwMode="auto">
            <a:xfrm>
              <a:off x="777240" y="3564050"/>
              <a:ext cx="502920" cy="20116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r">
                <a:defRPr/>
              </a:pPr>
              <a:r>
                <a:rPr lang="en-US" sz="1000" b="0">
                  <a:solidFill>
                    <a:srgbClr val="5A6672"/>
                  </a:solidFill>
                  <a:latin typeface="Inter"/>
                  <a:cs typeface="Inter"/>
                </a:rPr>
                <a:t>+$2k</a:t>
              </a:r>
              <a:endParaRPr/>
            </a:p>
          </p:txBody>
        </p:sp>
        <p:cxnSp>
          <p:nvCxnSpPr>
            <p:cNvPr id="110" name="Connector 109"/>
            <p:cNvCxnSpPr/>
            <p:nvPr/>
          </p:nvCxnSpPr>
          <p:spPr bwMode="auto">
            <a:xfrm>
              <a:off x="1371600" y="4157003"/>
              <a:ext cx="9875520" cy="0"/>
            </a:xfrm>
            <a:prstGeom prst="line">
              <a:avLst/>
            </a:prstGeom>
            <a:ln w="6350">
              <a:solidFill>
                <a:srgbClr val="DDE5ED"/>
              </a:solidFill>
            </a:ln>
            <a:effectLst/>
          </p:spPr>
        </p:cxnSp>
        <p:sp>
          <p:nvSpPr>
            <p:cNvPr id="111" name="TextBox 110"/>
            <p:cNvSpPr txBox="1"/>
            <p:nvPr/>
          </p:nvSpPr>
          <p:spPr bwMode="auto">
            <a:xfrm>
              <a:off x="777240" y="4056419"/>
              <a:ext cx="502920" cy="20116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r">
                <a:defRPr/>
              </a:pPr>
              <a:r>
                <a:rPr lang="en-US" sz="1000" b="0">
                  <a:solidFill>
                    <a:srgbClr val="5A6672"/>
                  </a:solidFill>
                  <a:latin typeface="Inter"/>
                  <a:cs typeface="Inter"/>
                </a:rPr>
                <a:t>+$1k</a:t>
              </a:r>
              <a:endParaRPr/>
            </a:p>
          </p:txBody>
        </p:sp>
        <p:sp>
          <p:nvSpPr>
            <p:cNvPr id="112" name="TextBox 111"/>
            <p:cNvSpPr txBox="1"/>
            <p:nvPr/>
          </p:nvSpPr>
          <p:spPr bwMode="auto">
            <a:xfrm>
              <a:off x="777240" y="4548788"/>
              <a:ext cx="502920" cy="20116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r">
                <a:defRPr/>
              </a:pPr>
              <a:r>
                <a:rPr lang="en-US" sz="1000" b="0">
                  <a:solidFill>
                    <a:srgbClr val="5A6672"/>
                  </a:solidFill>
                  <a:latin typeface="Inter"/>
                  <a:cs typeface="Inter"/>
                </a:rPr>
                <a:t>$0</a:t>
              </a:r>
              <a:endParaRPr/>
            </a:p>
          </p:txBody>
        </p:sp>
        <p:cxnSp>
          <p:nvCxnSpPr>
            <p:cNvPr id="113" name="Connector 112"/>
            <p:cNvCxnSpPr/>
            <p:nvPr/>
          </p:nvCxnSpPr>
          <p:spPr bwMode="auto">
            <a:xfrm>
              <a:off x="1371600" y="5141742"/>
              <a:ext cx="9875520" cy="0"/>
            </a:xfrm>
            <a:prstGeom prst="line">
              <a:avLst/>
            </a:prstGeom>
            <a:ln w="6350">
              <a:solidFill>
                <a:srgbClr val="DDE5ED"/>
              </a:solidFill>
            </a:ln>
            <a:effectLst/>
          </p:spPr>
        </p:cxnSp>
        <p:sp>
          <p:nvSpPr>
            <p:cNvPr id="114" name="TextBox 113"/>
            <p:cNvSpPr txBox="1"/>
            <p:nvPr/>
          </p:nvSpPr>
          <p:spPr bwMode="auto">
            <a:xfrm>
              <a:off x="777240" y="5041158"/>
              <a:ext cx="502920" cy="20116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r">
                <a:defRPr/>
              </a:pPr>
              <a:r>
                <a:rPr lang="en-US" sz="1000" b="0">
                  <a:solidFill>
                    <a:srgbClr val="5A6672"/>
                  </a:solidFill>
                  <a:latin typeface="Inter"/>
                  <a:cs typeface="Inter"/>
                </a:rPr>
                <a:t>−$1k</a:t>
              </a:r>
              <a:endParaRPr/>
            </a:p>
          </p:txBody>
        </p:sp>
        <p:cxnSp>
          <p:nvCxnSpPr>
            <p:cNvPr id="115" name="Connector 114"/>
            <p:cNvCxnSpPr/>
            <p:nvPr/>
          </p:nvCxnSpPr>
          <p:spPr bwMode="auto">
            <a:xfrm>
              <a:off x="1371600" y="5634111"/>
              <a:ext cx="9875520" cy="0"/>
            </a:xfrm>
            <a:prstGeom prst="line">
              <a:avLst/>
            </a:prstGeom>
            <a:ln w="6350">
              <a:solidFill>
                <a:srgbClr val="DDE5ED"/>
              </a:solidFill>
            </a:ln>
            <a:effectLst/>
          </p:spPr>
        </p:cxnSp>
        <p:sp>
          <p:nvSpPr>
            <p:cNvPr id="116" name="TextBox 115"/>
            <p:cNvSpPr txBox="1"/>
            <p:nvPr/>
          </p:nvSpPr>
          <p:spPr bwMode="auto">
            <a:xfrm>
              <a:off x="777240" y="5533527"/>
              <a:ext cx="502920" cy="20116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r">
                <a:defRPr/>
              </a:pPr>
              <a:r>
                <a:rPr lang="en-US" sz="1000" b="0">
                  <a:solidFill>
                    <a:srgbClr val="5A6672"/>
                  </a:solidFill>
                  <a:latin typeface="Inter"/>
                  <a:cs typeface="Inter"/>
                </a:rPr>
                <a:t>−$2k</a:t>
              </a:r>
              <a:endParaRPr/>
            </a:p>
          </p:txBody>
        </p:sp>
        <p:cxnSp>
          <p:nvCxnSpPr>
            <p:cNvPr id="117" name="Connector 116"/>
            <p:cNvCxnSpPr/>
            <p:nvPr/>
          </p:nvCxnSpPr>
          <p:spPr bwMode="auto">
            <a:xfrm>
              <a:off x="1371600" y="6126480"/>
              <a:ext cx="9875520" cy="0"/>
            </a:xfrm>
            <a:prstGeom prst="line">
              <a:avLst/>
            </a:prstGeom>
            <a:ln w="6350">
              <a:solidFill>
                <a:srgbClr val="DDE5ED"/>
              </a:solidFill>
            </a:ln>
            <a:effectLst/>
          </p:spPr>
        </p:cxnSp>
        <p:sp>
          <p:nvSpPr>
            <p:cNvPr id="118" name="TextBox 117"/>
            <p:cNvSpPr txBox="1"/>
            <p:nvPr/>
          </p:nvSpPr>
          <p:spPr bwMode="auto">
            <a:xfrm>
              <a:off x="777240" y="6025896"/>
              <a:ext cx="502920" cy="20116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r">
                <a:defRPr/>
              </a:pPr>
              <a:r>
                <a:rPr lang="en-US" sz="1000" b="0">
                  <a:solidFill>
                    <a:srgbClr val="5A6672"/>
                  </a:solidFill>
                  <a:latin typeface="Inter"/>
                  <a:cs typeface="Inter"/>
                </a:rPr>
                <a:t>−$3k</a:t>
              </a:r>
              <a:endParaRPr/>
            </a:p>
          </p:txBody>
        </p:sp>
        <p:cxnSp>
          <p:nvCxnSpPr>
            <p:cNvPr id="119" name="Connector 118"/>
            <p:cNvCxnSpPr/>
            <p:nvPr/>
          </p:nvCxnSpPr>
          <p:spPr bwMode="auto">
            <a:xfrm>
              <a:off x="1371600" y="4649372"/>
              <a:ext cx="9875520" cy="0"/>
            </a:xfrm>
            <a:prstGeom prst="line">
              <a:avLst/>
            </a:prstGeom>
            <a:ln w="12700">
              <a:solidFill>
                <a:srgbClr val="101820"/>
              </a:solidFill>
            </a:ln>
            <a:effectLst/>
          </p:spPr>
        </p:cxnSp>
        <p:sp>
          <p:nvSpPr>
            <p:cNvPr id="120" name="TextBox 119"/>
            <p:cNvSpPr txBox="1"/>
            <p:nvPr/>
          </p:nvSpPr>
          <p:spPr bwMode="auto">
            <a:xfrm>
              <a:off x="1005840" y="6199632"/>
              <a:ext cx="731520" cy="20116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defRPr/>
              </a:pPr>
              <a:r>
                <a:rPr lang="en-US" sz="1000" b="0">
                  <a:solidFill>
                    <a:srgbClr val="5A6672"/>
                  </a:solidFill>
                  <a:latin typeface="Inter"/>
                  <a:cs typeface="Inter"/>
                </a:rPr>
                <a:t>Start</a:t>
              </a:r>
              <a:endParaRPr/>
            </a:p>
          </p:txBody>
        </p:sp>
        <p:sp>
          <p:nvSpPr>
            <p:cNvPr id="121" name="TextBox 120"/>
            <p:cNvSpPr txBox="1"/>
            <p:nvPr/>
          </p:nvSpPr>
          <p:spPr bwMode="auto">
            <a:xfrm>
              <a:off x="2651760" y="6199632"/>
              <a:ext cx="731520" cy="20116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defRPr/>
              </a:pPr>
              <a:r>
                <a:rPr lang="en-US" sz="1000" b="0">
                  <a:solidFill>
                    <a:srgbClr val="5A6672"/>
                  </a:solidFill>
                  <a:latin typeface="Inter"/>
                  <a:cs typeface="Inter"/>
                </a:rPr>
                <a:t>Launch</a:t>
              </a:r>
              <a:endParaRPr/>
            </a:p>
          </p:txBody>
        </p:sp>
        <p:sp>
          <p:nvSpPr>
            <p:cNvPr id="122" name="TextBox 121"/>
            <p:cNvSpPr txBox="1"/>
            <p:nvPr/>
          </p:nvSpPr>
          <p:spPr bwMode="auto">
            <a:xfrm>
              <a:off x="4297680" y="6199632"/>
              <a:ext cx="731520" cy="20116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defRPr/>
              </a:pPr>
              <a:r>
                <a:rPr lang="en-US" sz="1000" b="0">
                  <a:solidFill>
                    <a:srgbClr val="5A6672"/>
                  </a:solidFill>
                  <a:latin typeface="Inter"/>
                  <a:cs typeface="Inter"/>
                </a:rPr>
                <a:t>M2</a:t>
              </a:r>
              <a:endParaRPr/>
            </a:p>
          </p:txBody>
        </p:sp>
        <p:sp>
          <p:nvSpPr>
            <p:cNvPr id="123" name="TextBox 122"/>
            <p:cNvSpPr txBox="1"/>
            <p:nvPr/>
          </p:nvSpPr>
          <p:spPr bwMode="auto">
            <a:xfrm>
              <a:off x="5943600" y="6199632"/>
              <a:ext cx="731520" cy="20116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defRPr/>
              </a:pPr>
              <a:r>
                <a:rPr lang="en-US" sz="1000" b="0">
                  <a:solidFill>
                    <a:srgbClr val="5A6672"/>
                  </a:solidFill>
                  <a:latin typeface="Inter"/>
                  <a:cs typeface="Inter"/>
                </a:rPr>
                <a:t>M4</a:t>
              </a:r>
              <a:endParaRPr/>
            </a:p>
          </p:txBody>
        </p:sp>
        <p:sp>
          <p:nvSpPr>
            <p:cNvPr id="124" name="TextBox 123"/>
            <p:cNvSpPr txBox="1"/>
            <p:nvPr/>
          </p:nvSpPr>
          <p:spPr bwMode="auto">
            <a:xfrm>
              <a:off x="7589520" y="6199632"/>
              <a:ext cx="731520" cy="20116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defRPr/>
              </a:pPr>
              <a:r>
                <a:rPr lang="en-US" sz="1000" b="0">
                  <a:solidFill>
                    <a:srgbClr val="5A6672"/>
                  </a:solidFill>
                  <a:latin typeface="Inter"/>
                  <a:cs typeface="Inter"/>
                </a:rPr>
                <a:t>M6</a:t>
              </a:r>
              <a:endParaRPr/>
            </a:p>
          </p:txBody>
        </p:sp>
        <p:sp>
          <p:nvSpPr>
            <p:cNvPr id="125" name="TextBox 124"/>
            <p:cNvSpPr txBox="1"/>
            <p:nvPr/>
          </p:nvSpPr>
          <p:spPr bwMode="auto">
            <a:xfrm>
              <a:off x="9235440" y="6199632"/>
              <a:ext cx="731520" cy="20116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defRPr/>
              </a:pPr>
              <a:r>
                <a:rPr lang="en-US" sz="1000" b="0">
                  <a:solidFill>
                    <a:srgbClr val="5A6672"/>
                  </a:solidFill>
                  <a:latin typeface="Inter"/>
                  <a:cs typeface="Inter"/>
                </a:rPr>
                <a:t>M8</a:t>
              </a:r>
              <a:endParaRPr/>
            </a:p>
          </p:txBody>
        </p:sp>
        <p:sp>
          <p:nvSpPr>
            <p:cNvPr id="126" name="TextBox 125"/>
            <p:cNvSpPr txBox="1"/>
            <p:nvPr/>
          </p:nvSpPr>
          <p:spPr bwMode="auto">
            <a:xfrm>
              <a:off x="10881360" y="6199632"/>
              <a:ext cx="731520" cy="20116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defRPr/>
              </a:pPr>
              <a:r>
                <a:rPr lang="en-US" sz="1000" b="0">
                  <a:solidFill>
                    <a:srgbClr val="5A6672"/>
                  </a:solidFill>
                  <a:latin typeface="Inter"/>
                  <a:cs typeface="Inter"/>
                </a:rPr>
                <a:t>M10</a:t>
              </a:r>
              <a:endParaRPr/>
            </a:p>
          </p:txBody>
        </p:sp>
      </p:grpSp>
      <p:grpSp>
        <p:nvGrpSpPr>
          <p:cNvPr id="1293613992" name="Group 3"/>
          <p:cNvGrpSpPr/>
          <p:nvPr/>
        </p:nvGrpSpPr>
        <p:grpSpPr bwMode="auto">
          <a:xfrm>
            <a:off x="9144000" y="2414016"/>
            <a:ext cx="3154680" cy="219456"/>
            <a:chOff x="9144000" y="2414016"/>
            <a:chExt cx="3154680" cy="219456"/>
          </a:xfrm>
        </p:grpSpPr>
        <p:cxnSp>
          <p:nvCxnSpPr>
            <p:cNvPr id="127" name="Connector 126"/>
            <p:cNvCxnSpPr/>
            <p:nvPr/>
          </p:nvCxnSpPr>
          <p:spPr bwMode="auto">
            <a:xfrm>
              <a:off x="9144000" y="2523744"/>
              <a:ext cx="292608" cy="0"/>
            </a:xfrm>
            <a:prstGeom prst="line">
              <a:avLst/>
            </a:prstGeom>
            <a:ln w="38100">
              <a:solidFill>
                <a:srgbClr val="298FC2"/>
              </a:solidFill>
            </a:ln>
            <a:effectLst/>
          </p:spPr>
        </p:cxnSp>
        <p:sp>
          <p:nvSpPr>
            <p:cNvPr id="128" name="TextBox 127"/>
            <p:cNvSpPr txBox="1"/>
            <p:nvPr/>
          </p:nvSpPr>
          <p:spPr bwMode="auto">
            <a:xfrm>
              <a:off x="9509760" y="2414016"/>
              <a:ext cx="731520" cy="219456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defRPr/>
              </a:pPr>
              <a:r>
                <a:rPr lang="en-US" sz="1100" b="0">
                  <a:solidFill>
                    <a:srgbClr val="101820"/>
                  </a:solidFill>
                  <a:latin typeface="Inter"/>
                  <a:cs typeface="Inter"/>
                </a:rPr>
                <a:t>Fast</a:t>
              </a:r>
              <a:endParaRPr/>
            </a:p>
          </p:txBody>
        </p:sp>
        <p:cxnSp>
          <p:nvCxnSpPr>
            <p:cNvPr id="129" name="Connector 128"/>
            <p:cNvCxnSpPr/>
            <p:nvPr/>
          </p:nvCxnSpPr>
          <p:spPr bwMode="auto">
            <a:xfrm>
              <a:off x="10058400" y="2523744"/>
              <a:ext cx="292608" cy="0"/>
            </a:xfrm>
            <a:prstGeom prst="line">
              <a:avLst/>
            </a:prstGeom>
            <a:ln w="31750">
              <a:solidFill>
                <a:srgbClr val="101820"/>
              </a:solidFill>
            </a:ln>
            <a:effectLst/>
          </p:spPr>
        </p:cxnSp>
        <p:sp>
          <p:nvSpPr>
            <p:cNvPr id="130" name="TextBox 129"/>
            <p:cNvSpPr txBox="1"/>
            <p:nvPr/>
          </p:nvSpPr>
          <p:spPr bwMode="auto">
            <a:xfrm>
              <a:off x="10424160" y="2414016"/>
              <a:ext cx="731520" cy="219456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defRPr/>
              </a:pPr>
              <a:r>
                <a:rPr lang="en-US" sz="1100" b="0">
                  <a:solidFill>
                    <a:srgbClr val="101820"/>
                  </a:solidFill>
                  <a:latin typeface="Inter"/>
                  <a:cs typeface="Inter"/>
                </a:rPr>
                <a:t>Planned</a:t>
              </a:r>
              <a:endParaRPr/>
            </a:p>
          </p:txBody>
        </p:sp>
        <p:cxnSp>
          <p:nvCxnSpPr>
            <p:cNvPr id="131" name="Connector 130"/>
            <p:cNvCxnSpPr/>
            <p:nvPr/>
          </p:nvCxnSpPr>
          <p:spPr bwMode="auto">
            <a:xfrm>
              <a:off x="11201400" y="2523744"/>
              <a:ext cx="292608" cy="0"/>
            </a:xfrm>
            <a:prstGeom prst="line">
              <a:avLst/>
            </a:prstGeom>
            <a:ln w="19050">
              <a:solidFill>
                <a:srgbClr val="A9B1B9"/>
              </a:solidFill>
              <a:prstDash val="dash"/>
            </a:ln>
            <a:effectLst/>
          </p:spPr>
        </p:cxnSp>
        <p:sp>
          <p:nvSpPr>
            <p:cNvPr id="132" name="TextBox 131"/>
            <p:cNvSpPr txBox="1"/>
            <p:nvPr/>
          </p:nvSpPr>
          <p:spPr bwMode="auto">
            <a:xfrm>
              <a:off x="11567160" y="2414016"/>
              <a:ext cx="731520" cy="219456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defRPr/>
              </a:pPr>
              <a:r>
                <a:rPr lang="en-US" sz="1100" b="0">
                  <a:solidFill>
                    <a:srgbClr val="101820"/>
                  </a:solidFill>
                  <a:latin typeface="Inter"/>
                  <a:cs typeface="Inter"/>
                </a:rPr>
                <a:t>Slow</a:t>
              </a:r>
              <a:endParaRPr/>
            </a:p>
          </p:txBody>
        </p:sp>
      </p:grpSp>
      <p:grpSp>
        <p:nvGrpSpPr>
          <p:cNvPr id="1069704663" name="Group 4"/>
          <p:cNvGrpSpPr/>
          <p:nvPr/>
        </p:nvGrpSpPr>
        <p:grpSpPr bwMode="auto">
          <a:xfrm>
            <a:off x="1371600" y="5207227"/>
            <a:ext cx="822960" cy="68931"/>
            <a:chOff x="1371600" y="5207227"/>
            <a:chExt cx="822960" cy="68931"/>
          </a:xfrm>
        </p:grpSpPr>
        <p:cxnSp>
          <p:nvCxnSpPr>
            <p:cNvPr id="133" name="Connector 132"/>
            <p:cNvCxnSpPr/>
            <p:nvPr/>
          </p:nvCxnSpPr>
          <p:spPr bwMode="auto">
            <a:xfrm>
              <a:off x="1371600" y="5207227"/>
              <a:ext cx="822960" cy="68931"/>
            </a:xfrm>
            <a:prstGeom prst="line">
              <a:avLst/>
            </a:prstGeom>
            <a:ln w="31750" cap="rnd">
              <a:solidFill>
                <a:srgbClr val="101820"/>
              </a:solidFill>
            </a:ln>
            <a:effectLst/>
          </p:spPr>
        </p:cxnSp>
      </p:grpSp>
      <p:grpSp>
        <p:nvGrpSpPr>
          <p:cNvPr id="1656122037" name="Group 5"/>
          <p:cNvGrpSpPr/>
          <p:nvPr/>
        </p:nvGrpSpPr>
        <p:grpSpPr bwMode="auto">
          <a:xfrm>
            <a:off x="2194560" y="5276158"/>
            <a:ext cx="822960" cy="68932"/>
            <a:chOff x="2194560" y="5276158"/>
            <a:chExt cx="822960" cy="68932"/>
          </a:xfrm>
        </p:grpSpPr>
        <p:cxnSp>
          <p:nvCxnSpPr>
            <p:cNvPr id="134" name="Connector 133"/>
            <p:cNvCxnSpPr/>
            <p:nvPr/>
          </p:nvCxnSpPr>
          <p:spPr bwMode="auto">
            <a:xfrm>
              <a:off x="2194560" y="5276158"/>
              <a:ext cx="822960" cy="68932"/>
            </a:xfrm>
            <a:prstGeom prst="line">
              <a:avLst/>
            </a:prstGeom>
            <a:ln w="31750" cap="rnd">
              <a:solidFill>
                <a:srgbClr val="101820"/>
              </a:solidFill>
            </a:ln>
            <a:effectLst/>
          </p:spPr>
        </p:cxnSp>
      </p:grpSp>
      <p:grpSp>
        <p:nvGrpSpPr>
          <p:cNvPr id="924572310" name="Group 6"/>
          <p:cNvGrpSpPr/>
          <p:nvPr/>
        </p:nvGrpSpPr>
        <p:grpSpPr bwMode="auto">
          <a:xfrm>
            <a:off x="3017519" y="5345090"/>
            <a:ext cx="822960" cy="177745"/>
            <a:chOff x="3017519" y="5345090"/>
            <a:chExt cx="822960" cy="177745"/>
          </a:xfrm>
        </p:grpSpPr>
        <p:cxnSp>
          <p:nvCxnSpPr>
            <p:cNvPr id="135" name="Connector 134"/>
            <p:cNvCxnSpPr/>
            <p:nvPr/>
          </p:nvCxnSpPr>
          <p:spPr bwMode="auto">
            <a:xfrm>
              <a:off x="3017519" y="5345090"/>
              <a:ext cx="822960" cy="177745"/>
            </a:xfrm>
            <a:prstGeom prst="line">
              <a:avLst/>
            </a:prstGeom>
            <a:ln w="31750" cap="rnd">
              <a:solidFill>
                <a:srgbClr val="101820"/>
              </a:solidFill>
            </a:ln>
            <a:effectLst/>
          </p:spPr>
        </p:cxnSp>
      </p:grpSp>
      <p:grpSp>
        <p:nvGrpSpPr>
          <p:cNvPr id="74820387" name="Group 7"/>
          <p:cNvGrpSpPr/>
          <p:nvPr/>
        </p:nvGrpSpPr>
        <p:grpSpPr bwMode="auto">
          <a:xfrm>
            <a:off x="3840480" y="5522835"/>
            <a:ext cx="822960" cy="131463"/>
            <a:chOff x="3840480" y="5522835"/>
            <a:chExt cx="822960" cy="131463"/>
          </a:xfrm>
        </p:grpSpPr>
        <p:cxnSp>
          <p:nvCxnSpPr>
            <p:cNvPr id="136" name="Connector 135"/>
            <p:cNvCxnSpPr/>
            <p:nvPr/>
          </p:nvCxnSpPr>
          <p:spPr bwMode="auto">
            <a:xfrm>
              <a:off x="3840480" y="5522835"/>
              <a:ext cx="822960" cy="131463"/>
            </a:xfrm>
            <a:prstGeom prst="line">
              <a:avLst/>
            </a:prstGeom>
            <a:ln w="31750" cap="rnd">
              <a:solidFill>
                <a:srgbClr val="101820"/>
              </a:solidFill>
            </a:ln>
            <a:effectLst/>
          </p:spPr>
        </p:cxnSp>
      </p:grpSp>
      <p:grpSp>
        <p:nvGrpSpPr>
          <p:cNvPr id="189565005" name="Group 8"/>
          <p:cNvGrpSpPr/>
          <p:nvPr/>
        </p:nvGrpSpPr>
        <p:grpSpPr bwMode="auto">
          <a:xfrm>
            <a:off x="4663440" y="5654298"/>
            <a:ext cx="822960" cy="67454"/>
            <a:chOff x="4663440" y="5654298"/>
            <a:chExt cx="822960" cy="67454"/>
          </a:xfrm>
        </p:grpSpPr>
        <p:cxnSp>
          <p:nvCxnSpPr>
            <p:cNvPr id="137" name="Connector 136"/>
            <p:cNvCxnSpPr/>
            <p:nvPr/>
          </p:nvCxnSpPr>
          <p:spPr bwMode="auto">
            <a:xfrm>
              <a:off x="4663440" y="5654298"/>
              <a:ext cx="822960" cy="67454"/>
            </a:xfrm>
            <a:prstGeom prst="line">
              <a:avLst/>
            </a:prstGeom>
            <a:ln w="31750" cap="rnd">
              <a:solidFill>
                <a:srgbClr val="101820"/>
              </a:solidFill>
            </a:ln>
            <a:effectLst/>
          </p:spPr>
        </p:cxnSp>
      </p:grpSp>
      <p:grpSp>
        <p:nvGrpSpPr>
          <p:cNvPr id="1051545106" name="Group 9"/>
          <p:cNvGrpSpPr/>
          <p:nvPr/>
        </p:nvGrpSpPr>
        <p:grpSpPr bwMode="auto">
          <a:xfrm>
            <a:off x="5486400" y="5716336"/>
            <a:ext cx="822960" cy="5416"/>
            <a:chOff x="5486400" y="5716336"/>
            <a:chExt cx="822960" cy="5416"/>
          </a:xfrm>
        </p:grpSpPr>
        <p:cxnSp>
          <p:nvCxnSpPr>
            <p:cNvPr id="138" name="Connector 137"/>
            <p:cNvCxnSpPr/>
            <p:nvPr/>
          </p:nvCxnSpPr>
          <p:spPr bwMode="auto">
            <a:xfrm flipV="1">
              <a:off x="5486400" y="5716336"/>
              <a:ext cx="822960" cy="5416"/>
            </a:xfrm>
            <a:prstGeom prst="line">
              <a:avLst/>
            </a:prstGeom>
            <a:ln w="31750" cap="rnd">
              <a:solidFill>
                <a:srgbClr val="101820"/>
              </a:solidFill>
            </a:ln>
            <a:effectLst/>
          </p:spPr>
        </p:cxnSp>
      </p:grpSp>
      <p:grpSp>
        <p:nvGrpSpPr>
          <p:cNvPr id="1566739506" name="Group 10"/>
          <p:cNvGrpSpPr/>
          <p:nvPr/>
        </p:nvGrpSpPr>
        <p:grpSpPr bwMode="auto">
          <a:xfrm>
            <a:off x="6309360" y="5564193"/>
            <a:ext cx="822960" cy="152142"/>
            <a:chOff x="6309360" y="5564193"/>
            <a:chExt cx="822960" cy="152142"/>
          </a:xfrm>
        </p:grpSpPr>
        <p:cxnSp>
          <p:nvCxnSpPr>
            <p:cNvPr id="139" name="Connector 138"/>
            <p:cNvCxnSpPr/>
            <p:nvPr/>
          </p:nvCxnSpPr>
          <p:spPr bwMode="auto">
            <a:xfrm flipV="1">
              <a:off x="6309360" y="5564193"/>
              <a:ext cx="822960" cy="152142"/>
            </a:xfrm>
            <a:prstGeom prst="line">
              <a:avLst/>
            </a:prstGeom>
            <a:ln w="31750" cap="rnd">
              <a:solidFill>
                <a:srgbClr val="101820"/>
              </a:solidFill>
            </a:ln>
            <a:effectLst/>
          </p:spPr>
        </p:cxnSp>
      </p:grpSp>
      <p:grpSp>
        <p:nvGrpSpPr>
          <p:cNvPr id="1477163868" name="Group 11"/>
          <p:cNvGrpSpPr/>
          <p:nvPr/>
        </p:nvGrpSpPr>
        <p:grpSpPr bwMode="auto">
          <a:xfrm>
            <a:off x="7132320" y="5329827"/>
            <a:ext cx="822960" cy="234367"/>
            <a:chOff x="7132320" y="5329827"/>
            <a:chExt cx="822960" cy="234367"/>
          </a:xfrm>
        </p:grpSpPr>
        <p:cxnSp>
          <p:nvCxnSpPr>
            <p:cNvPr id="140" name="Connector 139"/>
            <p:cNvCxnSpPr/>
            <p:nvPr/>
          </p:nvCxnSpPr>
          <p:spPr bwMode="auto">
            <a:xfrm flipV="1">
              <a:off x="7132320" y="5329827"/>
              <a:ext cx="822960" cy="234367"/>
            </a:xfrm>
            <a:prstGeom prst="line">
              <a:avLst/>
            </a:prstGeom>
            <a:ln w="31750" cap="rnd">
              <a:solidFill>
                <a:srgbClr val="101820"/>
              </a:solidFill>
            </a:ln>
            <a:effectLst/>
          </p:spPr>
        </p:cxnSp>
      </p:grpSp>
      <p:grpSp>
        <p:nvGrpSpPr>
          <p:cNvPr id="2033209108" name="Group 12"/>
          <p:cNvGrpSpPr/>
          <p:nvPr/>
        </p:nvGrpSpPr>
        <p:grpSpPr bwMode="auto">
          <a:xfrm>
            <a:off x="7955280" y="5003386"/>
            <a:ext cx="822960" cy="326441"/>
            <a:chOff x="7955280" y="5003386"/>
            <a:chExt cx="822960" cy="326441"/>
          </a:xfrm>
        </p:grpSpPr>
        <p:cxnSp>
          <p:nvCxnSpPr>
            <p:cNvPr id="141" name="Connector 140"/>
            <p:cNvCxnSpPr/>
            <p:nvPr/>
          </p:nvCxnSpPr>
          <p:spPr bwMode="auto">
            <a:xfrm flipV="1">
              <a:off x="7955280" y="5003386"/>
              <a:ext cx="822960" cy="326441"/>
            </a:xfrm>
            <a:prstGeom prst="line">
              <a:avLst/>
            </a:prstGeom>
            <a:ln w="31750" cap="rnd">
              <a:solidFill>
                <a:srgbClr val="101820"/>
              </a:solidFill>
            </a:ln>
            <a:effectLst/>
          </p:spPr>
        </p:cxnSp>
      </p:grpSp>
      <p:grpSp>
        <p:nvGrpSpPr>
          <p:cNvPr id="400174694" name="Group 13"/>
          <p:cNvGrpSpPr/>
          <p:nvPr/>
        </p:nvGrpSpPr>
        <p:grpSpPr bwMode="auto">
          <a:xfrm>
            <a:off x="8778240" y="4585364"/>
            <a:ext cx="822960" cy="418021"/>
            <a:chOff x="8778240" y="4585364"/>
            <a:chExt cx="822960" cy="418021"/>
          </a:xfrm>
        </p:grpSpPr>
        <p:cxnSp>
          <p:nvCxnSpPr>
            <p:cNvPr id="142" name="Connector 141"/>
            <p:cNvCxnSpPr/>
            <p:nvPr/>
          </p:nvCxnSpPr>
          <p:spPr bwMode="auto">
            <a:xfrm flipV="1">
              <a:off x="8778240" y="4585364"/>
              <a:ext cx="822960" cy="418021"/>
            </a:xfrm>
            <a:prstGeom prst="line">
              <a:avLst/>
            </a:prstGeom>
            <a:ln w="31750" cap="rnd">
              <a:solidFill>
                <a:srgbClr val="101820"/>
              </a:solidFill>
            </a:ln>
            <a:effectLst/>
          </p:spPr>
        </p:cxnSp>
      </p:grpSp>
      <p:grpSp>
        <p:nvGrpSpPr>
          <p:cNvPr id="972300661" name="Group 14"/>
          <p:cNvGrpSpPr/>
          <p:nvPr/>
        </p:nvGrpSpPr>
        <p:grpSpPr bwMode="auto">
          <a:xfrm>
            <a:off x="9601200" y="4112690"/>
            <a:ext cx="822960" cy="472674"/>
            <a:chOff x="9601200" y="4112690"/>
            <a:chExt cx="822960" cy="472674"/>
          </a:xfrm>
        </p:grpSpPr>
        <p:cxnSp>
          <p:nvCxnSpPr>
            <p:cNvPr id="143" name="Connector 142"/>
            <p:cNvCxnSpPr/>
            <p:nvPr/>
          </p:nvCxnSpPr>
          <p:spPr bwMode="auto">
            <a:xfrm flipV="1">
              <a:off x="9601200" y="4112690"/>
              <a:ext cx="822960" cy="472674"/>
            </a:xfrm>
            <a:prstGeom prst="line">
              <a:avLst/>
            </a:prstGeom>
            <a:ln w="31750" cap="rnd">
              <a:solidFill>
                <a:srgbClr val="101820"/>
              </a:solidFill>
            </a:ln>
            <a:effectLst/>
          </p:spPr>
        </p:cxnSp>
      </p:grpSp>
      <p:grpSp>
        <p:nvGrpSpPr>
          <p:cNvPr id="51959700" name="Group 15"/>
          <p:cNvGrpSpPr/>
          <p:nvPr/>
        </p:nvGrpSpPr>
        <p:grpSpPr bwMode="auto">
          <a:xfrm>
            <a:off x="10424160" y="3603580"/>
            <a:ext cx="822960" cy="509110"/>
            <a:chOff x="10424160" y="3603580"/>
            <a:chExt cx="822960" cy="509110"/>
          </a:xfrm>
        </p:grpSpPr>
        <p:cxnSp>
          <p:nvCxnSpPr>
            <p:cNvPr id="144" name="Connector 143"/>
            <p:cNvCxnSpPr/>
            <p:nvPr/>
          </p:nvCxnSpPr>
          <p:spPr bwMode="auto">
            <a:xfrm flipV="1">
              <a:off x="10424160" y="3603580"/>
              <a:ext cx="822960" cy="509110"/>
            </a:xfrm>
            <a:prstGeom prst="line">
              <a:avLst/>
            </a:prstGeom>
            <a:ln w="31750" cap="rnd">
              <a:solidFill>
                <a:srgbClr val="101820"/>
              </a:solidFill>
            </a:ln>
            <a:effectLst/>
          </p:spPr>
        </p:cxnSp>
      </p:grpSp>
      <p:grpSp>
        <p:nvGrpSpPr>
          <p:cNvPr id="1059229123" name="Group 16"/>
          <p:cNvGrpSpPr/>
          <p:nvPr/>
        </p:nvGrpSpPr>
        <p:grpSpPr bwMode="auto">
          <a:xfrm>
            <a:off x="5417820" y="5653172"/>
            <a:ext cx="137160" cy="137160"/>
            <a:chOff x="5417820" y="5653172"/>
            <a:chExt cx="137160" cy="137160"/>
          </a:xfrm>
        </p:grpSpPr>
        <p:sp>
          <p:nvSpPr>
            <p:cNvPr id="145" name="Oval 144"/>
            <p:cNvSpPr/>
            <p:nvPr/>
          </p:nvSpPr>
          <p:spPr bwMode="auto">
            <a:xfrm>
              <a:off x="5417820" y="5653172"/>
              <a:ext cx="137160" cy="137160"/>
            </a:xfrm>
            <a:prstGeom prst="ellipse">
              <a:avLst/>
            </a:prstGeom>
            <a:solidFill>
              <a:srgbClr val="101820"/>
            </a:solidFill>
            <a:ln w="12700">
              <a:solidFill>
                <a:srgbClr val="FFFFFF"/>
              </a:solidFill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</p:grpSp>
      <p:grpSp>
        <p:nvGrpSpPr>
          <p:cNvPr id="1743993776" name="Group 17"/>
          <p:cNvGrpSpPr/>
          <p:nvPr/>
        </p:nvGrpSpPr>
        <p:grpSpPr bwMode="auto">
          <a:xfrm>
            <a:off x="6240780" y="5647756"/>
            <a:ext cx="137160" cy="137160"/>
            <a:chOff x="6240780" y="5647756"/>
            <a:chExt cx="137160" cy="137160"/>
          </a:xfrm>
        </p:grpSpPr>
        <p:sp>
          <p:nvSpPr>
            <p:cNvPr id="146" name="Oval 145"/>
            <p:cNvSpPr/>
            <p:nvPr/>
          </p:nvSpPr>
          <p:spPr bwMode="auto">
            <a:xfrm>
              <a:off x="6240780" y="5647756"/>
              <a:ext cx="137160" cy="137160"/>
            </a:xfrm>
            <a:prstGeom prst="ellipse">
              <a:avLst/>
            </a:prstGeom>
            <a:solidFill>
              <a:srgbClr val="101820"/>
            </a:solidFill>
            <a:ln w="12700">
              <a:solidFill>
                <a:srgbClr val="FFFFFF"/>
              </a:solidFill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</p:grpSp>
      <p:grpSp>
        <p:nvGrpSpPr>
          <p:cNvPr id="1325713942" name="Group 18"/>
          <p:cNvGrpSpPr/>
          <p:nvPr/>
        </p:nvGrpSpPr>
        <p:grpSpPr bwMode="auto">
          <a:xfrm>
            <a:off x="9532620" y="4516784"/>
            <a:ext cx="137160" cy="137160"/>
            <a:chOff x="9532620" y="4516784"/>
            <a:chExt cx="137160" cy="137160"/>
          </a:xfrm>
        </p:grpSpPr>
        <p:sp>
          <p:nvSpPr>
            <p:cNvPr id="147" name="Oval 146"/>
            <p:cNvSpPr/>
            <p:nvPr/>
          </p:nvSpPr>
          <p:spPr bwMode="auto">
            <a:xfrm>
              <a:off x="9532620" y="4516784"/>
              <a:ext cx="137160" cy="137160"/>
            </a:xfrm>
            <a:prstGeom prst="ellipse">
              <a:avLst/>
            </a:prstGeom>
            <a:solidFill>
              <a:srgbClr val="101820"/>
            </a:solidFill>
            <a:ln w="12700">
              <a:solidFill>
                <a:srgbClr val="FFFFFF"/>
              </a:solidFill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</p:grpSp>
      <p:grpSp>
        <p:nvGrpSpPr>
          <p:cNvPr id="2004665856" name="Group 19"/>
          <p:cNvGrpSpPr/>
          <p:nvPr/>
        </p:nvGrpSpPr>
        <p:grpSpPr bwMode="auto">
          <a:xfrm>
            <a:off x="3657600" y="5721752"/>
            <a:ext cx="1828800" cy="368152"/>
            <a:chOff x="3657600" y="5721752"/>
            <a:chExt cx="1828800" cy="368152"/>
          </a:xfrm>
        </p:grpSpPr>
        <p:cxnSp>
          <p:nvCxnSpPr>
            <p:cNvPr id="148" name="Connector 147"/>
            <p:cNvCxnSpPr/>
            <p:nvPr/>
          </p:nvCxnSpPr>
          <p:spPr bwMode="auto">
            <a:xfrm flipH="1">
              <a:off x="4983480" y="5721752"/>
              <a:ext cx="502920" cy="203560"/>
            </a:xfrm>
            <a:prstGeom prst="line">
              <a:avLst/>
            </a:prstGeom>
            <a:ln w="12700">
              <a:solidFill>
                <a:srgbClr val="101820"/>
              </a:solidFill>
            </a:ln>
            <a:effectLst/>
          </p:spPr>
        </p:cxnSp>
        <p:sp>
          <p:nvSpPr>
            <p:cNvPr id="149" name="Rounded Rectangle 148"/>
            <p:cNvSpPr/>
            <p:nvPr/>
          </p:nvSpPr>
          <p:spPr bwMode="auto">
            <a:xfrm>
              <a:off x="3657600" y="5852160"/>
              <a:ext cx="1325880" cy="237744"/>
            </a:xfrm>
            <a:prstGeom prst="roundRect">
              <a:avLst>
                <a:gd name="adj" fmla="val 50000"/>
              </a:avLst>
            </a:prstGeom>
            <a:solidFill>
              <a:srgbClr val="101820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50" name="TextBox 149"/>
            <p:cNvSpPr txBox="1"/>
            <p:nvPr/>
          </p:nvSpPr>
          <p:spPr bwMode="auto">
            <a:xfrm>
              <a:off x="3657600" y="5852160"/>
              <a:ext cx="1325880" cy="23774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defRPr/>
              </a:pPr>
              <a:r>
                <a:rPr lang="en-US" sz="1100" b="1">
                  <a:solidFill>
                    <a:srgbClr val="FFFFFF"/>
                  </a:solidFill>
                  <a:latin typeface="Inter"/>
                  <a:cs typeface="Inter"/>
                </a:rPr>
                <a:t>Lowest −$2,180</a:t>
              </a:r>
              <a:endParaRPr/>
            </a:p>
          </p:txBody>
        </p:sp>
      </p:grpSp>
      <p:grpSp>
        <p:nvGrpSpPr>
          <p:cNvPr id="1997110249" name="Group 20"/>
          <p:cNvGrpSpPr/>
          <p:nvPr/>
        </p:nvGrpSpPr>
        <p:grpSpPr bwMode="auto">
          <a:xfrm>
            <a:off x="6309360" y="5669280"/>
            <a:ext cx="2651760" cy="237744"/>
            <a:chOff x="6309360" y="5669280"/>
            <a:chExt cx="2651760" cy="237744"/>
          </a:xfrm>
        </p:grpSpPr>
        <p:cxnSp>
          <p:nvCxnSpPr>
            <p:cNvPr id="151" name="Connector 150"/>
            <p:cNvCxnSpPr/>
            <p:nvPr/>
          </p:nvCxnSpPr>
          <p:spPr bwMode="auto">
            <a:xfrm>
              <a:off x="6309360" y="5716336"/>
              <a:ext cx="960120" cy="71816"/>
            </a:xfrm>
            <a:prstGeom prst="line">
              <a:avLst/>
            </a:prstGeom>
            <a:ln w="12700">
              <a:solidFill>
                <a:srgbClr val="101820"/>
              </a:solidFill>
            </a:ln>
            <a:effectLst/>
          </p:spPr>
        </p:cxnSp>
        <p:sp>
          <p:nvSpPr>
            <p:cNvPr id="152" name="Rounded Rectangle 151"/>
            <p:cNvSpPr/>
            <p:nvPr/>
          </p:nvSpPr>
          <p:spPr bwMode="auto">
            <a:xfrm>
              <a:off x="7269480" y="5669280"/>
              <a:ext cx="1691640" cy="237744"/>
            </a:xfrm>
            <a:prstGeom prst="roundRect">
              <a:avLst>
                <a:gd name="adj" fmla="val 50000"/>
              </a:avLst>
            </a:prstGeom>
            <a:solidFill>
              <a:srgbClr val="101820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53" name="TextBox 152"/>
            <p:cNvSpPr txBox="1"/>
            <p:nvPr/>
          </p:nvSpPr>
          <p:spPr bwMode="auto">
            <a:xfrm>
              <a:off x="7269480" y="5669280"/>
              <a:ext cx="1691640" cy="23774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defRPr/>
              </a:pPr>
              <a:r>
                <a:rPr lang="en-US" sz="1100" b="1">
                  <a:solidFill>
                    <a:srgbClr val="FFFFFF"/>
                  </a:solidFill>
                  <a:latin typeface="Inter"/>
                  <a:cs typeface="Inter"/>
                </a:rPr>
                <a:t>Break-even · month 4</a:t>
              </a:r>
              <a:endParaRPr/>
            </a:p>
          </p:txBody>
        </p:sp>
      </p:grpSp>
      <p:grpSp>
        <p:nvGrpSpPr>
          <p:cNvPr id="1776030654" name="Group 21"/>
          <p:cNvGrpSpPr/>
          <p:nvPr/>
        </p:nvGrpSpPr>
        <p:grpSpPr bwMode="auto">
          <a:xfrm>
            <a:off x="8046720" y="4114800"/>
            <a:ext cx="1645920" cy="470564"/>
            <a:chOff x="8046720" y="4114800"/>
            <a:chExt cx="1645920" cy="470564"/>
          </a:xfrm>
        </p:grpSpPr>
        <p:cxnSp>
          <p:nvCxnSpPr>
            <p:cNvPr id="154" name="Connector 153"/>
            <p:cNvCxnSpPr/>
            <p:nvPr/>
          </p:nvCxnSpPr>
          <p:spPr bwMode="auto">
            <a:xfrm flipH="1" flipV="1">
              <a:off x="8778240" y="4352544"/>
              <a:ext cx="822960" cy="232820"/>
            </a:xfrm>
            <a:prstGeom prst="line">
              <a:avLst/>
            </a:prstGeom>
            <a:ln w="12700">
              <a:solidFill>
                <a:srgbClr val="101820"/>
              </a:solidFill>
            </a:ln>
            <a:effectLst/>
          </p:spPr>
        </p:cxnSp>
        <p:sp>
          <p:nvSpPr>
            <p:cNvPr id="155" name="Rounded Rectangle 154"/>
            <p:cNvSpPr/>
            <p:nvPr/>
          </p:nvSpPr>
          <p:spPr bwMode="auto">
            <a:xfrm>
              <a:off x="8046720" y="4114800"/>
              <a:ext cx="1645920" cy="237744"/>
            </a:xfrm>
            <a:prstGeom prst="roundRect">
              <a:avLst>
                <a:gd name="adj" fmla="val 50000"/>
              </a:avLst>
            </a:prstGeom>
            <a:solidFill>
              <a:srgbClr val="101820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56" name="TextBox 155"/>
            <p:cNvSpPr txBox="1"/>
            <p:nvPr/>
          </p:nvSpPr>
          <p:spPr bwMode="auto">
            <a:xfrm>
              <a:off x="8046720" y="4114800"/>
              <a:ext cx="1645920" cy="23774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defRPr/>
              </a:pPr>
              <a:r>
                <a:rPr lang="en-US" sz="1100" b="1">
                  <a:solidFill>
                    <a:srgbClr val="FFFFFF"/>
                  </a:solidFill>
                  <a:latin typeface="Inter"/>
                  <a:cs typeface="Inter"/>
                </a:rPr>
                <a:t>Recovered · month 8</a:t>
              </a:r>
              <a:endParaRPr/>
            </a:p>
          </p:txBody>
        </p:sp>
      </p:grpSp>
      <p:grpSp>
        <p:nvGrpSpPr>
          <p:cNvPr id="1131416312" name="Group 22"/>
          <p:cNvGrpSpPr/>
          <p:nvPr/>
        </p:nvGrpSpPr>
        <p:grpSpPr bwMode="auto">
          <a:xfrm>
            <a:off x="1371600" y="5207227"/>
            <a:ext cx="822960" cy="68931"/>
            <a:chOff x="1371600" y="5207227"/>
            <a:chExt cx="822960" cy="68931"/>
          </a:xfrm>
        </p:grpSpPr>
        <p:cxnSp>
          <p:nvCxnSpPr>
            <p:cNvPr id="157" name="Connector 156"/>
            <p:cNvCxnSpPr/>
            <p:nvPr/>
          </p:nvCxnSpPr>
          <p:spPr bwMode="auto">
            <a:xfrm>
              <a:off x="1371600" y="5207227"/>
              <a:ext cx="822960" cy="68931"/>
            </a:xfrm>
            <a:prstGeom prst="line">
              <a:avLst/>
            </a:prstGeom>
            <a:ln w="38100" cap="rnd">
              <a:solidFill>
                <a:srgbClr val="298FC2"/>
              </a:solidFill>
            </a:ln>
            <a:effectLst/>
          </p:spPr>
        </p:cxnSp>
      </p:grpSp>
      <p:grpSp>
        <p:nvGrpSpPr>
          <p:cNvPr id="1950721024" name="Group 23"/>
          <p:cNvGrpSpPr/>
          <p:nvPr/>
        </p:nvGrpSpPr>
        <p:grpSpPr bwMode="auto">
          <a:xfrm>
            <a:off x="2194560" y="5276158"/>
            <a:ext cx="822960" cy="68932"/>
            <a:chOff x="2194560" y="5276158"/>
            <a:chExt cx="822960" cy="68932"/>
          </a:xfrm>
        </p:grpSpPr>
        <p:cxnSp>
          <p:nvCxnSpPr>
            <p:cNvPr id="158" name="Connector 157"/>
            <p:cNvCxnSpPr/>
            <p:nvPr/>
          </p:nvCxnSpPr>
          <p:spPr bwMode="auto">
            <a:xfrm>
              <a:off x="2194560" y="5276158"/>
              <a:ext cx="822960" cy="68932"/>
            </a:xfrm>
            <a:prstGeom prst="line">
              <a:avLst/>
            </a:prstGeom>
            <a:ln w="38100" cap="rnd">
              <a:solidFill>
                <a:srgbClr val="298FC2"/>
              </a:solidFill>
            </a:ln>
            <a:effectLst/>
          </p:spPr>
        </p:cxnSp>
      </p:grpSp>
      <p:grpSp>
        <p:nvGrpSpPr>
          <p:cNvPr id="661569400" name="Group 24"/>
          <p:cNvGrpSpPr/>
          <p:nvPr/>
        </p:nvGrpSpPr>
        <p:grpSpPr bwMode="auto">
          <a:xfrm>
            <a:off x="3017519" y="5345090"/>
            <a:ext cx="822960" cy="140818"/>
            <a:chOff x="3017519" y="5345090"/>
            <a:chExt cx="822960" cy="140818"/>
          </a:xfrm>
        </p:grpSpPr>
        <p:cxnSp>
          <p:nvCxnSpPr>
            <p:cNvPr id="159" name="Connector 158"/>
            <p:cNvCxnSpPr/>
            <p:nvPr/>
          </p:nvCxnSpPr>
          <p:spPr bwMode="auto">
            <a:xfrm>
              <a:off x="3017519" y="5345090"/>
              <a:ext cx="822960" cy="140818"/>
            </a:xfrm>
            <a:prstGeom prst="line">
              <a:avLst/>
            </a:prstGeom>
            <a:ln w="38100" cap="rnd">
              <a:solidFill>
                <a:srgbClr val="298FC2"/>
              </a:solidFill>
            </a:ln>
            <a:effectLst/>
          </p:spPr>
        </p:cxnSp>
      </p:grpSp>
      <p:grpSp>
        <p:nvGrpSpPr>
          <p:cNvPr id="1034911217" name="Group 25"/>
          <p:cNvGrpSpPr/>
          <p:nvPr/>
        </p:nvGrpSpPr>
        <p:grpSpPr bwMode="auto">
          <a:xfrm>
            <a:off x="3840480" y="5485908"/>
            <a:ext cx="822960" cy="49729"/>
            <a:chOff x="3840480" y="5485908"/>
            <a:chExt cx="822960" cy="49729"/>
          </a:xfrm>
        </p:grpSpPr>
        <p:cxnSp>
          <p:nvCxnSpPr>
            <p:cNvPr id="160" name="Connector 159"/>
            <p:cNvCxnSpPr/>
            <p:nvPr/>
          </p:nvCxnSpPr>
          <p:spPr bwMode="auto">
            <a:xfrm>
              <a:off x="3840480" y="5485908"/>
              <a:ext cx="822960" cy="49729"/>
            </a:xfrm>
            <a:prstGeom prst="line">
              <a:avLst/>
            </a:prstGeom>
            <a:ln w="38100" cap="rnd">
              <a:solidFill>
                <a:srgbClr val="298FC2"/>
              </a:solidFill>
            </a:ln>
            <a:effectLst/>
          </p:spPr>
        </p:cxnSp>
      </p:grpSp>
      <p:grpSp>
        <p:nvGrpSpPr>
          <p:cNvPr id="894556429" name="Group 26"/>
          <p:cNvGrpSpPr/>
          <p:nvPr/>
        </p:nvGrpSpPr>
        <p:grpSpPr bwMode="auto">
          <a:xfrm>
            <a:off x="4663440" y="5456858"/>
            <a:ext cx="822960" cy="78779"/>
            <a:chOff x="4663440" y="5456858"/>
            <a:chExt cx="822960" cy="78779"/>
          </a:xfrm>
        </p:grpSpPr>
        <p:cxnSp>
          <p:nvCxnSpPr>
            <p:cNvPr id="161" name="Connector 160"/>
            <p:cNvCxnSpPr/>
            <p:nvPr/>
          </p:nvCxnSpPr>
          <p:spPr bwMode="auto">
            <a:xfrm flipV="1">
              <a:off x="4663440" y="5456858"/>
              <a:ext cx="822960" cy="78779"/>
            </a:xfrm>
            <a:prstGeom prst="line">
              <a:avLst/>
            </a:prstGeom>
            <a:ln w="38100" cap="rnd">
              <a:solidFill>
                <a:srgbClr val="298FC2"/>
              </a:solidFill>
            </a:ln>
            <a:effectLst/>
          </p:spPr>
        </p:cxnSp>
      </p:grpSp>
      <p:grpSp>
        <p:nvGrpSpPr>
          <p:cNvPr id="319893279" name="Group 27"/>
          <p:cNvGrpSpPr/>
          <p:nvPr/>
        </p:nvGrpSpPr>
        <p:grpSpPr bwMode="auto">
          <a:xfrm>
            <a:off x="5486400" y="5231353"/>
            <a:ext cx="822960" cy="225505"/>
            <a:chOff x="5486400" y="5231353"/>
            <a:chExt cx="822960" cy="225505"/>
          </a:xfrm>
        </p:grpSpPr>
        <p:cxnSp>
          <p:nvCxnSpPr>
            <p:cNvPr id="162" name="Connector 161"/>
            <p:cNvCxnSpPr/>
            <p:nvPr/>
          </p:nvCxnSpPr>
          <p:spPr bwMode="auto">
            <a:xfrm flipV="1">
              <a:off x="5486400" y="5231353"/>
              <a:ext cx="822960" cy="225505"/>
            </a:xfrm>
            <a:prstGeom prst="line">
              <a:avLst/>
            </a:prstGeom>
            <a:ln w="38100" cap="rnd">
              <a:solidFill>
                <a:srgbClr val="298FC2"/>
              </a:solidFill>
            </a:ln>
            <a:effectLst/>
          </p:spPr>
        </p:cxnSp>
      </p:grpSp>
      <p:grpSp>
        <p:nvGrpSpPr>
          <p:cNvPr id="1411885956" name="Group 28"/>
          <p:cNvGrpSpPr/>
          <p:nvPr/>
        </p:nvGrpSpPr>
        <p:grpSpPr bwMode="auto">
          <a:xfrm>
            <a:off x="6309360" y="4713380"/>
            <a:ext cx="822960" cy="517973"/>
            <a:chOff x="6309360" y="4713380"/>
            <a:chExt cx="822960" cy="517973"/>
          </a:xfrm>
        </p:grpSpPr>
        <p:cxnSp>
          <p:nvCxnSpPr>
            <p:cNvPr id="163" name="Connector 162"/>
            <p:cNvCxnSpPr/>
            <p:nvPr/>
          </p:nvCxnSpPr>
          <p:spPr bwMode="auto">
            <a:xfrm flipV="1">
              <a:off x="6309360" y="4713380"/>
              <a:ext cx="822960" cy="517973"/>
            </a:xfrm>
            <a:prstGeom prst="line">
              <a:avLst/>
            </a:prstGeom>
            <a:ln w="38100" cap="rnd">
              <a:solidFill>
                <a:srgbClr val="298FC2"/>
              </a:solidFill>
            </a:ln>
            <a:effectLst/>
          </p:spPr>
        </p:cxnSp>
      </p:grpSp>
      <p:grpSp>
        <p:nvGrpSpPr>
          <p:cNvPr id="586108599" name="Group 29"/>
          <p:cNvGrpSpPr/>
          <p:nvPr/>
        </p:nvGrpSpPr>
        <p:grpSpPr bwMode="auto">
          <a:xfrm>
            <a:off x="7132320" y="3984674"/>
            <a:ext cx="822960" cy="728706"/>
            <a:chOff x="7132320" y="3984674"/>
            <a:chExt cx="822960" cy="728706"/>
          </a:xfrm>
        </p:grpSpPr>
        <p:cxnSp>
          <p:nvCxnSpPr>
            <p:cNvPr id="164" name="Connector 163"/>
            <p:cNvCxnSpPr/>
            <p:nvPr/>
          </p:nvCxnSpPr>
          <p:spPr bwMode="auto">
            <a:xfrm flipV="1">
              <a:off x="7132320" y="3984674"/>
              <a:ext cx="822960" cy="728706"/>
            </a:xfrm>
            <a:prstGeom prst="line">
              <a:avLst/>
            </a:prstGeom>
            <a:ln w="38100" cap="rnd">
              <a:solidFill>
                <a:srgbClr val="298FC2"/>
              </a:solidFill>
            </a:ln>
            <a:effectLst/>
          </p:spPr>
        </p:cxnSp>
      </p:grpSp>
      <p:grpSp>
        <p:nvGrpSpPr>
          <p:cNvPr id="1315932154" name="Group 30"/>
          <p:cNvGrpSpPr/>
          <p:nvPr/>
        </p:nvGrpSpPr>
        <p:grpSpPr bwMode="auto">
          <a:xfrm>
            <a:off x="7955280" y="3072806"/>
            <a:ext cx="822960" cy="911868"/>
            <a:chOff x="7955280" y="3072806"/>
            <a:chExt cx="822960" cy="911868"/>
          </a:xfrm>
        </p:grpSpPr>
        <p:cxnSp>
          <p:nvCxnSpPr>
            <p:cNvPr id="165" name="Connector 164"/>
            <p:cNvCxnSpPr/>
            <p:nvPr/>
          </p:nvCxnSpPr>
          <p:spPr bwMode="auto">
            <a:xfrm flipV="1">
              <a:off x="7955280" y="3072806"/>
              <a:ext cx="822960" cy="911868"/>
            </a:xfrm>
            <a:prstGeom prst="line">
              <a:avLst/>
            </a:prstGeom>
            <a:ln w="38100" cap="rnd">
              <a:solidFill>
                <a:srgbClr val="298FC2"/>
              </a:solidFill>
            </a:ln>
            <a:effectLst/>
          </p:spPr>
        </p:cxnSp>
      </p:grpSp>
      <p:grpSp>
        <p:nvGrpSpPr>
          <p:cNvPr id="564637337" name="Group 31"/>
          <p:cNvGrpSpPr/>
          <p:nvPr/>
        </p:nvGrpSpPr>
        <p:grpSpPr bwMode="auto">
          <a:xfrm>
            <a:off x="4594860" y="5467057"/>
            <a:ext cx="137160" cy="137160"/>
            <a:chOff x="4594860" y="5467057"/>
            <a:chExt cx="137160" cy="137160"/>
          </a:xfrm>
        </p:grpSpPr>
        <p:sp>
          <p:nvSpPr>
            <p:cNvPr id="166" name="Oval 165"/>
            <p:cNvSpPr/>
            <p:nvPr/>
          </p:nvSpPr>
          <p:spPr bwMode="auto">
            <a:xfrm>
              <a:off x="4594860" y="5467057"/>
              <a:ext cx="137160" cy="137160"/>
            </a:xfrm>
            <a:prstGeom prst="ellipse">
              <a:avLst/>
            </a:prstGeom>
            <a:solidFill>
              <a:srgbClr val="298FC2"/>
            </a:solidFill>
            <a:ln w="12700">
              <a:solidFill>
                <a:srgbClr val="FFFFFF"/>
              </a:solidFill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</p:grpSp>
      <p:grpSp>
        <p:nvGrpSpPr>
          <p:cNvPr id="1737076395" name="Group 32"/>
          <p:cNvGrpSpPr/>
          <p:nvPr/>
        </p:nvGrpSpPr>
        <p:grpSpPr bwMode="auto">
          <a:xfrm>
            <a:off x="5417820" y="5388278"/>
            <a:ext cx="137160" cy="137160"/>
            <a:chOff x="5417820" y="5388278"/>
            <a:chExt cx="137160" cy="137160"/>
          </a:xfrm>
        </p:grpSpPr>
        <p:sp>
          <p:nvSpPr>
            <p:cNvPr id="167" name="Oval 166"/>
            <p:cNvSpPr/>
            <p:nvPr/>
          </p:nvSpPr>
          <p:spPr bwMode="auto">
            <a:xfrm>
              <a:off x="5417820" y="5388278"/>
              <a:ext cx="137160" cy="137160"/>
            </a:xfrm>
            <a:prstGeom prst="ellipse">
              <a:avLst/>
            </a:prstGeom>
            <a:solidFill>
              <a:srgbClr val="298FC2"/>
            </a:solidFill>
            <a:ln w="12700">
              <a:solidFill>
                <a:srgbClr val="FFFFFF"/>
              </a:solidFill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</p:grpSp>
      <p:grpSp>
        <p:nvGrpSpPr>
          <p:cNvPr id="627137116" name="Group 33"/>
          <p:cNvGrpSpPr/>
          <p:nvPr/>
        </p:nvGrpSpPr>
        <p:grpSpPr bwMode="auto">
          <a:xfrm>
            <a:off x="7886700" y="3916094"/>
            <a:ext cx="137160" cy="137160"/>
            <a:chOff x="7886700" y="3916094"/>
            <a:chExt cx="137160" cy="137160"/>
          </a:xfrm>
        </p:grpSpPr>
        <p:sp>
          <p:nvSpPr>
            <p:cNvPr id="168" name="Oval 167"/>
            <p:cNvSpPr/>
            <p:nvPr/>
          </p:nvSpPr>
          <p:spPr bwMode="auto">
            <a:xfrm>
              <a:off x="7886700" y="3916094"/>
              <a:ext cx="137160" cy="137160"/>
            </a:xfrm>
            <a:prstGeom prst="ellipse">
              <a:avLst/>
            </a:prstGeom>
            <a:solidFill>
              <a:srgbClr val="298FC2"/>
            </a:solidFill>
            <a:ln w="12700">
              <a:solidFill>
                <a:srgbClr val="FFFFFF"/>
              </a:solidFill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</p:grpSp>
      <p:grpSp>
        <p:nvGrpSpPr>
          <p:cNvPr id="488322902" name="Group 34"/>
          <p:cNvGrpSpPr/>
          <p:nvPr/>
        </p:nvGrpSpPr>
        <p:grpSpPr bwMode="auto">
          <a:xfrm>
            <a:off x="4160519" y="4846320"/>
            <a:ext cx="1691640" cy="610538"/>
            <a:chOff x="4160519" y="4846320"/>
            <a:chExt cx="1691640" cy="610538"/>
          </a:xfrm>
        </p:grpSpPr>
        <p:cxnSp>
          <p:nvCxnSpPr>
            <p:cNvPr id="169" name="Connector 168"/>
            <p:cNvCxnSpPr/>
            <p:nvPr/>
          </p:nvCxnSpPr>
          <p:spPr bwMode="auto">
            <a:xfrm flipH="1" flipV="1">
              <a:off x="5120640" y="5084064"/>
              <a:ext cx="365760" cy="372794"/>
            </a:xfrm>
            <a:prstGeom prst="line">
              <a:avLst/>
            </a:prstGeom>
            <a:ln w="12700">
              <a:solidFill>
                <a:srgbClr val="298FC2"/>
              </a:solidFill>
            </a:ln>
            <a:effectLst/>
          </p:spPr>
        </p:cxnSp>
        <p:sp>
          <p:nvSpPr>
            <p:cNvPr id="170" name="Rounded Rectangle 169"/>
            <p:cNvSpPr/>
            <p:nvPr/>
          </p:nvSpPr>
          <p:spPr bwMode="auto">
            <a:xfrm>
              <a:off x="4160519" y="4846320"/>
              <a:ext cx="1691640" cy="237744"/>
            </a:xfrm>
            <a:prstGeom prst="roundRect">
              <a:avLst>
                <a:gd name="adj" fmla="val 50000"/>
              </a:avLst>
            </a:prstGeom>
            <a:solidFill>
              <a:srgbClr val="298FC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71" name="TextBox 170"/>
            <p:cNvSpPr txBox="1"/>
            <p:nvPr/>
          </p:nvSpPr>
          <p:spPr bwMode="auto">
            <a:xfrm>
              <a:off x="4160519" y="4846320"/>
              <a:ext cx="1691640" cy="23774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defRPr/>
              </a:pPr>
              <a:r>
                <a:rPr lang="en-US" sz="1100" b="1">
                  <a:solidFill>
                    <a:srgbClr val="FFFFFF"/>
                  </a:solidFill>
                  <a:latin typeface="Inter"/>
                  <a:cs typeface="Inter"/>
                </a:rPr>
                <a:t>Break-even · month 3</a:t>
              </a:r>
              <a:endParaRPr/>
            </a:p>
          </p:txBody>
        </p:sp>
      </p:grpSp>
      <p:grpSp>
        <p:nvGrpSpPr>
          <p:cNvPr id="1372392839" name="Group 35"/>
          <p:cNvGrpSpPr/>
          <p:nvPr/>
        </p:nvGrpSpPr>
        <p:grpSpPr bwMode="auto">
          <a:xfrm>
            <a:off x="6035039" y="3474720"/>
            <a:ext cx="1920240" cy="509954"/>
            <a:chOff x="6035039" y="3474720"/>
            <a:chExt cx="1920240" cy="509954"/>
          </a:xfrm>
        </p:grpSpPr>
        <p:cxnSp>
          <p:nvCxnSpPr>
            <p:cNvPr id="172" name="Connector 171"/>
            <p:cNvCxnSpPr/>
            <p:nvPr/>
          </p:nvCxnSpPr>
          <p:spPr bwMode="auto">
            <a:xfrm flipH="1" flipV="1">
              <a:off x="7680960" y="3593592"/>
              <a:ext cx="274320" cy="391082"/>
            </a:xfrm>
            <a:prstGeom prst="line">
              <a:avLst/>
            </a:prstGeom>
            <a:ln w="12700">
              <a:solidFill>
                <a:srgbClr val="298FC2"/>
              </a:solidFill>
            </a:ln>
            <a:effectLst/>
          </p:spPr>
        </p:cxnSp>
        <p:sp>
          <p:nvSpPr>
            <p:cNvPr id="173" name="Rounded Rectangle 172"/>
            <p:cNvSpPr/>
            <p:nvPr/>
          </p:nvSpPr>
          <p:spPr bwMode="auto">
            <a:xfrm>
              <a:off x="6035039" y="3474720"/>
              <a:ext cx="1645920" cy="237744"/>
            </a:xfrm>
            <a:prstGeom prst="roundRect">
              <a:avLst>
                <a:gd name="adj" fmla="val 50000"/>
              </a:avLst>
            </a:prstGeom>
            <a:solidFill>
              <a:srgbClr val="298FC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74" name="TextBox 173"/>
            <p:cNvSpPr txBox="1"/>
            <p:nvPr/>
          </p:nvSpPr>
          <p:spPr bwMode="auto">
            <a:xfrm>
              <a:off x="6035039" y="3474720"/>
              <a:ext cx="1645920" cy="23774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defRPr/>
              </a:pPr>
              <a:r>
                <a:rPr lang="en-US" sz="1100" b="1">
                  <a:solidFill>
                    <a:srgbClr val="FFFFFF"/>
                  </a:solidFill>
                  <a:latin typeface="Inter"/>
                  <a:cs typeface="Inter"/>
                </a:rPr>
                <a:t>Recovered · month 6</a:t>
              </a:r>
              <a:endParaRPr/>
            </a:p>
          </p:txBody>
        </p:sp>
      </p:grpSp>
      <p:grpSp>
        <p:nvGrpSpPr>
          <p:cNvPr id="1116399302" name="Group 36"/>
          <p:cNvGrpSpPr/>
          <p:nvPr/>
        </p:nvGrpSpPr>
        <p:grpSpPr bwMode="auto">
          <a:xfrm>
            <a:off x="8695944" y="2798486"/>
            <a:ext cx="1307592" cy="201168"/>
            <a:chOff x="8695944" y="2798486"/>
            <a:chExt cx="1307592" cy="201168"/>
          </a:xfrm>
        </p:grpSpPr>
        <p:sp>
          <p:nvSpPr>
            <p:cNvPr id="175" name="Isosceles Triangle 174"/>
            <p:cNvSpPr/>
            <p:nvPr/>
          </p:nvSpPr>
          <p:spPr bwMode="auto">
            <a:xfrm>
              <a:off x="8695944" y="2798486"/>
              <a:ext cx="164592" cy="201168"/>
            </a:xfrm>
            <a:prstGeom prst="triangle">
              <a:avLst>
                <a:gd name="adj" fmla="val 50000"/>
              </a:avLst>
            </a:prstGeom>
            <a:solidFill>
              <a:srgbClr val="298FC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76" name="TextBox 175"/>
            <p:cNvSpPr txBox="1"/>
            <p:nvPr/>
          </p:nvSpPr>
          <p:spPr bwMode="auto">
            <a:xfrm>
              <a:off x="8906256" y="2798486"/>
              <a:ext cx="1097280" cy="20116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defRPr/>
              </a:pPr>
              <a:r>
                <a:rPr lang="en-US" sz="1050" b="1">
                  <a:solidFill>
                    <a:srgbClr val="298FC2"/>
                  </a:solidFill>
                  <a:latin typeface="Inter"/>
                  <a:cs typeface="Inter"/>
                </a:rPr>
                <a:t>keeps rising</a:t>
              </a:r>
              <a:endParaRPr/>
            </a:p>
          </p:txBody>
        </p:sp>
      </p:grpSp>
      <p:grpSp>
        <p:nvGrpSpPr>
          <p:cNvPr id="1794130132" name="Group 37"/>
          <p:cNvGrpSpPr/>
          <p:nvPr/>
        </p:nvGrpSpPr>
        <p:grpSpPr bwMode="auto">
          <a:xfrm>
            <a:off x="0" y="0"/>
            <a:ext cx="0" cy="0"/>
            <a:chOff x="0" y="0"/>
            <a:chExt cx="0" cy="0"/>
          </a:xfrm>
        </p:grpSpPr>
        <p:sp>
          <p:nvSpPr>
            <p:cNvPr id="39" name="Freeform 38"/>
            <p:cNvSpPr/>
            <p:nvPr/>
          </p:nvSpPr>
          <p:spPr bwMode="auto">
            <a:xfrm>
              <a:off x="1371600" y="5207227"/>
              <a:ext cx="9875520" cy="794191"/>
            </a:xfrm>
            <a:custGeom>
              <a:avLst/>
              <a:gdLst/>
              <a:ahLst/>
              <a:cxnLst/>
              <a:rect l="l" t="t" r="r" b="b"/>
              <a:pathLst>
                <a:path w="9875520" h="794191" fill="norm" stroke="1" extrusionOk="0">
                  <a:moveTo>
                    <a:pt x="0" y="0"/>
                  </a:moveTo>
                  <a:lnTo>
                    <a:pt x="822960" y="68931"/>
                  </a:lnTo>
                  <a:lnTo>
                    <a:pt x="1645920" y="137863"/>
                  </a:lnTo>
                  <a:lnTo>
                    <a:pt x="2468880" y="333826"/>
                  </a:lnTo>
                  <a:lnTo>
                    <a:pt x="3291840" y="505663"/>
                  </a:lnTo>
                  <a:lnTo>
                    <a:pt x="4114800" y="646480"/>
                  </a:lnTo>
                  <a:lnTo>
                    <a:pt x="4937760" y="750863"/>
                  </a:lnTo>
                  <a:lnTo>
                    <a:pt x="5760720" y="781882"/>
                  </a:lnTo>
                  <a:lnTo>
                    <a:pt x="6583680" y="794191"/>
                  </a:lnTo>
                  <a:lnTo>
                    <a:pt x="7406640" y="760710"/>
                  </a:lnTo>
                  <a:lnTo>
                    <a:pt x="8229600" y="681439"/>
                  </a:lnTo>
                  <a:lnTo>
                    <a:pt x="9052560" y="574595"/>
                  </a:lnTo>
                  <a:lnTo>
                    <a:pt x="9875520" y="467750"/>
                  </a:lnTo>
                </a:path>
              </a:pathLst>
            </a:custGeom>
            <a:noFill/>
            <a:ln w="19050">
              <a:solidFill>
                <a:srgbClr val="A9B1B9"/>
              </a:solidFill>
              <a:prstDash val="dash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</p:grpSp>
      <p:grpSp>
        <p:nvGrpSpPr>
          <p:cNvPr id="125196801" name="Group 39"/>
          <p:cNvGrpSpPr/>
          <p:nvPr/>
        </p:nvGrpSpPr>
        <p:grpSpPr bwMode="auto">
          <a:xfrm>
            <a:off x="9372600" y="4937760"/>
            <a:ext cx="1874520" cy="420624"/>
            <a:chOff x="9372600" y="4937760"/>
            <a:chExt cx="1874520" cy="420624"/>
          </a:xfrm>
        </p:grpSpPr>
        <p:sp>
          <p:nvSpPr>
            <p:cNvPr id="177" name="TextBox 176"/>
            <p:cNvSpPr txBox="1"/>
            <p:nvPr/>
          </p:nvSpPr>
          <p:spPr bwMode="auto">
            <a:xfrm>
              <a:off x="9372600" y="4937760"/>
              <a:ext cx="1874520" cy="420624"/>
            </a:xfrm>
            <a:prstGeom prst="rect">
              <a:avLst/>
            </a:prstGeom>
            <a:noFill/>
          </p:spPr>
          <p:txBody>
            <a:bodyPr wrap="square" lIns="0" tIns="0" rIns="0" bIns="0" anchor="b">
              <a:noAutofit/>
            </a:bodyPr>
            <a:lstStyle/>
            <a:p>
              <a:pPr algn="r">
                <a:defRPr/>
              </a:pPr>
              <a:r>
                <a:rPr lang="en-US" sz="1050" b="0">
                  <a:solidFill>
                    <a:srgbClr val="5A6672"/>
                  </a:solidFill>
                  <a:latin typeface="Inter"/>
                  <a:cs typeface="Inter"/>
                </a:rPr>
                <a:t>Slow case: profitable</a:t>
              </a:r>
              <a:endParaRPr/>
            </a:p>
            <a:p>
              <a:pPr algn="r">
                <a:defRPr/>
              </a:pPr>
              <a:r>
                <a:rPr lang="en-US" sz="1050" b="0">
                  <a:solidFill>
                    <a:srgbClr val="5A6672"/>
                  </a:solidFill>
                  <a:latin typeface="Inter"/>
                  <a:cs typeface="Inter"/>
                </a:rPr>
                <a:t>every month from month 7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fast" p14:dur="500" advClick="1">
        <p:fade thruBlk="0"/>
      </p:transition>
    </mc:Choice>
    <mc:Fallback>
      <p:transition spd="fast" advClick="1">
        <p:fade thruBlk="0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0974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410974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40079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1340079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36139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12936139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"/>
                            </p:stCondLst>
                            <p:childTnLst>
                              <p:par>
                                <p:cTn id="1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97046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25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61220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45723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75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8203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5650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125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1545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67395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175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71638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3209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225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01746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23006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275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9597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76"/>
                            </p:stCondLst>
                            <p:childTnLst>
                              <p:par>
                                <p:cTn id="42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9229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4" dur="150" fill="hold"/>
                                        <p:tgtEl>
                                          <p:spTgt spid="10592291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150" fill="hold"/>
                                        <p:tgtEl>
                                          <p:spTgt spid="10592291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6" dur="150"/>
                                        <p:tgtEl>
                                          <p:spTgt spid="1059229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53" presetClass="entr" presetSubtype="16" fill="hold" grpId="0" nodeType="withEffect">
                                  <p:stCondLst>
                                    <p:cond delay="25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39937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9" dur="150" fill="hold"/>
                                        <p:tgtEl>
                                          <p:spTgt spid="174399377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150" fill="hold"/>
                                        <p:tgtEl>
                                          <p:spTgt spid="174399377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1" dur="150"/>
                                        <p:tgtEl>
                                          <p:spTgt spid="17439937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grpId="0" nodeType="with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57139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150" fill="hold"/>
                                        <p:tgtEl>
                                          <p:spTgt spid="13257139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150" fill="hold"/>
                                        <p:tgtEl>
                                          <p:spTgt spid="13257139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150"/>
                                        <p:tgtEl>
                                          <p:spTgt spid="13257139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776"/>
                            </p:stCondLst>
                            <p:childTnLst>
                              <p:par>
                                <p:cTn id="5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46658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250"/>
                                        <p:tgtEl>
                                          <p:spTgt spid="20046658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7110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250"/>
                                        <p:tgtEl>
                                          <p:spTgt spid="19971102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60306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250"/>
                                        <p:tgtEl>
                                          <p:spTgt spid="17760306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14163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25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07210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15694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75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4911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45564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125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98932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18859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175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61085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5932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7" fill="hold">
                            <p:stCondLst>
                              <p:cond delay="201"/>
                            </p:stCondLst>
                            <p:childTnLst>
                              <p:par>
                                <p:cTn id="88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46373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0" dur="150" fill="hold"/>
                                        <p:tgtEl>
                                          <p:spTgt spid="5646373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1" dur="150" fill="hold"/>
                                        <p:tgtEl>
                                          <p:spTgt spid="5646373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2" dur="150"/>
                                        <p:tgtEl>
                                          <p:spTgt spid="5646373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53" presetClass="entr" presetSubtype="16" fill="hold" grpId="0" nodeType="withEffect">
                                  <p:stCondLst>
                                    <p:cond delay="25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70763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5" dur="150" fill="hold"/>
                                        <p:tgtEl>
                                          <p:spTgt spid="173707639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6" dur="150" fill="hold"/>
                                        <p:tgtEl>
                                          <p:spTgt spid="173707639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7" dur="150"/>
                                        <p:tgtEl>
                                          <p:spTgt spid="17370763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53" presetClass="entr" presetSubtype="16" fill="hold" grpId="0" nodeType="with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7137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0" dur="150" fill="hold"/>
                                        <p:tgtEl>
                                          <p:spTgt spid="6271371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1" dur="150" fill="hold"/>
                                        <p:tgtEl>
                                          <p:spTgt spid="6271371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2" dur="150"/>
                                        <p:tgtEl>
                                          <p:spTgt spid="627137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3" fill="hold">
                            <p:stCondLst>
                              <p:cond delay="401"/>
                            </p:stCondLst>
                            <p:childTnLst>
                              <p:par>
                                <p:cTn id="10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63993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300"/>
                                        <p:tgtEl>
                                          <p:spTgt spid="11163993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7" fill="hold">
                            <p:stCondLst>
                              <p:cond delay="701"/>
                            </p:stCondLst>
                            <p:childTnLst>
                              <p:par>
                                <p:cTn id="10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83229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250"/>
                                        <p:tgtEl>
                                          <p:spTgt spid="4883229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10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23928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250"/>
                                        <p:tgtEl>
                                          <p:spTgt spid="13723928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4" fill="hold">
                      <p:stCondLst>
                        <p:cond delay="indefinite"/>
                      </p:stCondLst>
                      <p:childTnLst>
                        <p:par>
                          <p:cTn id="115" fill="hold">
                            <p:stCondLst>
                              <p:cond delay="0"/>
                            </p:stCondLst>
                            <p:childTnLst>
                              <p:par>
                                <p:cTn id="1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4130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300"/>
                                        <p:tgtEl>
                                          <p:spTgt spid="1794130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1968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300"/>
                                        <p:tgtEl>
                                          <p:spTgt spid="1251968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683609406" name="Google Shape;98;p14" title="Center_for_Academic_and_Professional_Advancement.png"/>
          <p:cNvPicPr/>
          <p:nvPr/>
        </p:nvPicPr>
        <p:blipFill rotWithShape="1">
          <a:blip r:embed="rId3">
            <a:alphaModFix/>
          </a:blip>
          <a:stretch/>
        </p:blipFill>
        <p:spPr bwMode="auto">
          <a:xfrm>
            <a:off x="8289593" y="351575"/>
            <a:ext cx="3178502" cy="969349"/>
          </a:xfrm>
          <a:prstGeom prst="rect">
            <a:avLst/>
          </a:prstGeom>
          <a:noFill/>
          <a:ln>
            <a:noFill/>
          </a:ln>
        </p:spPr>
      </p:pic>
      <p:pic>
        <p:nvPicPr>
          <p:cNvPr id="2007111113" name="Google Shape;99;p14" title="german cooperation deutsche zusammenarbeit.png"/>
          <p:cNvPicPr/>
          <p:nvPr/>
        </p:nvPicPr>
        <p:blipFill rotWithShape="1">
          <a:blip r:embed="rId4">
            <a:alphaModFix/>
          </a:blip>
          <a:stretch/>
        </p:blipFill>
        <p:spPr bwMode="auto">
          <a:xfrm>
            <a:off x="723900" y="436204"/>
            <a:ext cx="1428202" cy="800089"/>
          </a:xfrm>
          <a:prstGeom prst="rect">
            <a:avLst/>
          </a:prstGeom>
          <a:noFill/>
          <a:ln>
            <a:noFill/>
          </a:ln>
        </p:spPr>
      </p:pic>
      <p:sp>
        <p:nvSpPr>
          <p:cNvPr id="655800476" name="Rectangle 99"/>
          <p:cNvSpPr/>
          <p:nvPr/>
        </p:nvSpPr>
        <p:spPr bwMode="auto">
          <a:xfrm>
            <a:off x="722376" y="1517904"/>
            <a:ext cx="274320" cy="45720"/>
          </a:xfrm>
          <a:prstGeom prst="rect">
            <a:avLst/>
          </a:prstGeom>
          <a:solidFill>
            <a:srgbClr val="298FC2"/>
          </a:solidFill>
          <a:ln>
            <a:noFill/>
          </a:ln>
          <a:effectLst/>
        </p:spPr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379035799" name="TextBox 100"/>
          <p:cNvSpPr txBox="1"/>
          <p:nvPr/>
        </p:nvSpPr>
        <p:spPr bwMode="auto">
          <a:xfrm>
            <a:off x="1133856" y="1426464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defRPr/>
            </a:pPr>
            <a:r>
              <a:rPr lang="en-US" sz="1300" b="0">
                <a:solidFill>
                  <a:srgbClr val="5A6672"/>
                </a:solidFill>
                <a:latin typeface="Inter"/>
                <a:cs typeface="Inter"/>
              </a:rPr>
              <a:t>Funding</a:t>
            </a:r>
            <a:endParaRPr/>
          </a:p>
        </p:txBody>
      </p:sp>
      <p:sp>
        <p:nvSpPr>
          <p:cNvPr id="1401386795" name="TextBox 101"/>
          <p:cNvSpPr txBox="1"/>
          <p:nvPr/>
        </p:nvSpPr>
        <p:spPr bwMode="auto">
          <a:xfrm>
            <a:off x="722376" y="1700784"/>
            <a:ext cx="10744200" cy="5669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defRPr/>
            </a:pPr>
            <a:r>
              <a:rPr lang="en-US" sz="3000" b="1">
                <a:solidFill>
                  <a:srgbClr val="101820"/>
                </a:solidFill>
                <a:latin typeface="Comfortaa"/>
                <a:cs typeface="Comfortaa"/>
              </a:rPr>
              <a:t>What $7,500 makes possible.</a:t>
            </a:r>
            <a:endParaRPr/>
          </a:p>
        </p:txBody>
      </p:sp>
      <p:grpSp>
        <p:nvGrpSpPr>
          <p:cNvPr id="200662965" name="Group 1"/>
          <p:cNvGrpSpPr/>
          <p:nvPr/>
        </p:nvGrpSpPr>
        <p:grpSpPr bwMode="auto">
          <a:xfrm>
            <a:off x="1554480" y="3995928"/>
            <a:ext cx="1828800" cy="731520"/>
            <a:chOff x="1554480" y="3995928"/>
            <a:chExt cx="1828800" cy="731520"/>
          </a:xfrm>
        </p:grpSpPr>
        <p:sp>
          <p:nvSpPr>
            <p:cNvPr id="103" name="TextBox 102"/>
            <p:cNvSpPr txBox="1"/>
            <p:nvPr/>
          </p:nvSpPr>
          <p:spPr bwMode="auto">
            <a:xfrm>
              <a:off x="1554480" y="3995928"/>
              <a:ext cx="1828800" cy="4572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defRPr/>
              </a:pPr>
              <a:r>
                <a:rPr lang="en-US" sz="3200" b="1">
                  <a:solidFill>
                    <a:srgbClr val="101820"/>
                  </a:solidFill>
                  <a:latin typeface="Comfortaa"/>
                  <a:cs typeface="Comfortaa"/>
                </a:rPr>
                <a:t>$7,500</a:t>
              </a:r>
              <a:endParaRPr/>
            </a:p>
          </p:txBody>
        </p:sp>
        <p:sp>
          <p:nvSpPr>
            <p:cNvPr id="104" name="TextBox 103"/>
            <p:cNvSpPr txBox="1"/>
            <p:nvPr/>
          </p:nvSpPr>
          <p:spPr bwMode="auto">
            <a:xfrm>
              <a:off x="1554480" y="4471416"/>
              <a:ext cx="1828800" cy="25603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defRPr/>
              </a:pPr>
              <a:r>
                <a:rPr lang="en-US" sz="1200" b="0">
                  <a:solidFill>
                    <a:srgbClr val="5A6672"/>
                  </a:solidFill>
                  <a:latin typeface="Inter"/>
                  <a:cs typeface="Inter"/>
                </a:rPr>
                <a:t>≈ 11.25M IQD</a:t>
              </a:r>
              <a:endParaRPr/>
            </a:p>
          </p:txBody>
        </p:sp>
      </p:grpSp>
      <p:grpSp>
        <p:nvGrpSpPr>
          <p:cNvPr id="858617798" name="Group 2"/>
          <p:cNvGrpSpPr/>
          <p:nvPr/>
        </p:nvGrpSpPr>
        <p:grpSpPr bwMode="auto">
          <a:xfrm>
            <a:off x="868680" y="2743200"/>
            <a:ext cx="3200400" cy="3200400"/>
            <a:chOff x="868680" y="2743200"/>
            <a:chExt cx="3200400" cy="3200400"/>
          </a:xfrm>
        </p:grpSpPr>
        <p:sp>
          <p:nvSpPr>
            <p:cNvPr id="105" name="Block Arc 104"/>
            <p:cNvSpPr/>
            <p:nvPr/>
          </p:nvSpPr>
          <p:spPr bwMode="auto">
            <a:xfrm>
              <a:off x="868680" y="2743200"/>
              <a:ext cx="3200400" cy="3200400"/>
            </a:xfrm>
            <a:prstGeom prst="blockArc">
              <a:avLst>
                <a:gd name="adj1" fmla="val 16200000"/>
                <a:gd name="adj2" fmla="val 936000"/>
                <a:gd name="adj3" fmla="val 20000"/>
              </a:avLst>
            </a:prstGeom>
            <a:solidFill>
              <a:srgbClr val="101820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</p:grpSp>
      <p:grpSp>
        <p:nvGrpSpPr>
          <p:cNvPr id="1221386086" name="Group 3"/>
          <p:cNvGrpSpPr/>
          <p:nvPr/>
        </p:nvGrpSpPr>
        <p:grpSpPr bwMode="auto">
          <a:xfrm>
            <a:off x="4389120" y="2788920"/>
            <a:ext cx="3108960" cy="274320"/>
            <a:chOff x="4389120" y="2788920"/>
            <a:chExt cx="3108960" cy="274320"/>
          </a:xfrm>
        </p:grpSpPr>
        <p:sp>
          <p:nvSpPr>
            <p:cNvPr id="106" name="Rounded Rectangle 105"/>
            <p:cNvSpPr/>
            <p:nvPr/>
          </p:nvSpPr>
          <p:spPr bwMode="auto">
            <a:xfrm>
              <a:off x="4389120" y="2825496"/>
              <a:ext cx="201168" cy="201168"/>
            </a:xfrm>
            <a:prstGeom prst="roundRect">
              <a:avLst>
                <a:gd name="adj" fmla="val 18181"/>
              </a:avLst>
            </a:prstGeom>
            <a:solidFill>
              <a:srgbClr val="101820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07" name="TextBox 106"/>
            <p:cNvSpPr txBox="1"/>
            <p:nvPr/>
          </p:nvSpPr>
          <p:spPr bwMode="auto">
            <a:xfrm>
              <a:off x="4681728" y="2788920"/>
              <a:ext cx="2240280" cy="2743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defRPr/>
              </a:pPr>
              <a:r>
                <a:rPr lang="en-US" sz="1200" b="0">
                  <a:solidFill>
                    <a:srgbClr val="101820"/>
                  </a:solidFill>
                  <a:latin typeface="Inter"/>
                  <a:cs typeface="Inter"/>
                </a:rPr>
                <a:t>Launch gap (until break-even)</a:t>
              </a:r>
              <a:endParaRPr/>
            </a:p>
          </p:txBody>
        </p:sp>
        <p:sp>
          <p:nvSpPr>
            <p:cNvPr id="108" name="TextBox 107"/>
            <p:cNvSpPr txBox="1"/>
            <p:nvPr/>
          </p:nvSpPr>
          <p:spPr bwMode="auto">
            <a:xfrm>
              <a:off x="6903720" y="2788920"/>
              <a:ext cx="594360" cy="2743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r">
                <a:defRPr/>
              </a:pPr>
              <a:r>
                <a:rPr lang="en-US" sz="1300" b="1">
                  <a:solidFill>
                    <a:srgbClr val="101820"/>
                  </a:solidFill>
                  <a:latin typeface="Inter"/>
                  <a:cs typeface="Inter"/>
                </a:rPr>
                <a:t>$2,200</a:t>
              </a:r>
              <a:endParaRPr/>
            </a:p>
          </p:txBody>
        </p:sp>
      </p:grpSp>
      <p:grpSp>
        <p:nvGrpSpPr>
          <p:cNvPr id="202840038" name="Group 4"/>
          <p:cNvGrpSpPr/>
          <p:nvPr/>
        </p:nvGrpSpPr>
        <p:grpSpPr bwMode="auto">
          <a:xfrm>
            <a:off x="868680" y="2743200"/>
            <a:ext cx="3200400" cy="3200400"/>
            <a:chOff x="868680" y="2743200"/>
            <a:chExt cx="3200400" cy="3200400"/>
          </a:xfrm>
        </p:grpSpPr>
        <p:sp>
          <p:nvSpPr>
            <p:cNvPr id="109" name="Block Arc 108"/>
            <p:cNvSpPr/>
            <p:nvPr/>
          </p:nvSpPr>
          <p:spPr bwMode="auto">
            <a:xfrm>
              <a:off x="868680" y="2743200"/>
              <a:ext cx="3200400" cy="3200400"/>
            </a:xfrm>
            <a:prstGeom prst="blockArc">
              <a:avLst>
                <a:gd name="adj1" fmla="val 936000"/>
                <a:gd name="adj2" fmla="val 8136000"/>
                <a:gd name="adj3" fmla="val 20000"/>
              </a:avLst>
            </a:prstGeom>
            <a:solidFill>
              <a:srgbClr val="298FC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</p:grpSp>
      <p:grpSp>
        <p:nvGrpSpPr>
          <p:cNvPr id="1153370224" name="Group 5"/>
          <p:cNvGrpSpPr/>
          <p:nvPr/>
        </p:nvGrpSpPr>
        <p:grpSpPr bwMode="auto">
          <a:xfrm>
            <a:off x="4389120" y="3227832"/>
            <a:ext cx="3108960" cy="274320"/>
            <a:chOff x="4389120" y="3227832"/>
            <a:chExt cx="3108960" cy="274320"/>
          </a:xfrm>
        </p:grpSpPr>
        <p:sp>
          <p:nvSpPr>
            <p:cNvPr id="110" name="Rounded Rectangle 109"/>
            <p:cNvSpPr/>
            <p:nvPr/>
          </p:nvSpPr>
          <p:spPr bwMode="auto">
            <a:xfrm>
              <a:off x="4389120" y="3264408"/>
              <a:ext cx="201168" cy="201168"/>
            </a:xfrm>
            <a:prstGeom prst="roundRect">
              <a:avLst>
                <a:gd name="adj" fmla="val 18181"/>
              </a:avLst>
            </a:prstGeom>
            <a:solidFill>
              <a:srgbClr val="298FC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11" name="TextBox 110"/>
            <p:cNvSpPr txBox="1"/>
            <p:nvPr/>
          </p:nvSpPr>
          <p:spPr bwMode="auto">
            <a:xfrm>
              <a:off x="4681728" y="3227832"/>
              <a:ext cx="2240280" cy="2743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defRPr/>
              </a:pPr>
              <a:r>
                <a:rPr lang="en-US" sz="1200" b="0">
                  <a:solidFill>
                    <a:srgbClr val="101820"/>
                  </a:solidFill>
                  <a:latin typeface="Inter"/>
                  <a:cs typeface="Inter"/>
                </a:rPr>
                <a:t>Growth marketing</a:t>
              </a:r>
              <a:endParaRPr/>
            </a:p>
          </p:txBody>
        </p:sp>
        <p:sp>
          <p:nvSpPr>
            <p:cNvPr id="112" name="TextBox 111"/>
            <p:cNvSpPr txBox="1"/>
            <p:nvPr/>
          </p:nvSpPr>
          <p:spPr bwMode="auto">
            <a:xfrm>
              <a:off x="6903720" y="3227832"/>
              <a:ext cx="594360" cy="2743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r">
                <a:defRPr/>
              </a:pPr>
              <a:r>
                <a:rPr lang="en-US" sz="1300" b="1">
                  <a:solidFill>
                    <a:srgbClr val="101820"/>
                  </a:solidFill>
                  <a:latin typeface="Inter"/>
                  <a:cs typeface="Inter"/>
                </a:rPr>
                <a:t>$2,500</a:t>
              </a:r>
              <a:endParaRPr/>
            </a:p>
          </p:txBody>
        </p:sp>
      </p:grpSp>
      <p:grpSp>
        <p:nvGrpSpPr>
          <p:cNvPr id="163972796" name="Group 6"/>
          <p:cNvGrpSpPr/>
          <p:nvPr/>
        </p:nvGrpSpPr>
        <p:grpSpPr bwMode="auto">
          <a:xfrm>
            <a:off x="868680" y="2743200"/>
            <a:ext cx="3200400" cy="3200400"/>
            <a:chOff x="868680" y="2743200"/>
            <a:chExt cx="3200400" cy="3200400"/>
          </a:xfrm>
        </p:grpSpPr>
        <p:sp>
          <p:nvSpPr>
            <p:cNvPr id="113" name="Block Arc 112"/>
            <p:cNvSpPr/>
            <p:nvPr/>
          </p:nvSpPr>
          <p:spPr bwMode="auto">
            <a:xfrm>
              <a:off x="868680" y="2743200"/>
              <a:ext cx="3200400" cy="3200400"/>
            </a:xfrm>
            <a:prstGeom prst="blockArc">
              <a:avLst>
                <a:gd name="adj1" fmla="val 8136000"/>
                <a:gd name="adj2" fmla="val 11016000"/>
                <a:gd name="adj3" fmla="val 20000"/>
              </a:avLst>
            </a:prstGeom>
            <a:solidFill>
              <a:srgbClr val="5A667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</p:grpSp>
      <p:grpSp>
        <p:nvGrpSpPr>
          <p:cNvPr id="1472394583" name="Group 7"/>
          <p:cNvGrpSpPr/>
          <p:nvPr/>
        </p:nvGrpSpPr>
        <p:grpSpPr bwMode="auto">
          <a:xfrm>
            <a:off x="4389120" y="3666744"/>
            <a:ext cx="3108960" cy="274320"/>
            <a:chOff x="4389120" y="3666744"/>
            <a:chExt cx="3108960" cy="274320"/>
          </a:xfrm>
        </p:grpSpPr>
        <p:sp>
          <p:nvSpPr>
            <p:cNvPr id="114" name="Rounded Rectangle 113"/>
            <p:cNvSpPr/>
            <p:nvPr/>
          </p:nvSpPr>
          <p:spPr bwMode="auto">
            <a:xfrm>
              <a:off x="4389120" y="3703320"/>
              <a:ext cx="201168" cy="201168"/>
            </a:xfrm>
            <a:prstGeom prst="roundRect">
              <a:avLst>
                <a:gd name="adj" fmla="val 18181"/>
              </a:avLst>
            </a:prstGeom>
            <a:solidFill>
              <a:srgbClr val="5A667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15" name="TextBox 114"/>
            <p:cNvSpPr txBox="1"/>
            <p:nvPr/>
          </p:nvSpPr>
          <p:spPr bwMode="auto">
            <a:xfrm>
              <a:off x="4681728" y="3666744"/>
              <a:ext cx="2240280" cy="2743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defRPr/>
              </a:pPr>
              <a:r>
                <a:rPr lang="en-US" sz="1200" b="0">
                  <a:solidFill>
                    <a:srgbClr val="101820"/>
                  </a:solidFill>
                  <a:latin typeface="Inter"/>
                  <a:cs typeface="Inter"/>
                </a:rPr>
                <a:t>Registration &amp; legal</a:t>
              </a:r>
              <a:endParaRPr/>
            </a:p>
          </p:txBody>
        </p:sp>
        <p:sp>
          <p:nvSpPr>
            <p:cNvPr id="116" name="TextBox 115"/>
            <p:cNvSpPr txBox="1"/>
            <p:nvPr/>
          </p:nvSpPr>
          <p:spPr bwMode="auto">
            <a:xfrm>
              <a:off x="6903720" y="3666744"/>
              <a:ext cx="594360" cy="2743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r">
                <a:defRPr/>
              </a:pPr>
              <a:r>
                <a:rPr lang="en-US" sz="1300" b="1">
                  <a:solidFill>
                    <a:srgbClr val="101820"/>
                  </a:solidFill>
                  <a:latin typeface="Inter"/>
                  <a:cs typeface="Inter"/>
                </a:rPr>
                <a:t>$1,000</a:t>
              </a:r>
              <a:endParaRPr/>
            </a:p>
          </p:txBody>
        </p:sp>
      </p:grpSp>
      <p:grpSp>
        <p:nvGrpSpPr>
          <p:cNvPr id="1061607011" name="Group 8"/>
          <p:cNvGrpSpPr/>
          <p:nvPr/>
        </p:nvGrpSpPr>
        <p:grpSpPr bwMode="auto">
          <a:xfrm>
            <a:off x="868680" y="2743200"/>
            <a:ext cx="3200400" cy="3200400"/>
            <a:chOff x="868680" y="2743200"/>
            <a:chExt cx="3200400" cy="3200400"/>
          </a:xfrm>
        </p:grpSpPr>
        <p:sp>
          <p:nvSpPr>
            <p:cNvPr id="117" name="Block Arc 116"/>
            <p:cNvSpPr/>
            <p:nvPr/>
          </p:nvSpPr>
          <p:spPr bwMode="auto">
            <a:xfrm>
              <a:off x="868680" y="2743200"/>
              <a:ext cx="3200400" cy="3200400"/>
            </a:xfrm>
            <a:prstGeom prst="blockArc">
              <a:avLst>
                <a:gd name="adj1" fmla="val 11016000"/>
                <a:gd name="adj2" fmla="val 13608000"/>
                <a:gd name="adj3" fmla="val 20000"/>
              </a:avLst>
            </a:prstGeom>
            <a:solidFill>
              <a:srgbClr val="94C7E0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</p:grpSp>
      <p:grpSp>
        <p:nvGrpSpPr>
          <p:cNvPr id="653361537" name="Group 9"/>
          <p:cNvGrpSpPr/>
          <p:nvPr/>
        </p:nvGrpSpPr>
        <p:grpSpPr bwMode="auto">
          <a:xfrm>
            <a:off x="4389120" y="4105656"/>
            <a:ext cx="3108960" cy="274320"/>
            <a:chOff x="4389120" y="4105656"/>
            <a:chExt cx="3108960" cy="274320"/>
          </a:xfrm>
        </p:grpSpPr>
        <p:sp>
          <p:nvSpPr>
            <p:cNvPr id="118" name="Rounded Rectangle 117"/>
            <p:cNvSpPr/>
            <p:nvPr/>
          </p:nvSpPr>
          <p:spPr bwMode="auto">
            <a:xfrm>
              <a:off x="4389120" y="4142232"/>
              <a:ext cx="201168" cy="201168"/>
            </a:xfrm>
            <a:prstGeom prst="roundRect">
              <a:avLst>
                <a:gd name="adj" fmla="val 18181"/>
              </a:avLst>
            </a:prstGeom>
            <a:solidFill>
              <a:srgbClr val="94C7E0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19" name="TextBox 118"/>
            <p:cNvSpPr txBox="1"/>
            <p:nvPr/>
          </p:nvSpPr>
          <p:spPr bwMode="auto">
            <a:xfrm>
              <a:off x="4681728" y="4105656"/>
              <a:ext cx="2240280" cy="2743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defRPr/>
              </a:pPr>
              <a:r>
                <a:rPr lang="en-US" sz="1200" b="0">
                  <a:solidFill>
                    <a:srgbClr val="101820"/>
                  </a:solidFill>
                  <a:latin typeface="Inter"/>
                  <a:cs typeface="Inter"/>
                </a:rPr>
                <a:t>Merchant kits &amp; packaging</a:t>
              </a:r>
              <a:endParaRPr/>
            </a:p>
          </p:txBody>
        </p:sp>
        <p:sp>
          <p:nvSpPr>
            <p:cNvPr id="120" name="TextBox 119"/>
            <p:cNvSpPr txBox="1"/>
            <p:nvPr/>
          </p:nvSpPr>
          <p:spPr bwMode="auto">
            <a:xfrm>
              <a:off x="6903720" y="4105656"/>
              <a:ext cx="594360" cy="2743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r">
                <a:defRPr/>
              </a:pPr>
              <a:r>
                <a:rPr lang="en-US" sz="1300" b="1">
                  <a:solidFill>
                    <a:srgbClr val="101820"/>
                  </a:solidFill>
                  <a:latin typeface="Inter"/>
                  <a:cs typeface="Inter"/>
                </a:rPr>
                <a:t>$900</a:t>
              </a:r>
              <a:endParaRPr/>
            </a:p>
          </p:txBody>
        </p:sp>
      </p:grpSp>
      <p:grpSp>
        <p:nvGrpSpPr>
          <p:cNvPr id="2089314602" name="Group 10"/>
          <p:cNvGrpSpPr/>
          <p:nvPr/>
        </p:nvGrpSpPr>
        <p:grpSpPr bwMode="auto">
          <a:xfrm>
            <a:off x="868680" y="2743200"/>
            <a:ext cx="3200400" cy="3200400"/>
            <a:chOff x="868680" y="2743200"/>
            <a:chExt cx="3200400" cy="3200400"/>
          </a:xfrm>
        </p:grpSpPr>
        <p:sp>
          <p:nvSpPr>
            <p:cNvPr id="121" name="Block Arc 120"/>
            <p:cNvSpPr/>
            <p:nvPr/>
          </p:nvSpPr>
          <p:spPr bwMode="auto">
            <a:xfrm>
              <a:off x="868680" y="2743200"/>
              <a:ext cx="3200400" cy="3200400"/>
            </a:xfrm>
            <a:prstGeom prst="blockArc">
              <a:avLst>
                <a:gd name="adj1" fmla="val 13608000"/>
                <a:gd name="adj2" fmla="val 15912000"/>
                <a:gd name="adj3" fmla="val 20000"/>
              </a:avLst>
            </a:prstGeom>
            <a:solidFill>
              <a:srgbClr val="DDE5ED"/>
            </a:solidFill>
            <a:ln w="9525">
              <a:solidFill>
                <a:srgbClr val="A9B1B9"/>
              </a:solidFill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</p:grpSp>
      <p:grpSp>
        <p:nvGrpSpPr>
          <p:cNvPr id="1731409528" name="Group 11"/>
          <p:cNvGrpSpPr/>
          <p:nvPr/>
        </p:nvGrpSpPr>
        <p:grpSpPr bwMode="auto">
          <a:xfrm>
            <a:off x="4389120" y="4544568"/>
            <a:ext cx="3108960" cy="274320"/>
            <a:chOff x="4389120" y="4544568"/>
            <a:chExt cx="3108960" cy="274320"/>
          </a:xfrm>
        </p:grpSpPr>
        <p:sp>
          <p:nvSpPr>
            <p:cNvPr id="122" name="Rounded Rectangle 121"/>
            <p:cNvSpPr/>
            <p:nvPr/>
          </p:nvSpPr>
          <p:spPr bwMode="auto">
            <a:xfrm>
              <a:off x="4389120" y="4581144"/>
              <a:ext cx="201168" cy="201168"/>
            </a:xfrm>
            <a:prstGeom prst="roundRect">
              <a:avLst>
                <a:gd name="adj" fmla="val 18181"/>
              </a:avLst>
            </a:prstGeom>
            <a:solidFill>
              <a:srgbClr val="DDE5ED"/>
            </a:solidFill>
            <a:ln w="9525">
              <a:solidFill>
                <a:srgbClr val="A9B1B9"/>
              </a:solidFill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23" name="TextBox 122"/>
            <p:cNvSpPr txBox="1"/>
            <p:nvPr/>
          </p:nvSpPr>
          <p:spPr bwMode="auto">
            <a:xfrm>
              <a:off x="4681728" y="4544568"/>
              <a:ext cx="2240280" cy="2743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defRPr/>
              </a:pPr>
              <a:r>
                <a:rPr lang="en-US" sz="1200" b="0">
                  <a:solidFill>
                    <a:srgbClr val="101820"/>
                  </a:solidFill>
                  <a:latin typeface="Inter"/>
                  <a:cs typeface="Inter"/>
                </a:rPr>
                <a:t>Reserve</a:t>
              </a:r>
              <a:endParaRPr/>
            </a:p>
          </p:txBody>
        </p:sp>
        <p:sp>
          <p:nvSpPr>
            <p:cNvPr id="124" name="TextBox 123"/>
            <p:cNvSpPr txBox="1"/>
            <p:nvPr/>
          </p:nvSpPr>
          <p:spPr bwMode="auto">
            <a:xfrm>
              <a:off x="6903720" y="4544568"/>
              <a:ext cx="594360" cy="2743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r">
                <a:defRPr/>
              </a:pPr>
              <a:r>
                <a:rPr lang="en-US" sz="1300" b="1">
                  <a:solidFill>
                    <a:srgbClr val="101820"/>
                  </a:solidFill>
                  <a:latin typeface="Inter"/>
                  <a:cs typeface="Inter"/>
                </a:rPr>
                <a:t>$800</a:t>
              </a:r>
              <a:endParaRPr/>
            </a:p>
          </p:txBody>
        </p:sp>
      </p:grpSp>
      <p:grpSp>
        <p:nvGrpSpPr>
          <p:cNvPr id="1770892618" name="Group 12"/>
          <p:cNvGrpSpPr/>
          <p:nvPr/>
        </p:nvGrpSpPr>
        <p:grpSpPr bwMode="auto">
          <a:xfrm>
            <a:off x="868680" y="2743200"/>
            <a:ext cx="3200400" cy="3200400"/>
            <a:chOff x="868680" y="2743200"/>
            <a:chExt cx="3200400" cy="3200400"/>
          </a:xfrm>
        </p:grpSpPr>
        <p:sp>
          <p:nvSpPr>
            <p:cNvPr id="125" name="Block Arc 124"/>
            <p:cNvSpPr/>
            <p:nvPr/>
          </p:nvSpPr>
          <p:spPr bwMode="auto">
            <a:xfrm>
              <a:off x="868680" y="2743200"/>
              <a:ext cx="3200400" cy="3200400"/>
            </a:xfrm>
            <a:prstGeom prst="blockArc">
              <a:avLst>
                <a:gd name="adj1" fmla="val 15912000"/>
                <a:gd name="adj2" fmla="val 16200000"/>
                <a:gd name="adj3" fmla="val 20000"/>
              </a:avLst>
            </a:prstGeom>
            <a:solidFill>
              <a:srgbClr val="FFA300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</p:grpSp>
      <p:grpSp>
        <p:nvGrpSpPr>
          <p:cNvPr id="1222796751" name="Group 13"/>
          <p:cNvGrpSpPr/>
          <p:nvPr/>
        </p:nvGrpSpPr>
        <p:grpSpPr bwMode="auto">
          <a:xfrm>
            <a:off x="4389120" y="4983480"/>
            <a:ext cx="3108960" cy="274320"/>
            <a:chOff x="4389120" y="4983480"/>
            <a:chExt cx="3108960" cy="274320"/>
          </a:xfrm>
        </p:grpSpPr>
        <p:sp>
          <p:nvSpPr>
            <p:cNvPr id="126" name="Rounded Rectangle 125"/>
            <p:cNvSpPr/>
            <p:nvPr/>
          </p:nvSpPr>
          <p:spPr bwMode="auto">
            <a:xfrm>
              <a:off x="4389120" y="5020056"/>
              <a:ext cx="201168" cy="201168"/>
            </a:xfrm>
            <a:prstGeom prst="roundRect">
              <a:avLst>
                <a:gd name="adj" fmla="val 18181"/>
              </a:avLst>
            </a:prstGeom>
            <a:solidFill>
              <a:srgbClr val="FFA300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27" name="TextBox 126"/>
            <p:cNvSpPr txBox="1"/>
            <p:nvPr/>
          </p:nvSpPr>
          <p:spPr bwMode="auto">
            <a:xfrm>
              <a:off x="4681728" y="4983480"/>
              <a:ext cx="2240280" cy="2743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defRPr/>
              </a:pPr>
              <a:r>
                <a:rPr lang="en-US" sz="1200" b="0">
                  <a:solidFill>
                    <a:srgbClr val="101820"/>
                  </a:solidFill>
                  <a:latin typeface="Inter"/>
                  <a:cs typeface="Inter"/>
                </a:rPr>
                <a:t>Pilot test (10–20 orders)</a:t>
              </a:r>
              <a:endParaRPr/>
            </a:p>
          </p:txBody>
        </p:sp>
        <p:sp>
          <p:nvSpPr>
            <p:cNvPr id="128" name="TextBox 127"/>
            <p:cNvSpPr txBox="1"/>
            <p:nvPr/>
          </p:nvSpPr>
          <p:spPr bwMode="auto">
            <a:xfrm>
              <a:off x="6903720" y="4983480"/>
              <a:ext cx="594360" cy="2743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r">
                <a:defRPr/>
              </a:pPr>
              <a:r>
                <a:rPr lang="en-US" sz="1300" b="1">
                  <a:solidFill>
                    <a:srgbClr val="101820"/>
                  </a:solidFill>
                  <a:latin typeface="Inter"/>
                  <a:cs typeface="Inter"/>
                </a:rPr>
                <a:t>$100</a:t>
              </a:r>
              <a:endParaRPr/>
            </a:p>
          </p:txBody>
        </p:sp>
      </p:grpSp>
      <p:grpSp>
        <p:nvGrpSpPr>
          <p:cNvPr id="126442749" name="Group 14"/>
          <p:cNvGrpSpPr/>
          <p:nvPr/>
        </p:nvGrpSpPr>
        <p:grpSpPr bwMode="auto">
          <a:xfrm>
            <a:off x="7863840" y="2560320"/>
            <a:ext cx="3602735" cy="274320"/>
            <a:chOff x="7863840" y="2560320"/>
            <a:chExt cx="3602735" cy="274320"/>
          </a:xfrm>
        </p:grpSpPr>
        <p:sp>
          <p:nvSpPr>
            <p:cNvPr id="129" name="TextBox 128"/>
            <p:cNvSpPr txBox="1"/>
            <p:nvPr/>
          </p:nvSpPr>
          <p:spPr bwMode="auto">
            <a:xfrm>
              <a:off x="7863840" y="2560320"/>
              <a:ext cx="3602735" cy="2743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defRPr/>
              </a:pPr>
              <a:r>
                <a:rPr lang="en-US" sz="1500" b="1">
                  <a:solidFill>
                    <a:srgbClr val="101820"/>
                  </a:solidFill>
                  <a:latin typeface="Inter"/>
                  <a:cs typeface="Inter"/>
                </a:rPr>
                <a:t>Each amount has a job</a:t>
              </a:r>
              <a:endParaRPr/>
            </a:p>
          </p:txBody>
        </p:sp>
      </p:grpSp>
      <p:grpSp>
        <p:nvGrpSpPr>
          <p:cNvPr id="271344045" name="Group 15"/>
          <p:cNvGrpSpPr/>
          <p:nvPr/>
        </p:nvGrpSpPr>
        <p:grpSpPr bwMode="auto">
          <a:xfrm>
            <a:off x="7863840" y="2926080"/>
            <a:ext cx="3602735" cy="868680"/>
            <a:chOff x="7863840" y="2926080"/>
            <a:chExt cx="3602735" cy="868680"/>
          </a:xfrm>
        </p:grpSpPr>
        <p:sp>
          <p:nvSpPr>
            <p:cNvPr id="130" name="Rounded Rectangle 129"/>
            <p:cNvSpPr/>
            <p:nvPr/>
          </p:nvSpPr>
          <p:spPr bwMode="auto">
            <a:xfrm>
              <a:off x="7863840" y="2926080"/>
              <a:ext cx="3602735" cy="868680"/>
            </a:xfrm>
            <a:prstGeom prst="roundRect">
              <a:avLst>
                <a:gd name="adj" fmla="val 14736"/>
              </a:avLst>
            </a:prstGeom>
            <a:solidFill>
              <a:srgbClr val="FFFFFF"/>
            </a:solidFill>
            <a:ln w="12700">
              <a:solidFill>
                <a:srgbClr val="DDE5ED"/>
              </a:solidFill>
            </a:ln>
            <a:effectLst>
              <a:outerShdw blurRad="101600" dist="25400" dir="5400000" algn="t" rotWithShape="0">
                <a:srgbClr val="101820">
                  <a:alpha val="9000"/>
                </a:srgbClr>
              </a:outerShdw>
            </a:effectLst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31" name="Rectangle 130"/>
            <p:cNvSpPr/>
            <p:nvPr/>
          </p:nvSpPr>
          <p:spPr bwMode="auto">
            <a:xfrm>
              <a:off x="7863840" y="3054096"/>
              <a:ext cx="201168" cy="612648"/>
            </a:xfrm>
            <a:prstGeom prst="rect">
              <a:avLst/>
            </a:prstGeom>
            <a:solidFill>
              <a:srgbClr val="298FC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32" name="TextBox 131"/>
            <p:cNvSpPr txBox="1"/>
            <p:nvPr/>
          </p:nvSpPr>
          <p:spPr bwMode="auto">
            <a:xfrm>
              <a:off x="8119872" y="2990088"/>
              <a:ext cx="3291840" cy="25603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defRPr/>
              </a:pPr>
              <a:r>
                <a:rPr lang="en-US" sz="1500" b="1">
                  <a:solidFill>
                    <a:srgbClr val="298FC2"/>
                  </a:solidFill>
                  <a:latin typeface="Inter"/>
                  <a:cs typeface="Inter"/>
                </a:rPr>
                <a:t>$7,500 — Grow fast</a:t>
              </a:r>
              <a:endParaRPr/>
            </a:p>
          </p:txBody>
        </p:sp>
        <p:sp>
          <p:nvSpPr>
            <p:cNvPr id="133" name="TextBox 132"/>
            <p:cNvSpPr txBox="1"/>
            <p:nvPr/>
          </p:nvSpPr>
          <p:spPr bwMode="auto">
            <a:xfrm>
              <a:off x="8119872" y="3264408"/>
              <a:ext cx="3291840" cy="493776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defRPr/>
              </a:pPr>
              <a:r>
                <a:rPr lang="en-US" sz="1100" b="0">
                  <a:solidFill>
                    <a:srgbClr val="5A6672"/>
                  </a:solidFill>
                  <a:latin typeface="Inter"/>
                  <a:cs typeface="Inter"/>
                </a:rPr>
                <a:t>+ growth marketing and founding-store kits → aims for the fast case</a:t>
              </a:r>
              <a:endParaRPr/>
            </a:p>
          </p:txBody>
        </p:sp>
      </p:grpSp>
      <p:grpSp>
        <p:nvGrpSpPr>
          <p:cNvPr id="1182869432" name="Group 16"/>
          <p:cNvGrpSpPr/>
          <p:nvPr/>
        </p:nvGrpSpPr>
        <p:grpSpPr bwMode="auto">
          <a:xfrm>
            <a:off x="7863840" y="3867911"/>
            <a:ext cx="3602735" cy="868680"/>
            <a:chOff x="7863840" y="3867911"/>
            <a:chExt cx="3602735" cy="868680"/>
          </a:xfrm>
        </p:grpSpPr>
        <p:sp>
          <p:nvSpPr>
            <p:cNvPr id="134" name="Rounded Rectangle 133"/>
            <p:cNvSpPr/>
            <p:nvPr/>
          </p:nvSpPr>
          <p:spPr bwMode="auto">
            <a:xfrm>
              <a:off x="7863840" y="3867911"/>
              <a:ext cx="3602735" cy="868680"/>
            </a:xfrm>
            <a:prstGeom prst="roundRect">
              <a:avLst>
                <a:gd name="adj" fmla="val 14736"/>
              </a:avLst>
            </a:prstGeom>
            <a:solidFill>
              <a:srgbClr val="FFFFFF"/>
            </a:solidFill>
            <a:ln w="12700">
              <a:solidFill>
                <a:srgbClr val="DDE5ED"/>
              </a:solidFill>
            </a:ln>
            <a:effectLst>
              <a:outerShdw blurRad="101600" dist="25400" dir="5400000" algn="t" rotWithShape="0">
                <a:srgbClr val="101820">
                  <a:alpha val="9000"/>
                </a:srgbClr>
              </a:outerShdw>
            </a:effectLst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35" name="Rectangle 134"/>
            <p:cNvSpPr/>
            <p:nvPr/>
          </p:nvSpPr>
          <p:spPr bwMode="auto">
            <a:xfrm>
              <a:off x="7863840" y="3995928"/>
              <a:ext cx="128016" cy="612648"/>
            </a:xfrm>
            <a:prstGeom prst="rect">
              <a:avLst/>
            </a:prstGeom>
            <a:solidFill>
              <a:srgbClr val="298FC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36" name="TextBox 135"/>
            <p:cNvSpPr txBox="1"/>
            <p:nvPr/>
          </p:nvSpPr>
          <p:spPr bwMode="auto">
            <a:xfrm>
              <a:off x="8119872" y="3931920"/>
              <a:ext cx="3291840" cy="25603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defRPr/>
              </a:pPr>
              <a:r>
                <a:rPr lang="en-US" sz="1500" b="1">
                  <a:solidFill>
                    <a:srgbClr val="298FC2"/>
                  </a:solidFill>
                  <a:latin typeface="Inter"/>
                  <a:cs typeface="Inter"/>
                </a:rPr>
                <a:t>$4,500 — Launch properly</a:t>
              </a:r>
              <a:endParaRPr/>
            </a:p>
          </p:txBody>
        </p:sp>
        <p:sp>
          <p:nvSpPr>
            <p:cNvPr id="137" name="TextBox 136"/>
            <p:cNvSpPr txBox="1"/>
            <p:nvPr/>
          </p:nvSpPr>
          <p:spPr bwMode="auto">
            <a:xfrm>
              <a:off x="8119872" y="4206240"/>
              <a:ext cx="3291840" cy="493776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defRPr/>
              </a:pPr>
              <a:r>
                <a:rPr lang="en-US" sz="1100" b="0">
                  <a:solidFill>
                    <a:srgbClr val="5A6672"/>
                  </a:solidFill>
                  <a:latin typeface="Inter"/>
                  <a:cs typeface="Inter"/>
                </a:rPr>
                <a:t>+ hand-run pilot, company registration (unlocks the courier contract and card payments), larger reserve</a:t>
              </a:r>
              <a:endParaRPr/>
            </a:p>
          </p:txBody>
        </p:sp>
      </p:grpSp>
      <p:grpSp>
        <p:nvGrpSpPr>
          <p:cNvPr id="2099652187" name="Group 17"/>
          <p:cNvGrpSpPr/>
          <p:nvPr/>
        </p:nvGrpSpPr>
        <p:grpSpPr bwMode="auto">
          <a:xfrm>
            <a:off x="7863840" y="4809744"/>
            <a:ext cx="3602735" cy="868680"/>
            <a:chOff x="7863840" y="4809744"/>
            <a:chExt cx="3602735" cy="868680"/>
          </a:xfrm>
        </p:grpSpPr>
        <p:sp>
          <p:nvSpPr>
            <p:cNvPr id="138" name="Rounded Rectangle 137"/>
            <p:cNvSpPr/>
            <p:nvPr/>
          </p:nvSpPr>
          <p:spPr bwMode="auto">
            <a:xfrm>
              <a:off x="7863840" y="4809744"/>
              <a:ext cx="3602735" cy="868680"/>
            </a:xfrm>
            <a:prstGeom prst="roundRect">
              <a:avLst>
                <a:gd name="adj" fmla="val 14736"/>
              </a:avLst>
            </a:prstGeom>
            <a:solidFill>
              <a:srgbClr val="FFFFFF"/>
            </a:solidFill>
            <a:ln w="12700">
              <a:solidFill>
                <a:srgbClr val="DDE5ED"/>
              </a:solidFill>
            </a:ln>
            <a:effectLst>
              <a:outerShdw blurRad="101600" dist="25400" dir="5400000" algn="t" rotWithShape="0">
                <a:srgbClr val="101820">
                  <a:alpha val="9000"/>
                </a:srgbClr>
              </a:outerShdw>
            </a:effectLst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39" name="Rectangle 138"/>
            <p:cNvSpPr/>
            <p:nvPr/>
          </p:nvSpPr>
          <p:spPr bwMode="auto">
            <a:xfrm>
              <a:off x="7863840" y="4937760"/>
              <a:ext cx="54864" cy="612648"/>
            </a:xfrm>
            <a:prstGeom prst="rect">
              <a:avLst/>
            </a:prstGeom>
            <a:solidFill>
              <a:srgbClr val="298FC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40" name="TextBox 139"/>
            <p:cNvSpPr txBox="1"/>
            <p:nvPr/>
          </p:nvSpPr>
          <p:spPr bwMode="auto">
            <a:xfrm>
              <a:off x="8119872" y="4873752"/>
              <a:ext cx="3291840" cy="25603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defRPr/>
              </a:pPr>
              <a:r>
                <a:rPr lang="en-US" sz="1500" b="1">
                  <a:solidFill>
                    <a:srgbClr val="298FC2"/>
                  </a:solidFill>
                  <a:latin typeface="Inter"/>
                  <a:cs typeface="Inter"/>
                </a:rPr>
                <a:t>$2,500 — Reach break-even safely</a:t>
              </a:r>
              <a:endParaRPr/>
            </a:p>
          </p:txBody>
        </p:sp>
        <p:sp>
          <p:nvSpPr>
            <p:cNvPr id="141" name="TextBox 140"/>
            <p:cNvSpPr txBox="1"/>
            <p:nvPr/>
          </p:nvSpPr>
          <p:spPr bwMode="auto">
            <a:xfrm>
              <a:off x="8119872" y="5148072"/>
              <a:ext cx="3291840" cy="493776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defRPr/>
              </a:pPr>
              <a:r>
                <a:rPr lang="en-US" sz="1100" b="0">
                  <a:solidFill>
                    <a:srgbClr val="5A6672"/>
                  </a:solidFill>
                  <a:latin typeface="Inter"/>
                  <a:cs typeface="Inter"/>
                </a:rPr>
                <a:t>Covers the cash gap until monthly break-even</a:t>
              </a:r>
              <a:endParaRPr/>
            </a:p>
          </p:txBody>
        </p:sp>
      </p:grpSp>
      <p:grpSp>
        <p:nvGrpSpPr>
          <p:cNvPr id="1246334948" name="Group 18"/>
          <p:cNvGrpSpPr/>
          <p:nvPr/>
        </p:nvGrpSpPr>
        <p:grpSpPr bwMode="auto">
          <a:xfrm>
            <a:off x="7863840" y="5815584"/>
            <a:ext cx="3602735" cy="566928"/>
            <a:chOff x="7863840" y="5815584"/>
            <a:chExt cx="3602735" cy="566928"/>
          </a:xfrm>
        </p:grpSpPr>
        <p:sp>
          <p:nvSpPr>
            <p:cNvPr id="142" name="Rounded Rectangle 141"/>
            <p:cNvSpPr/>
            <p:nvPr/>
          </p:nvSpPr>
          <p:spPr bwMode="auto">
            <a:xfrm>
              <a:off x="7863840" y="5815584"/>
              <a:ext cx="3602735" cy="566928"/>
            </a:xfrm>
            <a:prstGeom prst="roundRect">
              <a:avLst>
                <a:gd name="adj" fmla="val 19354"/>
              </a:avLst>
            </a:prstGeom>
            <a:solidFill>
              <a:srgbClr val="E5F2F8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pic>
          <p:nvPicPr>
            <p:cNvPr id="143" name="Picture 142" descr="code_298FC2.png"/>
            <p:cNvPicPr>
              <a:picLocks noChangeAspect="1"/>
            </p:cNvPicPr>
            <p:nvPr/>
          </p:nvPicPr>
          <p:blipFill rotWithShape="1">
            <a:blip r:embed="rId5"/>
            <a:stretch/>
          </p:blipFill>
          <p:spPr bwMode="auto">
            <a:xfrm>
              <a:off x="8010144" y="5971032"/>
              <a:ext cx="256032" cy="256032"/>
            </a:xfrm>
            <a:prstGeom prst="rect">
              <a:avLst/>
            </a:prstGeom>
          </p:spPr>
        </p:pic>
        <p:sp>
          <p:nvSpPr>
            <p:cNvPr id="144" name="TextBox 143"/>
            <p:cNvSpPr txBox="1"/>
            <p:nvPr/>
          </p:nvSpPr>
          <p:spPr bwMode="auto">
            <a:xfrm>
              <a:off x="8357616" y="5833872"/>
              <a:ext cx="3035808" cy="53035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defRPr/>
              </a:pPr>
              <a:r>
                <a:rPr lang="en-US" sz="1200" b="1">
                  <a:solidFill>
                    <a:srgbClr val="101820"/>
                  </a:solidFill>
                  <a:latin typeface="Inter"/>
                  <a:cs typeface="Inter"/>
                </a:rPr>
                <a:t>No salaries. No developers. I build the platform myself.</a:t>
              </a:r>
              <a:endParaRPr sz="1200" b="1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fast" p14:dur="500" advClick="1">
        <p:fade thruBlk="0"/>
      </p:transition>
    </mc:Choice>
    <mc:Fallback>
      <p:transition spd="fast" advClick="1">
        <p:fade thruBlk="0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6629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300" fill="hold"/>
                                        <p:tgtEl>
                                          <p:spTgt spid="2006629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300" fill="hold"/>
                                        <p:tgtEl>
                                          <p:spTgt spid="2006629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300"/>
                                        <p:tgtEl>
                                          <p:spTgt spid="2006629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86177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50"/>
                                        <p:tgtEl>
                                          <p:spTgt spid="8586177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13860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50"/>
                                        <p:tgtEl>
                                          <p:spTgt spid="12213860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25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8400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50"/>
                                        <p:tgtEl>
                                          <p:spTgt spid="2028400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25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3370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50"/>
                                        <p:tgtEl>
                                          <p:spTgt spid="11533702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9727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"/>
                                        <p:tgtEl>
                                          <p:spTgt spid="1639727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23945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50"/>
                                        <p:tgtEl>
                                          <p:spTgt spid="14723945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75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16070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50"/>
                                        <p:tgtEl>
                                          <p:spTgt spid="10616070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75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33615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50"/>
                                        <p:tgtEl>
                                          <p:spTgt spid="6533615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93146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150"/>
                                        <p:tgtEl>
                                          <p:spTgt spid="20893146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14095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150"/>
                                        <p:tgtEl>
                                          <p:spTgt spid="17314095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125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08926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50"/>
                                        <p:tgtEl>
                                          <p:spTgt spid="17708926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125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27967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50"/>
                                        <p:tgtEl>
                                          <p:spTgt spid="12227967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4427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1264427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99652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00"/>
                                        <p:tgtEl>
                                          <p:spTgt spid="20996521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28694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00"/>
                                        <p:tgtEl>
                                          <p:spTgt spid="11828694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13440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00"/>
                                        <p:tgtEl>
                                          <p:spTgt spid="2713440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63349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00"/>
                                        <p:tgtEl>
                                          <p:spTgt spid="12463349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9701006" name="Google Shape;98;p14" title="Center_for_Academic_and_Professional_Advancement.png"/>
          <p:cNvPicPr/>
          <p:nvPr/>
        </p:nvPicPr>
        <p:blipFill rotWithShape="1">
          <a:blip r:embed="rId3">
            <a:alphaModFix/>
          </a:blip>
          <a:stretch/>
        </p:blipFill>
        <p:spPr bwMode="auto">
          <a:xfrm>
            <a:off x="8289593" y="351575"/>
            <a:ext cx="3178502" cy="9693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4449132" name="Google Shape;99;p14" title="german cooperation deutsche zusammenarbeit.png"/>
          <p:cNvPicPr/>
          <p:nvPr/>
        </p:nvPicPr>
        <p:blipFill rotWithShape="1">
          <a:blip r:embed="rId4">
            <a:alphaModFix/>
          </a:blip>
          <a:stretch/>
        </p:blipFill>
        <p:spPr bwMode="auto">
          <a:xfrm>
            <a:off x="723900" y="436204"/>
            <a:ext cx="1428202" cy="800089"/>
          </a:xfrm>
          <a:prstGeom prst="rect">
            <a:avLst/>
          </a:prstGeom>
          <a:noFill/>
          <a:ln>
            <a:noFill/>
          </a:ln>
        </p:spPr>
      </p:pic>
      <p:sp>
        <p:nvSpPr>
          <p:cNvPr id="512634137" name="Rectangle 99"/>
          <p:cNvSpPr/>
          <p:nvPr/>
        </p:nvSpPr>
        <p:spPr bwMode="auto">
          <a:xfrm>
            <a:off x="722376" y="1517904"/>
            <a:ext cx="274320" cy="45720"/>
          </a:xfrm>
          <a:prstGeom prst="rect">
            <a:avLst/>
          </a:prstGeom>
          <a:solidFill>
            <a:srgbClr val="298FC2"/>
          </a:solidFill>
          <a:ln>
            <a:noFill/>
          </a:ln>
          <a:effectLst/>
        </p:spPr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30862777" name="TextBox 100"/>
          <p:cNvSpPr txBox="1"/>
          <p:nvPr/>
        </p:nvSpPr>
        <p:spPr bwMode="auto">
          <a:xfrm>
            <a:off x="1133856" y="1426464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defRPr/>
            </a:pPr>
            <a:r>
              <a:rPr lang="en-US" sz="1300" b="0">
                <a:solidFill>
                  <a:srgbClr val="5A6672"/>
                </a:solidFill>
                <a:latin typeface="Inter"/>
                <a:cs typeface="Inter"/>
              </a:rPr>
              <a:t>Funding is done — what now?</a:t>
            </a:r>
            <a:endParaRPr/>
          </a:p>
        </p:txBody>
      </p:sp>
      <p:sp>
        <p:nvSpPr>
          <p:cNvPr id="956550231" name="TextBox 101"/>
          <p:cNvSpPr txBox="1"/>
          <p:nvPr/>
        </p:nvSpPr>
        <p:spPr bwMode="auto">
          <a:xfrm>
            <a:off x="722376" y="1700784"/>
            <a:ext cx="10744200" cy="5669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defRPr/>
            </a:pPr>
            <a:r>
              <a:rPr lang="en-US" sz="3000" b="1">
                <a:solidFill>
                  <a:srgbClr val="101820"/>
                </a:solidFill>
                <a:latin typeface="Comfortaa"/>
                <a:cs typeface="Comfortaa"/>
              </a:rPr>
              <a:t>Grant → pilot → launch → break-even.</a:t>
            </a:r>
            <a:endParaRPr/>
          </a:p>
        </p:txBody>
      </p:sp>
      <p:grpSp>
        <p:nvGrpSpPr>
          <p:cNvPr id="43894778" name="Group 1"/>
          <p:cNvGrpSpPr/>
          <p:nvPr/>
        </p:nvGrpSpPr>
        <p:grpSpPr bwMode="auto">
          <a:xfrm>
            <a:off x="1097280" y="4023360"/>
            <a:ext cx="9966960" cy="0"/>
            <a:chOff x="1097280" y="4023360"/>
            <a:chExt cx="9966960" cy="0"/>
          </a:xfrm>
        </p:grpSpPr>
        <p:cxnSp>
          <p:nvCxnSpPr>
            <p:cNvPr id="103" name="Connector 102"/>
            <p:cNvCxnSpPr/>
            <p:nvPr/>
          </p:nvCxnSpPr>
          <p:spPr bwMode="auto">
            <a:xfrm>
              <a:off x="1097280" y="4023360"/>
              <a:ext cx="9966960" cy="0"/>
            </a:xfrm>
            <a:prstGeom prst="line">
              <a:avLst/>
            </a:prstGeom>
            <a:ln w="38100">
              <a:solidFill>
                <a:srgbClr val="DDE5ED"/>
              </a:solidFill>
            </a:ln>
            <a:effectLst/>
          </p:spPr>
        </p:cxnSp>
      </p:grpSp>
      <p:grpSp>
        <p:nvGrpSpPr>
          <p:cNvPr id="1423302093" name="Group 2"/>
          <p:cNvGrpSpPr/>
          <p:nvPr/>
        </p:nvGrpSpPr>
        <p:grpSpPr bwMode="auto">
          <a:xfrm>
            <a:off x="1591056" y="3831336"/>
            <a:ext cx="384048" cy="384048"/>
            <a:chOff x="1591056" y="3831336"/>
            <a:chExt cx="384048" cy="384048"/>
          </a:xfrm>
        </p:grpSpPr>
        <p:sp>
          <p:nvSpPr>
            <p:cNvPr id="104" name="Oval 103"/>
            <p:cNvSpPr/>
            <p:nvPr/>
          </p:nvSpPr>
          <p:spPr bwMode="auto">
            <a:xfrm>
              <a:off x="1591056" y="3831336"/>
              <a:ext cx="384048" cy="384048"/>
            </a:xfrm>
            <a:prstGeom prst="ellipse">
              <a:avLst/>
            </a:prstGeom>
            <a:solidFill>
              <a:srgbClr val="298FC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05" name="TextBox 104"/>
            <p:cNvSpPr txBox="1"/>
            <p:nvPr/>
          </p:nvSpPr>
          <p:spPr bwMode="auto">
            <a:xfrm>
              <a:off x="1591056" y="3831336"/>
              <a:ext cx="384048" cy="38404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defRPr/>
              </a:pPr>
              <a:r>
                <a:rPr lang="en-US" sz="1300" b="1">
                  <a:solidFill>
                    <a:srgbClr val="FFFFFF"/>
                  </a:solidFill>
                  <a:latin typeface="Inter"/>
                  <a:cs typeface="Inter"/>
                </a:rPr>
                <a:t>1</a:t>
              </a:r>
              <a:endParaRPr/>
            </a:p>
          </p:txBody>
        </p:sp>
      </p:grpSp>
      <p:grpSp>
        <p:nvGrpSpPr>
          <p:cNvPr id="1622796259" name="Group 3"/>
          <p:cNvGrpSpPr/>
          <p:nvPr/>
        </p:nvGrpSpPr>
        <p:grpSpPr bwMode="auto">
          <a:xfrm>
            <a:off x="777240" y="3383280"/>
            <a:ext cx="2011680" cy="274320"/>
            <a:chOff x="777240" y="3383280"/>
            <a:chExt cx="2011680" cy="274320"/>
          </a:xfrm>
        </p:grpSpPr>
        <p:sp>
          <p:nvSpPr>
            <p:cNvPr id="106" name="TextBox 105"/>
            <p:cNvSpPr txBox="1"/>
            <p:nvPr/>
          </p:nvSpPr>
          <p:spPr bwMode="auto">
            <a:xfrm>
              <a:off x="777240" y="3383280"/>
              <a:ext cx="2011680" cy="2743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defRPr/>
              </a:pPr>
              <a:r>
                <a:rPr lang="en-US" sz="1300" b="1">
                  <a:solidFill>
                    <a:srgbClr val="298FC2"/>
                  </a:solidFill>
                  <a:latin typeface="Inter"/>
                  <a:cs typeface="Inter"/>
                </a:rPr>
                <a:t>First</a:t>
              </a:r>
              <a:endParaRPr/>
            </a:p>
          </p:txBody>
        </p:sp>
      </p:grpSp>
      <p:grpSp>
        <p:nvGrpSpPr>
          <p:cNvPr id="1356920875" name="Group 4"/>
          <p:cNvGrpSpPr/>
          <p:nvPr/>
        </p:nvGrpSpPr>
        <p:grpSpPr bwMode="auto">
          <a:xfrm>
            <a:off x="777240" y="4343400"/>
            <a:ext cx="2011680" cy="1417320"/>
            <a:chOff x="777240" y="4343400"/>
            <a:chExt cx="2011680" cy="1417320"/>
          </a:xfrm>
        </p:grpSpPr>
        <p:sp>
          <p:nvSpPr>
            <p:cNvPr id="107" name="Rounded Rectangle 106"/>
            <p:cNvSpPr/>
            <p:nvPr/>
          </p:nvSpPr>
          <p:spPr bwMode="auto">
            <a:xfrm>
              <a:off x="777240" y="4343400"/>
              <a:ext cx="2011680" cy="1417320"/>
            </a:xfrm>
            <a:prstGeom prst="roundRect">
              <a:avLst>
                <a:gd name="adj" fmla="val 9032"/>
              </a:avLst>
            </a:prstGeom>
            <a:solidFill>
              <a:srgbClr val="FFFFFF"/>
            </a:solidFill>
            <a:ln w="12700">
              <a:solidFill>
                <a:srgbClr val="DDE5ED"/>
              </a:solidFill>
            </a:ln>
            <a:effectLst>
              <a:outerShdw blurRad="101600" dist="25400" dir="5400000" algn="t" rotWithShape="0">
                <a:srgbClr val="101820">
                  <a:alpha val="9000"/>
                </a:srgbClr>
              </a:outerShdw>
            </a:effectLst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08" name="TextBox 107"/>
            <p:cNvSpPr txBox="1"/>
            <p:nvPr/>
          </p:nvSpPr>
          <p:spPr bwMode="auto">
            <a:xfrm>
              <a:off x="868680" y="4462272"/>
              <a:ext cx="1865376" cy="64008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defRPr/>
              </a:pPr>
              <a:r>
                <a:rPr lang="en-US" sz="1400" b="1">
                  <a:solidFill>
                    <a:srgbClr val="101820"/>
                  </a:solidFill>
                  <a:latin typeface="Inter"/>
                  <a:cs typeface="Inter"/>
                </a:rPr>
                <a:t>Register the company &amp; sign the courier contract</a:t>
              </a:r>
              <a:endParaRPr/>
            </a:p>
          </p:txBody>
        </p:sp>
        <p:sp>
          <p:nvSpPr>
            <p:cNvPr id="109" name="TextBox 108"/>
            <p:cNvSpPr txBox="1"/>
            <p:nvPr/>
          </p:nvSpPr>
          <p:spPr bwMode="auto">
            <a:xfrm>
              <a:off x="868680" y="5138928"/>
              <a:ext cx="1865376" cy="54864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defRPr/>
              </a:pPr>
              <a:r>
                <a:rPr lang="en-US" sz="1150" b="0">
                  <a:solidFill>
                    <a:srgbClr val="5A6672"/>
                  </a:solidFill>
                  <a:latin typeface="Inter"/>
                  <a:cs typeface="Inter"/>
                </a:rPr>
                <a:t>Rates already quoted</a:t>
              </a:r>
              <a:endParaRPr/>
            </a:p>
          </p:txBody>
        </p:sp>
      </p:grpSp>
      <p:grpSp>
        <p:nvGrpSpPr>
          <p:cNvPr id="1826119594" name="Group 5"/>
          <p:cNvGrpSpPr/>
          <p:nvPr/>
        </p:nvGrpSpPr>
        <p:grpSpPr bwMode="auto">
          <a:xfrm>
            <a:off x="3785616" y="3831336"/>
            <a:ext cx="384048" cy="384048"/>
            <a:chOff x="3785616" y="3831336"/>
            <a:chExt cx="384048" cy="384048"/>
          </a:xfrm>
        </p:grpSpPr>
        <p:sp>
          <p:nvSpPr>
            <p:cNvPr id="110" name="Oval 109"/>
            <p:cNvSpPr/>
            <p:nvPr/>
          </p:nvSpPr>
          <p:spPr bwMode="auto">
            <a:xfrm>
              <a:off x="3785616" y="3831336"/>
              <a:ext cx="384048" cy="384048"/>
            </a:xfrm>
            <a:prstGeom prst="ellipse">
              <a:avLst/>
            </a:prstGeom>
            <a:solidFill>
              <a:srgbClr val="298FC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11" name="TextBox 110"/>
            <p:cNvSpPr txBox="1"/>
            <p:nvPr/>
          </p:nvSpPr>
          <p:spPr bwMode="auto">
            <a:xfrm>
              <a:off x="3785616" y="3831336"/>
              <a:ext cx="384048" cy="38404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defRPr/>
              </a:pPr>
              <a:r>
                <a:rPr lang="en-US" sz="1300" b="1">
                  <a:solidFill>
                    <a:srgbClr val="FFFFFF"/>
                  </a:solidFill>
                  <a:latin typeface="Inter"/>
                  <a:cs typeface="Inter"/>
                </a:rPr>
                <a:t>2</a:t>
              </a:r>
              <a:endParaRPr/>
            </a:p>
          </p:txBody>
        </p:sp>
      </p:grpSp>
      <p:grpSp>
        <p:nvGrpSpPr>
          <p:cNvPr id="84274969" name="Group 6"/>
          <p:cNvGrpSpPr/>
          <p:nvPr/>
        </p:nvGrpSpPr>
        <p:grpSpPr bwMode="auto">
          <a:xfrm>
            <a:off x="2971800" y="3383280"/>
            <a:ext cx="2011680" cy="274320"/>
            <a:chOff x="2971800" y="3383280"/>
            <a:chExt cx="2011680" cy="274320"/>
          </a:xfrm>
        </p:grpSpPr>
        <p:sp>
          <p:nvSpPr>
            <p:cNvPr id="112" name="TextBox 111"/>
            <p:cNvSpPr txBox="1"/>
            <p:nvPr/>
          </p:nvSpPr>
          <p:spPr bwMode="auto">
            <a:xfrm>
              <a:off x="2971800" y="3383280"/>
              <a:ext cx="2011680" cy="2743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defRPr/>
              </a:pPr>
              <a:r>
                <a:rPr lang="en-US" sz="1300" b="1">
                  <a:solidFill>
                    <a:srgbClr val="298FC2"/>
                  </a:solidFill>
                  <a:latin typeface="Inter"/>
                  <a:cs typeface="Inter"/>
                </a:rPr>
                <a:t>Next</a:t>
              </a:r>
              <a:endParaRPr/>
            </a:p>
          </p:txBody>
        </p:sp>
      </p:grpSp>
      <p:grpSp>
        <p:nvGrpSpPr>
          <p:cNvPr id="2042054723" name="Group 7"/>
          <p:cNvGrpSpPr/>
          <p:nvPr/>
        </p:nvGrpSpPr>
        <p:grpSpPr bwMode="auto">
          <a:xfrm>
            <a:off x="2971800" y="4343400"/>
            <a:ext cx="2011680" cy="1417320"/>
            <a:chOff x="2971800" y="4343400"/>
            <a:chExt cx="2011680" cy="1417320"/>
          </a:xfrm>
        </p:grpSpPr>
        <p:sp>
          <p:nvSpPr>
            <p:cNvPr id="113" name="Rounded Rectangle 112"/>
            <p:cNvSpPr/>
            <p:nvPr/>
          </p:nvSpPr>
          <p:spPr bwMode="auto">
            <a:xfrm>
              <a:off x="2971800" y="4343400"/>
              <a:ext cx="2011680" cy="1417320"/>
            </a:xfrm>
            <a:prstGeom prst="roundRect">
              <a:avLst>
                <a:gd name="adj" fmla="val 9032"/>
              </a:avLst>
            </a:prstGeom>
            <a:solidFill>
              <a:srgbClr val="FFFFFF"/>
            </a:solidFill>
            <a:ln w="12700">
              <a:solidFill>
                <a:srgbClr val="DDE5ED"/>
              </a:solidFill>
            </a:ln>
            <a:effectLst>
              <a:outerShdw blurRad="101600" dist="25400" dir="5400000" algn="t" rotWithShape="0">
                <a:srgbClr val="101820">
                  <a:alpha val="9000"/>
                </a:srgbClr>
              </a:outerShdw>
            </a:effectLst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14" name="TextBox 113"/>
            <p:cNvSpPr txBox="1"/>
            <p:nvPr/>
          </p:nvSpPr>
          <p:spPr bwMode="auto">
            <a:xfrm>
              <a:off x="3063240" y="4462272"/>
              <a:ext cx="1865376" cy="64008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defRPr/>
              </a:pPr>
              <a:r>
                <a:rPr lang="en-US" sz="1400" b="1">
                  <a:solidFill>
                    <a:srgbClr val="101820"/>
                  </a:solidFill>
                  <a:latin typeface="Inter"/>
                  <a:cs typeface="Inter"/>
                </a:rPr>
                <a:t>Hand-run pilot:</a:t>
              </a:r>
              <a:endParaRPr/>
            </a:p>
            <a:p>
              <a:pPr algn="l">
                <a:defRPr/>
              </a:pPr>
              <a:r>
                <a:rPr lang="en-US" sz="1400" b="1">
                  <a:solidFill>
                    <a:srgbClr val="101820"/>
                  </a:solidFill>
                  <a:latin typeface="Inter"/>
                  <a:cs typeface="Inter"/>
                </a:rPr>
                <a:t>10–20 real orders</a:t>
              </a:r>
              <a:endParaRPr/>
            </a:p>
          </p:txBody>
        </p:sp>
        <p:sp>
          <p:nvSpPr>
            <p:cNvPr id="115" name="TextBox 114"/>
            <p:cNvSpPr txBox="1"/>
            <p:nvPr/>
          </p:nvSpPr>
          <p:spPr bwMode="auto">
            <a:xfrm>
              <a:off x="3063240" y="5138928"/>
              <a:ext cx="1865376" cy="54864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defRPr/>
              </a:pPr>
              <a:r>
                <a:rPr lang="en-US" sz="1150" b="0">
                  <a:solidFill>
                    <a:srgbClr val="5A6672"/>
                  </a:solidFill>
                  <a:latin typeface="Inter"/>
                  <a:cs typeface="Inter"/>
                </a:rPr>
                <a:t>Measure real order size and costs</a:t>
              </a:r>
              <a:endParaRPr/>
            </a:p>
          </p:txBody>
        </p:sp>
      </p:grpSp>
      <p:grpSp>
        <p:nvGrpSpPr>
          <p:cNvPr id="433589088" name="Group 8"/>
          <p:cNvGrpSpPr/>
          <p:nvPr/>
        </p:nvGrpSpPr>
        <p:grpSpPr bwMode="auto">
          <a:xfrm>
            <a:off x="5980176" y="3831336"/>
            <a:ext cx="384048" cy="384048"/>
            <a:chOff x="5980176" y="3831336"/>
            <a:chExt cx="384048" cy="384048"/>
          </a:xfrm>
        </p:grpSpPr>
        <p:sp>
          <p:nvSpPr>
            <p:cNvPr id="116" name="Oval 115"/>
            <p:cNvSpPr/>
            <p:nvPr/>
          </p:nvSpPr>
          <p:spPr bwMode="auto">
            <a:xfrm>
              <a:off x="5980176" y="3831336"/>
              <a:ext cx="384048" cy="384048"/>
            </a:xfrm>
            <a:prstGeom prst="ellipse">
              <a:avLst/>
            </a:prstGeom>
            <a:solidFill>
              <a:srgbClr val="298FC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17" name="TextBox 116"/>
            <p:cNvSpPr txBox="1"/>
            <p:nvPr/>
          </p:nvSpPr>
          <p:spPr bwMode="auto">
            <a:xfrm>
              <a:off x="5980176" y="3831336"/>
              <a:ext cx="384048" cy="38404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defRPr/>
              </a:pPr>
              <a:r>
                <a:rPr lang="en-US" sz="1300" b="1">
                  <a:solidFill>
                    <a:srgbClr val="FFFFFF"/>
                  </a:solidFill>
                  <a:latin typeface="Inter"/>
                  <a:cs typeface="Inter"/>
                </a:rPr>
                <a:t>3</a:t>
              </a:r>
              <a:endParaRPr/>
            </a:p>
          </p:txBody>
        </p:sp>
      </p:grpSp>
      <p:grpSp>
        <p:nvGrpSpPr>
          <p:cNvPr id="1763985510" name="Group 9"/>
          <p:cNvGrpSpPr/>
          <p:nvPr/>
        </p:nvGrpSpPr>
        <p:grpSpPr bwMode="auto">
          <a:xfrm>
            <a:off x="5166360" y="3383280"/>
            <a:ext cx="2011680" cy="274320"/>
            <a:chOff x="5166360" y="3383280"/>
            <a:chExt cx="2011680" cy="274320"/>
          </a:xfrm>
        </p:grpSpPr>
        <p:sp>
          <p:nvSpPr>
            <p:cNvPr id="118" name="TextBox 117"/>
            <p:cNvSpPr txBox="1"/>
            <p:nvPr/>
          </p:nvSpPr>
          <p:spPr bwMode="auto">
            <a:xfrm>
              <a:off x="5166360" y="3383280"/>
              <a:ext cx="2011680" cy="2743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defRPr/>
              </a:pPr>
              <a:r>
                <a:rPr lang="en-US" sz="1300" b="1">
                  <a:solidFill>
                    <a:srgbClr val="298FC2"/>
                  </a:solidFill>
                  <a:latin typeface="Inter"/>
                  <a:cs typeface="Inter"/>
                </a:rPr>
                <a:t>Launch</a:t>
              </a:r>
              <a:endParaRPr/>
            </a:p>
          </p:txBody>
        </p:sp>
      </p:grpSp>
      <p:grpSp>
        <p:nvGrpSpPr>
          <p:cNvPr id="786789700" name="Group 10"/>
          <p:cNvGrpSpPr/>
          <p:nvPr/>
        </p:nvGrpSpPr>
        <p:grpSpPr bwMode="auto">
          <a:xfrm>
            <a:off x="5166360" y="4343400"/>
            <a:ext cx="2011680" cy="1417320"/>
            <a:chOff x="5166360" y="4343400"/>
            <a:chExt cx="2011680" cy="1417320"/>
          </a:xfrm>
        </p:grpSpPr>
        <p:sp>
          <p:nvSpPr>
            <p:cNvPr id="119" name="Rounded Rectangle 118"/>
            <p:cNvSpPr/>
            <p:nvPr/>
          </p:nvSpPr>
          <p:spPr bwMode="auto">
            <a:xfrm>
              <a:off x="5166360" y="4343400"/>
              <a:ext cx="2011680" cy="1417320"/>
            </a:xfrm>
            <a:prstGeom prst="roundRect">
              <a:avLst>
                <a:gd name="adj" fmla="val 9032"/>
              </a:avLst>
            </a:prstGeom>
            <a:solidFill>
              <a:srgbClr val="FFFFFF"/>
            </a:solidFill>
            <a:ln w="12700">
              <a:solidFill>
                <a:srgbClr val="DDE5ED"/>
              </a:solidFill>
            </a:ln>
            <a:effectLst>
              <a:outerShdw blurRad="101600" dist="25400" dir="5400000" algn="t" rotWithShape="0">
                <a:srgbClr val="101820">
                  <a:alpha val="9000"/>
                </a:srgbClr>
              </a:outerShdw>
            </a:effectLst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20" name="TextBox 119"/>
            <p:cNvSpPr txBox="1"/>
            <p:nvPr/>
          </p:nvSpPr>
          <p:spPr bwMode="auto">
            <a:xfrm>
              <a:off x="5257800" y="4462272"/>
              <a:ext cx="1865376" cy="64008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defRPr/>
              </a:pPr>
              <a:r>
                <a:rPr lang="en-US" sz="1400" b="1">
                  <a:solidFill>
                    <a:srgbClr val="101820"/>
                  </a:solidFill>
                  <a:latin typeface="Inter"/>
                  <a:cs typeface="Inter"/>
                </a:rPr>
                <a:t>20 founding stores go live in Duhok</a:t>
              </a:r>
              <a:endParaRPr/>
            </a:p>
          </p:txBody>
        </p:sp>
        <p:sp>
          <p:nvSpPr>
            <p:cNvPr id="121" name="TextBox 120"/>
            <p:cNvSpPr txBox="1"/>
            <p:nvPr/>
          </p:nvSpPr>
          <p:spPr bwMode="auto">
            <a:xfrm>
              <a:off x="5257800" y="5138928"/>
              <a:ext cx="1865376" cy="54864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defRPr/>
              </a:pPr>
              <a:r>
                <a:rPr lang="en-US" sz="1150" b="0">
                  <a:solidFill>
                    <a:srgbClr val="5A6672"/>
                  </a:solidFill>
                  <a:latin typeface="Inter"/>
                  <a:cs typeface="Inter"/>
                </a:rPr>
                <a:t>Cash on delivery; card soon after</a:t>
              </a:r>
              <a:endParaRPr/>
            </a:p>
          </p:txBody>
        </p:sp>
      </p:grpSp>
      <p:grpSp>
        <p:nvGrpSpPr>
          <p:cNvPr id="1950958107" name="Group 11"/>
          <p:cNvGrpSpPr/>
          <p:nvPr/>
        </p:nvGrpSpPr>
        <p:grpSpPr bwMode="auto">
          <a:xfrm>
            <a:off x="8174736" y="3831336"/>
            <a:ext cx="384048" cy="384048"/>
            <a:chOff x="8174736" y="3831336"/>
            <a:chExt cx="384048" cy="384048"/>
          </a:xfrm>
        </p:grpSpPr>
        <p:sp>
          <p:nvSpPr>
            <p:cNvPr id="122" name="Oval 121"/>
            <p:cNvSpPr/>
            <p:nvPr/>
          </p:nvSpPr>
          <p:spPr bwMode="auto">
            <a:xfrm>
              <a:off x="8174736" y="3831336"/>
              <a:ext cx="384048" cy="384048"/>
            </a:xfrm>
            <a:prstGeom prst="ellipse">
              <a:avLst/>
            </a:prstGeom>
            <a:solidFill>
              <a:srgbClr val="298FC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23" name="TextBox 122"/>
            <p:cNvSpPr txBox="1"/>
            <p:nvPr/>
          </p:nvSpPr>
          <p:spPr bwMode="auto">
            <a:xfrm>
              <a:off x="8174736" y="3831336"/>
              <a:ext cx="384048" cy="38404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defRPr/>
              </a:pPr>
              <a:r>
                <a:rPr lang="en-US" sz="1300" b="1">
                  <a:solidFill>
                    <a:srgbClr val="FFFFFF"/>
                  </a:solidFill>
                  <a:latin typeface="Inter"/>
                  <a:cs typeface="Inter"/>
                </a:rPr>
                <a:t>4</a:t>
              </a:r>
              <a:endParaRPr/>
            </a:p>
          </p:txBody>
        </p:sp>
      </p:grpSp>
      <p:grpSp>
        <p:nvGrpSpPr>
          <p:cNvPr id="1241980042" name="Group 12"/>
          <p:cNvGrpSpPr/>
          <p:nvPr/>
        </p:nvGrpSpPr>
        <p:grpSpPr bwMode="auto">
          <a:xfrm>
            <a:off x="7360920" y="3383280"/>
            <a:ext cx="2011680" cy="274320"/>
            <a:chOff x="7360920" y="3383280"/>
            <a:chExt cx="2011680" cy="274320"/>
          </a:xfrm>
        </p:grpSpPr>
        <p:sp>
          <p:nvSpPr>
            <p:cNvPr id="124" name="TextBox 123"/>
            <p:cNvSpPr txBox="1"/>
            <p:nvPr/>
          </p:nvSpPr>
          <p:spPr bwMode="auto">
            <a:xfrm>
              <a:off x="7360920" y="3383280"/>
              <a:ext cx="2011680" cy="2743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defRPr/>
              </a:pPr>
              <a:r>
                <a:rPr lang="en-US" sz="1300" b="1">
                  <a:solidFill>
                    <a:srgbClr val="298FC2"/>
                  </a:solidFill>
                  <a:latin typeface="Inter"/>
                  <a:cs typeface="Inter"/>
                </a:rPr>
                <a:t>Month 4</a:t>
              </a:r>
              <a:endParaRPr/>
            </a:p>
          </p:txBody>
        </p:sp>
      </p:grpSp>
      <p:grpSp>
        <p:nvGrpSpPr>
          <p:cNvPr id="612898849" name="Group 13"/>
          <p:cNvGrpSpPr/>
          <p:nvPr/>
        </p:nvGrpSpPr>
        <p:grpSpPr bwMode="auto">
          <a:xfrm>
            <a:off x="7360920" y="4343400"/>
            <a:ext cx="2011680" cy="1417320"/>
            <a:chOff x="7360920" y="4343400"/>
            <a:chExt cx="2011680" cy="1417320"/>
          </a:xfrm>
        </p:grpSpPr>
        <p:sp>
          <p:nvSpPr>
            <p:cNvPr id="125" name="Rounded Rectangle 124"/>
            <p:cNvSpPr/>
            <p:nvPr/>
          </p:nvSpPr>
          <p:spPr bwMode="auto">
            <a:xfrm>
              <a:off x="7360920" y="4343400"/>
              <a:ext cx="2011680" cy="1417320"/>
            </a:xfrm>
            <a:prstGeom prst="roundRect">
              <a:avLst>
                <a:gd name="adj" fmla="val 9032"/>
              </a:avLst>
            </a:prstGeom>
            <a:solidFill>
              <a:srgbClr val="FFFFFF"/>
            </a:solidFill>
            <a:ln w="12700">
              <a:solidFill>
                <a:srgbClr val="DDE5ED"/>
              </a:solidFill>
            </a:ln>
            <a:effectLst>
              <a:outerShdw blurRad="101600" dist="25400" dir="5400000" algn="t" rotWithShape="0">
                <a:srgbClr val="101820">
                  <a:alpha val="9000"/>
                </a:srgbClr>
              </a:outerShdw>
            </a:effectLst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26" name="TextBox 125"/>
            <p:cNvSpPr txBox="1"/>
            <p:nvPr/>
          </p:nvSpPr>
          <p:spPr bwMode="auto">
            <a:xfrm>
              <a:off x="7452360" y="4462272"/>
              <a:ext cx="1865376" cy="64008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defRPr/>
              </a:pPr>
              <a:r>
                <a:rPr lang="en-US" sz="1400" b="1">
                  <a:solidFill>
                    <a:srgbClr val="101820"/>
                  </a:solidFill>
                  <a:latin typeface="Inter"/>
                  <a:cs typeface="Inter"/>
                </a:rPr>
                <a:t>Monthly break-even</a:t>
              </a:r>
              <a:endParaRPr/>
            </a:p>
          </p:txBody>
        </p:sp>
        <p:sp>
          <p:nvSpPr>
            <p:cNvPr id="127" name="TextBox 126"/>
            <p:cNvSpPr txBox="1"/>
            <p:nvPr/>
          </p:nvSpPr>
          <p:spPr bwMode="auto">
            <a:xfrm>
              <a:off x="7452360" y="5138928"/>
              <a:ext cx="1865376" cy="54864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defRPr/>
              </a:pPr>
              <a:r>
                <a:rPr lang="en-US" sz="1150" b="0">
                  <a:solidFill>
                    <a:srgbClr val="5A6672"/>
                  </a:solidFill>
                  <a:latin typeface="Inter"/>
                  <a:cs typeface="Inter"/>
                </a:rPr>
                <a:t>About 600 orders a month</a:t>
              </a:r>
              <a:endParaRPr/>
            </a:p>
          </p:txBody>
        </p:sp>
      </p:grpSp>
      <p:grpSp>
        <p:nvGrpSpPr>
          <p:cNvPr id="1694516322" name="Group 14"/>
          <p:cNvGrpSpPr/>
          <p:nvPr/>
        </p:nvGrpSpPr>
        <p:grpSpPr bwMode="auto">
          <a:xfrm>
            <a:off x="10232136" y="3831336"/>
            <a:ext cx="384048" cy="384048"/>
            <a:chOff x="10232136" y="3831336"/>
            <a:chExt cx="384048" cy="384048"/>
          </a:xfrm>
        </p:grpSpPr>
        <p:sp>
          <p:nvSpPr>
            <p:cNvPr id="128" name="Oval 127"/>
            <p:cNvSpPr/>
            <p:nvPr/>
          </p:nvSpPr>
          <p:spPr bwMode="auto">
            <a:xfrm>
              <a:off x="10232136" y="3831336"/>
              <a:ext cx="384048" cy="384048"/>
            </a:xfrm>
            <a:prstGeom prst="ellipse">
              <a:avLst/>
            </a:prstGeom>
            <a:solidFill>
              <a:srgbClr val="298FC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29" name="TextBox 128"/>
            <p:cNvSpPr txBox="1"/>
            <p:nvPr/>
          </p:nvSpPr>
          <p:spPr bwMode="auto">
            <a:xfrm>
              <a:off x="10232136" y="3831336"/>
              <a:ext cx="384048" cy="38404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defRPr/>
              </a:pPr>
              <a:r>
                <a:rPr lang="en-US" sz="1300" b="1">
                  <a:solidFill>
                    <a:srgbClr val="FFFFFF"/>
                  </a:solidFill>
                  <a:latin typeface="Inter"/>
                  <a:cs typeface="Inter"/>
                </a:rPr>
                <a:t>5</a:t>
              </a:r>
              <a:endParaRPr/>
            </a:p>
          </p:txBody>
        </p:sp>
      </p:grpSp>
      <p:grpSp>
        <p:nvGrpSpPr>
          <p:cNvPr id="1270508058" name="Group 15"/>
          <p:cNvGrpSpPr/>
          <p:nvPr/>
        </p:nvGrpSpPr>
        <p:grpSpPr bwMode="auto">
          <a:xfrm>
            <a:off x="9418320" y="3383280"/>
            <a:ext cx="2011680" cy="274320"/>
            <a:chOff x="9418320" y="3383280"/>
            <a:chExt cx="2011680" cy="274320"/>
          </a:xfrm>
        </p:grpSpPr>
        <p:sp>
          <p:nvSpPr>
            <p:cNvPr id="130" name="TextBox 129"/>
            <p:cNvSpPr txBox="1"/>
            <p:nvPr/>
          </p:nvSpPr>
          <p:spPr bwMode="auto">
            <a:xfrm>
              <a:off x="9418320" y="3383280"/>
              <a:ext cx="2011680" cy="2743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defRPr/>
              </a:pPr>
              <a:r>
                <a:rPr lang="en-US" sz="1300" b="1">
                  <a:solidFill>
                    <a:srgbClr val="298FC2"/>
                  </a:solidFill>
                  <a:latin typeface="Inter"/>
                  <a:cs typeface="Inter"/>
                </a:rPr>
                <a:t>Month 7+</a:t>
              </a:r>
              <a:endParaRPr/>
            </a:p>
          </p:txBody>
        </p:sp>
      </p:grpSp>
      <p:grpSp>
        <p:nvGrpSpPr>
          <p:cNvPr id="514319586" name="Group 16"/>
          <p:cNvGrpSpPr/>
          <p:nvPr/>
        </p:nvGrpSpPr>
        <p:grpSpPr bwMode="auto">
          <a:xfrm>
            <a:off x="9418320" y="4343400"/>
            <a:ext cx="2011680" cy="1417320"/>
            <a:chOff x="9418320" y="4343400"/>
            <a:chExt cx="2011680" cy="1417320"/>
          </a:xfrm>
        </p:grpSpPr>
        <p:sp>
          <p:nvSpPr>
            <p:cNvPr id="131" name="Rounded Rectangle 130"/>
            <p:cNvSpPr/>
            <p:nvPr/>
          </p:nvSpPr>
          <p:spPr bwMode="auto">
            <a:xfrm>
              <a:off x="9418320" y="4343400"/>
              <a:ext cx="2011680" cy="1417320"/>
            </a:xfrm>
            <a:prstGeom prst="roundRect">
              <a:avLst>
                <a:gd name="adj" fmla="val 9032"/>
              </a:avLst>
            </a:prstGeom>
            <a:solidFill>
              <a:srgbClr val="FFFFFF"/>
            </a:solidFill>
            <a:ln w="12700">
              <a:solidFill>
                <a:srgbClr val="DDE5ED"/>
              </a:solidFill>
            </a:ln>
            <a:effectLst>
              <a:outerShdw blurRad="101600" dist="25400" dir="5400000" algn="t" rotWithShape="0">
                <a:srgbClr val="101820">
                  <a:alpha val="9000"/>
                </a:srgbClr>
              </a:outerShdw>
            </a:effectLst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32" name="TextBox 131"/>
            <p:cNvSpPr txBox="1"/>
            <p:nvPr/>
          </p:nvSpPr>
          <p:spPr bwMode="auto">
            <a:xfrm>
              <a:off x="9509760" y="4462272"/>
              <a:ext cx="1865376" cy="64008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defRPr/>
              </a:pPr>
              <a:r>
                <a:rPr lang="en-US" sz="1400" b="1">
                  <a:solidFill>
                    <a:srgbClr val="101820"/>
                  </a:solidFill>
                  <a:latin typeface="Inter"/>
                  <a:cs typeface="Inter"/>
                </a:rPr>
                <a:t>Erbil · Mosul · Sulaymaniyah</a:t>
              </a:r>
              <a:endParaRPr/>
            </a:p>
          </p:txBody>
        </p:sp>
        <p:sp>
          <p:nvSpPr>
            <p:cNvPr id="133" name="TextBox 132"/>
            <p:cNvSpPr txBox="1"/>
            <p:nvPr/>
          </p:nvSpPr>
          <p:spPr bwMode="auto">
            <a:xfrm>
              <a:off x="9509760" y="5138928"/>
              <a:ext cx="1865376" cy="54864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defRPr/>
              </a:pPr>
              <a:r>
                <a:rPr lang="en-US" sz="1150" b="0">
                  <a:solidFill>
                    <a:srgbClr val="5A6672"/>
                  </a:solidFill>
                  <a:latin typeface="Inter"/>
                  <a:cs typeface="Inter"/>
                </a:rPr>
                <a:t>Then all of Iraq</a:t>
              </a:r>
              <a:endParaRPr/>
            </a:p>
          </p:txBody>
        </p:sp>
      </p:grpSp>
      <p:grpSp>
        <p:nvGrpSpPr>
          <p:cNvPr id="1557174435" name="Group 17"/>
          <p:cNvGrpSpPr/>
          <p:nvPr/>
        </p:nvGrpSpPr>
        <p:grpSpPr bwMode="auto">
          <a:xfrm>
            <a:off x="722376" y="5989320"/>
            <a:ext cx="10753344" cy="320040"/>
            <a:chOff x="722376" y="5989320"/>
            <a:chExt cx="10753344" cy="320040"/>
          </a:xfrm>
        </p:grpSpPr>
        <p:pic>
          <p:nvPicPr>
            <p:cNvPr id="134" name="Picture 133" descr="chart-column_298FC2.png"/>
            <p:cNvPicPr>
              <a:picLocks noChangeAspect="1"/>
            </p:cNvPicPr>
            <p:nvPr/>
          </p:nvPicPr>
          <p:blipFill rotWithShape="1">
            <a:blip r:embed="rId5"/>
            <a:stretch/>
          </p:blipFill>
          <p:spPr bwMode="auto">
            <a:xfrm>
              <a:off x="722376" y="6035039"/>
              <a:ext cx="237744" cy="237744"/>
            </a:xfrm>
            <a:prstGeom prst="rect">
              <a:avLst/>
            </a:prstGeom>
          </p:spPr>
        </p:pic>
        <p:sp>
          <p:nvSpPr>
            <p:cNvPr id="135" name="TextBox 134"/>
            <p:cNvSpPr txBox="1"/>
            <p:nvPr/>
          </p:nvSpPr>
          <p:spPr bwMode="auto">
            <a:xfrm>
              <a:off x="1051560" y="5989320"/>
              <a:ext cx="10424160" cy="3200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defRPr/>
              </a:pPr>
              <a:r>
                <a:rPr lang="en-US" sz="1200" b="0">
                  <a:solidFill>
                    <a:srgbClr val="5A6672"/>
                  </a:solidFill>
                  <a:latin typeface="Inter"/>
                  <a:cs typeface="Inter"/>
                </a:rPr>
                <a:t>We report monthly: delivered orders · sales volume · active stores · repeat orders · delivery time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fast" p14:dur="500" advClick="1">
        <p:fade thruBlk="0"/>
      </p:transition>
    </mc:Choice>
    <mc:Fallback>
      <p:transition spd="fast" advClick="1">
        <p:fade thruBlk="0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8947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438947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33020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300" fill="hold"/>
                                        <p:tgtEl>
                                          <p:spTgt spid="142330209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300" fill="hold"/>
                                        <p:tgtEl>
                                          <p:spTgt spid="142330209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300"/>
                                        <p:tgtEl>
                                          <p:spTgt spid="14233020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27962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227962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69208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00"/>
                                        <p:tgtEl>
                                          <p:spTgt spid="13569208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61195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300" fill="hold"/>
                                        <p:tgtEl>
                                          <p:spTgt spid="182611959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300" fill="hold"/>
                                        <p:tgtEl>
                                          <p:spTgt spid="182611959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8261195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2749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00"/>
                                        <p:tgtEl>
                                          <p:spTgt spid="842749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20547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00"/>
                                        <p:tgtEl>
                                          <p:spTgt spid="20420547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35890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8" dur="300" fill="hold"/>
                                        <p:tgtEl>
                                          <p:spTgt spid="43358908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300" fill="hold"/>
                                        <p:tgtEl>
                                          <p:spTgt spid="43358908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300"/>
                                        <p:tgtEl>
                                          <p:spTgt spid="4335890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39855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00"/>
                                        <p:tgtEl>
                                          <p:spTgt spid="17639855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67897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00"/>
                                        <p:tgtEl>
                                          <p:spTgt spid="7867897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0958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1" dur="300" fill="hold"/>
                                        <p:tgtEl>
                                          <p:spTgt spid="195095810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300" fill="hold"/>
                                        <p:tgtEl>
                                          <p:spTgt spid="195095810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3" dur="300"/>
                                        <p:tgtEl>
                                          <p:spTgt spid="1950958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19800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300"/>
                                        <p:tgtEl>
                                          <p:spTgt spid="12419800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28988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300"/>
                                        <p:tgtEl>
                                          <p:spTgt spid="6128988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45163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300" fill="hold"/>
                                        <p:tgtEl>
                                          <p:spTgt spid="16945163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300" fill="hold"/>
                                        <p:tgtEl>
                                          <p:spTgt spid="16945163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6" dur="300"/>
                                        <p:tgtEl>
                                          <p:spTgt spid="16945163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05080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300"/>
                                        <p:tgtEl>
                                          <p:spTgt spid="12705080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43195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00"/>
                                        <p:tgtEl>
                                          <p:spTgt spid="5143195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3" fill="hold">
                            <p:stCondLst>
                              <p:cond delay="300"/>
                            </p:stCondLst>
                            <p:childTnLst>
                              <p:par>
                                <p:cTn id="74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71744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00"/>
                                        <p:tgtEl>
                                          <p:spTgt spid="15571744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4921941" name="Google Shape;104;p15"/>
          <p:cNvSpPr/>
          <p:nvPr/>
        </p:nvSpPr>
        <p:spPr bwMode="auto">
          <a:xfrm>
            <a:off x="723900" y="5848350"/>
            <a:ext cx="10744200" cy="514350"/>
          </a:xfrm>
          <a:prstGeom prst="roundRect">
            <a:avLst>
              <a:gd name="adj" fmla="val 25925"/>
            </a:avLst>
          </a:prstGeom>
          <a:solidFill>
            <a:srgbClr val="01053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pic>
        <p:nvPicPr>
          <p:cNvPr id="1246120500" name="Google Shape;105;p15" descr="image.png"/>
          <p:cNvPicPr/>
          <p:nvPr/>
        </p:nvPicPr>
        <p:blipFill rotWithShape="1">
          <a:blip r:embed="rId3">
            <a:alphaModFix/>
          </a:blip>
          <a:srcRect l="0" t="0" r="0" b="0"/>
          <a:stretch/>
        </p:blipFill>
        <p:spPr bwMode="auto">
          <a:xfrm>
            <a:off x="1066800" y="6000750"/>
            <a:ext cx="209550" cy="209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98197995" name="Google Shape;106;p15" descr="image.png"/>
          <p:cNvPicPr/>
          <p:nvPr/>
        </p:nvPicPr>
        <p:blipFill rotWithShape="1">
          <a:blip r:embed="rId4">
            <a:alphaModFix/>
          </a:blip>
          <a:srcRect l="0" t="0" r="0" b="0"/>
          <a:stretch/>
        </p:blipFill>
        <p:spPr bwMode="auto">
          <a:xfrm>
            <a:off x="1390650" y="6000750"/>
            <a:ext cx="180975" cy="209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96609376" name="Google Shape;107;p15" descr="image.png"/>
          <p:cNvPicPr/>
          <p:nvPr/>
        </p:nvPicPr>
        <p:blipFill rotWithShape="1">
          <a:blip r:embed="rId5">
            <a:alphaModFix/>
          </a:blip>
          <a:srcRect l="0" t="0" r="0" b="0"/>
          <a:stretch/>
        </p:blipFill>
        <p:spPr bwMode="auto">
          <a:xfrm>
            <a:off x="5214937" y="6000750"/>
            <a:ext cx="180975" cy="209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683421" name="Google Shape;108;p15" descr="image.png"/>
          <p:cNvPicPr/>
          <p:nvPr/>
        </p:nvPicPr>
        <p:blipFill rotWithShape="1">
          <a:blip r:embed="rId6">
            <a:alphaModFix/>
          </a:blip>
          <a:srcRect l="0" t="0" r="0" b="0"/>
          <a:stretch/>
        </p:blipFill>
        <p:spPr bwMode="auto">
          <a:xfrm>
            <a:off x="9115425" y="6000750"/>
            <a:ext cx="209550" cy="209550"/>
          </a:xfrm>
          <a:prstGeom prst="rect">
            <a:avLst/>
          </a:prstGeom>
          <a:noFill/>
          <a:ln>
            <a:noFill/>
          </a:ln>
        </p:spPr>
      </p:pic>
      <p:sp>
        <p:nvSpPr>
          <p:cNvPr id="262628231" name="Google Shape;109;p15"/>
          <p:cNvSpPr txBox="1"/>
          <p:nvPr/>
        </p:nvSpPr>
        <p:spPr bwMode="auto">
          <a:xfrm>
            <a:off x="1543050" y="6010274"/>
            <a:ext cx="1104900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350" b="1" i="0" u="none" strike="noStrike" cap="none">
                <a:solidFill>
                  <a:srgbClr val="FFFFFF"/>
                </a:solidFill>
                <a:latin typeface="Comfortaa"/>
                <a:ea typeface="Comfortaa"/>
                <a:cs typeface="Comfortaa"/>
              </a:rPr>
              <a:t>capa.auk</a:t>
            </a:r>
            <a:endParaRPr/>
          </a:p>
        </p:txBody>
      </p:sp>
      <p:sp>
        <p:nvSpPr>
          <p:cNvPr id="2032033996" name="Google Shape;110;p15"/>
          <p:cNvSpPr txBox="1"/>
          <p:nvPr/>
        </p:nvSpPr>
        <p:spPr bwMode="auto">
          <a:xfrm>
            <a:off x="5367337" y="6010274"/>
            <a:ext cx="1181099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350" b="1" i="0" u="none" strike="noStrike" cap="none">
                <a:solidFill>
                  <a:srgbClr val="FFFFFF"/>
                </a:solidFill>
                <a:latin typeface="Comfortaa"/>
                <a:ea typeface="Comfortaa"/>
                <a:cs typeface="Comfortaa"/>
              </a:rPr>
              <a:t>CAPA AUK</a:t>
            </a:r>
            <a:endParaRPr/>
          </a:p>
        </p:txBody>
      </p:sp>
      <p:sp>
        <p:nvSpPr>
          <p:cNvPr id="1556163889" name="Google Shape;111;p15"/>
          <p:cNvSpPr txBox="1"/>
          <p:nvPr/>
        </p:nvSpPr>
        <p:spPr bwMode="auto">
          <a:xfrm>
            <a:off x="9228534" y="6010274"/>
            <a:ext cx="2107406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350" b="1" i="0" u="none" strike="noStrike" cap="none">
                <a:solidFill>
                  <a:srgbClr val="FFFFFF"/>
                </a:solidFill>
                <a:latin typeface="Comfortaa"/>
                <a:ea typeface="Comfortaa"/>
                <a:cs typeface="Comfortaa"/>
              </a:rPr>
              <a:t>capa@auk.edu.krd</a:t>
            </a:r>
            <a:endParaRPr/>
          </a:p>
        </p:txBody>
      </p:sp>
      <p:pic>
        <p:nvPicPr>
          <p:cNvPr id="941021384" name="Google Shape;112;p15" title="Center_for_Academic_and_Professional_Advancement.png"/>
          <p:cNvPicPr/>
          <p:nvPr/>
        </p:nvPicPr>
        <p:blipFill rotWithShape="1">
          <a:blip r:embed="rId7">
            <a:alphaModFix/>
          </a:blip>
          <a:stretch/>
        </p:blipFill>
        <p:spPr bwMode="auto">
          <a:xfrm>
            <a:off x="7488575" y="351575"/>
            <a:ext cx="4058099" cy="1237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52986545" name="Google Shape;113;p15" title="german cooperation deutsche zusammenarbeit.png"/>
          <p:cNvPicPr/>
          <p:nvPr/>
        </p:nvPicPr>
        <p:blipFill rotWithShape="1">
          <a:blip r:embed="rId8">
            <a:alphaModFix/>
          </a:blip>
          <a:stretch/>
        </p:blipFill>
        <p:spPr bwMode="auto">
          <a:xfrm>
            <a:off x="723901" y="459625"/>
            <a:ext cx="1823430" cy="1021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0975863" name="Picture 113" descr="cheapify-logo.png"/>
          <p:cNvPicPr>
            <a:picLocks noChangeAspect="1"/>
          </p:cNvPicPr>
          <p:nvPr/>
        </p:nvPicPr>
        <p:blipFill rotWithShape="1">
          <a:blip r:embed="rId9"/>
          <a:stretch/>
        </p:blipFill>
        <p:spPr bwMode="auto">
          <a:xfrm>
            <a:off x="5615787" y="1983104"/>
            <a:ext cx="960120" cy="1234440"/>
          </a:xfrm>
          <a:prstGeom prst="rect">
            <a:avLst/>
          </a:prstGeom>
        </p:spPr>
      </p:pic>
      <p:sp>
        <p:nvSpPr>
          <p:cNvPr id="438410482" name="TextBox 114"/>
          <p:cNvSpPr txBox="1"/>
          <p:nvPr/>
        </p:nvSpPr>
        <p:spPr bwMode="auto">
          <a:xfrm>
            <a:off x="0" y="3263265"/>
            <a:ext cx="12191695" cy="7315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defRPr/>
            </a:pPr>
            <a:r>
              <a:rPr lang="en-US" sz="4600" b="1">
                <a:solidFill>
                  <a:srgbClr val="101820"/>
                </a:solidFill>
                <a:latin typeface="Comfortaa"/>
                <a:cs typeface="Comfortaa"/>
              </a:rPr>
              <a:t>Thank you</a:t>
            </a:r>
            <a:endParaRPr/>
          </a:p>
        </p:txBody>
      </p:sp>
      <p:sp>
        <p:nvSpPr>
          <p:cNvPr id="1350554701" name="TextBox 115"/>
          <p:cNvSpPr txBox="1"/>
          <p:nvPr/>
        </p:nvSpPr>
        <p:spPr bwMode="auto">
          <a:xfrm>
            <a:off x="0" y="4040505"/>
            <a:ext cx="12191695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defRPr/>
            </a:pPr>
            <a:r>
              <a:rPr lang="en-US" sz="2000" b="0">
                <a:solidFill>
                  <a:srgbClr val="298FC2"/>
                </a:solidFill>
                <a:latin typeface="Comfortaa"/>
                <a:cs typeface="Comfortaa"/>
              </a:rPr>
              <a:t>The bright side of choosing.</a:t>
            </a:r>
            <a:endParaRPr/>
          </a:p>
        </p:txBody>
      </p:sp>
      <p:sp>
        <p:nvSpPr>
          <p:cNvPr id="1101206163" name="TextBox 118"/>
          <p:cNvSpPr txBox="1"/>
          <p:nvPr/>
        </p:nvSpPr>
        <p:spPr bwMode="auto">
          <a:xfrm>
            <a:off x="0" y="4765547"/>
            <a:ext cx="12191695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defRPr/>
            </a:pPr>
            <a:r>
              <a:rPr lang="en-US" sz="1600" b="1">
                <a:solidFill>
                  <a:srgbClr val="298FC2"/>
                </a:solidFill>
                <a:latin typeface="Inter"/>
                <a:cs typeface="Inter"/>
              </a:rPr>
              <a:t>getcheapify.com</a:t>
            </a:r>
            <a:endParaRPr/>
          </a:p>
        </p:txBody>
      </p:sp>
      <p:sp>
        <p:nvSpPr>
          <p:cNvPr id="373353412" name="TextBox 119"/>
          <p:cNvSpPr txBox="1"/>
          <p:nvPr/>
        </p:nvSpPr>
        <p:spPr bwMode="auto">
          <a:xfrm>
            <a:off x="0" y="5067299"/>
            <a:ext cx="12191695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defRPr/>
            </a:pPr>
            <a:r>
              <a:rPr lang="en-US" sz="1300" b="0">
                <a:solidFill>
                  <a:srgbClr val="5A6672"/>
                </a:solidFill>
                <a:latin typeface="Inter"/>
                <a:cs typeface="Inter"/>
              </a:rPr>
              <a:t>Shakir Bashar · Founder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fast" p14:dur="500" advClick="1">
        <p:fade thruBlk="0"/>
      </p:transition>
    </mc:Choice>
    <mc:Fallback>
      <p:transition spd="fast" advClick="1">
        <p:fade thruBlk="0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9758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300" fill="hold"/>
                                        <p:tgtEl>
                                          <p:spTgt spid="20097586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300" fill="hold"/>
                                        <p:tgtEl>
                                          <p:spTgt spid="20097586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300"/>
                                        <p:tgtEl>
                                          <p:spTgt spid="2009758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30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84104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4384104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05547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3505547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1206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00"/>
                                        <p:tgtEl>
                                          <p:spTgt spid="1101206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33534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00"/>
                                        <p:tgtEl>
                                          <p:spTgt spid="3733534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38410482" grpId="0" animBg="1"/>
      <p:bldP spid="1350554701" grpId="0" animBg="1"/>
      <p:bldP spid="1101206163" grpId="0" animBg="1"/>
      <p:bldP spid="373353412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542795925" name="Google Shape;98;p14" title="Center_for_Academic_and_Professional_Advancement.png"/>
          <p:cNvPicPr/>
          <p:nvPr/>
        </p:nvPicPr>
        <p:blipFill rotWithShape="1">
          <a:blip r:embed="rId3">
            <a:alphaModFix/>
          </a:blip>
          <a:stretch/>
        </p:blipFill>
        <p:spPr bwMode="auto">
          <a:xfrm>
            <a:off x="8289593" y="351575"/>
            <a:ext cx="3178502" cy="9693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1055595" name="Google Shape;99;p14" title="german cooperation deutsche zusammenarbeit.png"/>
          <p:cNvPicPr/>
          <p:nvPr/>
        </p:nvPicPr>
        <p:blipFill rotWithShape="1">
          <a:blip r:embed="rId4">
            <a:alphaModFix/>
          </a:blip>
          <a:stretch/>
        </p:blipFill>
        <p:spPr bwMode="auto">
          <a:xfrm>
            <a:off x="723900" y="436204"/>
            <a:ext cx="1428202" cy="800089"/>
          </a:xfrm>
          <a:prstGeom prst="rect">
            <a:avLst/>
          </a:prstGeom>
          <a:noFill/>
          <a:ln>
            <a:noFill/>
          </a:ln>
        </p:spPr>
      </p:pic>
      <p:sp>
        <p:nvSpPr>
          <p:cNvPr id="1240491411" name="Rectangle 99"/>
          <p:cNvSpPr/>
          <p:nvPr/>
        </p:nvSpPr>
        <p:spPr bwMode="auto">
          <a:xfrm>
            <a:off x="722376" y="1517904"/>
            <a:ext cx="274320" cy="45720"/>
          </a:xfrm>
          <a:prstGeom prst="rect">
            <a:avLst/>
          </a:prstGeom>
          <a:solidFill>
            <a:srgbClr val="298FC2"/>
          </a:solidFill>
          <a:ln>
            <a:noFill/>
          </a:ln>
          <a:effectLst/>
        </p:spPr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56535686" name="TextBox 100"/>
          <p:cNvSpPr txBox="1"/>
          <p:nvPr/>
        </p:nvSpPr>
        <p:spPr bwMode="auto">
          <a:xfrm>
            <a:off x="1133856" y="1426464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defRPr/>
            </a:pPr>
            <a:r>
              <a:rPr lang="en-US" sz="1300" b="0">
                <a:solidFill>
                  <a:srgbClr val="5A6672"/>
                </a:solidFill>
                <a:latin typeface="Inter"/>
                <a:cs typeface="Inter"/>
              </a:rPr>
              <a:t>Appendix</a:t>
            </a:r>
            <a:endParaRPr/>
          </a:p>
        </p:txBody>
      </p:sp>
      <p:sp>
        <p:nvSpPr>
          <p:cNvPr id="737694549" name="TextBox 101"/>
          <p:cNvSpPr txBox="1"/>
          <p:nvPr/>
        </p:nvSpPr>
        <p:spPr bwMode="auto">
          <a:xfrm>
            <a:off x="722376" y="1700784"/>
            <a:ext cx="10744200" cy="5669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defRPr/>
            </a:pPr>
            <a:r>
              <a:rPr lang="en-US" sz="3000" b="1">
                <a:solidFill>
                  <a:srgbClr val="101820"/>
                </a:solidFill>
                <a:latin typeface="Comfortaa"/>
                <a:cs typeface="Comfortaa"/>
              </a:rPr>
              <a:t>Fee schedule: lighter as prices rise</a:t>
            </a:r>
            <a:endParaRPr/>
          </a:p>
        </p:txBody>
      </p:sp>
      <p:sp>
        <p:nvSpPr>
          <p:cNvPr id="1353316745" name="TextBox 102"/>
          <p:cNvSpPr txBox="1"/>
          <p:nvPr/>
        </p:nvSpPr>
        <p:spPr bwMode="auto">
          <a:xfrm>
            <a:off x="722376" y="2423160"/>
            <a:ext cx="10744200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defRPr/>
            </a:pPr>
            <a:r>
              <a:rPr lang="en-US" sz="1200" b="0">
                <a:solidFill>
                  <a:srgbClr val="5A6672"/>
                </a:solidFill>
                <a:latin typeface="Inter"/>
                <a:cs typeface="Inter"/>
              </a:rPr>
              <a:t>5% on the first 10,000 IQD · 3% on 10,001–100,000 · 1.5% above 100,000 — marginal, like tax brackets: a higher price never pays a lower fee.</a:t>
            </a:r>
            <a:endParaRPr/>
          </a:p>
        </p:txBody>
      </p:sp>
      <p:graphicFrame>
        <p:nvGraphicFramePr>
          <p:cNvPr id="726281677" name="Table 103"/>
          <p:cNvGraphicFramePr>
            <a:graphicFrameLocks xmlns:a="http://schemas.openxmlformats.org/drawingml/2006/main" noGrp="1"/>
          </p:cNvGraphicFramePr>
          <p:nvPr/>
        </p:nvGraphicFramePr>
        <p:xfrm rot="0">
          <a:off x="722376" y="3108960"/>
          <a:ext cx="10744200" cy="2962656"/>
        </p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3581400"/>
                <a:gridCol w="3581400"/>
                <a:gridCol w="3581400"/>
              </a:tblGrid>
              <a:tr h="329184">
                <a:tc>
                  <a:txBody>
                    <a:bodyPr/>
                    <a:p>
                      <a:pPr algn="l">
                        <a:defRPr/>
                      </a:pPr>
                      <a:r>
                        <a:rPr lang="en-US" sz="1200" b="1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Item price (IQD)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DDE5ED"/>
                    </a:solidFill>
                  </a:tcPr>
                </a:tc>
                <a:tc>
                  <a:txBody>
                    <a:bodyPr/>
                    <a:p>
                      <a:pPr algn="r">
                        <a:defRPr/>
                      </a:pPr>
                      <a:r>
                        <a:rPr lang="en-US" sz="1200" b="1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Cheapify fee (IQD)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DDE5ED"/>
                    </a:solidFill>
                  </a:tcPr>
                </a:tc>
                <a:tc>
                  <a:txBody>
                    <a:bodyPr/>
                    <a:p>
                      <a:pPr algn="r">
                        <a:defRPr/>
                      </a:pPr>
                      <a:r>
                        <a:rPr lang="en-US" sz="1200" b="1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Effective rate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DDE5ED"/>
                    </a:solidFill>
                  </a:tcPr>
                </a:tc>
              </a:tr>
              <a:tr h="329184">
                <a:tc>
                  <a:txBody>
                    <a:bodyPr/>
                    <a:p>
                      <a:pPr algn="l">
                        <a:defRPr/>
                      </a:pPr>
                      <a:r>
                        <a:rPr lang="en-US" sz="1200" b="0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5,000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r">
                        <a:defRPr/>
                      </a:pPr>
                      <a:r>
                        <a:rPr lang="en-US" sz="1200" b="0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250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r">
                        <a:defRPr/>
                      </a:pPr>
                      <a:r>
                        <a:rPr lang="en-US" sz="1200" b="0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5.0%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p>
                      <a:pPr algn="l">
                        <a:defRPr/>
                      </a:pPr>
                      <a:r>
                        <a:rPr lang="en-US" sz="1200" b="0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10,000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r">
                        <a:defRPr/>
                      </a:pPr>
                      <a:r>
                        <a:rPr lang="en-US" sz="1200" b="0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500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r">
                        <a:defRPr/>
                      </a:pPr>
                      <a:r>
                        <a:rPr lang="en-US" sz="1200" b="0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5.0%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p>
                      <a:pPr algn="l">
                        <a:defRPr/>
                      </a:pPr>
                      <a:r>
                        <a:rPr lang="en-US" sz="1200" b="0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25,000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r">
                        <a:defRPr/>
                      </a:pPr>
                      <a:r>
                        <a:rPr lang="en-US" sz="1200" b="0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950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r">
                        <a:defRPr/>
                      </a:pPr>
                      <a:r>
                        <a:rPr lang="en-US" sz="1200" b="0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3.8%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p>
                      <a:pPr algn="l">
                        <a:defRPr/>
                      </a:pPr>
                      <a:r>
                        <a:rPr lang="en-US" sz="1200" b="0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45,000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r">
                        <a:defRPr/>
                      </a:pPr>
                      <a:r>
                        <a:rPr lang="en-US" sz="1200" b="0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1,550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r">
                        <a:defRPr/>
                      </a:pPr>
                      <a:r>
                        <a:rPr lang="en-US" sz="1200" b="0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3.4%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p>
                      <a:pPr algn="l">
                        <a:defRPr/>
                      </a:pPr>
                      <a:r>
                        <a:rPr lang="en-US" sz="1200" b="0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100,000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r">
                        <a:defRPr/>
                      </a:pPr>
                      <a:r>
                        <a:rPr lang="en-US" sz="1200" b="0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3,200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r">
                        <a:defRPr/>
                      </a:pPr>
                      <a:r>
                        <a:rPr lang="en-US" sz="1200" b="0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3.2%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p>
                      <a:pPr algn="l">
                        <a:defRPr/>
                      </a:pPr>
                      <a:r>
                        <a:rPr lang="en-US" sz="1200" b="0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150,000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r">
                        <a:defRPr/>
                      </a:pPr>
                      <a:r>
                        <a:rPr lang="en-US" sz="1200" b="0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3,950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r">
                        <a:defRPr/>
                      </a:pPr>
                      <a:r>
                        <a:rPr lang="en-US" sz="1200" b="0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2.6%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p>
                      <a:pPr algn="l">
                        <a:defRPr/>
                      </a:pPr>
                      <a:r>
                        <a:rPr lang="en-US" sz="1200" b="0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350,000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r">
                        <a:defRPr/>
                      </a:pPr>
                      <a:r>
                        <a:rPr lang="en-US" sz="1200" b="0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6,950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r">
                        <a:defRPr/>
                      </a:pPr>
                      <a:r>
                        <a:rPr lang="en-US" sz="1200" b="0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2.0%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p>
                      <a:pPr algn="l">
                        <a:defRPr/>
                      </a:pPr>
                      <a:r>
                        <a:rPr lang="en-US" sz="1200" b="0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1,200,000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r">
                        <a:defRPr/>
                      </a:pPr>
                      <a:r>
                        <a:rPr lang="en-US" sz="1200" b="0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19,700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r">
                        <a:defRPr/>
                      </a:pPr>
                      <a:r>
                        <a:rPr lang="en-US" sz="1200" b="0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1.6%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fast" p14:dur="500" advClick="1">
        <p:fade thruBlk="0"/>
      </p:transition>
    </mc:Choice>
    <mc:Fallback>
      <p:transition spd="fast" advClick="1">
        <p:fade thruBlk="0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62816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7262816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820829725" name="Google Shape;98;p14" title="Center_for_Academic_and_Professional_Advancement.png"/>
          <p:cNvPicPr/>
          <p:nvPr/>
        </p:nvPicPr>
        <p:blipFill rotWithShape="1">
          <a:blip r:embed="rId3">
            <a:alphaModFix/>
          </a:blip>
          <a:stretch/>
        </p:blipFill>
        <p:spPr bwMode="auto">
          <a:xfrm>
            <a:off x="8289593" y="351575"/>
            <a:ext cx="3178502" cy="9693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626140921" name="Google Shape;99;p14" title="german cooperation deutsche zusammenarbeit.png"/>
          <p:cNvPicPr/>
          <p:nvPr/>
        </p:nvPicPr>
        <p:blipFill rotWithShape="1">
          <a:blip r:embed="rId4">
            <a:alphaModFix/>
          </a:blip>
          <a:stretch/>
        </p:blipFill>
        <p:spPr bwMode="auto">
          <a:xfrm>
            <a:off x="723900" y="436204"/>
            <a:ext cx="1428202" cy="800089"/>
          </a:xfrm>
          <a:prstGeom prst="rect">
            <a:avLst/>
          </a:prstGeom>
          <a:noFill/>
          <a:ln>
            <a:noFill/>
          </a:ln>
        </p:spPr>
      </p:pic>
      <p:sp>
        <p:nvSpPr>
          <p:cNvPr id="974260109" name="Rectangle 99"/>
          <p:cNvSpPr/>
          <p:nvPr/>
        </p:nvSpPr>
        <p:spPr bwMode="auto">
          <a:xfrm>
            <a:off x="722376" y="1517904"/>
            <a:ext cx="274320" cy="45720"/>
          </a:xfrm>
          <a:prstGeom prst="rect">
            <a:avLst/>
          </a:prstGeom>
          <a:solidFill>
            <a:srgbClr val="298FC2"/>
          </a:solidFill>
          <a:ln>
            <a:noFill/>
          </a:ln>
          <a:effectLst/>
        </p:spPr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211813405" name="TextBox 100"/>
          <p:cNvSpPr txBox="1"/>
          <p:nvPr/>
        </p:nvSpPr>
        <p:spPr bwMode="auto">
          <a:xfrm>
            <a:off x="1133856" y="1426464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defRPr/>
            </a:pPr>
            <a:r>
              <a:rPr lang="en-US" sz="1300" b="0">
                <a:solidFill>
                  <a:srgbClr val="5A6672"/>
                </a:solidFill>
                <a:latin typeface="Inter"/>
                <a:cs typeface="Inter"/>
              </a:rPr>
              <a:t>Appendix</a:t>
            </a:r>
            <a:endParaRPr/>
          </a:p>
        </p:txBody>
      </p:sp>
      <p:sp>
        <p:nvSpPr>
          <p:cNvPr id="1492263969" name="TextBox 101"/>
          <p:cNvSpPr txBox="1"/>
          <p:nvPr/>
        </p:nvSpPr>
        <p:spPr bwMode="auto">
          <a:xfrm>
            <a:off x="722376" y="1700784"/>
            <a:ext cx="10744200" cy="5669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defRPr/>
            </a:pPr>
            <a:r>
              <a:rPr lang="en-US" sz="3000" b="1">
                <a:solidFill>
                  <a:srgbClr val="101820"/>
                </a:solidFill>
                <a:latin typeface="Comfortaa"/>
                <a:cs typeface="Comfortaa"/>
              </a:rPr>
              <a:t>Unit economics per order</a:t>
            </a:r>
            <a:endParaRPr/>
          </a:p>
        </p:txBody>
      </p:sp>
      <p:graphicFrame>
        <p:nvGraphicFramePr>
          <p:cNvPr id="331015836" name="Table 102"/>
          <p:cNvGraphicFramePr>
            <a:graphicFrameLocks xmlns:a="http://schemas.openxmlformats.org/drawingml/2006/main" noGrp="1"/>
          </p:cNvGraphicFramePr>
          <p:nvPr/>
        </p:nvGraphicFramePr>
        <p:xfrm rot="0">
          <a:off x="722376" y="2423160"/>
          <a:ext cx="10744200" cy="2121408"/>
        </p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8595360"/>
                <a:gridCol w="2148840"/>
              </a:tblGrid>
              <a:tr h="265176">
                <a:tc>
                  <a:txBody>
                    <a:bodyPr/>
                    <a:p>
                      <a:pPr algn="l">
                        <a:defRPr/>
                      </a:pPr>
                      <a:r>
                        <a:rPr lang="en-US" sz="1200" b="1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Per 25,000 IQD order (Duhok city)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DDE5ED"/>
                    </a:solidFill>
                  </a:tcPr>
                </a:tc>
                <a:tc>
                  <a:txBody>
                    <a:bodyPr/>
                    <a:p>
                      <a:pPr algn="r">
                        <a:defRPr/>
                      </a:pPr>
                      <a:r>
                        <a:rPr lang="en-US" sz="1200" b="1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IQD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DDE5ED"/>
                    </a:solidFill>
                  </a:tcPr>
                </a:tc>
              </a:tr>
              <a:tr h="265176">
                <a:tc>
                  <a:txBody>
                    <a:bodyPr/>
                    <a:p>
                      <a:pPr algn="l">
                        <a:defRPr/>
                      </a:pPr>
                      <a:r>
                        <a:rPr lang="en-US" sz="1200" b="0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Platform fee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r">
                        <a:defRPr/>
                      </a:pPr>
                      <a:r>
                        <a:rPr lang="en-US" sz="1200" b="0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+950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p>
                      <a:pPr algn="l">
                        <a:defRPr/>
                      </a:pPr>
                      <a:r>
                        <a:rPr lang="en-US" sz="1200" b="0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Delivery margin (3,000 charged − 2,500 courier)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r">
                        <a:defRPr/>
                      </a:pPr>
                      <a:r>
                        <a:rPr lang="en-US" sz="1200" b="0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+500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p>
                      <a:pPr algn="l">
                        <a:defRPr/>
                      </a:pPr>
                      <a:r>
                        <a:rPr lang="en-US" sz="1200" b="0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WhatsApp notifications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r">
                        <a:defRPr/>
                      </a:pPr>
                      <a:r>
                        <a:rPr lang="en-US" sz="1200" b="0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−90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p>
                      <a:pPr algn="l">
                        <a:defRPr/>
                      </a:pPr>
                      <a:r>
                        <a:rPr lang="en-US" sz="1200" b="0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Login codes (OTP)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r">
                        <a:defRPr/>
                      </a:pPr>
                      <a:r>
                        <a:rPr lang="en-US" sz="1200" b="0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−25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p>
                      <a:pPr algn="l">
                        <a:defRPr/>
                      </a:pPr>
                      <a:r>
                        <a:rPr lang="en-US" sz="1200" b="0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Returns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r">
                        <a:defRPr/>
                      </a:pPr>
                      <a:r>
                        <a:rPr lang="en-US" sz="1200" b="0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−20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p>
                      <a:pPr algn="l">
                        <a:defRPr/>
                      </a:pPr>
                      <a:r>
                        <a:rPr lang="en-US" sz="1200" b="0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Failed-delivery re-attempts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r">
                        <a:defRPr/>
                      </a:pPr>
                      <a:r>
                        <a:rPr lang="en-US" sz="1200" b="0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−200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p>
                      <a:pPr algn="l">
                        <a:defRPr/>
                      </a:pPr>
                      <a:r>
                        <a:rPr lang="en-US" sz="1200" b="1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Kept per delivered order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r">
                        <a:defRPr/>
                      </a:pPr>
                      <a:r>
                        <a:rPr lang="en-US" sz="1200" b="1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+1,115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8856983" name="TextBox 103"/>
          <p:cNvSpPr txBox="1"/>
          <p:nvPr/>
        </p:nvSpPr>
        <p:spPr bwMode="auto">
          <a:xfrm>
            <a:off x="722376" y="4608576"/>
            <a:ext cx="1074420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defRPr/>
            </a:pPr>
            <a:r>
              <a:rPr lang="en-US" sz="1200" b="1">
                <a:solidFill>
                  <a:srgbClr val="101820"/>
                </a:solidFill>
                <a:latin typeface="Inter"/>
                <a:cs typeface="Inter"/>
              </a:rPr>
              <a:t>Break-even (monthly costs 652,000 IQD after launch, incl. a capped 225,000 incentive pool)</a:t>
            </a:r>
            <a:endParaRPr/>
          </a:p>
        </p:txBody>
      </p:sp>
      <p:graphicFrame>
        <p:nvGraphicFramePr>
          <p:cNvPr id="177016456" name="Table 104"/>
          <p:cNvGraphicFramePr>
            <a:graphicFrameLocks xmlns:a="http://schemas.openxmlformats.org/drawingml/2006/main" noGrp="1"/>
          </p:cNvGraphicFramePr>
          <p:nvPr/>
        </p:nvGraphicFramePr>
        <p:xfrm rot="0">
          <a:off x="722376" y="4901184"/>
          <a:ext cx="10744200" cy="1325880"/>
        </p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5198806"/>
                <a:gridCol w="2426110"/>
                <a:gridCol w="3119283"/>
              </a:tblGrid>
              <a:tr h="265176">
                <a:tc>
                  <a:txBody>
                    <a:bodyPr/>
                    <a:p>
                      <a:pPr algn="l">
                        <a:defRPr/>
                      </a:pPr>
                      <a:r>
                        <a:rPr lang="en-US" sz="1200" b="1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Case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DDE5ED"/>
                    </a:solidFill>
                  </a:tcPr>
                </a:tc>
                <a:tc>
                  <a:txBody>
                    <a:bodyPr/>
                    <a:p>
                      <a:pPr algn="r">
                        <a:defRPr/>
                      </a:pPr>
                      <a:r>
                        <a:rPr lang="en-US" sz="1200" b="1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Kept per order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DDE5ED"/>
                    </a:solidFill>
                  </a:tcPr>
                </a:tc>
                <a:tc>
                  <a:txBody>
                    <a:bodyPr/>
                    <a:p>
                      <a:pPr algn="r">
                        <a:defRPr/>
                      </a:pPr>
                      <a:r>
                        <a:rPr lang="en-US" sz="1200" b="1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Break-even orders / month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DDE5ED"/>
                    </a:solidFill>
                  </a:tcPr>
                </a:tc>
              </a:tr>
              <a:tr h="265176">
                <a:tc>
                  <a:txBody>
                    <a:bodyPr/>
                    <a:p>
                      <a:pPr algn="l">
                        <a:defRPr/>
                      </a:pPr>
                      <a:r>
                        <a:rPr lang="en-US" sz="1200" b="0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Base case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r">
                        <a:defRPr/>
                      </a:pPr>
                      <a:r>
                        <a:rPr lang="en-US" sz="1200" b="0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1,115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r">
                        <a:defRPr/>
                      </a:pPr>
                      <a:r>
                        <a:rPr lang="en-US" sz="1200" b="0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~585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p>
                      <a:pPr algn="l">
                        <a:defRPr/>
                      </a:pPr>
                      <a:r>
                        <a:rPr lang="en-US" sz="1200" b="0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Courier contract not signed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r">
                        <a:defRPr/>
                      </a:pPr>
                      <a:r>
                        <a:rPr lang="en-US" sz="1200" b="0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615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r">
                        <a:defRPr/>
                      </a:pPr>
                      <a:r>
                        <a:rPr lang="en-US" sz="1200" b="0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~1,060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p>
                      <a:pPr algn="l">
                        <a:defRPr/>
                      </a:pPr>
                      <a:r>
                        <a:rPr lang="en-US" sz="1200" b="0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Average order 20,000 IQD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r">
                        <a:defRPr/>
                      </a:pPr>
                      <a:r>
                        <a:rPr lang="en-US" sz="1200" b="0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965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r">
                        <a:defRPr/>
                      </a:pPr>
                      <a:r>
                        <a:rPr lang="en-US" sz="1200" b="0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~676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p>
                      <a:pPr algn="l">
                        <a:defRPr/>
                      </a:pPr>
                      <a:r>
                        <a:rPr lang="en-US" sz="1200" b="0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Incentive pool doubled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r">
                        <a:defRPr/>
                      </a:pPr>
                      <a:r>
                        <a:rPr lang="en-US" sz="1200" b="0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1,115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r">
                        <a:defRPr/>
                      </a:pPr>
                      <a:r>
                        <a:rPr lang="en-US" sz="1200" b="0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~787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fast" p14:dur="500" advClick="1">
        <p:fade thruBlk="0"/>
      </p:transition>
    </mc:Choice>
    <mc:Fallback>
      <p:transition spd="fast" advClick="1">
        <p:fade thruBlk="0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10158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310158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21861315" name="Google Shape;98;p14" title="Center_for_Academic_and_Professional_Advancement.png"/>
          <p:cNvPicPr/>
          <p:nvPr/>
        </p:nvPicPr>
        <p:blipFill rotWithShape="1">
          <a:blip r:embed="rId3">
            <a:alphaModFix/>
          </a:blip>
          <a:stretch/>
        </p:blipFill>
        <p:spPr bwMode="auto">
          <a:xfrm>
            <a:off x="8289593" y="351575"/>
            <a:ext cx="3178502" cy="969349"/>
          </a:xfrm>
          <a:prstGeom prst="rect">
            <a:avLst/>
          </a:prstGeom>
          <a:noFill/>
          <a:ln>
            <a:noFill/>
          </a:ln>
        </p:spPr>
      </p:pic>
      <p:pic>
        <p:nvPicPr>
          <p:cNvPr id="88541257" name="Google Shape;99;p14" title="german cooperation deutsche zusammenarbeit.png"/>
          <p:cNvPicPr/>
          <p:nvPr/>
        </p:nvPicPr>
        <p:blipFill rotWithShape="1">
          <a:blip r:embed="rId4">
            <a:alphaModFix/>
          </a:blip>
          <a:stretch/>
        </p:blipFill>
        <p:spPr bwMode="auto">
          <a:xfrm>
            <a:off x="723900" y="436204"/>
            <a:ext cx="1428202" cy="800089"/>
          </a:xfrm>
          <a:prstGeom prst="rect">
            <a:avLst/>
          </a:prstGeom>
          <a:noFill/>
          <a:ln>
            <a:noFill/>
          </a:ln>
        </p:spPr>
      </p:pic>
      <p:sp>
        <p:nvSpPr>
          <p:cNvPr id="388082171" name="Rectangle 99"/>
          <p:cNvSpPr/>
          <p:nvPr/>
        </p:nvSpPr>
        <p:spPr bwMode="auto">
          <a:xfrm>
            <a:off x="722376" y="1517904"/>
            <a:ext cx="274320" cy="45720"/>
          </a:xfrm>
          <a:prstGeom prst="rect">
            <a:avLst/>
          </a:prstGeom>
          <a:solidFill>
            <a:srgbClr val="298FC2"/>
          </a:solidFill>
          <a:ln>
            <a:noFill/>
          </a:ln>
          <a:effectLst/>
        </p:spPr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256482532" name="TextBox 100"/>
          <p:cNvSpPr txBox="1"/>
          <p:nvPr/>
        </p:nvSpPr>
        <p:spPr bwMode="auto">
          <a:xfrm>
            <a:off x="1133856" y="1426464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defRPr/>
            </a:pPr>
            <a:r>
              <a:rPr lang="en-US" sz="1300" b="0">
                <a:solidFill>
                  <a:srgbClr val="5A6672"/>
                </a:solidFill>
                <a:latin typeface="Inter"/>
                <a:cs typeface="Inter"/>
              </a:rPr>
              <a:t>Appendix</a:t>
            </a:r>
            <a:endParaRPr/>
          </a:p>
        </p:txBody>
      </p:sp>
      <p:sp>
        <p:nvSpPr>
          <p:cNvPr id="278989679" name="TextBox 101"/>
          <p:cNvSpPr txBox="1"/>
          <p:nvPr/>
        </p:nvSpPr>
        <p:spPr bwMode="auto">
          <a:xfrm>
            <a:off x="722376" y="1700784"/>
            <a:ext cx="10744200" cy="5669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defRPr/>
            </a:pPr>
            <a:r>
              <a:rPr lang="en-US" sz="3000" b="1">
                <a:solidFill>
                  <a:srgbClr val="101820"/>
                </a:solidFill>
                <a:latin typeface="Comfortaa"/>
                <a:cs typeface="Comfortaa"/>
              </a:rPr>
              <a:t>Three growth scenarios</a:t>
            </a:r>
            <a:endParaRPr/>
          </a:p>
        </p:txBody>
      </p:sp>
      <p:graphicFrame>
        <p:nvGraphicFramePr>
          <p:cNvPr id="369597578" name="Table 102"/>
          <p:cNvGraphicFramePr>
            <a:graphicFrameLocks xmlns:a="http://schemas.openxmlformats.org/drawingml/2006/main" noGrp="1"/>
          </p:cNvGraphicFramePr>
          <p:nvPr/>
        </p:nvGraphicFramePr>
        <p:xfrm rot="0">
          <a:off x="722376" y="2560320"/>
          <a:ext cx="10744201" cy="1828800"/>
        </p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354893"/>
                <a:gridCol w="2060532"/>
                <a:gridCol w="2207712"/>
                <a:gridCol w="2060532"/>
                <a:gridCol w="2060532"/>
              </a:tblGrid>
              <a:tr h="457200">
                <a:tc>
                  <a:txBody>
                    <a:bodyPr/>
                    <a:p>
                      <a:pPr algn="l">
                        <a:defRPr/>
                      </a:pPr>
                      <a:r>
                        <a:rPr lang="en-US" sz="1200" b="1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Scenario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DDE5ED"/>
                    </a:solidFill>
                  </a:tcPr>
                </a:tc>
                <a:tc>
                  <a:txBody>
                    <a:bodyPr/>
                    <a:p>
                      <a:pPr algn="r">
                        <a:defRPr/>
                      </a:pPr>
                      <a:r>
                        <a:rPr lang="en-US" sz="1200" b="1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Orders by month 6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DDE5ED"/>
                    </a:solidFill>
                  </a:tcPr>
                </a:tc>
                <a:tc>
                  <a:txBody>
                    <a:bodyPr/>
                    <a:p>
                      <a:pPr algn="r">
                        <a:defRPr/>
                      </a:pPr>
                      <a:r>
                        <a:rPr lang="en-US" sz="1200" b="1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Lowest cash point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DDE5ED"/>
                    </a:solidFill>
                  </a:tcPr>
                </a:tc>
                <a:tc>
                  <a:txBody>
                    <a:bodyPr/>
                    <a:p>
                      <a:pPr algn="r">
                        <a:defRPr/>
                      </a:pPr>
                      <a:r>
                        <a:rPr lang="en-US" sz="1200" b="1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Monthly break-even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DDE5ED"/>
                    </a:solidFill>
                  </a:tcPr>
                </a:tc>
                <a:tc>
                  <a:txBody>
                    <a:bodyPr/>
                    <a:p>
                      <a:pPr algn="r">
                        <a:defRPr/>
                      </a:pPr>
                      <a:r>
                        <a:rPr lang="en-US" sz="1200" b="1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All losses recovered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DDE5ED"/>
                    </a:solidFill>
                  </a:tcPr>
                </a:tc>
              </a:tr>
              <a:tr h="457200">
                <a:tc>
                  <a:txBody>
                    <a:bodyPr/>
                    <a:p>
                      <a:pPr algn="l">
                        <a:defRPr/>
                      </a:pPr>
                      <a:r>
                        <a:rPr lang="en-US" sz="1200" b="0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Fast (2× plan)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r">
                        <a:defRPr/>
                      </a:pPr>
                      <a:r>
                        <a:rPr lang="en-US" sz="1200" b="0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2,700 / month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r">
                        <a:defRPr/>
                      </a:pPr>
                      <a:r>
                        <a:rPr lang="en-US" sz="1200" b="0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−$1,800 (month 2)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r">
                        <a:defRPr/>
                      </a:pPr>
                      <a:r>
                        <a:rPr lang="en-US" sz="1200" b="0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Month 3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r">
                        <a:defRPr/>
                      </a:pPr>
                      <a:r>
                        <a:rPr lang="en-US" sz="1200" b="0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Month 6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p>
                      <a:pPr algn="l">
                        <a:defRPr/>
                      </a:pPr>
                      <a:r>
                        <a:rPr lang="en-US" sz="1200" b="0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Planning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r">
                        <a:defRPr/>
                      </a:pPr>
                      <a:r>
                        <a:rPr lang="en-US" sz="1200" b="0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1,350 / month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r">
                        <a:defRPr/>
                      </a:pPr>
                      <a:r>
                        <a:rPr lang="en-US" sz="1200" b="0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−$2,180 (month 3)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r">
                        <a:defRPr/>
                      </a:pPr>
                      <a:r>
                        <a:rPr lang="en-US" sz="1200" b="0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Month 4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r">
                        <a:defRPr/>
                      </a:pPr>
                      <a:r>
                        <a:rPr lang="en-US" sz="1200" b="0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Month 8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p>
                      <a:pPr algn="l">
                        <a:defRPr/>
                      </a:pPr>
                      <a:r>
                        <a:rPr lang="en-US" sz="1200" b="0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Slow (half of plan)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r">
                        <a:defRPr/>
                      </a:pPr>
                      <a:r>
                        <a:rPr lang="en-US" sz="1200" b="0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675 / month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r">
                        <a:defRPr/>
                      </a:pPr>
                      <a:r>
                        <a:rPr lang="en-US" sz="1200" b="0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−$2,750 (month 6)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r">
                        <a:defRPr/>
                      </a:pPr>
                      <a:r>
                        <a:rPr lang="en-US" sz="1200" b="0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Month 7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r">
                        <a:defRPr/>
                      </a:pPr>
                      <a:r>
                        <a:rPr lang="en-US" sz="1200" b="0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~Month 20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3172529" name="TextBox 103"/>
          <p:cNvSpPr txBox="1"/>
          <p:nvPr/>
        </p:nvSpPr>
        <p:spPr bwMode="auto">
          <a:xfrm>
            <a:off x="722376" y="4572000"/>
            <a:ext cx="107442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defRPr/>
            </a:pPr>
            <a:r>
              <a:rPr lang="en-US" sz="1200" b="0">
                <a:solidFill>
                  <a:srgbClr val="5A6672"/>
                </a:solidFill>
                <a:latin typeface="Inter"/>
                <a:cs typeface="Inter"/>
              </a:rPr>
              <a:t>Includes 1.7M IQD startup costs and two build months before launch. USD at 1,500 IQD.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fast" p14:dur="500" advClick="1">
        <p:fade thruBlk="0"/>
      </p:transition>
    </mc:Choice>
    <mc:Fallback>
      <p:transition spd="fast" advClick="1">
        <p:fade thruBlk="0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5975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695975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730418691" name="Google Shape;98;p14" title="Center_for_Academic_and_Professional_Advancement.png"/>
          <p:cNvPicPr/>
          <p:nvPr/>
        </p:nvPicPr>
        <p:blipFill rotWithShape="1">
          <a:blip r:embed="rId3">
            <a:alphaModFix/>
          </a:blip>
          <a:stretch/>
        </p:blipFill>
        <p:spPr bwMode="auto">
          <a:xfrm>
            <a:off x="8289593" y="351575"/>
            <a:ext cx="3178502" cy="969349"/>
          </a:xfrm>
          <a:prstGeom prst="rect">
            <a:avLst/>
          </a:prstGeom>
          <a:noFill/>
          <a:ln>
            <a:noFill/>
          </a:ln>
        </p:spPr>
      </p:pic>
      <p:pic>
        <p:nvPicPr>
          <p:cNvPr id="242982012" name="Google Shape;99;p14" title="german cooperation deutsche zusammenarbeit.png"/>
          <p:cNvPicPr/>
          <p:nvPr/>
        </p:nvPicPr>
        <p:blipFill rotWithShape="1">
          <a:blip r:embed="rId4">
            <a:alphaModFix/>
          </a:blip>
          <a:stretch/>
        </p:blipFill>
        <p:spPr bwMode="auto">
          <a:xfrm>
            <a:off x="723900" y="436204"/>
            <a:ext cx="1428202" cy="800089"/>
          </a:xfrm>
          <a:prstGeom prst="rect">
            <a:avLst/>
          </a:prstGeom>
          <a:noFill/>
          <a:ln>
            <a:noFill/>
          </a:ln>
        </p:spPr>
      </p:pic>
      <p:sp>
        <p:nvSpPr>
          <p:cNvPr id="24052212" name="Rectangle 99"/>
          <p:cNvSpPr/>
          <p:nvPr/>
        </p:nvSpPr>
        <p:spPr bwMode="auto">
          <a:xfrm>
            <a:off x="722376" y="1517904"/>
            <a:ext cx="274320" cy="45720"/>
          </a:xfrm>
          <a:prstGeom prst="rect">
            <a:avLst/>
          </a:prstGeom>
          <a:solidFill>
            <a:srgbClr val="298FC2"/>
          </a:solidFill>
          <a:ln>
            <a:noFill/>
          </a:ln>
          <a:effectLst/>
        </p:spPr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617412506" name="TextBox 100"/>
          <p:cNvSpPr txBox="1"/>
          <p:nvPr/>
        </p:nvSpPr>
        <p:spPr bwMode="auto">
          <a:xfrm>
            <a:off x="1133856" y="1426464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defRPr/>
            </a:pPr>
            <a:r>
              <a:rPr lang="en-US" sz="1300" b="0">
                <a:solidFill>
                  <a:srgbClr val="5A6672"/>
                </a:solidFill>
                <a:latin typeface="Inter"/>
                <a:cs typeface="Inter"/>
              </a:rPr>
              <a:t>Appendix</a:t>
            </a:r>
            <a:endParaRPr/>
          </a:p>
        </p:txBody>
      </p:sp>
      <p:sp>
        <p:nvSpPr>
          <p:cNvPr id="16155130" name="TextBox 101"/>
          <p:cNvSpPr txBox="1"/>
          <p:nvPr/>
        </p:nvSpPr>
        <p:spPr bwMode="auto">
          <a:xfrm>
            <a:off x="722376" y="1700784"/>
            <a:ext cx="10744200" cy="5669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defRPr/>
            </a:pPr>
            <a:r>
              <a:rPr lang="en-US" sz="3000" b="1">
                <a:solidFill>
                  <a:srgbClr val="101820"/>
                </a:solidFill>
                <a:latin typeface="Comfortaa"/>
                <a:cs typeface="Comfortaa"/>
              </a:rPr>
              <a:t>Survey: what 199 people told us</a:t>
            </a:r>
            <a:endParaRPr/>
          </a:p>
        </p:txBody>
      </p:sp>
      <p:grpSp>
        <p:nvGrpSpPr>
          <p:cNvPr id="386912370" name="Group 1"/>
          <p:cNvGrpSpPr/>
          <p:nvPr/>
        </p:nvGrpSpPr>
        <p:grpSpPr bwMode="auto">
          <a:xfrm>
            <a:off x="722376" y="2514600"/>
            <a:ext cx="10753344" cy="3840480"/>
            <a:chOff x="722376" y="2514600"/>
            <a:chExt cx="10753344" cy="3840480"/>
          </a:xfrm>
        </p:grpSpPr>
        <p:sp>
          <p:nvSpPr>
            <p:cNvPr id="103" name="TextBox 102"/>
            <p:cNvSpPr txBox="1"/>
            <p:nvPr/>
          </p:nvSpPr>
          <p:spPr bwMode="auto">
            <a:xfrm>
              <a:off x="722376" y="2514600"/>
              <a:ext cx="5212080" cy="310896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defRPr/>
              </a:pPr>
              <a:r>
                <a:rPr lang="en-US" sz="1600" b="1">
                  <a:solidFill>
                    <a:srgbClr val="298FC2"/>
                  </a:solidFill>
                  <a:latin typeface="Inter"/>
                  <a:cs typeface="Inter"/>
                </a:rPr>
                <a:t>Shoppers (179)</a:t>
              </a:r>
              <a:endParaRPr/>
            </a:p>
          </p:txBody>
        </p:sp>
        <p:sp>
          <p:nvSpPr>
            <p:cNvPr id="104" name="TextBox 103"/>
            <p:cNvSpPr txBox="1"/>
            <p:nvPr/>
          </p:nvSpPr>
          <p:spPr bwMode="auto">
            <a:xfrm>
              <a:off x="722376" y="2926080"/>
              <a:ext cx="5212080" cy="31089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10000"/>
                </a:lnSpc>
                <a:spcAft>
                  <a:spcPts val="900"/>
                </a:spcAft>
                <a:defRPr/>
              </a:pPr>
              <a:r>
                <a:rPr lang="en-US" sz="1300" b="0">
                  <a:solidFill>
                    <a:srgbClr val="101820"/>
                  </a:solidFill>
                  <a:latin typeface="Inter"/>
                  <a:cs typeface="Inter"/>
                </a:rPr>
                <a:t>97% notice price gaps on the same item (39% often see large gaps)</a:t>
              </a:r>
              <a:endParaRPr/>
            </a:p>
            <a:p>
              <a:pPr algn="l">
                <a:lnSpc>
                  <a:spcPct val="110000"/>
                </a:lnSpc>
                <a:spcAft>
                  <a:spcPts val="900"/>
                </a:spcAft>
                <a:defRPr/>
              </a:pPr>
              <a:r>
                <a:rPr lang="en-US" sz="1300" b="0">
                  <a:solidFill>
                    <a:srgbClr val="101820"/>
                  </a:solidFill>
                  <a:latin typeface="Inter"/>
                  <a:cs typeface="Inter"/>
                </a:rPr>
                <a:t>88% would use a side-by-side app · 10% maybe · 2% prefer DMs</a:t>
              </a:r>
              <a:endParaRPr/>
            </a:p>
            <a:p>
              <a:pPr algn="l">
                <a:lnSpc>
                  <a:spcPct val="110000"/>
                </a:lnSpc>
                <a:spcAft>
                  <a:spcPts val="900"/>
                </a:spcAft>
                <a:defRPr/>
              </a:pPr>
              <a:r>
                <a:rPr lang="en-US" sz="1300" b="0">
                  <a:solidFill>
                    <a:srgbClr val="101820"/>
                  </a:solidFill>
                  <a:latin typeface="Inter"/>
                  <a:cs typeface="Inter"/>
                </a:rPr>
                <a:t>Top annoyances: untrusted / duplicate pages ~52% · found it cheaper after buying ~47% · DM just to ask the price ~46% · delivery delays ~27%</a:t>
              </a:r>
              <a:endParaRPr/>
            </a:p>
            <a:p>
              <a:pPr algn="l">
                <a:lnSpc>
                  <a:spcPct val="110000"/>
                </a:lnSpc>
                <a:spcAft>
                  <a:spcPts val="900"/>
                </a:spcAft>
                <a:defRPr/>
              </a:pPr>
              <a:r>
                <a:rPr lang="en-US" sz="1300" b="0">
                  <a:solidFill>
                    <a:srgbClr val="101820"/>
                  </a:solidFill>
                  <a:latin typeface="Inter"/>
                  <a:cs typeface="Inter"/>
                </a:rPr>
                <a:t>~52 usable beta-waitlist contacts</a:t>
              </a:r>
              <a:endParaRPr/>
            </a:p>
          </p:txBody>
        </p:sp>
        <p:sp>
          <p:nvSpPr>
            <p:cNvPr id="105" name="TextBox 104"/>
            <p:cNvSpPr txBox="1"/>
            <p:nvPr/>
          </p:nvSpPr>
          <p:spPr bwMode="auto">
            <a:xfrm>
              <a:off x="6263640" y="2514600"/>
              <a:ext cx="5212080" cy="310896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defRPr/>
              </a:pPr>
              <a:r>
                <a:rPr lang="en-US" sz="1600" b="1">
                  <a:solidFill>
                    <a:srgbClr val="298FC2"/>
                  </a:solidFill>
                  <a:latin typeface="Inter"/>
                  <a:cs typeface="Inter"/>
                </a:rPr>
                <a:t>Merchants (20)</a:t>
              </a:r>
              <a:endParaRPr/>
            </a:p>
          </p:txBody>
        </p:sp>
        <p:sp>
          <p:nvSpPr>
            <p:cNvPr id="106" name="TextBox 105"/>
            <p:cNvSpPr txBox="1"/>
            <p:nvPr/>
          </p:nvSpPr>
          <p:spPr bwMode="auto">
            <a:xfrm>
              <a:off x="6263640" y="2926080"/>
              <a:ext cx="5212080" cy="31089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10000"/>
                </a:lnSpc>
                <a:spcAft>
                  <a:spcPts val="900"/>
                </a:spcAft>
                <a:defRPr/>
              </a:pPr>
              <a:r>
                <a:rPr lang="en-US" sz="1300" b="0">
                  <a:solidFill>
                    <a:srgbClr val="101820"/>
                  </a:solidFill>
                  <a:latin typeface="Inter"/>
                  <a:cs typeface="Inter"/>
                </a:rPr>
                <a:t>85% sell on Instagram / Facebook</a:t>
              </a:r>
              <a:endParaRPr/>
            </a:p>
            <a:p>
              <a:pPr algn="l">
                <a:lnSpc>
                  <a:spcPct val="110000"/>
                </a:lnSpc>
                <a:spcAft>
                  <a:spcPts val="900"/>
                </a:spcAft>
                <a:defRPr/>
              </a:pPr>
              <a:r>
                <a:rPr lang="en-US" sz="1300" b="0">
                  <a:solidFill>
                    <a:srgbClr val="101820"/>
                  </a:solidFill>
                  <a:latin typeface="Inter"/>
                  <a:cs typeface="Inter"/>
                </a:rPr>
                <a:t>75% would try Cheapify · 15% maybe (depends on commission) · 10% no</a:t>
              </a:r>
              <a:endParaRPr/>
            </a:p>
            <a:p>
              <a:pPr algn="l">
                <a:lnSpc>
                  <a:spcPct val="110000"/>
                </a:lnSpc>
                <a:spcAft>
                  <a:spcPts val="900"/>
                </a:spcAft>
                <a:defRPr/>
              </a:pPr>
              <a:r>
                <a:rPr lang="en-US" sz="1300" b="0">
                  <a:solidFill>
                    <a:srgbClr val="101820"/>
                  </a:solidFill>
                  <a:latin typeface="Inter"/>
                  <a:cs typeface="Inter"/>
                </a:rPr>
                <a:t>Top headaches: “price?” DMs 55% · price conflicts 45% · cost of own app/site 35% · manual delivery coordination 35%</a:t>
              </a:r>
              <a:endParaRPr/>
            </a:p>
            <a:p>
              <a:pPr algn="l">
                <a:lnSpc>
                  <a:spcPct val="110000"/>
                </a:lnSpc>
                <a:spcAft>
                  <a:spcPts val="900"/>
                </a:spcAft>
                <a:defRPr/>
              </a:pPr>
              <a:r>
                <a:rPr lang="en-US" sz="1300" b="0">
                  <a:solidFill>
                    <a:srgbClr val="101820"/>
                  </a:solidFill>
                  <a:latin typeface="Inter"/>
                  <a:cs typeface="Inter"/>
                </a:rPr>
                <a:t>~8 valid pilot-store leads</a:t>
              </a:r>
              <a:endParaRPr/>
            </a:p>
          </p:txBody>
        </p:sp>
        <p:sp>
          <p:nvSpPr>
            <p:cNvPr id="107" name="TextBox 106"/>
            <p:cNvSpPr txBox="1"/>
            <p:nvPr/>
          </p:nvSpPr>
          <p:spPr bwMode="auto">
            <a:xfrm>
              <a:off x="722376" y="5989320"/>
              <a:ext cx="10744200" cy="3657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defRPr/>
              </a:pPr>
              <a:r>
                <a:rPr lang="en-US" sz="1100" b="0">
                  <a:solidFill>
                    <a:srgbClr val="5A6672"/>
                  </a:solidFill>
                  <a:latin typeface="Inter"/>
                  <a:cs typeface="Inter"/>
                </a:rPr>
                <a:t>Limits: self-selected sample; only 10 Kurdish-language responses; stated intent is not purchases — the hand-run pilot measures real behavior.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fast" p14:dur="500" advClick="1">
        <p:fade thruBlk="0"/>
      </p:transition>
    </mc:Choice>
    <mc:Fallback>
      <p:transition spd="fast" advClick="1">
        <p:fade thruBlk="0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69123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869123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5445881" name="Google Shape;98;p14" title="Center_for_Academic_and_Professional_Advancement.png"/>
          <p:cNvPicPr/>
          <p:nvPr/>
        </p:nvPicPr>
        <p:blipFill rotWithShape="1">
          <a:blip r:embed="rId3">
            <a:alphaModFix/>
          </a:blip>
          <a:stretch/>
        </p:blipFill>
        <p:spPr bwMode="auto">
          <a:xfrm>
            <a:off x="8289593" y="351575"/>
            <a:ext cx="3178502" cy="969349"/>
          </a:xfrm>
          <a:prstGeom prst="rect">
            <a:avLst/>
          </a:prstGeom>
          <a:noFill/>
          <a:ln>
            <a:noFill/>
          </a:ln>
        </p:spPr>
      </p:pic>
      <p:pic>
        <p:nvPicPr>
          <p:cNvPr id="624875219" name="Google Shape;99;p14" title="german cooperation deutsche zusammenarbeit.png"/>
          <p:cNvPicPr/>
          <p:nvPr/>
        </p:nvPicPr>
        <p:blipFill rotWithShape="1">
          <a:blip r:embed="rId4">
            <a:alphaModFix/>
          </a:blip>
          <a:stretch/>
        </p:blipFill>
        <p:spPr bwMode="auto">
          <a:xfrm>
            <a:off x="723900" y="436204"/>
            <a:ext cx="1428202" cy="800089"/>
          </a:xfrm>
          <a:prstGeom prst="rect">
            <a:avLst/>
          </a:prstGeom>
          <a:noFill/>
          <a:ln>
            <a:noFill/>
          </a:ln>
        </p:spPr>
      </p:pic>
      <p:sp>
        <p:nvSpPr>
          <p:cNvPr id="1245319382" name="Rectangle 99"/>
          <p:cNvSpPr/>
          <p:nvPr/>
        </p:nvSpPr>
        <p:spPr bwMode="auto">
          <a:xfrm>
            <a:off x="722376" y="1517904"/>
            <a:ext cx="274320" cy="45720"/>
          </a:xfrm>
          <a:prstGeom prst="rect">
            <a:avLst/>
          </a:prstGeom>
          <a:solidFill>
            <a:srgbClr val="298FC2"/>
          </a:solidFill>
          <a:ln>
            <a:noFill/>
          </a:ln>
          <a:effectLst/>
        </p:spPr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131888929" name="TextBox 100"/>
          <p:cNvSpPr txBox="1"/>
          <p:nvPr/>
        </p:nvSpPr>
        <p:spPr bwMode="auto">
          <a:xfrm>
            <a:off x="1133856" y="1426464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defRPr/>
            </a:pPr>
            <a:r>
              <a:rPr lang="en-US" sz="1300" b="0">
                <a:solidFill>
                  <a:srgbClr val="5A6672"/>
                </a:solidFill>
                <a:latin typeface="Inter"/>
                <a:cs typeface="Inter"/>
              </a:rPr>
              <a:t>Appendix</a:t>
            </a:r>
            <a:endParaRPr/>
          </a:p>
        </p:txBody>
      </p:sp>
      <p:sp>
        <p:nvSpPr>
          <p:cNvPr id="964894882" name="TextBox 101"/>
          <p:cNvSpPr txBox="1"/>
          <p:nvPr/>
        </p:nvSpPr>
        <p:spPr bwMode="auto">
          <a:xfrm>
            <a:off x="722376" y="1700784"/>
            <a:ext cx="10744200" cy="5669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defRPr/>
            </a:pPr>
            <a:r>
              <a:rPr lang="en-US" sz="3000" b="1">
                <a:solidFill>
                  <a:srgbClr val="101820"/>
                </a:solidFill>
                <a:latin typeface="Comfortaa"/>
                <a:cs typeface="Comfortaa"/>
              </a:rPr>
              <a:t>Six documented price cases</a:t>
            </a:r>
            <a:endParaRPr/>
          </a:p>
        </p:txBody>
      </p:sp>
      <p:graphicFrame>
        <p:nvGraphicFramePr>
          <p:cNvPr id="198619887" name="Table 102"/>
          <p:cNvGraphicFramePr>
            <a:graphicFrameLocks xmlns:a="http://schemas.openxmlformats.org/drawingml/2006/main" noGrp="1"/>
          </p:cNvGraphicFramePr>
          <p:nvPr/>
        </p:nvGraphicFramePr>
        <p:xfrm rot="0">
          <a:off x="722376" y="2514600"/>
          <a:ext cx="10744201" cy="3200400"/>
        </p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686050"/>
                <a:gridCol w="1902619"/>
                <a:gridCol w="1902619"/>
                <a:gridCol w="1343025"/>
                <a:gridCol w="2909888"/>
              </a:tblGrid>
              <a:tr h="457200">
                <a:tc>
                  <a:txBody>
                    <a:bodyPr/>
                    <a:p>
                      <a:pPr algn="l">
                        <a:defRPr/>
                      </a:pPr>
                      <a:r>
                        <a:rPr lang="en-US" sz="1200" b="1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Product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DDE5ED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lang="en-US" sz="1200" b="1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Lowest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DDE5ED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lang="en-US" sz="1200" b="1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Highest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DDE5ED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lang="en-US" sz="1200" b="1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Gap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DDE5ED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lang="en-US" sz="1200" b="1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Where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DDE5ED"/>
                    </a:solidFill>
                  </a:tcPr>
                </a:tc>
              </a:tr>
              <a:tr h="457200">
                <a:tc>
                  <a:txBody>
                    <a:bodyPr/>
                    <a:p>
                      <a:pPr algn="l">
                        <a:defRPr/>
                      </a:pPr>
                      <a:r>
                        <a:rPr lang="en-US" sz="1200" b="0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Anker power bank 25K 165W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lang="en-US" sz="1200" b="0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90,000 (Instagram)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lang="en-US" sz="1200" b="0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200,000 (Miswag)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lang="en-US" sz="1200" b="0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+122%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lang="en-US" sz="1200" b="0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Instagram, iBazzar, Miswag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p>
                      <a:pPr algn="l">
                        <a:defRPr/>
                      </a:pPr>
                      <a:r>
                        <a:rPr lang="en-US" sz="1200" b="0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ASUS VA24EHF monitor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lang="en-US" sz="1200" b="0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135,000 (Elryan)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lang="en-US" sz="1200" b="0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163,350 (Miswag)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lang="en-US" sz="1200" b="0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+21%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lang="en-US" sz="1200" b="0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Elryan, Miswag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p>
                      <a:pPr algn="l">
                        <a:defRPr/>
                      </a:pPr>
                      <a:r>
                        <a:rPr lang="en-US" sz="1200" b="0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Hoco HX80 coffee maker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lang="en-US" sz="1200" b="0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25,000 (Instagram)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lang="en-US" sz="1200" b="0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35,280 (Miswag)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lang="en-US" sz="1200" b="0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+41%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lang="en-US" sz="1200" b="0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Instagram, Miswag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p>
                      <a:pPr algn="l">
                        <a:defRPr/>
                      </a:pPr>
                      <a:r>
                        <a:rPr lang="en-US" sz="1200" b="0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Newal 2000W vacuum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lang="en-US" sz="1200" b="0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95,000 (Instagram)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lang="en-US" sz="1200" b="0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133,250 (Miswag)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lang="en-US" sz="1200" b="0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+40%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lang="en-US" sz="1200" b="0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Instagram, Miswag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p>
                      <a:pPr algn="l">
                        <a:defRPr/>
                      </a:pPr>
                      <a:r>
                        <a:rPr lang="en-US" sz="1200" b="0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Xiaomi 165W power bank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lang="en-US" sz="1200" b="0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60,000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lang="en-US" sz="1200" b="0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70,000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lang="en-US" sz="1200" b="0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+17%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lang="en-US" sz="1200" b="0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Same app (iBazzar)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p>
                      <a:pPr algn="l">
                        <a:defRPr/>
                      </a:pPr>
                      <a:r>
                        <a:rPr lang="en-US" sz="1200" b="0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Coffee machines (two posts)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lang="en-US" sz="1200" b="0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—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lang="en-US" sz="1200" b="0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—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lang="en-US" sz="1200" b="0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No price shown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lang="en-US" sz="1200" b="0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Instagram: “call / DM to order”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5063722" name="TextBox 103"/>
          <p:cNvSpPr txBox="1"/>
          <p:nvPr/>
        </p:nvSpPr>
        <p:spPr bwMode="auto">
          <a:xfrm>
            <a:off x="722376" y="5897880"/>
            <a:ext cx="107442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defRPr/>
            </a:pPr>
            <a:r>
              <a:rPr lang="en-US" sz="1200" b="0">
                <a:solidFill>
                  <a:srgbClr val="5A6672"/>
                </a:solidFill>
                <a:latin typeface="Inter"/>
                <a:cs typeface="Inter"/>
              </a:rPr>
              <a:t>Screenshots Sep–Oct 2026; Instagram posts dated Apr–Oct 2026.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fast" p14:dur="500" advClick="1">
        <p:fade thruBlk="0"/>
      </p:transition>
    </mc:Choice>
    <mc:Fallback>
      <p:transition spd="fast" advClick="1">
        <p:fade thruBlk="0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6198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86198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83251480" name="Google Shape;98;p14" title="Center_for_Academic_and_Professional_Advancement.png"/>
          <p:cNvPicPr/>
          <p:nvPr/>
        </p:nvPicPr>
        <p:blipFill rotWithShape="1">
          <a:blip r:embed="rId3">
            <a:alphaModFix/>
          </a:blip>
          <a:stretch/>
        </p:blipFill>
        <p:spPr bwMode="auto">
          <a:xfrm>
            <a:off x="8289593" y="351575"/>
            <a:ext cx="3178502" cy="9693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953563747" name="Google Shape;99;p14" title="german cooperation deutsche zusammenarbeit.png"/>
          <p:cNvPicPr/>
          <p:nvPr/>
        </p:nvPicPr>
        <p:blipFill rotWithShape="1">
          <a:blip r:embed="rId4">
            <a:alphaModFix/>
          </a:blip>
          <a:stretch/>
        </p:blipFill>
        <p:spPr bwMode="auto">
          <a:xfrm>
            <a:off x="723900" y="436204"/>
            <a:ext cx="1428202" cy="800089"/>
          </a:xfrm>
          <a:prstGeom prst="rect">
            <a:avLst/>
          </a:prstGeom>
          <a:noFill/>
          <a:ln>
            <a:noFill/>
          </a:ln>
        </p:spPr>
      </p:pic>
      <p:sp>
        <p:nvSpPr>
          <p:cNvPr id="2060326374" name="Rectangle 99"/>
          <p:cNvSpPr/>
          <p:nvPr/>
        </p:nvSpPr>
        <p:spPr bwMode="auto">
          <a:xfrm>
            <a:off x="722376" y="1517904"/>
            <a:ext cx="274320" cy="45720"/>
          </a:xfrm>
          <a:prstGeom prst="rect">
            <a:avLst/>
          </a:prstGeom>
          <a:solidFill>
            <a:srgbClr val="298FC2"/>
          </a:solidFill>
          <a:ln>
            <a:noFill/>
          </a:ln>
          <a:effectLst/>
        </p:spPr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333214972" name="TextBox 100"/>
          <p:cNvSpPr txBox="1"/>
          <p:nvPr/>
        </p:nvSpPr>
        <p:spPr bwMode="auto">
          <a:xfrm>
            <a:off x="1133856" y="1426464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defRPr/>
            </a:pPr>
            <a:r>
              <a:rPr lang="en-US" sz="1300" b="0">
                <a:solidFill>
                  <a:srgbClr val="5A6672"/>
                </a:solidFill>
                <a:latin typeface="Inter"/>
                <a:cs typeface="Inter"/>
              </a:rPr>
              <a:t>Appendix</a:t>
            </a:r>
            <a:endParaRPr/>
          </a:p>
        </p:txBody>
      </p:sp>
      <p:sp>
        <p:nvSpPr>
          <p:cNvPr id="452880851" name="TextBox 101"/>
          <p:cNvSpPr txBox="1"/>
          <p:nvPr/>
        </p:nvSpPr>
        <p:spPr bwMode="auto">
          <a:xfrm>
            <a:off x="722376" y="1700784"/>
            <a:ext cx="10744200" cy="5669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defRPr/>
            </a:pPr>
            <a:r>
              <a:rPr lang="en-US" sz="3000" b="1">
                <a:solidFill>
                  <a:srgbClr val="101820"/>
                </a:solidFill>
                <a:latin typeface="Comfortaa"/>
                <a:cs typeface="Comfortaa"/>
              </a:rPr>
              <a:t>Top risks and how we handle them</a:t>
            </a:r>
            <a:endParaRPr/>
          </a:p>
        </p:txBody>
      </p:sp>
      <p:graphicFrame>
        <p:nvGraphicFramePr>
          <p:cNvPr id="1294893034" name="Table 102"/>
          <p:cNvGraphicFramePr>
            <a:graphicFrameLocks xmlns:a="http://schemas.openxmlformats.org/drawingml/2006/main" noGrp="1"/>
          </p:cNvGraphicFramePr>
          <p:nvPr/>
        </p:nvGraphicFramePr>
        <p:xfrm rot="0">
          <a:off x="722376" y="2514600"/>
          <a:ext cx="10744200" cy="3840480"/>
        </p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3174423"/>
                <a:gridCol w="7569777"/>
              </a:tblGrid>
              <a:tr h="640080">
                <a:tc>
                  <a:txBody>
                    <a:bodyPr/>
                    <a:p>
                      <a:pPr algn="l">
                        <a:defRPr/>
                      </a:pPr>
                      <a:r>
                        <a:rPr lang="en-US" sz="1200" b="1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Risk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DDE5ED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lang="en-US" sz="1200" b="1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How we handle it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DDE5ED"/>
                    </a:solidFill>
                  </a:tcPr>
                </a:tc>
              </a:tr>
              <a:tr h="640080">
                <a:tc>
                  <a:txBody>
                    <a:bodyPr/>
                    <a:p>
                      <a:pPr algn="l">
                        <a:defRPr/>
                      </a:pPr>
                      <a:r>
                        <a:rPr lang="en-US" sz="1200" b="0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Buyers and sellers bypass the app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lang="en-US" sz="1200" b="0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Low fee (~3.8%), no contact details on parcels, credits and ratings count only on-platform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p>
                      <a:pPr algn="l">
                        <a:defRPr/>
                      </a:pPr>
                      <a:r>
                        <a:rPr lang="en-US" sz="1200" b="0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Slower growth than planned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lang="en-US" sz="1200" b="0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Plan is already conservative; half-speed case capped at ~$2,750; hand-run pilot tests demand before spending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p>
                      <a:pPr algn="l">
                        <a:defRPr/>
                      </a:pPr>
                      <a:r>
                        <a:rPr lang="en-US" sz="1200" b="0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Courier contract delayed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lang="en-US" sz="1200" b="0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Registration first (budgeted); second courier quote as fallback; without the margin, break-even ≈ 1,060 orders/month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p>
                      <a:pPr algn="l">
                        <a:defRPr/>
                      </a:pPr>
                      <a:r>
                        <a:rPr lang="en-US" sz="1200" b="0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Failed deliveries ("not at home")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lang="en-US" sz="1200" b="0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One free re-attempt; 3 failures remove cash-on-delivery; WhatsApp reminder before delivery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p>
                      <a:pPr algn="l">
                        <a:defRPr/>
                      </a:pPr>
                      <a:r>
                        <a:rPr lang="en-US" sz="1200" b="0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Courier transfers cash late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lang="en-US" sz="1200" b="0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Contract sets a transfer deadline (target 24 h); merchants are paid only after the money arrives; card payments reduce cash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fast" p14:dur="500" advClick="1">
        <p:fade thruBlk="0"/>
      </p:transition>
    </mc:Choice>
    <mc:Fallback>
      <p:transition spd="fast" advClick="1">
        <p:fade thruBlk="0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48930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948930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606724609" name="Google Shape;98;p14" title="Center_for_Academic_and_Professional_Advancement.png"/>
          <p:cNvPicPr/>
          <p:nvPr/>
        </p:nvPicPr>
        <p:blipFill rotWithShape="1">
          <a:blip r:embed="rId3">
            <a:alphaModFix/>
          </a:blip>
          <a:stretch/>
        </p:blipFill>
        <p:spPr bwMode="auto">
          <a:xfrm>
            <a:off x="8289593" y="351575"/>
            <a:ext cx="3178502" cy="9693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4537003" name="Google Shape;99;p14" title="german cooperation deutsche zusammenarbeit.png"/>
          <p:cNvPicPr/>
          <p:nvPr/>
        </p:nvPicPr>
        <p:blipFill rotWithShape="1">
          <a:blip r:embed="rId4">
            <a:alphaModFix/>
          </a:blip>
          <a:stretch/>
        </p:blipFill>
        <p:spPr bwMode="auto">
          <a:xfrm>
            <a:off x="723900" y="436204"/>
            <a:ext cx="1428202" cy="800089"/>
          </a:xfrm>
          <a:prstGeom prst="rect">
            <a:avLst/>
          </a:prstGeom>
          <a:noFill/>
          <a:ln>
            <a:noFill/>
          </a:ln>
        </p:spPr>
      </p:pic>
      <p:sp>
        <p:nvSpPr>
          <p:cNvPr id="1140021490" name="Rectangle 99"/>
          <p:cNvSpPr/>
          <p:nvPr/>
        </p:nvSpPr>
        <p:spPr bwMode="auto">
          <a:xfrm>
            <a:off x="722376" y="1517904"/>
            <a:ext cx="274320" cy="45720"/>
          </a:xfrm>
          <a:prstGeom prst="rect">
            <a:avLst/>
          </a:prstGeom>
          <a:solidFill>
            <a:srgbClr val="298FC2"/>
          </a:solidFill>
          <a:ln>
            <a:noFill/>
          </a:ln>
          <a:effectLst/>
        </p:spPr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101378627" name="TextBox 100"/>
          <p:cNvSpPr txBox="1"/>
          <p:nvPr/>
        </p:nvSpPr>
        <p:spPr bwMode="auto">
          <a:xfrm>
            <a:off x="1133856" y="1426464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defRPr/>
            </a:pPr>
            <a:r>
              <a:rPr lang="en-US" sz="1300" b="0">
                <a:solidFill>
                  <a:srgbClr val="5A6672"/>
                </a:solidFill>
                <a:latin typeface="Inter"/>
                <a:cs typeface="Inter"/>
              </a:rPr>
              <a:t>Appendix</a:t>
            </a:r>
            <a:endParaRPr/>
          </a:p>
        </p:txBody>
      </p:sp>
      <p:sp>
        <p:nvSpPr>
          <p:cNvPr id="421188428" name="TextBox 101"/>
          <p:cNvSpPr txBox="1"/>
          <p:nvPr/>
        </p:nvSpPr>
        <p:spPr bwMode="auto">
          <a:xfrm>
            <a:off x="722376" y="1700784"/>
            <a:ext cx="10744200" cy="5669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defRPr/>
            </a:pPr>
            <a:r>
              <a:rPr lang="en-US" sz="3000" b="1">
                <a:solidFill>
                  <a:srgbClr val="101820"/>
                </a:solidFill>
                <a:latin typeface="Comfortaa"/>
                <a:cs typeface="Comfortaa"/>
              </a:rPr>
              <a:t>How an order flows</a:t>
            </a:r>
            <a:endParaRPr/>
          </a:p>
        </p:txBody>
      </p:sp>
      <p:grpSp>
        <p:nvGrpSpPr>
          <p:cNvPr id="1068326235" name="Group 1"/>
          <p:cNvGrpSpPr/>
          <p:nvPr/>
        </p:nvGrpSpPr>
        <p:grpSpPr bwMode="auto">
          <a:xfrm>
            <a:off x="722376" y="2779776"/>
            <a:ext cx="10744200" cy="3118104"/>
            <a:chOff x="722376" y="2779776"/>
            <a:chExt cx="10744200" cy="3118104"/>
          </a:xfrm>
        </p:grpSpPr>
        <p:cxnSp>
          <p:nvCxnSpPr>
            <p:cNvPr id="103" name="Connector 102"/>
            <p:cNvCxnSpPr/>
            <p:nvPr/>
          </p:nvCxnSpPr>
          <p:spPr bwMode="auto">
            <a:xfrm>
              <a:off x="1463040" y="3017519"/>
              <a:ext cx="9272016" cy="0"/>
            </a:xfrm>
            <a:prstGeom prst="line">
              <a:avLst/>
            </a:prstGeom>
            <a:ln w="38100">
              <a:solidFill>
                <a:srgbClr val="DDE5ED"/>
              </a:solidFill>
            </a:ln>
            <a:effectLst/>
          </p:spPr>
        </p:cxnSp>
        <p:sp>
          <p:nvSpPr>
            <p:cNvPr id="104" name="Oval 103"/>
            <p:cNvSpPr/>
            <p:nvPr/>
          </p:nvSpPr>
          <p:spPr bwMode="auto">
            <a:xfrm>
              <a:off x="1225296" y="2779776"/>
              <a:ext cx="475488" cy="475488"/>
            </a:xfrm>
            <a:prstGeom prst="ellipse">
              <a:avLst/>
            </a:prstGeom>
            <a:solidFill>
              <a:srgbClr val="298FC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05" name="TextBox 104"/>
            <p:cNvSpPr txBox="1"/>
            <p:nvPr/>
          </p:nvSpPr>
          <p:spPr bwMode="auto">
            <a:xfrm>
              <a:off x="1225296" y="2779776"/>
              <a:ext cx="475488" cy="47548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defRPr/>
              </a:pPr>
              <a:r>
                <a:rPr lang="en-US" sz="1400" b="1">
                  <a:solidFill>
                    <a:srgbClr val="FFFFFF"/>
                  </a:solidFill>
                  <a:latin typeface="Inter"/>
                  <a:cs typeface="Inter"/>
                </a:rPr>
                <a:t>1</a:t>
              </a:r>
              <a:endParaRPr/>
            </a:p>
          </p:txBody>
        </p:sp>
        <p:sp>
          <p:nvSpPr>
            <p:cNvPr id="106" name="TextBox 105"/>
            <p:cNvSpPr txBox="1"/>
            <p:nvPr/>
          </p:nvSpPr>
          <p:spPr bwMode="auto">
            <a:xfrm>
              <a:off x="749808" y="3429000"/>
              <a:ext cx="1426464" cy="7315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ctr">
                <a:defRPr/>
              </a:pPr>
              <a:r>
                <a:rPr lang="en-US" sz="1300" b="1">
                  <a:solidFill>
                    <a:srgbClr val="101820"/>
                  </a:solidFill>
                  <a:latin typeface="Inter"/>
                  <a:cs typeface="Inter"/>
                </a:rPr>
                <a:t>Checkout (cash or card)</a:t>
              </a:r>
              <a:endParaRPr/>
            </a:p>
          </p:txBody>
        </p:sp>
        <p:sp>
          <p:nvSpPr>
            <p:cNvPr id="107" name="Oval 106"/>
            <p:cNvSpPr/>
            <p:nvPr/>
          </p:nvSpPr>
          <p:spPr bwMode="auto">
            <a:xfrm>
              <a:off x="2770632" y="2779776"/>
              <a:ext cx="475488" cy="475488"/>
            </a:xfrm>
            <a:prstGeom prst="ellipse">
              <a:avLst/>
            </a:prstGeom>
            <a:solidFill>
              <a:srgbClr val="298FC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08" name="TextBox 107"/>
            <p:cNvSpPr txBox="1"/>
            <p:nvPr/>
          </p:nvSpPr>
          <p:spPr bwMode="auto">
            <a:xfrm>
              <a:off x="2770632" y="2779776"/>
              <a:ext cx="475488" cy="47548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defRPr/>
              </a:pPr>
              <a:r>
                <a:rPr lang="en-US" sz="1400" b="1">
                  <a:solidFill>
                    <a:srgbClr val="FFFFFF"/>
                  </a:solidFill>
                  <a:latin typeface="Inter"/>
                  <a:cs typeface="Inter"/>
                </a:rPr>
                <a:t>2</a:t>
              </a:r>
              <a:endParaRPr/>
            </a:p>
          </p:txBody>
        </p:sp>
        <p:sp>
          <p:nvSpPr>
            <p:cNvPr id="109" name="TextBox 108"/>
            <p:cNvSpPr txBox="1"/>
            <p:nvPr/>
          </p:nvSpPr>
          <p:spPr bwMode="auto">
            <a:xfrm>
              <a:off x="2295144" y="3429000"/>
              <a:ext cx="1426464" cy="7315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ctr">
                <a:defRPr/>
              </a:pPr>
              <a:r>
                <a:rPr lang="en-US" sz="1300" b="1">
                  <a:solidFill>
                    <a:srgbClr val="101820"/>
                  </a:solidFill>
                  <a:latin typeface="Inter"/>
                  <a:cs typeface="Inter"/>
                </a:rPr>
                <a:t>Merchant accepts</a:t>
              </a:r>
              <a:endParaRPr/>
            </a:p>
          </p:txBody>
        </p:sp>
        <p:sp>
          <p:nvSpPr>
            <p:cNvPr id="110" name="Oval 109"/>
            <p:cNvSpPr/>
            <p:nvPr/>
          </p:nvSpPr>
          <p:spPr bwMode="auto">
            <a:xfrm>
              <a:off x="4315968" y="2779776"/>
              <a:ext cx="475488" cy="475488"/>
            </a:xfrm>
            <a:prstGeom prst="ellipse">
              <a:avLst/>
            </a:prstGeom>
            <a:solidFill>
              <a:srgbClr val="298FC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11" name="TextBox 110"/>
            <p:cNvSpPr txBox="1"/>
            <p:nvPr/>
          </p:nvSpPr>
          <p:spPr bwMode="auto">
            <a:xfrm>
              <a:off x="4315968" y="2779776"/>
              <a:ext cx="475488" cy="47548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defRPr/>
              </a:pPr>
              <a:r>
                <a:rPr lang="en-US" sz="1400" b="1">
                  <a:solidFill>
                    <a:srgbClr val="FFFFFF"/>
                  </a:solidFill>
                  <a:latin typeface="Inter"/>
                  <a:cs typeface="Inter"/>
                </a:rPr>
                <a:t>3</a:t>
              </a:r>
              <a:endParaRPr/>
            </a:p>
          </p:txBody>
        </p:sp>
        <p:sp>
          <p:nvSpPr>
            <p:cNvPr id="112" name="TextBox 111"/>
            <p:cNvSpPr txBox="1"/>
            <p:nvPr/>
          </p:nvSpPr>
          <p:spPr bwMode="auto">
            <a:xfrm>
              <a:off x="3840480" y="3429000"/>
              <a:ext cx="1426464" cy="7315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ctr">
                <a:defRPr/>
              </a:pPr>
              <a:r>
                <a:rPr lang="en-US" sz="1300" b="1">
                  <a:solidFill>
                    <a:srgbClr val="101820"/>
                  </a:solidFill>
                  <a:latin typeface="Inter"/>
                  <a:cs typeface="Inter"/>
                </a:rPr>
                <a:t>Sealed package + waybill</a:t>
              </a:r>
              <a:endParaRPr/>
            </a:p>
          </p:txBody>
        </p:sp>
        <p:sp>
          <p:nvSpPr>
            <p:cNvPr id="113" name="Oval 112"/>
            <p:cNvSpPr/>
            <p:nvPr/>
          </p:nvSpPr>
          <p:spPr bwMode="auto">
            <a:xfrm>
              <a:off x="5861304" y="2779776"/>
              <a:ext cx="475488" cy="475488"/>
            </a:xfrm>
            <a:prstGeom prst="ellipse">
              <a:avLst/>
            </a:prstGeom>
            <a:solidFill>
              <a:srgbClr val="298FC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14" name="TextBox 113"/>
            <p:cNvSpPr txBox="1"/>
            <p:nvPr/>
          </p:nvSpPr>
          <p:spPr bwMode="auto">
            <a:xfrm>
              <a:off x="5861304" y="2779776"/>
              <a:ext cx="475488" cy="47548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defRPr/>
              </a:pPr>
              <a:r>
                <a:rPr lang="en-US" sz="1400" b="1">
                  <a:solidFill>
                    <a:srgbClr val="FFFFFF"/>
                  </a:solidFill>
                  <a:latin typeface="Inter"/>
                  <a:cs typeface="Inter"/>
                </a:rPr>
                <a:t>4</a:t>
              </a:r>
              <a:endParaRPr/>
            </a:p>
          </p:txBody>
        </p:sp>
        <p:sp>
          <p:nvSpPr>
            <p:cNvPr id="115" name="TextBox 114"/>
            <p:cNvSpPr txBox="1"/>
            <p:nvPr/>
          </p:nvSpPr>
          <p:spPr bwMode="auto">
            <a:xfrm>
              <a:off x="5385816" y="3429000"/>
              <a:ext cx="1426464" cy="7315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ctr">
                <a:defRPr/>
              </a:pPr>
              <a:r>
                <a:rPr lang="en-US" sz="1300" b="1">
                  <a:solidFill>
                    <a:srgbClr val="101820"/>
                  </a:solidFill>
                  <a:latin typeface="Inter"/>
                  <a:cs typeface="Inter"/>
                </a:rPr>
                <a:t>Courier pickup</a:t>
              </a:r>
              <a:endParaRPr/>
            </a:p>
          </p:txBody>
        </p:sp>
        <p:sp>
          <p:nvSpPr>
            <p:cNvPr id="116" name="Oval 115"/>
            <p:cNvSpPr/>
            <p:nvPr/>
          </p:nvSpPr>
          <p:spPr bwMode="auto">
            <a:xfrm>
              <a:off x="7406640" y="2779776"/>
              <a:ext cx="475488" cy="475488"/>
            </a:xfrm>
            <a:prstGeom prst="ellipse">
              <a:avLst/>
            </a:prstGeom>
            <a:solidFill>
              <a:srgbClr val="298FC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17" name="TextBox 116"/>
            <p:cNvSpPr txBox="1"/>
            <p:nvPr/>
          </p:nvSpPr>
          <p:spPr bwMode="auto">
            <a:xfrm>
              <a:off x="7406640" y="2779776"/>
              <a:ext cx="475488" cy="47548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defRPr/>
              </a:pPr>
              <a:r>
                <a:rPr lang="en-US" sz="1400" b="1">
                  <a:solidFill>
                    <a:srgbClr val="FFFFFF"/>
                  </a:solidFill>
                  <a:latin typeface="Inter"/>
                  <a:cs typeface="Inter"/>
                </a:rPr>
                <a:t>5</a:t>
              </a:r>
              <a:endParaRPr/>
            </a:p>
          </p:txBody>
        </p:sp>
        <p:sp>
          <p:nvSpPr>
            <p:cNvPr id="118" name="TextBox 117"/>
            <p:cNvSpPr txBox="1"/>
            <p:nvPr/>
          </p:nvSpPr>
          <p:spPr bwMode="auto">
            <a:xfrm>
              <a:off x="6931152" y="3429000"/>
              <a:ext cx="1426464" cy="7315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ctr">
                <a:defRPr/>
              </a:pPr>
              <a:r>
                <a:rPr lang="en-US" sz="1300" b="1">
                  <a:solidFill>
                    <a:srgbClr val="101820"/>
                  </a:solidFill>
                  <a:latin typeface="Inter"/>
                  <a:cs typeface="Inter"/>
                </a:rPr>
                <a:t>Delivery (cash collected)</a:t>
              </a:r>
              <a:endParaRPr/>
            </a:p>
          </p:txBody>
        </p:sp>
        <p:sp>
          <p:nvSpPr>
            <p:cNvPr id="119" name="Oval 118"/>
            <p:cNvSpPr/>
            <p:nvPr/>
          </p:nvSpPr>
          <p:spPr bwMode="auto">
            <a:xfrm>
              <a:off x="8951976" y="2779776"/>
              <a:ext cx="475488" cy="475488"/>
            </a:xfrm>
            <a:prstGeom prst="ellipse">
              <a:avLst/>
            </a:prstGeom>
            <a:solidFill>
              <a:srgbClr val="298FC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20" name="TextBox 119"/>
            <p:cNvSpPr txBox="1"/>
            <p:nvPr/>
          </p:nvSpPr>
          <p:spPr bwMode="auto">
            <a:xfrm>
              <a:off x="8951976" y="2779776"/>
              <a:ext cx="475488" cy="47548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defRPr/>
              </a:pPr>
              <a:r>
                <a:rPr lang="en-US" sz="1400" b="1">
                  <a:solidFill>
                    <a:srgbClr val="FFFFFF"/>
                  </a:solidFill>
                  <a:latin typeface="Inter"/>
                  <a:cs typeface="Inter"/>
                </a:rPr>
                <a:t>6</a:t>
              </a:r>
              <a:endParaRPr/>
            </a:p>
          </p:txBody>
        </p:sp>
        <p:sp>
          <p:nvSpPr>
            <p:cNvPr id="121" name="TextBox 120"/>
            <p:cNvSpPr txBox="1"/>
            <p:nvPr/>
          </p:nvSpPr>
          <p:spPr bwMode="auto">
            <a:xfrm>
              <a:off x="8476488" y="3429000"/>
              <a:ext cx="1426464" cy="7315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ctr">
                <a:defRPr/>
              </a:pPr>
              <a:r>
                <a:rPr lang="en-US" sz="1300" b="1">
                  <a:solidFill>
                    <a:srgbClr val="101820"/>
                  </a:solidFill>
                  <a:latin typeface="Inter"/>
                  <a:cs typeface="Inter"/>
                </a:rPr>
                <a:t>Courier transfers to Cheapify</a:t>
              </a:r>
              <a:endParaRPr/>
            </a:p>
          </p:txBody>
        </p:sp>
        <p:sp>
          <p:nvSpPr>
            <p:cNvPr id="122" name="Oval 121"/>
            <p:cNvSpPr/>
            <p:nvPr/>
          </p:nvSpPr>
          <p:spPr bwMode="auto">
            <a:xfrm>
              <a:off x="10497312" y="2779776"/>
              <a:ext cx="475488" cy="475488"/>
            </a:xfrm>
            <a:prstGeom prst="ellipse">
              <a:avLst/>
            </a:prstGeom>
            <a:solidFill>
              <a:srgbClr val="298FC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/>
            </a:p>
          </p:txBody>
        </p:sp>
        <p:sp>
          <p:nvSpPr>
            <p:cNvPr id="123" name="TextBox 122"/>
            <p:cNvSpPr txBox="1"/>
            <p:nvPr/>
          </p:nvSpPr>
          <p:spPr bwMode="auto">
            <a:xfrm>
              <a:off x="10497312" y="2779776"/>
              <a:ext cx="475488" cy="47548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defRPr/>
              </a:pPr>
              <a:r>
                <a:rPr lang="en-US" sz="1400" b="1">
                  <a:solidFill>
                    <a:srgbClr val="FFFFFF"/>
                  </a:solidFill>
                  <a:latin typeface="Inter"/>
                  <a:cs typeface="Inter"/>
                </a:rPr>
                <a:t>7</a:t>
              </a:r>
              <a:endParaRPr/>
            </a:p>
          </p:txBody>
        </p:sp>
        <p:sp>
          <p:nvSpPr>
            <p:cNvPr id="124" name="TextBox 123"/>
            <p:cNvSpPr txBox="1"/>
            <p:nvPr/>
          </p:nvSpPr>
          <p:spPr bwMode="auto">
            <a:xfrm>
              <a:off x="10021824" y="3429000"/>
              <a:ext cx="1426464" cy="7315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ctr">
                <a:defRPr/>
              </a:pPr>
              <a:r>
                <a:rPr lang="en-US" sz="1300" b="1">
                  <a:solidFill>
                    <a:srgbClr val="101820"/>
                  </a:solidFill>
                  <a:latin typeface="Inter"/>
                  <a:cs typeface="Inter"/>
                </a:rPr>
                <a:t>Merchant paid after 48 h</a:t>
              </a:r>
              <a:endParaRPr/>
            </a:p>
          </p:txBody>
        </p:sp>
        <p:sp>
          <p:nvSpPr>
            <p:cNvPr id="125" name="TextBox 124"/>
            <p:cNvSpPr txBox="1"/>
            <p:nvPr/>
          </p:nvSpPr>
          <p:spPr bwMode="auto">
            <a:xfrm>
              <a:off x="722376" y="4526280"/>
              <a:ext cx="10744200" cy="2743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defRPr/>
              </a:pPr>
              <a:r>
                <a:rPr lang="en-US" sz="1200" b="0">
                  <a:solidFill>
                    <a:srgbClr val="5A6672"/>
                  </a:solidFill>
                  <a:latin typeface="Inter"/>
                  <a:cs typeface="Inter"/>
                </a:rPr>
                <a:t>Returns: 48 hours — faulty item: merchant pays the return; change of mind: customer pays 3,000 IQD.</a:t>
              </a:r>
              <a:endParaRPr/>
            </a:p>
          </p:txBody>
        </p:sp>
        <p:sp>
          <p:nvSpPr>
            <p:cNvPr id="126" name="TextBox 125"/>
            <p:cNvSpPr txBox="1"/>
            <p:nvPr/>
          </p:nvSpPr>
          <p:spPr bwMode="auto">
            <a:xfrm>
              <a:off x="722376" y="4892039"/>
              <a:ext cx="10744200" cy="2743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defRPr/>
              </a:pPr>
              <a:r>
                <a:rPr lang="en-US" sz="1200" b="0">
                  <a:solidFill>
                    <a:srgbClr val="5A6672"/>
                  </a:solidFill>
                  <a:latin typeface="Inter"/>
                  <a:cs typeface="Inter"/>
                </a:rPr>
                <a:t>Refunds: card → back to the card; cash orders → Cheapify credit, or electronic transfer for faulty items.</a:t>
              </a:r>
              <a:endParaRPr/>
            </a:p>
          </p:txBody>
        </p:sp>
        <p:sp>
          <p:nvSpPr>
            <p:cNvPr id="127" name="TextBox 126"/>
            <p:cNvSpPr txBox="1"/>
            <p:nvPr/>
          </p:nvSpPr>
          <p:spPr bwMode="auto">
            <a:xfrm>
              <a:off x="722376" y="5257800"/>
              <a:ext cx="10744200" cy="2743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defRPr/>
              </a:pPr>
              <a:r>
                <a:rPr lang="en-US" sz="1200" b="0">
                  <a:solidFill>
                    <a:srgbClr val="5A6672"/>
                  </a:solidFill>
                  <a:latin typeface="Inter"/>
                  <a:cs typeface="Inter"/>
                </a:rPr>
                <a:t>Failed delivery: one free re-attempt, then back to the merchant.</a:t>
              </a:r>
              <a:endParaRPr/>
            </a:p>
          </p:txBody>
        </p:sp>
        <p:sp>
          <p:nvSpPr>
            <p:cNvPr id="128" name="TextBox 127"/>
            <p:cNvSpPr txBox="1"/>
            <p:nvPr/>
          </p:nvSpPr>
          <p:spPr bwMode="auto">
            <a:xfrm>
              <a:off x="722376" y="5623560"/>
              <a:ext cx="10744200" cy="2743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defRPr/>
              </a:pPr>
              <a:r>
                <a:rPr lang="en-US" sz="1200" b="0">
                  <a:solidFill>
                    <a:srgbClr val="5A6672"/>
                  </a:solidFill>
                  <a:latin typeface="Inter"/>
                  <a:cs typeface="Inter"/>
                </a:rPr>
                <a:t>Packaging: opaque and sealed; tamper tape on orders ≥ 50,000 IQD.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fast" p14:dur="500" advClick="1">
        <p:fade thruBlk="0"/>
      </p:transition>
    </mc:Choice>
    <mc:Fallback>
      <p:transition spd="fast" advClick="1">
        <p:fade thruBlk="0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83262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0683262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22625068" name="Google Shape;98;p14" title="Center_for_Academic_and_Professional_Advancement.png"/>
          <p:cNvPicPr/>
          <p:nvPr/>
        </p:nvPicPr>
        <p:blipFill rotWithShape="1">
          <a:blip r:embed="rId3">
            <a:alphaModFix/>
          </a:blip>
          <a:stretch/>
        </p:blipFill>
        <p:spPr bwMode="auto">
          <a:xfrm>
            <a:off x="8289593" y="351575"/>
            <a:ext cx="3178502" cy="9693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059769851" name="Google Shape;99;p14" title="german cooperation deutsche zusammenarbeit.png"/>
          <p:cNvPicPr/>
          <p:nvPr/>
        </p:nvPicPr>
        <p:blipFill rotWithShape="1">
          <a:blip r:embed="rId4">
            <a:alphaModFix/>
          </a:blip>
          <a:stretch/>
        </p:blipFill>
        <p:spPr bwMode="auto">
          <a:xfrm>
            <a:off x="723900" y="436204"/>
            <a:ext cx="1428202" cy="800089"/>
          </a:xfrm>
          <a:prstGeom prst="rect">
            <a:avLst/>
          </a:prstGeom>
          <a:noFill/>
          <a:ln>
            <a:noFill/>
          </a:ln>
        </p:spPr>
      </p:pic>
      <p:sp>
        <p:nvSpPr>
          <p:cNvPr id="1435384285" name="Rectangle 99"/>
          <p:cNvSpPr/>
          <p:nvPr/>
        </p:nvSpPr>
        <p:spPr bwMode="auto">
          <a:xfrm>
            <a:off x="722376" y="1517904"/>
            <a:ext cx="274320" cy="45720"/>
          </a:xfrm>
          <a:prstGeom prst="rect">
            <a:avLst/>
          </a:prstGeom>
          <a:solidFill>
            <a:srgbClr val="298FC2"/>
          </a:solidFill>
          <a:ln>
            <a:noFill/>
          </a:ln>
          <a:effectLst/>
        </p:spPr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137558800" name="TextBox 100"/>
          <p:cNvSpPr txBox="1"/>
          <p:nvPr/>
        </p:nvSpPr>
        <p:spPr bwMode="auto">
          <a:xfrm>
            <a:off x="1133856" y="1426464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defRPr/>
            </a:pPr>
            <a:r>
              <a:rPr lang="en-US" sz="1300" b="0">
                <a:solidFill>
                  <a:srgbClr val="5A6672"/>
                </a:solidFill>
                <a:latin typeface="Inter"/>
                <a:cs typeface="Inter"/>
              </a:rPr>
              <a:t>Appendix</a:t>
            </a:r>
            <a:endParaRPr/>
          </a:p>
        </p:txBody>
      </p:sp>
      <p:sp>
        <p:nvSpPr>
          <p:cNvPr id="160951228" name="TextBox 101"/>
          <p:cNvSpPr txBox="1"/>
          <p:nvPr/>
        </p:nvSpPr>
        <p:spPr bwMode="auto">
          <a:xfrm>
            <a:off x="722376" y="1700784"/>
            <a:ext cx="10744200" cy="5669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defRPr/>
            </a:pPr>
            <a:r>
              <a:rPr lang="en-US" sz="3000" b="1">
                <a:solidFill>
                  <a:srgbClr val="101820"/>
                </a:solidFill>
                <a:latin typeface="Comfortaa"/>
                <a:cs typeface="Comfortaa"/>
              </a:rPr>
              <a:t>How we sized Duhok</a:t>
            </a:r>
            <a:endParaRPr/>
          </a:p>
        </p:txBody>
      </p:sp>
      <p:graphicFrame>
        <p:nvGraphicFramePr>
          <p:cNvPr id="1069213100" name="Table 102"/>
          <p:cNvGraphicFramePr>
            <a:graphicFrameLocks xmlns:a="http://schemas.openxmlformats.org/drawingml/2006/main" noGrp="1"/>
          </p:cNvGraphicFramePr>
          <p:nvPr/>
        </p:nvGraphicFramePr>
        <p:xfrm rot="0">
          <a:off x="722376" y="2514600"/>
          <a:ext cx="10744200" cy="2944368"/>
        </p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628900"/>
                <a:gridCol w="1828800"/>
                <a:gridCol w="4114800"/>
                <a:gridCol w="2171700"/>
              </a:tblGrid>
              <a:tr h="420624">
                <a:tc>
                  <a:txBody>
                    <a:bodyPr/>
                    <a:p>
                      <a:pPr algn="l">
                        <a:defRPr/>
                      </a:pPr>
                      <a:r>
                        <a:rPr lang="en-US" sz="1200" b="1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Figure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DDE5ED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lang="en-US" sz="1200" b="1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Value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DDE5ED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lang="en-US" sz="1200" b="1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How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DDE5ED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lang="en-US" sz="1200" b="1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Source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DDE5ED"/>
                    </a:solidFill>
                  </a:tcPr>
                </a:tc>
              </a:tr>
              <a:tr h="420624">
                <a:tc>
                  <a:txBody>
                    <a:bodyPr/>
                    <a:p>
                      <a:pPr algn="l">
                        <a:defRPr/>
                      </a:pPr>
                      <a:r>
                        <a:rPr lang="en-US" sz="1200" b="0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Launch-area population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lang="en-US" sz="1200" b="0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1,062,224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lang="en-US" sz="1200" b="0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Duhok 497,029 + Zakho 398,876 + Semel 166,319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lang="en-US" sz="1200" b="0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2024 census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p>
                      <a:pPr algn="l">
                        <a:defRPr/>
                      </a:pPr>
                      <a:r>
                        <a:rPr lang="en-US" sz="1200" b="0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Duhok governorate population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lang="en-US" sz="1200" b="0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1,599,871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lang="en-US" sz="1200" b="0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—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lang="en-US" sz="1200" b="0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2024 census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p>
                      <a:pPr algn="l">
                        <a:defRPr/>
                      </a:pPr>
                      <a:r>
                        <a:rPr lang="en-US" sz="1200" b="0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Launch-area internet users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lang="en-US" sz="1200" b="0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≈ 0.89M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lang="en-US" sz="1200" b="0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1,062,224 × 83.8%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lang="en-US" sz="1200" b="0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DataReportal rate (Iraq)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p>
                      <a:pPr algn="l">
                        <a:defRPr/>
                      </a:pPr>
                      <a:r>
                        <a:rPr lang="en-US" sz="1200" b="0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Launch-area online shopping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lang="en-US" sz="1200" b="0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≈ $30M / year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lang="en-US" sz="1200" b="0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2.30% of Iraq's population × $1.32B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lang="en-US" sz="1200" b="0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ECDB Iraq 2025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p>
                      <a:pPr algn="l">
                        <a:defRPr/>
                      </a:pPr>
                      <a:r>
                        <a:rPr lang="en-US" sz="1200" b="0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Break-even sales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lang="en-US" sz="1200" b="0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≈ $117,000 / year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lang="en-US" sz="1200" b="0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585 orders × 25,000 IQD × 12 ÷ 1,500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lang="en-US" sz="1200" b="0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Cheapify model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p>
                      <a:pPr algn="l">
                        <a:defRPr/>
                      </a:pPr>
                      <a:r>
                        <a:rPr lang="en-US" sz="1200" b="0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Share needed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lang="en-US" sz="1200" b="0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≈ 0.4%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lang="en-US" sz="1200" b="0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$117,000 ÷ $30M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lang="en-US" sz="1200" b="0">
                          <a:solidFill>
                            <a:srgbClr val="101820"/>
                          </a:solidFill>
                          <a:latin typeface="Inter"/>
                          <a:cs typeface="Inter"/>
                        </a:rPr>
                        <a:t>—</a:t>
                      </a:r>
                      <a:endParaRPr/>
                    </a:p>
                  </a:txBody>
                  <a:tcPr marL="91440" marR="91440" marT="27432" marB="27432" anchor="ctr">
                    <a:lnL w="9525" algn="ctr">
                      <a:solidFill>
                        <a:srgbClr val="DDE5ED"/>
                      </a:solidFill>
                    </a:lnL>
                    <a:lnR w="9525" algn="ctr">
                      <a:solidFill>
                        <a:srgbClr val="DDE5ED"/>
                      </a:solidFill>
                    </a:lnR>
                    <a:lnT w="9525" algn="ctr">
                      <a:solidFill>
                        <a:srgbClr val="DDE5ED"/>
                      </a:solidFill>
                    </a:lnT>
                    <a:lnB w="9525" algn="ctr">
                      <a:solidFill>
                        <a:srgbClr val="DDE5ED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27232133" name="TextBox 103"/>
          <p:cNvSpPr txBox="1"/>
          <p:nvPr/>
        </p:nvSpPr>
        <p:spPr bwMode="auto">
          <a:xfrm>
            <a:off x="722376" y="5577840"/>
            <a:ext cx="107442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defRPr/>
            </a:pPr>
            <a:r>
              <a:rPr lang="en-US" sz="1200" b="0">
                <a:solidFill>
                  <a:srgbClr val="5A6672"/>
                </a:solidFill>
                <a:latin typeface="Inter"/>
                <a:cs typeface="Inter"/>
              </a:rPr>
              <a:t>No official Duhok internet or e-commerce figures exist; estimates use Iraq-wide rates. Duhok is 80% urban, so these are likely conservative.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fast" p14:dur="500" advClick="1">
        <p:fade thruBlk="0"/>
      </p:transition>
    </mc:Choice>
    <mc:Fallback>
      <p:transition spd="fast" advClick="1">
        <p:fade thruBlk="0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9213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069213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_rels/theme3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ppt/theme/theme3.xml><?xml version="1.0" encoding="utf-8"?>
<a:theme xmlns:a="http://schemas.openxmlformats.org/drawingml/2006/main" xmlns:r="http://schemas.openxmlformats.org/officeDocument/2006/relationships" xmlns:p="http://schemas.openxmlformats.org/presentationml/2006/main" name="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ONLYOFFICE/10.0.0.169</Application>
  <PresentationFormat>On-screen Show (4:3)</PresentationFormat>
  <Paragraphs>0</Paragraphs>
  <Slides>23</Slides>
  <Notes>23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4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/>
  <cp:revision>2</cp:revision>
  <dcterms:modified xsi:type="dcterms:W3CDTF">2026-10-22T14:29:02Z</dcterms:modified>
</cp:coreProperties>
</file>