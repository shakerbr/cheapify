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58" r:id="rId8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y="6858000" cx="12192000"/>
  <p:notesSz cx="6858000" cy="9144000"/>
  <p:embeddedFontLst>
    <p:embeddedFont>
      <p:font typeface="Comfortaa"/>
      <p:regular r:id="rId9"/>
      <p:bold r:id="rId1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font" Target="fonts/Comfortaa-regular.fntdata"/><Relationship Id="rId10" Type="http://schemas.openxmlformats.org/officeDocument/2006/relationships/font" Target="fonts/Comfortaa-bold.fntdata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Time: ~8s</a:t>
            </a:r>
          </a:p>
          <a:p>
            <a:r>
              <a:t>Good morning. I'm Shakir Bashar, a computer engineer — and this is Cheapify: the bright side of choosing.</a:t>
            </a:r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Time: ~30s</a:t>
            </a:r>
          </a:p>
          <a:p>
            <a:r>
              <a:t>This is one power bank — the Anker 25,000, 165 watt. Same model. On one app's search page, it's listed at 100,000 dinars… [click] and right beside it, at 200,000. [click] Across Instagram and shopping apps, we found it anywhere from 90,000 to 200,000 dinars. [click] That's 122 percent more — for the exact same product.</a:t>
            </a:r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Time: ~6s</a:t>
            </a:r>
          </a:p>
          <a:p>
            <a:r>
              <a:t>Cheapify — the bright side of choosing. Thank you.</a:t>
            </a:r>
          </a:p>
        </p:txBody>
      </p:sp>
      <p:sp>
        <p:nvSpPr>
          <p:cNvPr id="102" name="Google Shape;10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~30s</a:t>
            </a:r>
          </a:p>
          <a:p>
            <a:r>
              <a:t>And it's not one product — it's the whole market. [click] Apps list the same item twice, at two prices. [click] Many Instagram pages hide the price: "call to order" — and under the post, someone asks: "How much is it?" [click] One app even added a button: "Found it cheaper? Tell us." [click] We surveyed 199 people: 97 percent of shoppers see these gaps — and for merchants, answering "price?" messages is the most common headache.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~30s</a:t>
            </a:r>
          </a:p>
          <a:p>
            <a:r>
              <a:t>Today, one product is scattered across pages and apps. Cheapify's rule is simple: [click] one product, one page. [click] Every seller of that product sits on it, showing the doorstep total — item plus delivery. [click] Then our Best Value ranking picks the winner: lowest doorstep total, then fastest delivery, then seller rating. And the ranking can never be bought.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~20s</a:t>
            </a:r>
          </a:p>
          <a:p>
            <a:r>
              <a:t>For shoppers: [click] every price side by side, an order in thirty seconds, and cash at the door. For merchants: [click] real orders instead of "price?" messages, a free dashboard for stock and payouts, and a fair fee — about 3.8 percent on a typical order.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~25s</a:t>
            </a:r>
          </a:p>
          <a:p>
            <a:r>
              <a:t>Our customers are shoppers who buy through Instagram and Facebook — 88 percent said they'd use an app like this — and the social sellers behind those pages: 85 percent sell there, and 75 percent want to try Cheapify. [click] We launch in Duhok, [click] grow to Erbil, Mosul and Sulaymaniyah, [click] then all of Iraq — 39.6 million internet users and a 1.3-billion-dollar e-commerce market.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~30s</a:t>
            </a:r>
          </a:p>
          <a:p>
            <a:r>
              <a:t>Here's how it works. A shopper searches for a product. [click] He sees every seller on one page, with Best Value on top. [click] He orders in under thirty seconds and pays cash on delivery. [click] The merchant gets a ready order on the dashboard and WhatsApp, packs it, and the courier picks it up. [click] Every Sunday, the merchant gets paid — minus our small fee.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~25s</a:t>
            </a:r>
          </a:p>
          <a:p>
            <a:r>
              <a:t>We only earn when an order is delivered. Take a 25,000-dinar order: the shopper pays 28,000 at the door. [click] 24,050 goes to the merchant — [click] 2,500 to the courier — [click] and 1,450 to Cheapify: our fee plus a small delivery margin. [click] Our fee gets lighter as prices rise, and after costs we keep about 1,100 dinars per order.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~22s</a:t>
            </a:r>
          </a:p>
          <a:p>
            <a:r>
              <a:t>Look at today's options. [click] On Instagram, prices are often hidden. Miswag and iBazzar show prices, but list the same product more than once. Elryan sells only its own stock. [click] Only Cheapify puts every seller of a product on one page — and compares them for you.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~25s</a:t>
            </a:r>
          </a:p>
          <a:p>
            <a:r>
              <a:t>Growth starts with merchants. [click] A store joins, [click] adds its Cheapify link to its bio, [click] and its followers order through us — at almost no cost. [click] More orders bring more stores. [click] We start with 20 founding stores in Duhok — first month commission-free, plus free ads — then Erbil, Mosul and Sulaymaniyah, then all of Iraq.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~30s</a:t>
            </a:r>
          </a:p>
          <a:p>
            <a:r>
              <a:t>Our numbers are deliberately conservative. We break even at about 585 orders a month — around 20 a day, roughly one order per store. [click] On our planning curve, the lowest cash point is about 2,200 dollars, in month three. [click] We break even in month four, [click] and recover everything by month eight. [click] Even at half the growth speed, the worst case stays under 2,800 dollars.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~25s</a:t>
            </a:r>
          </a:p>
          <a:p>
            <a:r>
              <a:t>We're asking for 7,500 dollars. [click] It covers the launch gap, growth marketing, registration, merchant kits and a reserve. [click] I build the platform myself, so not one dollar goes to developers or salaries. [click] And at second place, 4,500, or third, 2,500, each amount still funds a complete plan.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~20s</a:t>
            </a:r>
          </a:p>
          <a:p>
            <a:r>
              <a:t>Once funded: [click] we register and sign the courier contract — the rates are already quoted. [click] We run 10 to 20 real orders by hand. [click] We launch with 20 founding stores. [click] We break even by month four, [click] and then we bring Cheapify to Erbil, Mosul and Sulaymaniyah.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for questions.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for questions.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for questions.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for questions.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for questions.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for questions.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 for questions.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5.png"/><Relationship Id="rId7" Type="http://schemas.openxmlformats.org/officeDocument/2006/relationships/image" Target="../media/image4.png"/><Relationship Id="rId8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5.png"/><Relationship Id="rId7" Type="http://schemas.openxmlformats.org/officeDocument/2006/relationships/image" Target="../media/image4.png"/><Relationship Id="rId8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22.png"/><Relationship Id="rId6" Type="http://schemas.openxmlformats.org/officeDocument/2006/relationships/image" Target="../media/image1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7.png"/><Relationship Id="rId8" Type="http://schemas.openxmlformats.org/officeDocument/2006/relationships/image" Target="../media/image28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32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33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723900" y="5848350"/>
            <a:ext cx="10744200" cy="514350"/>
          </a:xfrm>
          <a:prstGeom prst="roundRect">
            <a:avLst>
              <a:gd fmla="val 25925" name="adj"/>
            </a:avLst>
          </a:prstGeom>
          <a:solidFill>
            <a:srgbClr val="0105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85" name="Google Shape;8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000750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90650" y="6000750"/>
            <a:ext cx="18097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7" name="Google Shape;87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14937" y="6000750"/>
            <a:ext cx="18097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8" name="Google Shape;88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115425" y="6000750"/>
            <a:ext cx="20955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3"/>
          <p:cNvSpPr txBox="1"/>
          <p:nvPr/>
        </p:nvSpPr>
        <p:spPr>
          <a:xfrm>
            <a:off x="1685925" y="6010275"/>
            <a:ext cx="11049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omfortaa"/>
                <a:ea typeface="Comfortaa"/>
                <a:cs typeface="Comfortaa"/>
                <a:sym typeface="Comfortaa"/>
              </a:rPr>
              <a:t>capa.auk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5510212" y="6010275"/>
            <a:ext cx="11811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omfortaa"/>
                <a:ea typeface="Comfortaa"/>
                <a:cs typeface="Comfortaa"/>
                <a:sym typeface="Comfortaa"/>
              </a:rPr>
              <a:t>CAPA AUK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9439275" y="6010275"/>
            <a:ext cx="2107406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omfortaa"/>
                <a:ea typeface="Comfortaa"/>
                <a:cs typeface="Comfortaa"/>
                <a:sym typeface="Comfortaa"/>
              </a:rPr>
              <a:t>capa@auk.edu.krd</a:t>
            </a:r>
            <a:endParaRPr/>
          </a:p>
        </p:txBody>
      </p:sp>
      <p:pic>
        <p:nvPicPr>
          <p:cNvPr id="92" name="Google Shape;92;p13" title="Center_for_Academic_and_Professional_Advancement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488575" y="351575"/>
            <a:ext cx="4058099" cy="1237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3" title="german cooperation deutsche zusammenarbeit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3901" y="459625"/>
            <a:ext cx="1823430" cy="102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Picture 93" descr="cheapify-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24348" y="1645920"/>
            <a:ext cx="1143000" cy="1469571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0" y="3154680"/>
            <a:ext cx="1219169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5400" b="1" lang="en-US">
                <a:solidFill>
                  <a:srgbClr val="101820"/>
                </a:solidFill>
                <a:latin typeface="Comfortaa"/>
                <a:cs typeface="Comfortaa"/>
              </a:rPr>
              <a:t>Cheapify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0" y="4005072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200" b="0" lang="en-US">
                <a:solidFill>
                  <a:srgbClr val="298FC2"/>
                </a:solidFill>
                <a:latin typeface="Comfortaa"/>
                <a:cs typeface="Comfortaa"/>
              </a:rPr>
              <a:t>The bright side of choosing.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0" y="4736592"/>
            <a:ext cx="12191695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lang="en-US">
                <a:solidFill>
                  <a:srgbClr val="101820"/>
                </a:solidFill>
                <a:latin typeface="Inter"/>
                <a:cs typeface="Inter"/>
              </a:rPr>
              <a:t>Shakir Bashar · Founder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0" y="502920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0" lang="en-US">
                <a:solidFill>
                  <a:srgbClr val="5A6672"/>
                </a:solidFill>
                <a:latin typeface="Inter"/>
                <a:cs typeface="Inter"/>
              </a:rPr>
              <a:t>Youth Entrepreneurship Program · Final Pitch</a:t>
            </a:r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animBg="1"/>
      <p:bldP spid="96" grpId="0" animBg="1"/>
      <p:bldP spid="97" grpId="0" animBg="1"/>
      <p:bldP spid="9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4" title="Center_for_Academic_and_Professional_Advancemen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89593" y="351575"/>
            <a:ext cx="3178503" cy="96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3900" y="436205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Problem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Same power bank. 100,000 or 200,000 IQD.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lang="en-US">
                <a:solidFill>
                  <a:srgbClr val="5A6672"/>
                </a:solidFill>
                <a:latin typeface="Inter"/>
                <a:cs typeface="Inter"/>
              </a:rPr>
              <a:t>Live app listings captured Oct 20, 2026 (Miswag, iBazzar); Instagram offers from seller posts dated Apr–Oct 2026. Seller names blurred.</a:t>
            </a:r>
          </a:p>
        </p:txBody>
      </p:sp>
      <p:grpSp>
        <p:nvGrpSpPr>
          <p:cNvPr id="1" name="Group 0"/>
          <p:cNvGrpSpPr/>
          <p:nvPr/>
        </p:nvGrpSpPr>
        <p:grpSpPr>
          <a:xfrm>
            <a:off x="722376" y="2468880"/>
            <a:ext cx="3749040" cy="3383280"/>
            <a:chOff x="722376" y="2468880"/>
            <a:chExt cx="3749040" cy="3383280"/>
          </a:xfrm>
        </p:grpSpPr>
        <p:sp>
          <p:nvSpPr>
            <p:cNvPr id="104" name="Rounded Rectangle 103"/>
            <p:cNvSpPr/>
            <p:nvPr/>
          </p:nvSpPr>
          <p:spPr>
            <a:xfrm>
              <a:off x="722376" y="2468880"/>
              <a:ext cx="3749040" cy="3383280"/>
            </a:xfrm>
            <a:prstGeom prst="roundRect">
              <a:avLst>
                <a:gd name="adj" fmla="val 3783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Rounded Rectangle 104"/>
            <p:cNvSpPr/>
            <p:nvPr/>
          </p:nvSpPr>
          <p:spPr>
            <a:xfrm>
              <a:off x="859536" y="2606040"/>
              <a:ext cx="3474720" cy="2697480"/>
            </a:xfrm>
            <a:prstGeom prst="roundRect">
              <a:avLst>
                <a:gd name="adj" fmla="val 2711"/>
              </a:avLst>
            </a:prstGeom>
            <a:solidFill>
              <a:srgbClr val="F4F6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6" name="Picture 105" descr="ev-miswag-anker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0971" y="2606040"/>
              <a:ext cx="3371850" cy="2697480"/>
            </a:xfrm>
            <a:prstGeom prst="rect">
              <a:avLst/>
            </a:prstGeom>
          </p:spPr>
        </p:pic>
        <p:sp>
          <p:nvSpPr>
            <p:cNvPr id="107" name="TextBox 106"/>
            <p:cNvSpPr txBox="1"/>
            <p:nvPr/>
          </p:nvSpPr>
          <p:spPr>
            <a:xfrm>
              <a:off x="859536" y="5376672"/>
              <a:ext cx="3474720" cy="36576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Miswag app — same search, same screen (Oct 20, 2026)</a:t>
              </a:r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1010878" y="4622906"/>
            <a:ext cx="643149" cy="181081"/>
            <a:chOff x="1010878" y="4622906"/>
            <a:chExt cx="643149" cy="181081"/>
          </a:xfrm>
        </p:grpSpPr>
        <p:sp>
          <p:nvSpPr>
            <p:cNvPr id="108" name="Rounded Rectangle 107"/>
            <p:cNvSpPr/>
            <p:nvPr/>
          </p:nvSpPr>
          <p:spPr>
            <a:xfrm>
              <a:off x="1010878" y="4622906"/>
              <a:ext cx="643149" cy="181081"/>
            </a:xfrm>
            <a:prstGeom prst="roundRect">
              <a:avLst>
                <a:gd name="adj" fmla="val 30298"/>
              </a:avLst>
            </a:prstGeom>
            <a:noFill/>
            <a:ln w="28575">
              <a:solidFill>
                <a:srgbClr val="D22730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2640605" y="4622906"/>
            <a:ext cx="652515" cy="181081"/>
            <a:chOff x="2640605" y="4622906"/>
            <a:chExt cx="652515" cy="181081"/>
          </a:xfrm>
        </p:grpSpPr>
        <p:sp>
          <p:nvSpPr>
            <p:cNvPr id="109" name="Rounded Rectangle 108"/>
            <p:cNvSpPr/>
            <p:nvPr/>
          </p:nvSpPr>
          <p:spPr>
            <a:xfrm>
              <a:off x="2640605" y="4622906"/>
              <a:ext cx="652515" cy="181081"/>
            </a:xfrm>
            <a:prstGeom prst="roundRect">
              <a:avLst>
                <a:gd name="adj" fmla="val 30298"/>
              </a:avLst>
            </a:prstGeom>
            <a:noFill/>
            <a:ln w="28575">
              <a:solidFill>
                <a:srgbClr val="D22730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4754880" y="2468880"/>
            <a:ext cx="7086600" cy="2953512"/>
            <a:chOff x="4754880" y="2468880"/>
            <a:chExt cx="7086600" cy="2953512"/>
          </a:xfrm>
        </p:grpSpPr>
        <p:sp>
          <p:nvSpPr>
            <p:cNvPr id="110" name="TextBox 109"/>
            <p:cNvSpPr txBox="1"/>
            <p:nvPr/>
          </p:nvSpPr>
          <p:spPr>
            <a:xfrm>
              <a:off x="4937760" y="2468880"/>
              <a:ext cx="4572000" cy="25603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300" b="1" lang="en-US">
                  <a:solidFill>
                    <a:srgbClr val="5A6672"/>
                  </a:solidFill>
                  <a:latin typeface="Inter"/>
                  <a:cs typeface="Inter"/>
                </a:rPr>
                <a:t>Every price we found for this model (IQD)</a:t>
              </a:r>
            </a:p>
          </p:txBody>
        </p:sp>
        <p:sp>
          <p:nvSpPr>
            <p:cNvPr id="111" name="Oval 110"/>
            <p:cNvSpPr/>
            <p:nvPr/>
          </p:nvSpPr>
          <p:spPr>
            <a:xfrm>
              <a:off x="9189720" y="2551176"/>
              <a:ext cx="128016" cy="128016"/>
            </a:xfrm>
            <a:prstGeom prst="ellipse">
              <a:avLst/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9372600" y="2487168"/>
              <a:ext cx="822960" cy="2560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101820"/>
                  </a:solidFill>
                  <a:latin typeface="Inter"/>
                  <a:cs typeface="Inter"/>
                </a:rPr>
                <a:t>Instagram</a:t>
              </a:r>
            </a:p>
          </p:txBody>
        </p:sp>
        <p:sp>
          <p:nvSpPr>
            <p:cNvPr id="113" name="Oval 112"/>
            <p:cNvSpPr/>
            <p:nvPr/>
          </p:nvSpPr>
          <p:spPr>
            <a:xfrm>
              <a:off x="10104120" y="2551176"/>
              <a:ext cx="128016" cy="128016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10287000" y="2487168"/>
              <a:ext cx="822960" cy="2560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101820"/>
                  </a:solidFill>
                  <a:latin typeface="Inter"/>
                  <a:cs typeface="Inter"/>
                </a:rPr>
                <a:t>Miswag</a:t>
              </a:r>
            </a:p>
          </p:txBody>
        </p:sp>
        <p:sp>
          <p:nvSpPr>
            <p:cNvPr id="115" name="Oval 114"/>
            <p:cNvSpPr/>
            <p:nvPr/>
          </p:nvSpPr>
          <p:spPr>
            <a:xfrm>
              <a:off x="10835640" y="2551176"/>
              <a:ext cx="128016" cy="128016"/>
            </a:xfrm>
            <a:prstGeom prst="ellipse">
              <a:avLst/>
            </a:prstGeom>
            <a:solidFill>
              <a:srgbClr val="FFA3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11018520" y="2487168"/>
              <a:ext cx="822960" cy="2560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101820"/>
                  </a:solidFill>
                  <a:latin typeface="Inter"/>
                  <a:cs typeface="Inter"/>
                </a:rPr>
                <a:t>iBazzar</a:t>
              </a:r>
            </a:p>
          </p:txBody>
        </p:sp>
        <p:cxnSp>
          <p:nvCxnSpPr>
            <p:cNvPr id="117" name="Connector 116"/>
            <p:cNvCxnSpPr/>
            <p:nvPr/>
          </p:nvCxnSpPr>
          <p:spPr>
            <a:xfrm>
              <a:off x="5120640" y="5120640"/>
              <a:ext cx="6126480" cy="0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cxnSp>
          <p:nvCxnSpPr>
            <p:cNvPr id="118" name="Connector 117"/>
            <p:cNvCxnSpPr/>
            <p:nvPr/>
          </p:nvCxnSpPr>
          <p:spPr>
            <a:xfrm>
              <a:off x="5120640" y="5120640"/>
              <a:ext cx="0" cy="64008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19" name="TextBox 118"/>
            <p:cNvSpPr txBox="1"/>
            <p:nvPr/>
          </p:nvSpPr>
          <p:spPr>
            <a:xfrm>
              <a:off x="4754880" y="5221224"/>
              <a:ext cx="73152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80k</a:t>
              </a:r>
            </a:p>
          </p:txBody>
        </p:sp>
        <p:cxnSp>
          <p:nvCxnSpPr>
            <p:cNvPr id="120" name="Connector 119"/>
            <p:cNvCxnSpPr/>
            <p:nvPr/>
          </p:nvCxnSpPr>
          <p:spPr>
            <a:xfrm>
              <a:off x="6063175" y="5120640"/>
              <a:ext cx="0" cy="64008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21" name="TextBox 120"/>
            <p:cNvSpPr txBox="1"/>
            <p:nvPr/>
          </p:nvSpPr>
          <p:spPr>
            <a:xfrm>
              <a:off x="5697415" y="5221224"/>
              <a:ext cx="73152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100k</a:t>
              </a:r>
            </a:p>
          </p:txBody>
        </p:sp>
        <p:cxnSp>
          <p:nvCxnSpPr>
            <p:cNvPr id="122" name="Connector 121"/>
            <p:cNvCxnSpPr/>
            <p:nvPr/>
          </p:nvCxnSpPr>
          <p:spPr>
            <a:xfrm>
              <a:off x="7005711" y="5120640"/>
              <a:ext cx="0" cy="64008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23" name="TextBox 122"/>
            <p:cNvSpPr txBox="1"/>
            <p:nvPr/>
          </p:nvSpPr>
          <p:spPr>
            <a:xfrm>
              <a:off x="6639951" y="5221224"/>
              <a:ext cx="73152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120k</a:t>
              </a:r>
            </a:p>
          </p:txBody>
        </p:sp>
        <p:cxnSp>
          <p:nvCxnSpPr>
            <p:cNvPr id="124" name="Connector 123"/>
            <p:cNvCxnSpPr/>
            <p:nvPr/>
          </p:nvCxnSpPr>
          <p:spPr>
            <a:xfrm>
              <a:off x="7948246" y="5120640"/>
              <a:ext cx="0" cy="64008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25" name="TextBox 124"/>
            <p:cNvSpPr txBox="1"/>
            <p:nvPr/>
          </p:nvSpPr>
          <p:spPr>
            <a:xfrm>
              <a:off x="7582486" y="5221224"/>
              <a:ext cx="73152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140k</a:t>
              </a:r>
            </a:p>
          </p:txBody>
        </p:sp>
        <p:cxnSp>
          <p:nvCxnSpPr>
            <p:cNvPr id="126" name="Connector 125"/>
            <p:cNvCxnSpPr/>
            <p:nvPr/>
          </p:nvCxnSpPr>
          <p:spPr>
            <a:xfrm>
              <a:off x="8890782" y="5120640"/>
              <a:ext cx="0" cy="64008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27" name="TextBox 126"/>
            <p:cNvSpPr txBox="1"/>
            <p:nvPr/>
          </p:nvSpPr>
          <p:spPr>
            <a:xfrm>
              <a:off x="8525022" y="5221224"/>
              <a:ext cx="73152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160k</a:t>
              </a:r>
            </a:p>
          </p:txBody>
        </p:sp>
        <p:cxnSp>
          <p:nvCxnSpPr>
            <p:cNvPr id="128" name="Connector 127"/>
            <p:cNvCxnSpPr/>
            <p:nvPr/>
          </p:nvCxnSpPr>
          <p:spPr>
            <a:xfrm>
              <a:off x="9833317" y="5120640"/>
              <a:ext cx="0" cy="64008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29" name="TextBox 128"/>
            <p:cNvSpPr txBox="1"/>
            <p:nvPr/>
          </p:nvSpPr>
          <p:spPr>
            <a:xfrm>
              <a:off x="9467557" y="5221224"/>
              <a:ext cx="73152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180k</a:t>
              </a:r>
            </a:p>
          </p:txBody>
        </p:sp>
        <p:cxnSp>
          <p:nvCxnSpPr>
            <p:cNvPr id="130" name="Connector 129"/>
            <p:cNvCxnSpPr/>
            <p:nvPr/>
          </p:nvCxnSpPr>
          <p:spPr>
            <a:xfrm>
              <a:off x="10775852" y="5120640"/>
              <a:ext cx="0" cy="64008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31" name="TextBox 130"/>
            <p:cNvSpPr txBox="1"/>
            <p:nvPr/>
          </p:nvSpPr>
          <p:spPr>
            <a:xfrm>
              <a:off x="10410092" y="5221224"/>
              <a:ext cx="73152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200k</a:t>
              </a: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5482180" y="4828032"/>
            <a:ext cx="219456" cy="219456"/>
            <a:chOff x="5482180" y="4828032"/>
            <a:chExt cx="219456" cy="219456"/>
          </a:xfrm>
        </p:grpSpPr>
        <p:sp>
          <p:nvSpPr>
            <p:cNvPr id="132" name="Oval 131"/>
            <p:cNvSpPr/>
            <p:nvPr/>
          </p:nvSpPr>
          <p:spPr>
            <a:xfrm>
              <a:off x="5482180" y="4828032"/>
              <a:ext cx="219456" cy="219456"/>
            </a:xfrm>
            <a:prstGeom prst="ellipse">
              <a:avLst/>
            </a:prstGeom>
            <a:solidFill>
              <a:srgbClr val="101820"/>
            </a:solidFill>
            <a:ln w="9525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5717814" y="4572000"/>
            <a:ext cx="219456" cy="219456"/>
            <a:chOff x="5717814" y="4572000"/>
            <a:chExt cx="219456" cy="219456"/>
          </a:xfrm>
        </p:grpSpPr>
        <p:sp>
          <p:nvSpPr>
            <p:cNvPr id="133" name="Oval 132"/>
            <p:cNvSpPr/>
            <p:nvPr/>
          </p:nvSpPr>
          <p:spPr>
            <a:xfrm>
              <a:off x="5717814" y="4572000"/>
              <a:ext cx="219456" cy="219456"/>
            </a:xfrm>
            <a:prstGeom prst="ellipse">
              <a:avLst/>
            </a:prstGeom>
            <a:solidFill>
              <a:srgbClr val="101820"/>
            </a:solidFill>
            <a:ln w="9525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5906321" y="4828032"/>
            <a:ext cx="219456" cy="219456"/>
            <a:chOff x="5906321" y="4828032"/>
            <a:chExt cx="219456" cy="219456"/>
          </a:xfrm>
        </p:grpSpPr>
        <p:sp>
          <p:nvSpPr>
            <p:cNvPr id="134" name="Oval 133"/>
            <p:cNvSpPr/>
            <p:nvPr/>
          </p:nvSpPr>
          <p:spPr>
            <a:xfrm>
              <a:off x="5906321" y="4828032"/>
              <a:ext cx="219456" cy="219456"/>
            </a:xfrm>
            <a:prstGeom prst="ellipse">
              <a:avLst/>
            </a:prstGeom>
            <a:solidFill>
              <a:srgbClr val="101820"/>
            </a:solidFill>
            <a:ln w="9525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953447" y="4315968"/>
            <a:ext cx="219456" cy="219456"/>
            <a:chOff x="5953447" y="4315968"/>
            <a:chExt cx="219456" cy="219456"/>
          </a:xfrm>
        </p:grpSpPr>
        <p:sp>
          <p:nvSpPr>
            <p:cNvPr id="135" name="Oval 134"/>
            <p:cNvSpPr/>
            <p:nvPr/>
          </p:nvSpPr>
          <p:spPr>
            <a:xfrm>
              <a:off x="5953447" y="4315968"/>
              <a:ext cx="219456" cy="219456"/>
            </a:xfrm>
            <a:prstGeom prst="ellipse">
              <a:avLst/>
            </a:prstGeom>
            <a:solidFill>
              <a:srgbClr val="101820"/>
            </a:solidFill>
            <a:ln w="9525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5953447" y="4059936"/>
            <a:ext cx="219456" cy="219456"/>
            <a:chOff x="5953447" y="4059936"/>
            <a:chExt cx="219456" cy="219456"/>
          </a:xfrm>
        </p:grpSpPr>
        <p:sp>
          <p:nvSpPr>
            <p:cNvPr id="136" name="Oval 135"/>
            <p:cNvSpPr/>
            <p:nvPr/>
          </p:nvSpPr>
          <p:spPr>
            <a:xfrm>
              <a:off x="5953447" y="4059936"/>
              <a:ext cx="219456" cy="219456"/>
            </a:xfrm>
            <a:prstGeom prst="ellipse">
              <a:avLst/>
            </a:prstGeom>
            <a:solidFill>
              <a:srgbClr val="298FC2"/>
            </a:solidFill>
            <a:ln w="9525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6943110" y="4828032"/>
            <a:ext cx="219456" cy="219456"/>
            <a:chOff x="6943110" y="4828032"/>
            <a:chExt cx="219456" cy="219456"/>
          </a:xfrm>
        </p:grpSpPr>
        <p:sp>
          <p:nvSpPr>
            <p:cNvPr id="137" name="Oval 136"/>
            <p:cNvSpPr/>
            <p:nvPr/>
          </p:nvSpPr>
          <p:spPr>
            <a:xfrm>
              <a:off x="6943110" y="4828032"/>
              <a:ext cx="219456" cy="219456"/>
            </a:xfrm>
            <a:prstGeom prst="ellipse">
              <a:avLst/>
            </a:prstGeom>
            <a:solidFill>
              <a:srgbClr val="298FC2"/>
            </a:solidFill>
            <a:ln w="9525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7555758" y="4828032"/>
            <a:ext cx="219456" cy="219456"/>
            <a:chOff x="7555758" y="4828032"/>
            <a:chExt cx="219456" cy="219456"/>
          </a:xfrm>
        </p:grpSpPr>
        <p:sp>
          <p:nvSpPr>
            <p:cNvPr id="138" name="Oval 137"/>
            <p:cNvSpPr/>
            <p:nvPr/>
          </p:nvSpPr>
          <p:spPr>
            <a:xfrm>
              <a:off x="7555758" y="4828032"/>
              <a:ext cx="219456" cy="219456"/>
            </a:xfrm>
            <a:prstGeom prst="ellipse">
              <a:avLst/>
            </a:prstGeom>
            <a:solidFill>
              <a:srgbClr val="FFA300"/>
            </a:solidFill>
            <a:ln w="9525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7602884" y="4572000"/>
            <a:ext cx="219456" cy="219456"/>
            <a:chOff x="7602884" y="4572000"/>
            <a:chExt cx="219456" cy="219456"/>
          </a:xfrm>
        </p:grpSpPr>
        <p:sp>
          <p:nvSpPr>
            <p:cNvPr id="139" name="Oval 138"/>
            <p:cNvSpPr/>
            <p:nvPr/>
          </p:nvSpPr>
          <p:spPr>
            <a:xfrm>
              <a:off x="7602884" y="4572000"/>
              <a:ext cx="219456" cy="219456"/>
            </a:xfrm>
            <a:prstGeom prst="ellipse">
              <a:avLst/>
            </a:prstGeom>
            <a:solidFill>
              <a:srgbClr val="298FC2"/>
            </a:solidFill>
            <a:ln w="9525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7706563" y="4315968"/>
            <a:ext cx="219456" cy="219456"/>
            <a:chOff x="7706563" y="4315968"/>
            <a:chExt cx="219456" cy="219456"/>
          </a:xfrm>
        </p:grpSpPr>
        <p:sp>
          <p:nvSpPr>
            <p:cNvPr id="140" name="Oval 139"/>
            <p:cNvSpPr/>
            <p:nvPr/>
          </p:nvSpPr>
          <p:spPr>
            <a:xfrm>
              <a:off x="7706563" y="4315968"/>
              <a:ext cx="219456" cy="219456"/>
            </a:xfrm>
            <a:prstGeom prst="ellipse">
              <a:avLst/>
            </a:prstGeom>
            <a:solidFill>
              <a:srgbClr val="298FC2"/>
            </a:solidFill>
            <a:ln w="9525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10666124" y="4828032"/>
            <a:ext cx="219456" cy="219456"/>
            <a:chOff x="10666124" y="4828032"/>
            <a:chExt cx="219456" cy="219456"/>
          </a:xfrm>
        </p:grpSpPr>
        <p:sp>
          <p:nvSpPr>
            <p:cNvPr id="141" name="Oval 140"/>
            <p:cNvSpPr/>
            <p:nvPr/>
          </p:nvSpPr>
          <p:spPr>
            <a:xfrm>
              <a:off x="10666124" y="4828032"/>
              <a:ext cx="219456" cy="219456"/>
            </a:xfrm>
            <a:prstGeom prst="ellipse">
              <a:avLst/>
            </a:prstGeom>
            <a:solidFill>
              <a:srgbClr val="298FC2"/>
            </a:solidFill>
            <a:ln w="9525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5591908" y="3703320"/>
            <a:ext cx="5183944" cy="128016"/>
            <a:chOff x="5591908" y="3703320"/>
            <a:chExt cx="5183944" cy="128016"/>
          </a:xfrm>
        </p:grpSpPr>
        <p:cxnSp>
          <p:nvCxnSpPr>
            <p:cNvPr id="142" name="Connector 141"/>
            <p:cNvCxnSpPr/>
            <p:nvPr/>
          </p:nvCxnSpPr>
          <p:spPr>
            <a:xfrm>
              <a:off x="5591908" y="3703320"/>
              <a:ext cx="5183944" cy="0"/>
            </a:xfrm>
            <a:prstGeom prst="line">
              <a:avLst/>
            </a:prstGeom>
            <a:ln w="25400">
              <a:solidFill>
                <a:srgbClr val="D22730"/>
              </a:solidFill>
            </a:ln>
            <a:effectLst/>
          </p:spPr>
        </p:cxnSp>
        <p:cxnSp>
          <p:nvCxnSpPr>
            <p:cNvPr id="143" name="Connector 142"/>
            <p:cNvCxnSpPr/>
            <p:nvPr/>
          </p:nvCxnSpPr>
          <p:spPr>
            <a:xfrm>
              <a:off x="5591908" y="3703320"/>
              <a:ext cx="0" cy="128016"/>
            </a:xfrm>
            <a:prstGeom prst="line">
              <a:avLst/>
            </a:prstGeom>
            <a:ln w="25400">
              <a:solidFill>
                <a:srgbClr val="D22730"/>
              </a:solidFill>
            </a:ln>
            <a:effectLst/>
          </p:spPr>
        </p:cxnSp>
        <p:cxnSp>
          <p:nvCxnSpPr>
            <p:cNvPr id="144" name="Connector 143"/>
            <p:cNvCxnSpPr/>
            <p:nvPr/>
          </p:nvCxnSpPr>
          <p:spPr>
            <a:xfrm>
              <a:off x="10775852" y="3703320"/>
              <a:ext cx="0" cy="128016"/>
            </a:xfrm>
            <a:prstGeom prst="line">
              <a:avLst/>
            </a:prstGeom>
            <a:ln w="25400">
              <a:solidFill>
                <a:srgbClr val="D22730"/>
              </a:solidFill>
            </a:ln>
            <a:effectLst/>
          </p:spPr>
        </p:cxnSp>
      </p:grpSp>
      <p:grpSp>
        <p:nvGrpSpPr>
          <p:cNvPr id="16" name="Group 15"/>
          <p:cNvGrpSpPr/>
          <p:nvPr/>
        </p:nvGrpSpPr>
        <p:grpSpPr>
          <a:xfrm>
            <a:off x="6812280" y="2788920"/>
            <a:ext cx="2743200" cy="548640"/>
            <a:chOff x="6812280" y="2788920"/>
            <a:chExt cx="2743200" cy="548640"/>
          </a:xfrm>
        </p:grpSpPr>
        <p:sp>
          <p:nvSpPr>
            <p:cNvPr id="145" name="TextBox 144"/>
            <p:cNvSpPr txBox="1"/>
            <p:nvPr/>
          </p:nvSpPr>
          <p:spPr>
            <a:xfrm>
              <a:off x="6812280" y="2788920"/>
              <a:ext cx="2743200" cy="54864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4000" b="1" lang="en-US">
                  <a:solidFill>
                    <a:srgbClr val="D22730"/>
                  </a:solidFill>
                  <a:latin typeface="Comfortaa"/>
                  <a:cs typeface="Comfortaa"/>
                </a:rPr>
                <a:t>+122%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5897880" y="3310128"/>
            <a:ext cx="4572000" cy="274320"/>
            <a:chOff x="5897880" y="3310128"/>
            <a:chExt cx="4572000" cy="274320"/>
          </a:xfrm>
        </p:grpSpPr>
        <p:sp>
          <p:nvSpPr>
            <p:cNvPr id="146" name="TextBox 145"/>
            <p:cNvSpPr txBox="1"/>
            <p:nvPr/>
          </p:nvSpPr>
          <p:spPr>
            <a:xfrm>
              <a:off x="5897880" y="3310128"/>
              <a:ext cx="457200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101820"/>
                  </a:solidFill>
                  <a:latin typeface="Inter"/>
                  <a:cs typeface="Inter"/>
                </a:rPr>
                <a:t>≈ 110,000 IQD more for the same model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53" presetClass="entr" presetSubtype="16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5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93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410"/>
                            </p:stCondLst>
                            <p:childTnLst>
                              <p:par>
                                <p:cTn id="39" presetID="5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89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370"/>
                            </p:stCondLst>
                            <p:childTnLst>
                              <p:par>
                                <p:cTn id="51" presetID="5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850"/>
                            </p:stCondLst>
                            <p:childTnLst>
                              <p:par>
                                <p:cTn id="57" presetID="5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330"/>
                            </p:stCondLst>
                            <p:childTnLst>
                              <p:par>
                                <p:cTn id="63" presetID="5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3810"/>
                            </p:stCondLst>
                            <p:childTnLst>
                              <p:par>
                                <p:cTn id="69" presetID="5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4290"/>
                            </p:stCondLst>
                            <p:childTnLst>
                              <p:par>
                                <p:cTn id="75" presetID="5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4770"/>
                            </p:stCondLst>
                            <p:childTnLst>
                              <p:par>
                                <p:cTn id="81" presetID="5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3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3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450"/>
                            </p:stCondLst>
                            <p:childTnLst>
                              <p:par>
                                <p:cTn id="9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/>
          <p:nvPr/>
        </p:nvSpPr>
        <p:spPr>
          <a:xfrm>
            <a:off x="723900" y="5848350"/>
            <a:ext cx="10744200" cy="514350"/>
          </a:xfrm>
          <a:prstGeom prst="roundRect">
            <a:avLst>
              <a:gd fmla="val 25925" name="adj"/>
            </a:avLst>
          </a:prstGeom>
          <a:solidFill>
            <a:srgbClr val="01053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05" name="Google Shape;10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000750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90650" y="6000750"/>
            <a:ext cx="18097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7" name="Google Shape;107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14937" y="6000750"/>
            <a:ext cx="18097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8" name="Google Shape;108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115425" y="6000750"/>
            <a:ext cx="20955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/>
          <p:cNvSpPr txBox="1"/>
          <p:nvPr/>
        </p:nvSpPr>
        <p:spPr>
          <a:xfrm>
            <a:off x="1543050" y="6010275"/>
            <a:ext cx="11049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omfortaa"/>
                <a:ea typeface="Comfortaa"/>
                <a:cs typeface="Comfortaa"/>
                <a:sym typeface="Comfortaa"/>
              </a:rPr>
              <a:t>capa.auk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5367337" y="6010275"/>
            <a:ext cx="11811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omfortaa"/>
                <a:ea typeface="Comfortaa"/>
                <a:cs typeface="Comfortaa"/>
                <a:sym typeface="Comfortaa"/>
              </a:rPr>
              <a:t>CAPA AUK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9228534" y="6010275"/>
            <a:ext cx="2107406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omfortaa"/>
                <a:ea typeface="Comfortaa"/>
                <a:cs typeface="Comfortaa"/>
                <a:sym typeface="Comfortaa"/>
              </a:rPr>
              <a:t>capa@auk.edu.krd</a:t>
            </a:r>
            <a:endParaRPr/>
          </a:p>
        </p:txBody>
      </p:sp>
      <p:pic>
        <p:nvPicPr>
          <p:cNvPr id="112" name="Google Shape;112;p15" title="Center_for_Academic_and_Professional_Advancement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488575" y="351575"/>
            <a:ext cx="4058099" cy="1237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 title="german cooperation deutsche zusammenarbeit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3901" y="459625"/>
            <a:ext cx="1823430" cy="102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Picture 113" descr="cheapify-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15788" y="1554480"/>
            <a:ext cx="960120" cy="1234440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0" y="283464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4600" b="1" lang="en-US">
                <a:solidFill>
                  <a:srgbClr val="101820"/>
                </a:solidFill>
                <a:latin typeface="Comfortaa"/>
                <a:cs typeface="Comfortaa"/>
              </a:rPr>
              <a:t>Thank you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0" y="3611880"/>
            <a:ext cx="121916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2000" b="0" lang="en-US">
                <a:solidFill>
                  <a:srgbClr val="298FC2"/>
                </a:solidFill>
                <a:latin typeface="Comfortaa"/>
                <a:cs typeface="Comfortaa"/>
              </a:rPr>
              <a:t>The bright side of choosing.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0" y="4041648"/>
            <a:ext cx="121916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2000" b="0" lang="ar-IQ">
                <a:solidFill>
                  <a:srgbClr val="101820"/>
                </a:solidFill>
                <a:latin typeface="IBM Plex Sans Arabic"/>
                <a:cs typeface="IBM Plex Sans Arabic"/>
              </a:rPr>
              <a:t>ڕوویێ گەش یێ هەلبژارتنێ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0" y="4462272"/>
            <a:ext cx="121916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 rtl="1"/>
            <a:r>
              <a:rPr sz="2000" b="0" lang="ar-IQ">
                <a:solidFill>
                  <a:srgbClr val="101820"/>
                </a:solidFill>
                <a:latin typeface="IBM Plex Sans Arabic"/>
                <a:cs typeface="IBM Plex Sans Arabic"/>
              </a:rPr>
              <a:t>الجانب المشرق للاختيار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0" y="4956048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600" b="1" lang="en-US">
                <a:solidFill>
                  <a:srgbClr val="298FC2"/>
                </a:solidFill>
                <a:latin typeface="Inter"/>
                <a:cs typeface="Inter"/>
              </a:rPr>
              <a:t>getcheapify.com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0" y="5257800"/>
            <a:ext cx="12191695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Shakir Bashar · Founder</a:t>
            </a:r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 animBg="1"/>
      <p:bldP spid="116" grpId="0" animBg="1"/>
      <p:bldP spid="117" grpId="0" animBg="1"/>
      <p:bldP spid="118" grpId="0" animBg="1"/>
      <p:bldP spid="119" grpId="0" animBg="1"/>
      <p:bldP spid="120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9593" y="351575"/>
            <a:ext cx="3178503" cy="96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900" y="436205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Problem · evidence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It's not one product. It's the whole market.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lang="en-US">
                <a:solidFill>
                  <a:srgbClr val="5A6672"/>
                </a:solidFill>
                <a:latin typeface="Inter"/>
                <a:cs typeface="Inter"/>
              </a:rPr>
              <a:t>Screenshots Sep–Oct 2026 (shop names and phone numbers blurred) · Cheapify market survey, n=199 (179 shoppers, 20 merchants), Sep–Oct 2026.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22376" y="2468880"/>
            <a:ext cx="3246120" cy="3017520"/>
            <a:chOff x="722376" y="2468880"/>
            <a:chExt cx="3246120" cy="3017520"/>
          </a:xfrm>
        </p:grpSpPr>
        <p:sp>
          <p:nvSpPr>
            <p:cNvPr id="104" name="Rounded Rectangle 103"/>
            <p:cNvSpPr/>
            <p:nvPr/>
          </p:nvSpPr>
          <p:spPr>
            <a:xfrm>
              <a:off x="722376" y="2468880"/>
              <a:ext cx="3246120" cy="3017520"/>
            </a:xfrm>
            <a:prstGeom prst="roundRect">
              <a:avLst>
                <a:gd name="adj" fmla="val 4242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Rounded Rectangle 104"/>
            <p:cNvSpPr/>
            <p:nvPr/>
          </p:nvSpPr>
          <p:spPr>
            <a:xfrm>
              <a:off x="859536" y="2606040"/>
              <a:ext cx="2971800" cy="2011680"/>
            </a:xfrm>
            <a:prstGeom prst="roundRect">
              <a:avLst>
                <a:gd name="adj" fmla="val 3636"/>
              </a:avLst>
            </a:prstGeom>
            <a:solidFill>
              <a:srgbClr val="F4F6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6" name="Picture 105" descr="ev-ibazzar-xiaomi.jp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5431" y="2606040"/>
              <a:ext cx="1420009" cy="2011680"/>
            </a:xfrm>
            <a:prstGeom prst="rect">
              <a:avLst/>
            </a:prstGeom>
          </p:spPr>
        </p:pic>
        <p:sp>
          <p:nvSpPr>
            <p:cNvPr id="107" name="TextBox 106"/>
            <p:cNvSpPr txBox="1"/>
            <p:nvPr/>
          </p:nvSpPr>
          <p:spPr>
            <a:xfrm>
              <a:off x="859536" y="4709160"/>
              <a:ext cx="2971800" cy="32918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400" b="1" lang="en-US">
                  <a:solidFill>
                    <a:srgbClr val="101820"/>
                  </a:solidFill>
                  <a:latin typeface="Inter"/>
                  <a:cs typeface="Inter"/>
                </a:rPr>
                <a:t>Same product, listed twice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859536" y="5047488"/>
              <a:ext cx="2971800" cy="2743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50" b="0" lang="en-US">
                  <a:solidFill>
                    <a:srgbClr val="5A6672"/>
                  </a:solidFill>
                  <a:latin typeface="Inter"/>
                  <a:cs typeface="Inter"/>
                </a:rPr>
                <a:t>iBazzar app · 60,000 vs 70,000 IQD</a:t>
              </a: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1690654" y="3434379"/>
            <a:ext cx="971654" cy="1097878"/>
            <a:chOff x="1690654" y="3434379"/>
            <a:chExt cx="971654" cy="1097878"/>
          </a:xfrm>
        </p:grpSpPr>
        <p:sp>
          <p:nvSpPr>
            <p:cNvPr id="109" name="Rounded Rectangle 108"/>
            <p:cNvSpPr/>
            <p:nvPr/>
          </p:nvSpPr>
          <p:spPr>
            <a:xfrm>
              <a:off x="2373047" y="3434379"/>
              <a:ext cx="289261" cy="76260"/>
            </a:xfrm>
            <a:prstGeom prst="roundRect">
              <a:avLst>
                <a:gd name="adj" fmla="val 50000"/>
              </a:avLst>
            </a:prstGeom>
            <a:noFill/>
            <a:ln w="28575">
              <a:solidFill>
                <a:srgbClr val="D22730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Rounded Rectangle 109"/>
            <p:cNvSpPr/>
            <p:nvPr/>
          </p:nvSpPr>
          <p:spPr>
            <a:xfrm>
              <a:off x="1690654" y="4454682"/>
              <a:ext cx="295835" cy="77575"/>
            </a:xfrm>
            <a:prstGeom prst="roundRect">
              <a:avLst>
                <a:gd name="adj" fmla="val 50000"/>
              </a:avLst>
            </a:prstGeom>
            <a:noFill/>
            <a:ln w="28575">
              <a:solidFill>
                <a:srgbClr val="D22730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4471416" y="2468880"/>
            <a:ext cx="3246120" cy="3017520"/>
            <a:chOff x="4471416" y="2468880"/>
            <a:chExt cx="3246120" cy="3017520"/>
          </a:xfrm>
        </p:grpSpPr>
        <p:sp>
          <p:nvSpPr>
            <p:cNvPr id="111" name="Rounded Rectangle 110"/>
            <p:cNvSpPr/>
            <p:nvPr/>
          </p:nvSpPr>
          <p:spPr>
            <a:xfrm>
              <a:off x="4471416" y="2468880"/>
              <a:ext cx="3246120" cy="3017520"/>
            </a:xfrm>
            <a:prstGeom prst="roundRect">
              <a:avLst>
                <a:gd name="adj" fmla="val 4242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Rounded Rectangle 111"/>
            <p:cNvSpPr/>
            <p:nvPr/>
          </p:nvSpPr>
          <p:spPr>
            <a:xfrm>
              <a:off x="4608576" y="2606040"/>
              <a:ext cx="2971800" cy="2011680"/>
            </a:xfrm>
            <a:prstGeom prst="roundRect">
              <a:avLst>
                <a:gd name="adj" fmla="val 3636"/>
              </a:avLst>
            </a:prstGeom>
            <a:solidFill>
              <a:srgbClr val="F4F6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3" name="Picture 112" descr="ev-instagram-noprice.jp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48571" y="2606040"/>
              <a:ext cx="2091810" cy="2011680"/>
            </a:xfrm>
            <a:prstGeom prst="rect">
              <a:avLst/>
            </a:prstGeom>
          </p:spPr>
        </p:pic>
        <p:sp>
          <p:nvSpPr>
            <p:cNvPr id="114" name="TextBox 113"/>
            <p:cNvSpPr txBox="1"/>
            <p:nvPr/>
          </p:nvSpPr>
          <p:spPr>
            <a:xfrm>
              <a:off x="4608576" y="4709160"/>
              <a:ext cx="2971800" cy="32918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400" b="1" lang="en-US">
                  <a:solidFill>
                    <a:srgbClr val="101820"/>
                  </a:solidFill>
                  <a:latin typeface="Inter"/>
                  <a:cs typeface="Inter"/>
                </a:rPr>
                <a:t>No price: 'call to order'</a:t>
              </a: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4608576" y="5047488"/>
              <a:ext cx="2971800" cy="2743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50" b="0" lang="en-US">
                  <a:solidFill>
                    <a:srgbClr val="5A6672"/>
                  </a:solidFill>
                  <a:latin typeface="Inter"/>
                  <a:cs typeface="Inter"/>
                </a:rPr>
                <a:t>Instagram · a buyer asks: “How much is it?”</a:t>
              </a: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5293178" y="4486982"/>
            <a:ext cx="362693" cy="126521"/>
            <a:chOff x="5293178" y="4486982"/>
            <a:chExt cx="362693" cy="126521"/>
          </a:xfrm>
        </p:grpSpPr>
        <p:sp>
          <p:nvSpPr>
            <p:cNvPr id="116" name="Rounded Rectangle 115"/>
            <p:cNvSpPr/>
            <p:nvPr/>
          </p:nvSpPr>
          <p:spPr>
            <a:xfrm>
              <a:off x="5293178" y="4486982"/>
              <a:ext cx="362693" cy="126521"/>
            </a:xfrm>
            <a:prstGeom prst="roundRect">
              <a:avLst>
                <a:gd name="adj" fmla="val 43363"/>
              </a:avLst>
            </a:prstGeom>
            <a:noFill/>
            <a:ln w="28575">
              <a:solidFill>
                <a:srgbClr val="D22730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8220456" y="2468880"/>
            <a:ext cx="3246120" cy="3017520"/>
            <a:chOff x="8220456" y="2468880"/>
            <a:chExt cx="3246120" cy="3017520"/>
          </a:xfrm>
        </p:grpSpPr>
        <p:sp>
          <p:nvSpPr>
            <p:cNvPr id="117" name="Rounded Rectangle 116"/>
            <p:cNvSpPr/>
            <p:nvPr/>
          </p:nvSpPr>
          <p:spPr>
            <a:xfrm>
              <a:off x="8220456" y="2468880"/>
              <a:ext cx="3246120" cy="3017520"/>
            </a:xfrm>
            <a:prstGeom prst="roundRect">
              <a:avLst>
                <a:gd name="adj" fmla="val 4242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Rounded Rectangle 117"/>
            <p:cNvSpPr/>
            <p:nvPr/>
          </p:nvSpPr>
          <p:spPr>
            <a:xfrm>
              <a:off x="8357616" y="2606040"/>
              <a:ext cx="2971800" cy="2011680"/>
            </a:xfrm>
            <a:prstGeom prst="roundRect">
              <a:avLst>
                <a:gd name="adj" fmla="val 3636"/>
              </a:avLst>
            </a:prstGeom>
            <a:solidFill>
              <a:srgbClr val="F4F6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9" name="Picture 118" descr="ev-ibazzar-foundcheaper.jp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357616" y="2727219"/>
              <a:ext cx="2971800" cy="1769322"/>
            </a:xfrm>
            <a:prstGeom prst="rect">
              <a:avLst/>
            </a:prstGeom>
          </p:spPr>
        </p:pic>
        <p:sp>
          <p:nvSpPr>
            <p:cNvPr id="120" name="TextBox 119"/>
            <p:cNvSpPr txBox="1"/>
            <p:nvPr/>
          </p:nvSpPr>
          <p:spPr>
            <a:xfrm>
              <a:off x="8357616" y="4645152"/>
              <a:ext cx="2971800" cy="4572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400" b="1" lang="en-US">
                  <a:solidFill>
                    <a:srgbClr val="101820"/>
                  </a:solidFill>
                  <a:latin typeface="Inter"/>
                  <a:cs typeface="Inter"/>
                </a:rPr>
                <a:t>An app asks you to report cheaper prices</a:t>
              </a:r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8357616" y="5138928"/>
              <a:ext cx="2971800" cy="2743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50" b="0" lang="en-US">
                  <a:solidFill>
                    <a:srgbClr val="5A6672"/>
                  </a:solidFill>
                  <a:latin typeface="Inter"/>
                  <a:cs typeface="Inter"/>
                </a:rPr>
                <a:t>iBazzar app · “Found Cheaper? Tell us!”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8434663" y="3693054"/>
            <a:ext cx="1329055" cy="159597"/>
            <a:chOff x="8434663" y="3693054"/>
            <a:chExt cx="1329055" cy="159597"/>
          </a:xfrm>
        </p:grpSpPr>
        <p:sp>
          <p:nvSpPr>
            <p:cNvPr id="122" name="Rounded Rectangle 121"/>
            <p:cNvSpPr/>
            <p:nvPr/>
          </p:nvSpPr>
          <p:spPr>
            <a:xfrm>
              <a:off x="8434663" y="3693054"/>
              <a:ext cx="1329055" cy="159597"/>
            </a:xfrm>
            <a:prstGeom prst="roundRect">
              <a:avLst>
                <a:gd name="adj" fmla="val 34376"/>
              </a:avLst>
            </a:prstGeom>
            <a:noFill/>
            <a:ln w="28575">
              <a:solidFill>
                <a:srgbClr val="D22730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22376" y="5623560"/>
            <a:ext cx="1325880" cy="640080"/>
            <a:chOff x="722376" y="5623560"/>
            <a:chExt cx="1325880" cy="640080"/>
          </a:xfrm>
        </p:grpSpPr>
        <p:sp>
          <p:nvSpPr>
            <p:cNvPr id="123" name="TextBox 122"/>
            <p:cNvSpPr txBox="1"/>
            <p:nvPr/>
          </p:nvSpPr>
          <p:spPr>
            <a:xfrm>
              <a:off x="722376" y="5623560"/>
              <a:ext cx="1325880" cy="64008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3400" b="1" lang="en-US">
                  <a:solidFill>
                    <a:srgbClr val="298FC2"/>
                  </a:solidFill>
                  <a:latin typeface="Comfortaa"/>
                  <a:cs typeface="Comfortaa"/>
                </a:rPr>
                <a:t>97%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2103120" y="5650992"/>
            <a:ext cx="3749040" cy="640080"/>
            <a:chOff x="2103120" y="5650992"/>
            <a:chExt cx="3749040" cy="640080"/>
          </a:xfrm>
        </p:grpSpPr>
        <p:sp>
          <p:nvSpPr>
            <p:cNvPr id="124" name="TextBox 123"/>
            <p:cNvSpPr txBox="1"/>
            <p:nvPr/>
          </p:nvSpPr>
          <p:spPr>
            <a:xfrm>
              <a:off x="2103120" y="5650992"/>
              <a:ext cx="3749040" cy="64008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400" b="0" lang="en-US">
                  <a:solidFill>
                    <a:srgbClr val="101820"/>
                  </a:solidFill>
                  <a:latin typeface="Inter"/>
                  <a:cs typeface="Inter"/>
                </a:rPr>
                <a:t>of 179 surveyed shoppers notice big price gaps on the same item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6309360" y="5623560"/>
            <a:ext cx="1325880" cy="640080"/>
            <a:chOff x="6309360" y="5623560"/>
            <a:chExt cx="1325880" cy="640080"/>
          </a:xfrm>
        </p:grpSpPr>
        <p:sp>
          <p:nvSpPr>
            <p:cNvPr id="125" name="TextBox 124"/>
            <p:cNvSpPr txBox="1"/>
            <p:nvPr/>
          </p:nvSpPr>
          <p:spPr>
            <a:xfrm>
              <a:off x="6309360" y="5623560"/>
              <a:ext cx="1325880" cy="64008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3400" b="1" lang="en-US">
                  <a:solidFill>
                    <a:srgbClr val="298FC2"/>
                  </a:solidFill>
                  <a:latin typeface="Comfortaa"/>
                  <a:cs typeface="Comfortaa"/>
                </a:rPr>
                <a:t>55%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7680960" y="5650992"/>
            <a:ext cx="3749040" cy="640080"/>
            <a:chOff x="7680960" y="5650992"/>
            <a:chExt cx="3749040" cy="640080"/>
          </a:xfrm>
        </p:grpSpPr>
        <p:sp>
          <p:nvSpPr>
            <p:cNvPr id="126" name="TextBox 125"/>
            <p:cNvSpPr txBox="1"/>
            <p:nvPr/>
          </p:nvSpPr>
          <p:spPr>
            <a:xfrm>
              <a:off x="7680960" y="5650992"/>
              <a:ext cx="3749040" cy="64008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400" b="0" lang="en-US">
                  <a:solidFill>
                    <a:srgbClr val="101820"/>
                  </a:solidFill>
                  <a:latin typeface="Inter"/>
                  <a:cs typeface="Inter"/>
                </a:rPr>
                <a:t>of merchants pick answering “price?” messages as a top headache — the most common answer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5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50"/>
                            </p:stCondLst>
                            <p:childTnLst>
                              <p:par>
                                <p:cTn id="31" presetID="53" presetClass="entr" presetSubtype="16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450"/>
                            </p:stCondLst>
                            <p:childTnLst>
                              <p:par>
                                <p:cTn id="47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9593" y="351575"/>
            <a:ext cx="3178503" cy="96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900" y="436205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Solution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One product. One page. Every seller.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lang="en-US">
                <a:solidFill>
                  <a:srgbClr val="5A6672"/>
                </a:solidFill>
                <a:latin typeface="Inter"/>
                <a:cs typeface="Inter"/>
              </a:rPr>
              <a:t>Illustration — store names and prices are examples.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914400" y="2697480"/>
            <a:ext cx="1965960" cy="868680"/>
            <a:chOff x="914400" y="2697480"/>
            <a:chExt cx="1965960" cy="868680"/>
          </a:xfrm>
        </p:grpSpPr>
        <p:sp>
          <p:nvSpPr>
            <p:cNvPr id="104" name="Rounded Rectangle 103"/>
            <p:cNvSpPr/>
            <p:nvPr/>
          </p:nvSpPr>
          <p:spPr>
            <a:xfrm>
              <a:off x="914400" y="269748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1051560" y="2788920"/>
              <a:ext cx="1737360" cy="1828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Instagram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1051560" y="2971800"/>
              <a:ext cx="173736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00" b="0" lang="en-US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1051560" y="3172968"/>
              <a:ext cx="173736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101820"/>
                  </a:solidFill>
                  <a:latin typeface="Inter"/>
                  <a:cs typeface="Inter"/>
                </a:rPr>
                <a:t>95,000 IQD</a:t>
              </a: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3749040" y="3063240"/>
            <a:ext cx="1965960" cy="868680"/>
            <a:chOff x="3749040" y="3063240"/>
            <a:chExt cx="1965960" cy="868680"/>
          </a:xfrm>
        </p:grpSpPr>
        <p:sp>
          <p:nvSpPr>
            <p:cNvPr id="108" name="Rounded Rectangle 107"/>
            <p:cNvSpPr/>
            <p:nvPr/>
          </p:nvSpPr>
          <p:spPr>
            <a:xfrm>
              <a:off x="3749040" y="306324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3886200" y="3154680"/>
              <a:ext cx="1737360" cy="1828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Miswag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3886200" y="3337560"/>
              <a:ext cx="173736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00" b="0" lang="en-US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3886200" y="3538728"/>
              <a:ext cx="173736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101820"/>
                  </a:solidFill>
                  <a:latin typeface="Inter"/>
                  <a:cs typeface="Inter"/>
                </a:rPr>
                <a:t>200,000 IQD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6949440" y="2606040"/>
            <a:ext cx="1965960" cy="868680"/>
            <a:chOff x="6949440" y="2606040"/>
            <a:chExt cx="1965960" cy="868680"/>
          </a:xfrm>
        </p:grpSpPr>
        <p:sp>
          <p:nvSpPr>
            <p:cNvPr id="112" name="Rounded Rectangle 111"/>
            <p:cNvSpPr/>
            <p:nvPr/>
          </p:nvSpPr>
          <p:spPr>
            <a:xfrm>
              <a:off x="6949440" y="260604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7086600" y="2697480"/>
              <a:ext cx="1737360" cy="1828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iBazzar</a:t>
              </a: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7086600" y="2880360"/>
              <a:ext cx="173736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00" b="0" lang="en-US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7086600" y="3081528"/>
              <a:ext cx="173736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101820"/>
                  </a:solidFill>
                  <a:latin typeface="Inter"/>
                  <a:cs typeface="Inter"/>
                </a:rPr>
                <a:t>134,000 IQD</a:t>
              </a: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9326880" y="3291840"/>
            <a:ext cx="1965960" cy="868680"/>
            <a:chOff x="9326880" y="3291840"/>
            <a:chExt cx="1965960" cy="868680"/>
          </a:xfrm>
        </p:grpSpPr>
        <p:sp>
          <p:nvSpPr>
            <p:cNvPr id="116" name="Rounded Rectangle 115"/>
            <p:cNvSpPr/>
            <p:nvPr/>
          </p:nvSpPr>
          <p:spPr>
            <a:xfrm>
              <a:off x="9326880" y="329184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9464040" y="3383280"/>
              <a:ext cx="1737360" cy="1828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Instagram</a:t>
              </a:r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9464040" y="3566160"/>
              <a:ext cx="173736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00" b="0" lang="en-US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9464040" y="3767328"/>
              <a:ext cx="173736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400" b="1" lang="en-US">
                  <a:solidFill>
                    <a:srgbClr val="D22730"/>
                  </a:solidFill>
                  <a:latin typeface="Inter"/>
                  <a:cs typeface="Inter"/>
                </a:rPr>
                <a:t>Price? DM us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2011680" y="4846320"/>
            <a:ext cx="1965960" cy="868680"/>
            <a:chOff x="2011680" y="4846320"/>
            <a:chExt cx="1965960" cy="868680"/>
          </a:xfrm>
        </p:grpSpPr>
        <p:sp>
          <p:nvSpPr>
            <p:cNvPr id="120" name="Rounded Rectangle 119"/>
            <p:cNvSpPr/>
            <p:nvPr/>
          </p:nvSpPr>
          <p:spPr>
            <a:xfrm>
              <a:off x="2011680" y="484632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2148840" y="4937760"/>
              <a:ext cx="1737360" cy="1828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Miswag</a:t>
              </a:r>
            </a:p>
          </p:txBody>
        </p:sp>
        <p:sp>
          <p:nvSpPr>
            <p:cNvPr id="122" name="TextBox 121"/>
            <p:cNvSpPr txBox="1"/>
            <p:nvPr/>
          </p:nvSpPr>
          <p:spPr>
            <a:xfrm>
              <a:off x="2148840" y="5120640"/>
              <a:ext cx="173736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00" b="0" lang="en-US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2148840" y="5321808"/>
              <a:ext cx="173736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101820"/>
                  </a:solidFill>
                  <a:latin typeface="Inter"/>
                  <a:cs typeface="Inter"/>
                </a:rPr>
                <a:t>100,000 IQD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5486400" y="5120640"/>
            <a:ext cx="1965960" cy="868680"/>
            <a:chOff x="5486400" y="5120640"/>
            <a:chExt cx="1965960" cy="868680"/>
          </a:xfrm>
        </p:grpSpPr>
        <p:sp>
          <p:nvSpPr>
            <p:cNvPr id="124" name="Rounded Rectangle 123"/>
            <p:cNvSpPr/>
            <p:nvPr/>
          </p:nvSpPr>
          <p:spPr>
            <a:xfrm>
              <a:off x="5486400" y="512064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5623560" y="5212080"/>
              <a:ext cx="1737360" cy="1828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Instagram</a:t>
              </a:r>
            </a:p>
          </p:txBody>
        </p:sp>
        <p:sp>
          <p:nvSpPr>
            <p:cNvPr id="126" name="TextBox 125"/>
            <p:cNvSpPr txBox="1"/>
            <p:nvPr/>
          </p:nvSpPr>
          <p:spPr>
            <a:xfrm>
              <a:off x="5623560" y="5394960"/>
              <a:ext cx="173736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00" b="0" lang="en-US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5623560" y="5596128"/>
              <a:ext cx="173736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101820"/>
                  </a:solidFill>
                  <a:latin typeface="Inter"/>
                  <a:cs typeface="Inter"/>
                </a:rPr>
                <a:t>99,000 IQD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8503920" y="4754880"/>
            <a:ext cx="1965960" cy="868680"/>
            <a:chOff x="8503920" y="4754880"/>
            <a:chExt cx="1965960" cy="868680"/>
          </a:xfrm>
        </p:grpSpPr>
        <p:sp>
          <p:nvSpPr>
            <p:cNvPr id="128" name="Rounded Rectangle 127"/>
            <p:cNvSpPr/>
            <p:nvPr/>
          </p:nvSpPr>
          <p:spPr>
            <a:xfrm>
              <a:off x="8503920" y="475488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TextBox 128"/>
            <p:cNvSpPr txBox="1"/>
            <p:nvPr/>
          </p:nvSpPr>
          <p:spPr>
            <a:xfrm>
              <a:off x="8641080" y="4846320"/>
              <a:ext cx="1737360" cy="1828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Miswag</a:t>
              </a:r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8641080" y="5029200"/>
              <a:ext cx="173736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00" b="0" lang="en-US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8641080" y="5230368"/>
              <a:ext cx="173736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101820"/>
                  </a:solidFill>
                  <a:latin typeface="Inter"/>
                  <a:cs typeface="Inter"/>
                </a:rPr>
                <a:t>121,000 IQD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1737360" y="2514600"/>
            <a:ext cx="6858000" cy="3794760"/>
            <a:chOff x="1737360" y="2514600"/>
            <a:chExt cx="6858000" cy="3794760"/>
          </a:xfrm>
        </p:grpSpPr>
        <p:sp>
          <p:nvSpPr>
            <p:cNvPr id="132" name="Rounded Rectangle 131"/>
            <p:cNvSpPr/>
            <p:nvPr/>
          </p:nvSpPr>
          <p:spPr>
            <a:xfrm>
              <a:off x="1737360" y="2514600"/>
              <a:ext cx="6858000" cy="3794760"/>
            </a:xfrm>
            <a:prstGeom prst="roundRect">
              <a:avLst>
                <a:gd name="adj" fmla="val 3373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304800" dist="101600" dir="5400000" algn="t" rotWithShape="0">
                <a:srgbClr val="101820">
                  <a:alpha val="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3" name="Picture 132" descr="product-anke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47408" y="2743200"/>
              <a:ext cx="625823" cy="868680"/>
            </a:xfrm>
            <a:prstGeom prst="rect">
              <a:avLst/>
            </a:prstGeom>
          </p:spPr>
        </p:pic>
        <p:sp>
          <p:nvSpPr>
            <p:cNvPr id="134" name="TextBox 133"/>
            <p:cNvSpPr txBox="1"/>
            <p:nvPr/>
          </p:nvSpPr>
          <p:spPr>
            <a:xfrm>
              <a:off x="3337560" y="2743200"/>
              <a:ext cx="5120640" cy="36576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700" b="1" lang="en-US">
                  <a:solidFill>
                    <a:srgbClr val="101820"/>
                  </a:solidFill>
                  <a:latin typeface="Inter"/>
                  <a:cs typeface="Inter"/>
                </a:rPr>
                <a:t>Anker Power Bank 25,000 mAh · 165 W</a:t>
              </a:r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3337560" y="3127248"/>
              <a:ext cx="512064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00" b="0" lang="en-US">
                  <a:solidFill>
                    <a:srgbClr val="5A6672"/>
                  </a:solidFill>
                  <a:latin typeface="Inter"/>
                  <a:cs typeface="Inter"/>
                </a:rPr>
                <a:t>One page · every verified seller</a:t>
              </a:r>
            </a:p>
          </p:txBody>
        </p:sp>
        <p:sp>
          <p:nvSpPr>
            <p:cNvPr id="136" name="TextBox 135"/>
            <p:cNvSpPr txBox="1"/>
            <p:nvPr/>
          </p:nvSpPr>
          <p:spPr>
            <a:xfrm>
              <a:off x="1965960" y="3675888"/>
              <a:ext cx="1737360" cy="228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050" b="1" lang="en-US">
                  <a:solidFill>
                    <a:srgbClr val="5A6672"/>
                  </a:solidFill>
                  <a:latin typeface="Inter"/>
                  <a:cs typeface="Inter"/>
                </a:rPr>
                <a:t>Seller</a:t>
              </a:r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3840480" y="3675888"/>
              <a:ext cx="1051560" cy="228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50" b="1" lang="en-US">
                  <a:solidFill>
                    <a:srgbClr val="5A6672"/>
                  </a:solidFill>
                  <a:latin typeface="Inter"/>
                  <a:cs typeface="Inter"/>
                </a:rPr>
                <a:t>Item</a:t>
              </a:r>
            </a:p>
          </p:txBody>
        </p:sp>
        <p:sp>
          <p:nvSpPr>
            <p:cNvPr id="138" name="TextBox 137"/>
            <p:cNvSpPr txBox="1"/>
            <p:nvPr/>
          </p:nvSpPr>
          <p:spPr>
            <a:xfrm>
              <a:off x="4983480" y="3675888"/>
              <a:ext cx="960120" cy="228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50" b="1" lang="en-US">
                  <a:solidFill>
                    <a:srgbClr val="5A6672"/>
                  </a:solidFill>
                  <a:latin typeface="Inter"/>
                  <a:cs typeface="Inter"/>
                </a:rPr>
                <a:t>Delivery</a:t>
              </a:r>
            </a:p>
          </p:txBody>
        </p:sp>
        <p:sp>
          <p:nvSpPr>
            <p:cNvPr id="139" name="TextBox 138"/>
            <p:cNvSpPr txBox="1"/>
            <p:nvPr/>
          </p:nvSpPr>
          <p:spPr>
            <a:xfrm>
              <a:off x="6035040" y="3675888"/>
              <a:ext cx="1325880" cy="228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50" b="1" lang="en-US">
                  <a:solidFill>
                    <a:srgbClr val="5A6672"/>
                  </a:solidFill>
                  <a:latin typeface="Inter"/>
                  <a:cs typeface="Inter"/>
                </a:rPr>
                <a:t>Doorstep total</a:t>
              </a:r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7498080" y="3675888"/>
              <a:ext cx="960120" cy="228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050" b="1" lang="en-US">
                  <a:solidFill>
                    <a:srgbClr val="5A6672"/>
                  </a:solidFill>
                  <a:latin typeface="Inter"/>
                  <a:cs typeface="Inter"/>
                </a:rPr>
                <a:t>Arrives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1874520" y="3950208"/>
            <a:ext cx="6583680" cy="475488"/>
            <a:chOff x="1874520" y="3950208"/>
            <a:chExt cx="6583680" cy="475488"/>
          </a:xfrm>
        </p:grpSpPr>
        <p:sp>
          <p:nvSpPr>
            <p:cNvPr id="141" name="Rounded Rectangle 140"/>
            <p:cNvSpPr/>
            <p:nvPr/>
          </p:nvSpPr>
          <p:spPr>
            <a:xfrm>
              <a:off x="1874520" y="3950208"/>
              <a:ext cx="6583680" cy="475488"/>
            </a:xfrm>
            <a:prstGeom prst="roundRect">
              <a:avLst>
                <a:gd name="adj" fmla="val 15384"/>
              </a:avLst>
            </a:prstGeom>
            <a:solidFill>
              <a:srgbClr val="EDF5F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1965960" y="3950208"/>
            <a:ext cx="6492240" cy="475488"/>
            <a:chOff x="1965960" y="3950208"/>
            <a:chExt cx="6492240" cy="475488"/>
          </a:xfrm>
        </p:grpSpPr>
        <p:cxnSp>
          <p:nvCxnSpPr>
            <p:cNvPr id="142" name="Connector 141"/>
            <p:cNvCxnSpPr/>
            <p:nvPr/>
          </p:nvCxnSpPr>
          <p:spPr>
            <a:xfrm>
              <a:off x="1965960" y="4425696"/>
              <a:ext cx="6400800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sp>
          <p:nvSpPr>
            <p:cNvPr id="143" name="TextBox 142"/>
            <p:cNvSpPr txBox="1"/>
            <p:nvPr/>
          </p:nvSpPr>
          <p:spPr>
            <a:xfrm>
              <a:off x="1965960" y="3950208"/>
              <a:ext cx="1737360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Store A · Duhok</a:t>
              </a:r>
            </a:p>
          </p:txBody>
        </p:sp>
        <p:sp>
          <p:nvSpPr>
            <p:cNvPr id="144" name="TextBox 143"/>
            <p:cNvSpPr txBox="1"/>
            <p:nvPr/>
          </p:nvSpPr>
          <p:spPr>
            <a:xfrm>
              <a:off x="3840480" y="3950208"/>
              <a:ext cx="1051560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92,000</a:t>
              </a:r>
            </a:p>
          </p:txBody>
        </p:sp>
        <p:sp>
          <p:nvSpPr>
            <p:cNvPr id="145" name="TextBox 144"/>
            <p:cNvSpPr txBox="1"/>
            <p:nvPr/>
          </p:nvSpPr>
          <p:spPr>
            <a:xfrm>
              <a:off x="4983480" y="3950208"/>
              <a:ext cx="960120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+3,000</a:t>
              </a:r>
            </a:p>
          </p:txBody>
        </p:sp>
        <p:sp>
          <p:nvSpPr>
            <p:cNvPr id="146" name="TextBox 145"/>
            <p:cNvSpPr txBox="1"/>
            <p:nvPr/>
          </p:nvSpPr>
          <p:spPr>
            <a:xfrm>
              <a:off x="6035040" y="3950208"/>
              <a:ext cx="1325880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95,000 IQD</a:t>
              </a:r>
            </a:p>
          </p:txBody>
        </p:sp>
        <p:sp>
          <p:nvSpPr>
            <p:cNvPr id="147" name="TextBox 146"/>
            <p:cNvSpPr txBox="1"/>
            <p:nvPr/>
          </p:nvSpPr>
          <p:spPr>
            <a:xfrm>
              <a:off x="7498080" y="3950208"/>
              <a:ext cx="960120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Today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1965960" y="4443984"/>
            <a:ext cx="6492240" cy="475488"/>
            <a:chOff x="1965960" y="4443984"/>
            <a:chExt cx="6492240" cy="475488"/>
          </a:xfrm>
        </p:grpSpPr>
        <p:cxnSp>
          <p:nvCxnSpPr>
            <p:cNvPr id="148" name="Connector 147"/>
            <p:cNvCxnSpPr/>
            <p:nvPr/>
          </p:nvCxnSpPr>
          <p:spPr>
            <a:xfrm>
              <a:off x="1965960" y="4919472"/>
              <a:ext cx="6400800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sp>
          <p:nvSpPr>
            <p:cNvPr id="149" name="TextBox 148"/>
            <p:cNvSpPr txBox="1"/>
            <p:nvPr/>
          </p:nvSpPr>
          <p:spPr>
            <a:xfrm>
              <a:off x="1965960" y="4443984"/>
              <a:ext cx="1737360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Store D · Erbil</a:t>
              </a:r>
            </a:p>
          </p:txBody>
        </p:sp>
        <p:sp>
          <p:nvSpPr>
            <p:cNvPr id="150" name="TextBox 149"/>
            <p:cNvSpPr txBox="1"/>
            <p:nvPr/>
          </p:nvSpPr>
          <p:spPr>
            <a:xfrm>
              <a:off x="3840480" y="4443984"/>
              <a:ext cx="1051560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91,000</a:t>
              </a:r>
            </a:p>
          </p:txBody>
        </p:sp>
        <p:sp>
          <p:nvSpPr>
            <p:cNvPr id="151" name="TextBox 150"/>
            <p:cNvSpPr txBox="1"/>
            <p:nvPr/>
          </p:nvSpPr>
          <p:spPr>
            <a:xfrm>
              <a:off x="4983480" y="4443984"/>
              <a:ext cx="960120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+5,000</a:t>
              </a:r>
            </a:p>
          </p:txBody>
        </p:sp>
        <p:sp>
          <p:nvSpPr>
            <p:cNvPr id="152" name="TextBox 151"/>
            <p:cNvSpPr txBox="1"/>
            <p:nvPr/>
          </p:nvSpPr>
          <p:spPr>
            <a:xfrm>
              <a:off x="6035040" y="4443984"/>
              <a:ext cx="1325880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96,000 IQD</a:t>
              </a:r>
            </a:p>
          </p:txBody>
        </p:sp>
        <p:sp>
          <p:nvSpPr>
            <p:cNvPr id="153" name="TextBox 152"/>
            <p:cNvSpPr txBox="1"/>
            <p:nvPr/>
          </p:nvSpPr>
          <p:spPr>
            <a:xfrm>
              <a:off x="7498080" y="4443984"/>
              <a:ext cx="960120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1–2 days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1965960" y="4937760"/>
            <a:ext cx="6492240" cy="475488"/>
            <a:chOff x="1965960" y="4937760"/>
            <a:chExt cx="6492240" cy="475488"/>
          </a:xfrm>
        </p:grpSpPr>
        <p:cxnSp>
          <p:nvCxnSpPr>
            <p:cNvPr id="154" name="Connector 153"/>
            <p:cNvCxnSpPr/>
            <p:nvPr/>
          </p:nvCxnSpPr>
          <p:spPr>
            <a:xfrm>
              <a:off x="1965960" y="5413248"/>
              <a:ext cx="6400800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sp>
          <p:nvSpPr>
            <p:cNvPr id="155" name="TextBox 154"/>
            <p:cNvSpPr txBox="1"/>
            <p:nvPr/>
          </p:nvSpPr>
          <p:spPr>
            <a:xfrm>
              <a:off x="1965960" y="4937760"/>
              <a:ext cx="1737360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Store B · Duhok</a:t>
              </a:r>
            </a:p>
          </p:txBody>
        </p:sp>
        <p:sp>
          <p:nvSpPr>
            <p:cNvPr id="156" name="TextBox 155"/>
            <p:cNvSpPr txBox="1"/>
            <p:nvPr/>
          </p:nvSpPr>
          <p:spPr>
            <a:xfrm>
              <a:off x="3840480" y="4937760"/>
              <a:ext cx="1051560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99,000</a:t>
              </a:r>
            </a:p>
          </p:txBody>
        </p:sp>
        <p:sp>
          <p:nvSpPr>
            <p:cNvPr id="157" name="TextBox 156"/>
            <p:cNvSpPr txBox="1"/>
            <p:nvPr/>
          </p:nvSpPr>
          <p:spPr>
            <a:xfrm>
              <a:off x="4983480" y="4937760"/>
              <a:ext cx="960120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+3,000</a:t>
              </a:r>
            </a:p>
          </p:txBody>
        </p:sp>
        <p:sp>
          <p:nvSpPr>
            <p:cNvPr id="158" name="TextBox 157"/>
            <p:cNvSpPr txBox="1"/>
            <p:nvPr/>
          </p:nvSpPr>
          <p:spPr>
            <a:xfrm>
              <a:off x="6035040" y="4937760"/>
              <a:ext cx="1325880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102,000 IQD</a:t>
              </a:r>
            </a:p>
          </p:txBody>
        </p:sp>
        <p:sp>
          <p:nvSpPr>
            <p:cNvPr id="159" name="TextBox 158"/>
            <p:cNvSpPr txBox="1"/>
            <p:nvPr/>
          </p:nvSpPr>
          <p:spPr>
            <a:xfrm>
              <a:off x="7498080" y="4937760"/>
              <a:ext cx="960120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Today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1965960" y="5431536"/>
            <a:ext cx="6492240" cy="475488"/>
            <a:chOff x="1965960" y="5431536"/>
            <a:chExt cx="6492240" cy="475488"/>
          </a:xfrm>
        </p:grpSpPr>
        <p:cxnSp>
          <p:nvCxnSpPr>
            <p:cNvPr id="160" name="Connector 159"/>
            <p:cNvCxnSpPr/>
            <p:nvPr/>
          </p:nvCxnSpPr>
          <p:spPr>
            <a:xfrm>
              <a:off x="1965960" y="5907024"/>
              <a:ext cx="6400800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sp>
          <p:nvSpPr>
            <p:cNvPr id="161" name="TextBox 160"/>
            <p:cNvSpPr txBox="1"/>
            <p:nvPr/>
          </p:nvSpPr>
          <p:spPr>
            <a:xfrm>
              <a:off x="1965960" y="5431536"/>
              <a:ext cx="1737360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Store C · Duhok</a:t>
              </a:r>
            </a:p>
          </p:txBody>
        </p:sp>
        <p:sp>
          <p:nvSpPr>
            <p:cNvPr id="162" name="TextBox 161"/>
            <p:cNvSpPr txBox="1"/>
            <p:nvPr/>
          </p:nvSpPr>
          <p:spPr>
            <a:xfrm>
              <a:off x="3840480" y="5431536"/>
              <a:ext cx="1051560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121,000</a:t>
              </a:r>
            </a:p>
          </p:txBody>
        </p:sp>
        <p:sp>
          <p:nvSpPr>
            <p:cNvPr id="163" name="TextBox 162"/>
            <p:cNvSpPr txBox="1"/>
            <p:nvPr/>
          </p:nvSpPr>
          <p:spPr>
            <a:xfrm>
              <a:off x="4983480" y="5431536"/>
              <a:ext cx="960120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+3,000</a:t>
              </a:r>
            </a:p>
          </p:txBody>
        </p:sp>
        <p:sp>
          <p:nvSpPr>
            <p:cNvPr id="164" name="TextBox 163"/>
            <p:cNvSpPr txBox="1"/>
            <p:nvPr/>
          </p:nvSpPr>
          <p:spPr>
            <a:xfrm>
              <a:off x="6035040" y="5431536"/>
              <a:ext cx="1325880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124,000 IQD</a:t>
              </a:r>
            </a:p>
          </p:txBody>
        </p:sp>
        <p:sp>
          <p:nvSpPr>
            <p:cNvPr id="165" name="TextBox 164"/>
            <p:cNvSpPr txBox="1"/>
            <p:nvPr/>
          </p:nvSpPr>
          <p:spPr>
            <a:xfrm>
              <a:off x="7498080" y="5431536"/>
              <a:ext cx="960120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Today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8183880" y="3986784"/>
            <a:ext cx="1234440" cy="365760"/>
            <a:chOff x="8183880" y="3986784"/>
            <a:chExt cx="1234440" cy="365760"/>
          </a:xfrm>
        </p:grpSpPr>
        <p:sp>
          <p:nvSpPr>
            <p:cNvPr id="166" name="Rounded Rectangle 165"/>
            <p:cNvSpPr/>
            <p:nvPr/>
          </p:nvSpPr>
          <p:spPr>
            <a:xfrm>
              <a:off x="8183880" y="3986784"/>
              <a:ext cx="1234440" cy="365760"/>
            </a:xfrm>
            <a:prstGeom prst="roundRect">
              <a:avLst>
                <a:gd name="adj" fmla="val 50000"/>
              </a:avLst>
            </a:prstGeom>
            <a:solidFill>
              <a:srgbClr val="22884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67" name="Picture 166" descr="sparkle_FFFFFF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293608" y="4078224"/>
              <a:ext cx="182880" cy="182880"/>
            </a:xfrm>
            <a:prstGeom prst="rect">
              <a:avLst/>
            </a:prstGeom>
          </p:spPr>
        </p:pic>
        <p:sp>
          <p:nvSpPr>
            <p:cNvPr id="168" name="TextBox 167"/>
            <p:cNvSpPr txBox="1"/>
            <p:nvPr/>
          </p:nvSpPr>
          <p:spPr>
            <a:xfrm>
              <a:off x="8513064" y="3986784"/>
              <a:ext cx="868680" cy="36576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000" b="1" lang="en-US">
                  <a:solidFill>
                    <a:srgbClr val="FFFFFF"/>
                  </a:solidFill>
                  <a:latin typeface="Inter"/>
                  <a:cs typeface="Inter"/>
                </a:rPr>
                <a:t>BEST VALUE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9692640" y="3931920"/>
            <a:ext cx="1783080" cy="365760"/>
            <a:chOff x="9692640" y="3931920"/>
            <a:chExt cx="1783080" cy="365760"/>
          </a:xfrm>
        </p:grpSpPr>
        <p:sp>
          <p:nvSpPr>
            <p:cNvPr id="169" name="Oval 168"/>
            <p:cNvSpPr/>
            <p:nvPr/>
          </p:nvSpPr>
          <p:spPr>
            <a:xfrm>
              <a:off x="9692640" y="3931920"/>
              <a:ext cx="329184" cy="329184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0" name="TextBox 169"/>
            <p:cNvSpPr txBox="1"/>
            <p:nvPr/>
          </p:nvSpPr>
          <p:spPr>
            <a:xfrm>
              <a:off x="9692640" y="3931920"/>
              <a:ext cx="329184" cy="32918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FFFFFF"/>
                  </a:solidFill>
                  <a:latin typeface="Inter"/>
                  <a:cs typeface="Inter"/>
                </a:rPr>
                <a:t>1</a:t>
              </a:r>
            </a:p>
          </p:txBody>
        </p:sp>
        <p:sp>
          <p:nvSpPr>
            <p:cNvPr id="171" name="TextBox 170"/>
            <p:cNvSpPr txBox="1"/>
            <p:nvPr/>
          </p:nvSpPr>
          <p:spPr>
            <a:xfrm>
              <a:off x="10104120" y="3931920"/>
              <a:ext cx="1371600" cy="36576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Lowest doorstep total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9692640" y="4480560"/>
            <a:ext cx="1783080" cy="365760"/>
            <a:chOff x="9692640" y="4480560"/>
            <a:chExt cx="1783080" cy="365760"/>
          </a:xfrm>
        </p:grpSpPr>
        <p:sp>
          <p:nvSpPr>
            <p:cNvPr id="172" name="Oval 171"/>
            <p:cNvSpPr/>
            <p:nvPr/>
          </p:nvSpPr>
          <p:spPr>
            <a:xfrm>
              <a:off x="9692640" y="4480560"/>
              <a:ext cx="329184" cy="329184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3" name="TextBox 172"/>
            <p:cNvSpPr txBox="1"/>
            <p:nvPr/>
          </p:nvSpPr>
          <p:spPr>
            <a:xfrm>
              <a:off x="9692640" y="4480560"/>
              <a:ext cx="329184" cy="32918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FFFFFF"/>
                  </a:solidFill>
                  <a:latin typeface="Inter"/>
                  <a:cs typeface="Inter"/>
                </a:rPr>
                <a:t>2</a:t>
              </a:r>
            </a:p>
          </p:txBody>
        </p:sp>
        <p:sp>
          <p:nvSpPr>
            <p:cNvPr id="174" name="TextBox 173"/>
            <p:cNvSpPr txBox="1"/>
            <p:nvPr/>
          </p:nvSpPr>
          <p:spPr>
            <a:xfrm>
              <a:off x="10104120" y="4480560"/>
              <a:ext cx="1371600" cy="36576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Fastest delivery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9692640" y="5029200"/>
            <a:ext cx="1783080" cy="365760"/>
            <a:chOff x="9692640" y="5029200"/>
            <a:chExt cx="1783080" cy="365760"/>
          </a:xfrm>
        </p:grpSpPr>
        <p:sp>
          <p:nvSpPr>
            <p:cNvPr id="175" name="Oval 174"/>
            <p:cNvSpPr/>
            <p:nvPr/>
          </p:nvSpPr>
          <p:spPr>
            <a:xfrm>
              <a:off x="9692640" y="5029200"/>
              <a:ext cx="329184" cy="329184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6" name="TextBox 175"/>
            <p:cNvSpPr txBox="1"/>
            <p:nvPr/>
          </p:nvSpPr>
          <p:spPr>
            <a:xfrm>
              <a:off x="9692640" y="5029200"/>
              <a:ext cx="329184" cy="32918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FFFFFF"/>
                  </a:solidFill>
                  <a:latin typeface="Inter"/>
                  <a:cs typeface="Inter"/>
                </a:rPr>
                <a:t>3</a:t>
              </a:r>
            </a:p>
          </p:txBody>
        </p:sp>
        <p:sp>
          <p:nvSpPr>
            <p:cNvPr id="177" name="TextBox 176"/>
            <p:cNvSpPr txBox="1"/>
            <p:nvPr/>
          </p:nvSpPr>
          <p:spPr>
            <a:xfrm>
              <a:off x="10104120" y="5029200"/>
              <a:ext cx="1371600" cy="36576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Best seller rating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9692640" y="5623560"/>
            <a:ext cx="1773936" cy="457200"/>
            <a:chOff x="9692640" y="5623560"/>
            <a:chExt cx="1773936" cy="457200"/>
          </a:xfrm>
        </p:grpSpPr>
        <p:sp>
          <p:nvSpPr>
            <p:cNvPr id="178" name="TextBox 177"/>
            <p:cNvSpPr txBox="1"/>
            <p:nvPr/>
          </p:nvSpPr>
          <p:spPr>
            <a:xfrm>
              <a:off x="9692640" y="5623560"/>
              <a:ext cx="1773936" cy="4572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250" b="1" lang="en-US">
                  <a:solidFill>
                    <a:srgbClr val="298FC2"/>
                  </a:solidFill>
                  <a:latin typeface="Inter"/>
                  <a:cs typeface="Inter"/>
                </a:rPr>
                <a:t>Ranking can't be bought.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1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4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7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60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20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8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45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105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650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25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9593" y="351575"/>
            <a:ext cx="3178503" cy="96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900" y="436205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Value proposition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Shoppers save. Merchants sell.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6094476" y="2560320"/>
            <a:ext cx="0" cy="3703320"/>
            <a:chOff x="6094476" y="2560320"/>
            <a:chExt cx="0" cy="3703320"/>
          </a:xfrm>
        </p:grpSpPr>
        <p:cxnSp>
          <p:nvCxnSpPr>
            <p:cNvPr id="103" name="Connector 102"/>
            <p:cNvCxnSpPr/>
            <p:nvPr/>
          </p:nvCxnSpPr>
          <p:spPr>
            <a:xfrm>
              <a:off x="6094476" y="2560320"/>
              <a:ext cx="0" cy="3703320"/>
            </a:xfrm>
            <a:prstGeom prst="line">
              <a:avLst/>
            </a:prstGeom>
            <a:ln w="12700">
              <a:solidFill>
                <a:srgbClr val="DDE5ED"/>
              </a:solidFill>
            </a:ln>
            <a:effectLst/>
          </p:spPr>
        </p:cxnSp>
      </p:grpSp>
      <p:grpSp>
        <p:nvGrpSpPr>
          <p:cNvPr id="3" name="Group 2"/>
          <p:cNvGrpSpPr/>
          <p:nvPr/>
        </p:nvGrpSpPr>
        <p:grpSpPr>
          <a:xfrm>
            <a:off x="868680" y="2542032"/>
            <a:ext cx="4800600" cy="502920"/>
            <a:chOff x="868680" y="2542032"/>
            <a:chExt cx="4800600" cy="502920"/>
          </a:xfrm>
        </p:grpSpPr>
        <p:sp>
          <p:nvSpPr>
            <p:cNvPr id="104" name="Oval 103"/>
            <p:cNvSpPr/>
            <p:nvPr/>
          </p:nvSpPr>
          <p:spPr>
            <a:xfrm>
              <a:off x="868680" y="2542032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5" name="Picture 104" descr="shopping-bag_298FC2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2980" y="2656332"/>
              <a:ext cx="274320" cy="274320"/>
            </a:xfrm>
            <a:prstGeom prst="rect">
              <a:avLst/>
            </a:prstGeom>
          </p:spPr>
        </p:pic>
        <p:sp>
          <p:nvSpPr>
            <p:cNvPr id="106" name="TextBox 105"/>
            <p:cNvSpPr txBox="1"/>
            <p:nvPr/>
          </p:nvSpPr>
          <p:spPr>
            <a:xfrm>
              <a:off x="1554480" y="2542032"/>
              <a:ext cx="4114800" cy="5029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2000" b="1" lang="en-US">
                  <a:solidFill>
                    <a:srgbClr val="101820"/>
                  </a:solidFill>
                  <a:latin typeface="Inter"/>
                  <a:cs typeface="Inter"/>
                </a:rPr>
                <a:t>For shoppers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868680" y="3364992"/>
            <a:ext cx="5166360" cy="585216"/>
            <a:chOff x="868680" y="3364992"/>
            <a:chExt cx="5166360" cy="585216"/>
          </a:xfrm>
        </p:grpSpPr>
        <p:sp>
          <p:nvSpPr>
            <p:cNvPr id="107" name="Oval 106"/>
            <p:cNvSpPr/>
            <p:nvPr/>
          </p:nvSpPr>
          <p:spPr>
            <a:xfrm>
              <a:off x="868680" y="3383280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8" name="Picture 107" descr="eye_298FC2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82980" y="3497580"/>
              <a:ext cx="274320" cy="274320"/>
            </a:xfrm>
            <a:prstGeom prst="rect">
              <a:avLst/>
            </a:prstGeom>
          </p:spPr>
        </p:pic>
        <p:sp>
          <p:nvSpPr>
            <p:cNvPr id="109" name="TextBox 108"/>
            <p:cNvSpPr txBox="1"/>
            <p:nvPr/>
          </p:nvSpPr>
          <p:spPr>
            <a:xfrm>
              <a:off x="1554480" y="3364992"/>
              <a:ext cx="448056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Every price, side by side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1554480" y="3694176"/>
              <a:ext cx="4480560" cy="25603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No more checking ten pages</a:t>
              </a: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868680" y="4279392"/>
            <a:ext cx="5166360" cy="585216"/>
            <a:chOff x="868680" y="4279392"/>
            <a:chExt cx="5166360" cy="585216"/>
          </a:xfrm>
        </p:grpSpPr>
        <p:sp>
          <p:nvSpPr>
            <p:cNvPr id="111" name="Oval 110"/>
            <p:cNvSpPr/>
            <p:nvPr/>
          </p:nvSpPr>
          <p:spPr>
            <a:xfrm>
              <a:off x="868680" y="4297680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2" name="Picture 111" descr="message-circle-off_298FC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82980" y="4411980"/>
              <a:ext cx="274320" cy="274320"/>
            </a:xfrm>
            <a:prstGeom prst="rect">
              <a:avLst/>
            </a:prstGeom>
          </p:spPr>
        </p:pic>
        <p:sp>
          <p:nvSpPr>
            <p:cNvPr id="113" name="TextBox 112"/>
            <p:cNvSpPr txBox="1"/>
            <p:nvPr/>
          </p:nvSpPr>
          <p:spPr>
            <a:xfrm>
              <a:off x="1554480" y="4279392"/>
              <a:ext cx="448056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Order in 30 seconds</a:t>
              </a: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1554480" y="4608576"/>
              <a:ext cx="4480560" cy="25603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No “price?” DMs, no waiting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868680" y="5193792"/>
            <a:ext cx="5166360" cy="585216"/>
            <a:chOff x="868680" y="5193792"/>
            <a:chExt cx="5166360" cy="585216"/>
          </a:xfrm>
        </p:grpSpPr>
        <p:sp>
          <p:nvSpPr>
            <p:cNvPr id="115" name="Oval 114"/>
            <p:cNvSpPr/>
            <p:nvPr/>
          </p:nvSpPr>
          <p:spPr>
            <a:xfrm>
              <a:off x="868680" y="5212080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6" name="Picture 115" descr="banknote_298FC2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82980" y="5326380"/>
              <a:ext cx="274320" cy="274320"/>
            </a:xfrm>
            <a:prstGeom prst="rect">
              <a:avLst/>
            </a:prstGeom>
          </p:spPr>
        </p:pic>
        <p:sp>
          <p:nvSpPr>
            <p:cNvPr id="117" name="TextBox 116"/>
            <p:cNvSpPr txBox="1"/>
            <p:nvPr/>
          </p:nvSpPr>
          <p:spPr>
            <a:xfrm>
              <a:off x="1554480" y="5193792"/>
              <a:ext cx="448056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Cash on delivery</a:t>
              </a:r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1554480" y="5522976"/>
              <a:ext cx="4480560" cy="25603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Doorstep total shown upfront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446520" y="2542032"/>
            <a:ext cx="4800600" cy="502920"/>
            <a:chOff x="6446520" y="2542032"/>
            <a:chExt cx="4800600" cy="502920"/>
          </a:xfrm>
        </p:grpSpPr>
        <p:sp>
          <p:nvSpPr>
            <p:cNvPr id="119" name="Oval 118"/>
            <p:cNvSpPr/>
            <p:nvPr/>
          </p:nvSpPr>
          <p:spPr>
            <a:xfrm>
              <a:off x="6446520" y="2542032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20" name="Picture 119" descr="store_298FC2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560820" y="2656332"/>
              <a:ext cx="274320" cy="274320"/>
            </a:xfrm>
            <a:prstGeom prst="rect">
              <a:avLst/>
            </a:prstGeom>
          </p:spPr>
        </p:pic>
        <p:sp>
          <p:nvSpPr>
            <p:cNvPr id="121" name="TextBox 120"/>
            <p:cNvSpPr txBox="1"/>
            <p:nvPr/>
          </p:nvSpPr>
          <p:spPr>
            <a:xfrm>
              <a:off x="7132320" y="2542032"/>
              <a:ext cx="4114800" cy="5029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2000" b="1" lang="en-US">
                  <a:solidFill>
                    <a:srgbClr val="101820"/>
                  </a:solidFill>
                  <a:latin typeface="Inter"/>
                  <a:cs typeface="Inter"/>
                </a:rPr>
                <a:t>For merchants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446520" y="3364992"/>
            <a:ext cx="5166360" cy="585216"/>
            <a:chOff x="6446520" y="3364992"/>
            <a:chExt cx="5166360" cy="585216"/>
          </a:xfrm>
        </p:grpSpPr>
        <p:sp>
          <p:nvSpPr>
            <p:cNvPr id="122" name="Oval 121"/>
            <p:cNvSpPr/>
            <p:nvPr/>
          </p:nvSpPr>
          <p:spPr>
            <a:xfrm>
              <a:off x="6446520" y="3383280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23" name="Picture 122" descr="package-check_298FC2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560820" y="3497580"/>
              <a:ext cx="274320" cy="274320"/>
            </a:xfrm>
            <a:prstGeom prst="rect">
              <a:avLst/>
            </a:prstGeom>
          </p:spPr>
        </p:pic>
        <p:sp>
          <p:nvSpPr>
            <p:cNvPr id="124" name="TextBox 123"/>
            <p:cNvSpPr txBox="1"/>
            <p:nvPr/>
          </p:nvSpPr>
          <p:spPr>
            <a:xfrm>
              <a:off x="7132320" y="3364992"/>
              <a:ext cx="448056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Orders, not interrogations</a:t>
              </a:r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7132320" y="3694176"/>
              <a:ext cx="4480560" cy="25603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Ready orders with address and variant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6446520" y="4279392"/>
            <a:ext cx="5166360" cy="585216"/>
            <a:chOff x="6446520" y="4279392"/>
            <a:chExt cx="5166360" cy="585216"/>
          </a:xfrm>
        </p:grpSpPr>
        <p:sp>
          <p:nvSpPr>
            <p:cNvPr id="126" name="Oval 125"/>
            <p:cNvSpPr/>
            <p:nvPr/>
          </p:nvSpPr>
          <p:spPr>
            <a:xfrm>
              <a:off x="6446520" y="4297680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27" name="Picture 126" descr="layout-dashboard_298FC2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560820" y="4411980"/>
              <a:ext cx="274320" cy="274320"/>
            </a:xfrm>
            <a:prstGeom prst="rect">
              <a:avLst/>
            </a:prstGeom>
          </p:spPr>
        </p:pic>
        <p:sp>
          <p:nvSpPr>
            <p:cNvPr id="128" name="TextBox 127"/>
            <p:cNvSpPr txBox="1"/>
            <p:nvPr/>
          </p:nvSpPr>
          <p:spPr>
            <a:xfrm>
              <a:off x="7132320" y="4279392"/>
              <a:ext cx="448056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Free dashboard</a:t>
              </a:r>
            </a:p>
          </p:txBody>
        </p:sp>
        <p:sp>
          <p:nvSpPr>
            <p:cNvPr id="129" name="TextBox 128"/>
            <p:cNvSpPr txBox="1"/>
            <p:nvPr/>
          </p:nvSpPr>
          <p:spPr>
            <a:xfrm>
              <a:off x="7132320" y="4608576"/>
              <a:ext cx="4480560" cy="25603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Stock, orders and weekly payouts in one place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6446520" y="5193792"/>
            <a:ext cx="5166360" cy="585216"/>
            <a:chOff x="6446520" y="5193792"/>
            <a:chExt cx="5166360" cy="585216"/>
          </a:xfrm>
        </p:grpSpPr>
        <p:sp>
          <p:nvSpPr>
            <p:cNvPr id="130" name="Oval 129"/>
            <p:cNvSpPr/>
            <p:nvPr/>
          </p:nvSpPr>
          <p:spPr>
            <a:xfrm>
              <a:off x="6446520" y="5212080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1" name="Picture 130" descr="percent_298FC2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560820" y="5326380"/>
              <a:ext cx="274320" cy="274320"/>
            </a:xfrm>
            <a:prstGeom prst="rect">
              <a:avLst/>
            </a:prstGeom>
          </p:spPr>
        </p:pic>
        <p:sp>
          <p:nvSpPr>
            <p:cNvPr id="132" name="TextBox 131"/>
            <p:cNvSpPr txBox="1"/>
            <p:nvPr/>
          </p:nvSpPr>
          <p:spPr>
            <a:xfrm>
              <a:off x="7132320" y="5193792"/>
              <a:ext cx="448056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Fair, low fee</a:t>
              </a:r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7132320" y="5522976"/>
              <a:ext cx="4480560" cy="25603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About 3.8% on a typical 25,000 IQD order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2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2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9593" y="351575"/>
            <a:ext cx="3178503" cy="96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900" y="436205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Target market &amp; customers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Duhok first. Then all of Iraq.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lang="en-US">
                <a:solidFill>
                  <a:srgbClr val="5A6672"/>
                </a:solidFill>
                <a:latin typeface="Inter"/>
                <a:cs typeface="Inter"/>
              </a:rPr>
              <a:t>Cheapify market survey, n=199, Sep–Oct 2026 · Internet users: DataReportal, Digital 2026: Iraq (late 2025) · E-commerce revenue: ECDB, Iraq 2025 (US$1.32B).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22376" y="2514600"/>
            <a:ext cx="5120640" cy="1691640"/>
            <a:chOff x="722376" y="2514600"/>
            <a:chExt cx="5120640" cy="1691640"/>
          </a:xfrm>
        </p:grpSpPr>
        <p:sp>
          <p:nvSpPr>
            <p:cNvPr id="104" name="Rounded Rectangle 103"/>
            <p:cNvSpPr/>
            <p:nvPr/>
          </p:nvSpPr>
          <p:spPr>
            <a:xfrm>
              <a:off x="722376" y="2514600"/>
              <a:ext cx="5120640" cy="1691640"/>
            </a:xfrm>
            <a:prstGeom prst="roundRect">
              <a:avLst>
                <a:gd name="adj" fmla="val 7567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5" name="Picture 104" descr="shopping-bag_298FC2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0976" y="2679192"/>
              <a:ext cx="292608" cy="292608"/>
            </a:xfrm>
            <a:prstGeom prst="rect">
              <a:avLst/>
            </a:prstGeom>
          </p:spPr>
        </p:pic>
        <p:sp>
          <p:nvSpPr>
            <p:cNvPr id="106" name="TextBox 105"/>
            <p:cNvSpPr txBox="1"/>
            <p:nvPr/>
          </p:nvSpPr>
          <p:spPr>
            <a:xfrm>
              <a:off x="1353312" y="2651760"/>
              <a:ext cx="4389120" cy="34747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500" b="1" lang="en-US">
                  <a:solidFill>
                    <a:srgbClr val="101820"/>
                  </a:solidFill>
                  <a:latin typeface="Inter"/>
                  <a:cs typeface="Inter"/>
                </a:rPr>
                <a:t>Shoppers who buy on Instagram &amp; Facebook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950976" y="3154680"/>
              <a:ext cx="1463040" cy="64008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4000" b="1" lang="en-US">
                  <a:solidFill>
                    <a:srgbClr val="298FC2"/>
                  </a:solidFill>
                  <a:latin typeface="Comfortaa"/>
                  <a:cs typeface="Comfortaa"/>
                </a:rPr>
                <a:t>88%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2514600" y="3154680"/>
              <a:ext cx="3154680" cy="64008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400" b="0" lang="en-US">
                  <a:solidFill>
                    <a:srgbClr val="101820"/>
                  </a:solidFill>
                  <a:latin typeface="Inter"/>
                  <a:cs typeface="Inter"/>
                </a:rPr>
                <a:t>would use an app like Cheapify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950976" y="3858768"/>
              <a:ext cx="411480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179 surveyed shoppers</a:t>
              </a: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722376" y="4389120"/>
            <a:ext cx="5120640" cy="1691640"/>
            <a:chOff x="722376" y="4389120"/>
            <a:chExt cx="5120640" cy="1691640"/>
          </a:xfrm>
        </p:grpSpPr>
        <p:sp>
          <p:nvSpPr>
            <p:cNvPr id="110" name="Rounded Rectangle 109"/>
            <p:cNvSpPr/>
            <p:nvPr/>
          </p:nvSpPr>
          <p:spPr>
            <a:xfrm>
              <a:off x="722376" y="4389120"/>
              <a:ext cx="5120640" cy="1691640"/>
            </a:xfrm>
            <a:prstGeom prst="roundRect">
              <a:avLst>
                <a:gd name="adj" fmla="val 7567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1" name="Picture 110" descr="store_298FC2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0976" y="4553712"/>
              <a:ext cx="292608" cy="292608"/>
            </a:xfrm>
            <a:prstGeom prst="rect">
              <a:avLst/>
            </a:prstGeom>
          </p:spPr>
        </p:pic>
        <p:sp>
          <p:nvSpPr>
            <p:cNvPr id="112" name="TextBox 111"/>
            <p:cNvSpPr txBox="1"/>
            <p:nvPr/>
          </p:nvSpPr>
          <p:spPr>
            <a:xfrm>
              <a:off x="1353312" y="4526280"/>
              <a:ext cx="4389120" cy="34747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101820"/>
                  </a:solidFill>
                  <a:latin typeface="Inter"/>
                  <a:cs typeface="Inter"/>
                </a:rPr>
                <a:t>Social-media sellers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950976" y="4956048"/>
              <a:ext cx="1371600" cy="54864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4000" b="1" lang="en-US">
                  <a:solidFill>
                    <a:srgbClr val="298FC2"/>
                  </a:solidFill>
                  <a:latin typeface="Comfortaa"/>
                  <a:cs typeface="Comfortaa"/>
                </a:rPr>
                <a:t>85%</a:t>
              </a: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950976" y="5504688"/>
              <a:ext cx="219456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200" b="0" lang="en-US">
                  <a:solidFill>
                    <a:srgbClr val="101820"/>
                  </a:solidFill>
                  <a:latin typeface="Inter"/>
                  <a:cs typeface="Inter"/>
                </a:rPr>
                <a:t>sell on Instagram or Facebook</a:t>
              </a: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3429000" y="4956048"/>
              <a:ext cx="1371600" cy="54864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4000" b="1" lang="en-US">
                  <a:solidFill>
                    <a:srgbClr val="298FC2"/>
                  </a:solidFill>
                  <a:latin typeface="Comfortaa"/>
                  <a:cs typeface="Comfortaa"/>
                </a:rPr>
                <a:t>75%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3429000" y="5504688"/>
              <a:ext cx="219456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200" b="0" lang="en-US">
                  <a:solidFill>
                    <a:srgbClr val="101820"/>
                  </a:solidFill>
                  <a:latin typeface="Inter"/>
                  <a:cs typeface="Inter"/>
                </a:rPr>
                <a:t>want to try Cheapify</a:t>
              </a: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950976" y="5788152"/>
              <a:ext cx="411480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20 surveyed merchants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7325658" y="3297069"/>
            <a:ext cx="514317" cy="257159"/>
            <a:chOff x="7325658" y="3297069"/>
            <a:chExt cx="514317" cy="257159"/>
          </a:xfrm>
        </p:grpSpPr>
        <p:cxnSp>
          <p:nvCxnSpPr>
            <p:cNvPr id="118" name="Connector 117"/>
            <p:cNvCxnSpPr/>
            <p:nvPr/>
          </p:nvCxnSpPr>
          <p:spPr>
            <a:xfrm>
              <a:off x="7325658" y="3297069"/>
              <a:ext cx="514317" cy="257159"/>
            </a:xfrm>
            <a:prstGeom prst="line">
              <a:avLst/>
            </a:prstGeom>
            <a:ln w="25400">
              <a:solidFill>
                <a:srgbClr val="A9B1B9"/>
              </a:solidFill>
              <a:prstDash val="sysDot"/>
            </a:ln>
            <a:effectLst/>
          </p:spPr>
        </p:cxnSp>
      </p:grpSp>
      <p:grpSp>
        <p:nvGrpSpPr>
          <p:cNvPr id="5" name="Group 4"/>
          <p:cNvGrpSpPr/>
          <p:nvPr/>
        </p:nvGrpSpPr>
        <p:grpSpPr>
          <a:xfrm>
            <a:off x="9010627" y="4068345"/>
            <a:ext cx="441963" cy="168367"/>
            <a:chOff x="9010627" y="4068345"/>
            <a:chExt cx="441963" cy="168367"/>
          </a:xfrm>
        </p:grpSpPr>
        <p:cxnSp>
          <p:nvCxnSpPr>
            <p:cNvPr id="119" name="Connector 118"/>
            <p:cNvCxnSpPr/>
            <p:nvPr/>
          </p:nvCxnSpPr>
          <p:spPr>
            <a:xfrm>
              <a:off x="9010627" y="4068345"/>
              <a:ext cx="441963" cy="168367"/>
            </a:xfrm>
            <a:prstGeom prst="line">
              <a:avLst/>
            </a:prstGeom>
            <a:ln w="25400">
              <a:solidFill>
                <a:srgbClr val="A9B1B9"/>
              </a:solidFill>
              <a:prstDash val="sysDot"/>
            </a:ln>
            <a:effectLst/>
          </p:spPr>
        </p:cxnSp>
      </p:grpSp>
      <p:grpSp>
        <p:nvGrpSpPr>
          <p:cNvPr id="6" name="Group 5"/>
          <p:cNvGrpSpPr/>
          <p:nvPr/>
        </p:nvGrpSpPr>
        <p:grpSpPr>
          <a:xfrm>
            <a:off x="6601968" y="2761488"/>
            <a:ext cx="694944" cy="694944"/>
            <a:chOff x="6601968" y="2761488"/>
            <a:chExt cx="694944" cy="694944"/>
          </a:xfrm>
        </p:grpSpPr>
        <p:sp>
          <p:nvSpPr>
            <p:cNvPr id="120" name="Oval 119"/>
            <p:cNvSpPr/>
            <p:nvPr/>
          </p:nvSpPr>
          <p:spPr>
            <a:xfrm>
              <a:off x="6601968" y="2761488"/>
              <a:ext cx="694944" cy="694944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7452360" y="2852928"/>
            <a:ext cx="2286000" cy="502920"/>
            <a:chOff x="7452360" y="2852928"/>
            <a:chExt cx="2286000" cy="502920"/>
          </a:xfrm>
        </p:grpSpPr>
        <p:sp>
          <p:nvSpPr>
            <p:cNvPr id="121" name="TextBox 120"/>
            <p:cNvSpPr txBox="1"/>
            <p:nvPr/>
          </p:nvSpPr>
          <p:spPr>
            <a:xfrm>
              <a:off x="7452360" y="2852928"/>
              <a:ext cx="228600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500" b="1" lang="en-US">
                  <a:solidFill>
                    <a:srgbClr val="101820"/>
                  </a:solidFill>
                  <a:latin typeface="Inter"/>
                  <a:cs typeface="Inter"/>
                </a:rPr>
                <a:t>Duhok</a:t>
              </a:r>
            </a:p>
          </p:txBody>
        </p:sp>
        <p:sp>
          <p:nvSpPr>
            <p:cNvPr id="122" name="TextBox 121"/>
            <p:cNvSpPr txBox="1"/>
            <p:nvPr/>
          </p:nvSpPr>
          <p:spPr>
            <a:xfrm>
              <a:off x="7452360" y="3127248"/>
              <a:ext cx="2286000" cy="2286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Launch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845552" y="3273552"/>
            <a:ext cx="1133856" cy="1133856"/>
            <a:chOff x="7845552" y="3273552"/>
            <a:chExt cx="1133856" cy="1133856"/>
          </a:xfrm>
        </p:grpSpPr>
        <p:sp>
          <p:nvSpPr>
            <p:cNvPr id="123" name="Oval 122"/>
            <p:cNvSpPr/>
            <p:nvPr/>
          </p:nvSpPr>
          <p:spPr>
            <a:xfrm>
              <a:off x="7845552" y="3273552"/>
              <a:ext cx="1133856" cy="1133856"/>
            </a:xfrm>
            <a:prstGeom prst="ellipse">
              <a:avLst/>
            </a:prstGeom>
            <a:solidFill>
              <a:srgbClr val="94C7E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7315200" y="4480560"/>
            <a:ext cx="2194560" cy="722376"/>
            <a:chOff x="7315200" y="4480560"/>
            <a:chExt cx="2194560" cy="722376"/>
          </a:xfrm>
        </p:grpSpPr>
        <p:sp>
          <p:nvSpPr>
            <p:cNvPr id="124" name="TextBox 123"/>
            <p:cNvSpPr txBox="1"/>
            <p:nvPr/>
          </p:nvSpPr>
          <p:spPr>
            <a:xfrm>
              <a:off x="7315200" y="4480560"/>
              <a:ext cx="2194560" cy="4572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Erbil · Mosul · Sulaymaniyah</a:t>
              </a:r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7315200" y="4974336"/>
              <a:ext cx="2194560" cy="2286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Phase 2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9464040" y="3703320"/>
            <a:ext cx="1737360" cy="1737360"/>
            <a:chOff x="9464040" y="3703320"/>
            <a:chExt cx="1737360" cy="1737360"/>
          </a:xfrm>
        </p:grpSpPr>
        <p:sp>
          <p:nvSpPr>
            <p:cNvPr id="126" name="Oval 125"/>
            <p:cNvSpPr/>
            <p:nvPr/>
          </p:nvSpPr>
          <p:spPr>
            <a:xfrm>
              <a:off x="9464040" y="3703320"/>
              <a:ext cx="1737360" cy="1737360"/>
            </a:xfrm>
            <a:prstGeom prst="ellipse">
              <a:avLst/>
            </a:prstGeom>
            <a:solidFill>
              <a:srgbClr val="E5F2F8"/>
            </a:solidFill>
            <a:ln w="1270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9464040" y="4315968"/>
            <a:ext cx="1737360" cy="530352"/>
            <a:chOff x="9464040" y="4315968"/>
            <a:chExt cx="1737360" cy="530352"/>
          </a:xfrm>
        </p:grpSpPr>
        <p:sp>
          <p:nvSpPr>
            <p:cNvPr id="127" name="TextBox 126"/>
            <p:cNvSpPr txBox="1"/>
            <p:nvPr/>
          </p:nvSpPr>
          <p:spPr>
            <a:xfrm>
              <a:off x="9464040" y="4315968"/>
              <a:ext cx="173736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500" b="1" lang="en-US">
                  <a:solidFill>
                    <a:srgbClr val="101820"/>
                  </a:solidFill>
                  <a:latin typeface="Inter"/>
                  <a:cs typeface="Inter"/>
                </a:rPr>
                <a:t>All of Iraq</a:t>
              </a:r>
            </a:p>
          </p:txBody>
        </p:sp>
        <p:sp>
          <p:nvSpPr>
            <p:cNvPr id="128" name="TextBox 127"/>
            <p:cNvSpPr txBox="1"/>
            <p:nvPr/>
          </p:nvSpPr>
          <p:spPr>
            <a:xfrm>
              <a:off x="9464040" y="4617720"/>
              <a:ext cx="1737360" cy="2286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Phase 3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6309360" y="5623560"/>
            <a:ext cx="5157216" cy="548640"/>
            <a:chOff x="6309360" y="5623560"/>
            <a:chExt cx="5157216" cy="548640"/>
          </a:xfrm>
        </p:grpSpPr>
        <p:sp>
          <p:nvSpPr>
            <p:cNvPr id="129" name="TextBox 128"/>
            <p:cNvSpPr txBox="1"/>
            <p:nvPr/>
          </p:nvSpPr>
          <p:spPr>
            <a:xfrm>
              <a:off x="6309360" y="5623560"/>
              <a:ext cx="1188720" cy="54864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2400" b="1" lang="en-US">
                  <a:solidFill>
                    <a:srgbClr val="298FC2"/>
                  </a:solidFill>
                  <a:latin typeface="Comfortaa"/>
                  <a:cs typeface="Comfortaa"/>
                </a:rPr>
                <a:t>39.6M</a:t>
              </a:r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7543800" y="5623560"/>
              <a:ext cx="1325880" cy="54864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00" b="0" lang="en-US">
                  <a:solidFill>
                    <a:srgbClr val="101820"/>
                  </a:solidFill>
                  <a:latin typeface="Inter"/>
                  <a:cs typeface="Inter"/>
                </a:rPr>
                <a:t>internet users in Iraq</a:t>
              </a: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8961120" y="5623560"/>
              <a:ext cx="1051560" cy="54864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2400" b="1" lang="en-US">
                  <a:solidFill>
                    <a:srgbClr val="298FC2"/>
                  </a:solidFill>
                  <a:latin typeface="Comfortaa"/>
                  <a:cs typeface="Comfortaa"/>
                </a:rPr>
                <a:t>$1.3B</a:t>
              </a:r>
            </a:p>
          </p:txBody>
        </p:sp>
        <p:sp>
          <p:nvSpPr>
            <p:cNvPr id="132" name="TextBox 131"/>
            <p:cNvSpPr txBox="1"/>
            <p:nvPr/>
          </p:nvSpPr>
          <p:spPr>
            <a:xfrm>
              <a:off x="10012680" y="5623560"/>
              <a:ext cx="1453896" cy="54864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00" b="0" lang="en-US">
                  <a:solidFill>
                    <a:srgbClr val="101820"/>
                  </a:solidFill>
                  <a:latin typeface="Inter"/>
                  <a:cs typeface="Inter"/>
                </a:rPr>
                <a:t>e-commerce market (2025)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45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9593" y="351575"/>
            <a:ext cx="3178503" cy="96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900" y="436205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Product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Order in 30 seconds. Pay at the door.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lang="en-US">
                <a:solidFill>
                  <a:srgbClr val="5A6672"/>
                </a:solidFill>
                <a:latin typeface="Inter"/>
                <a:cs typeface="Inter"/>
              </a:rPr>
              <a:t>Concept screens — app in development.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234440" y="2395728"/>
            <a:ext cx="2011680" cy="3931920"/>
            <a:chOff x="1234440" y="2395728"/>
            <a:chExt cx="2011680" cy="3931920"/>
          </a:xfrm>
        </p:grpSpPr>
        <p:sp>
          <p:nvSpPr>
            <p:cNvPr id="104" name="Rounded Rectangle 103"/>
            <p:cNvSpPr/>
            <p:nvPr/>
          </p:nvSpPr>
          <p:spPr>
            <a:xfrm>
              <a:off x="1234440" y="2395728"/>
              <a:ext cx="2011680" cy="3931920"/>
            </a:xfrm>
            <a:prstGeom prst="roundRect">
              <a:avLst>
                <a:gd name="adj" fmla="val 13636"/>
              </a:avLst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Rounded Rectangle 104"/>
            <p:cNvSpPr/>
            <p:nvPr/>
          </p:nvSpPr>
          <p:spPr>
            <a:xfrm>
              <a:off x="1307592" y="2468880"/>
              <a:ext cx="1865376" cy="3785616"/>
            </a:xfrm>
            <a:prstGeom prst="roundRect">
              <a:avLst>
                <a:gd name="adj" fmla="val 10784"/>
              </a:avLst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Rounded Rectangle 105"/>
            <p:cNvSpPr/>
            <p:nvPr/>
          </p:nvSpPr>
          <p:spPr>
            <a:xfrm>
              <a:off x="1965960" y="2514600"/>
              <a:ext cx="548640" cy="64008"/>
            </a:xfrm>
            <a:prstGeom prst="roundRect">
              <a:avLst>
                <a:gd name="adj" fmla="val 50000"/>
              </a:avLst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4114800" y="2514600"/>
            <a:ext cx="7351776" cy="694944"/>
            <a:chOff x="4114800" y="2514600"/>
            <a:chExt cx="7351776" cy="694944"/>
          </a:xfrm>
        </p:grpSpPr>
        <p:sp>
          <p:nvSpPr>
            <p:cNvPr id="107" name="Rounded Rectangle 106"/>
            <p:cNvSpPr/>
            <p:nvPr/>
          </p:nvSpPr>
          <p:spPr>
            <a:xfrm>
              <a:off x="4114800" y="2514600"/>
              <a:ext cx="7351776" cy="694944"/>
            </a:xfrm>
            <a:prstGeom prst="roundRect">
              <a:avLst>
                <a:gd name="adj" fmla="val 15789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4114800" y="3282696"/>
            <a:ext cx="7351776" cy="694944"/>
            <a:chOff x="4114800" y="3282696"/>
            <a:chExt cx="7351776" cy="694944"/>
          </a:xfrm>
        </p:grpSpPr>
        <p:sp>
          <p:nvSpPr>
            <p:cNvPr id="108" name="Rounded Rectangle 107"/>
            <p:cNvSpPr/>
            <p:nvPr/>
          </p:nvSpPr>
          <p:spPr>
            <a:xfrm>
              <a:off x="4114800" y="3282696"/>
              <a:ext cx="7351776" cy="694944"/>
            </a:xfrm>
            <a:prstGeom prst="roundRect">
              <a:avLst>
                <a:gd name="adj" fmla="val 15789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4114800" y="4050792"/>
            <a:ext cx="7351776" cy="694944"/>
            <a:chOff x="4114800" y="4050792"/>
            <a:chExt cx="7351776" cy="694944"/>
          </a:xfrm>
        </p:grpSpPr>
        <p:sp>
          <p:nvSpPr>
            <p:cNvPr id="109" name="Rounded Rectangle 108"/>
            <p:cNvSpPr/>
            <p:nvPr/>
          </p:nvSpPr>
          <p:spPr>
            <a:xfrm>
              <a:off x="4114800" y="4050792"/>
              <a:ext cx="7351776" cy="694944"/>
            </a:xfrm>
            <a:prstGeom prst="roundRect">
              <a:avLst>
                <a:gd name="adj" fmla="val 15789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4114800" y="4818888"/>
            <a:ext cx="7351776" cy="694944"/>
            <a:chOff x="4114800" y="4818888"/>
            <a:chExt cx="7351776" cy="694944"/>
          </a:xfrm>
        </p:grpSpPr>
        <p:sp>
          <p:nvSpPr>
            <p:cNvPr id="110" name="Rounded Rectangle 109"/>
            <p:cNvSpPr/>
            <p:nvPr/>
          </p:nvSpPr>
          <p:spPr>
            <a:xfrm>
              <a:off x="4114800" y="4818888"/>
              <a:ext cx="7351776" cy="694944"/>
            </a:xfrm>
            <a:prstGeom prst="roundRect">
              <a:avLst>
                <a:gd name="adj" fmla="val 15789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114800" y="5586984"/>
            <a:ext cx="7351776" cy="694944"/>
            <a:chOff x="4114800" y="5586984"/>
            <a:chExt cx="7351776" cy="694944"/>
          </a:xfrm>
        </p:grpSpPr>
        <p:sp>
          <p:nvSpPr>
            <p:cNvPr id="111" name="Rounded Rectangle 110"/>
            <p:cNvSpPr/>
            <p:nvPr/>
          </p:nvSpPr>
          <p:spPr>
            <a:xfrm>
              <a:off x="4114800" y="5586984"/>
              <a:ext cx="7351776" cy="694944"/>
            </a:xfrm>
            <a:prstGeom prst="roundRect">
              <a:avLst>
                <a:gd name="adj" fmla="val 15789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4206240" y="2551176"/>
            <a:ext cx="7269480" cy="585216"/>
            <a:chOff x="4206240" y="2551176"/>
            <a:chExt cx="7269480" cy="585216"/>
          </a:xfrm>
        </p:grpSpPr>
        <p:sp>
          <p:nvSpPr>
            <p:cNvPr id="112" name="Oval 111"/>
            <p:cNvSpPr/>
            <p:nvPr/>
          </p:nvSpPr>
          <p:spPr>
            <a:xfrm>
              <a:off x="4206240" y="2642616"/>
              <a:ext cx="438912" cy="438912"/>
            </a:xfrm>
            <a:prstGeom prst="ellipse">
              <a:avLst/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206240" y="2642616"/>
              <a:ext cx="438912" cy="4389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5A6672"/>
                  </a:solidFill>
                  <a:latin typeface="Inter"/>
                  <a:cs typeface="Inter"/>
                </a:rPr>
                <a:t>1</a:t>
              </a: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5074920" y="2551176"/>
              <a:ext cx="640080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Search</a:t>
              </a: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5074920" y="2880360"/>
              <a:ext cx="6400800" cy="25603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Find any product in one place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206240" y="3319272"/>
            <a:ext cx="7269480" cy="585216"/>
            <a:chOff x="4206240" y="3319272"/>
            <a:chExt cx="7269480" cy="585216"/>
          </a:xfrm>
        </p:grpSpPr>
        <p:sp>
          <p:nvSpPr>
            <p:cNvPr id="116" name="Oval 115"/>
            <p:cNvSpPr/>
            <p:nvPr/>
          </p:nvSpPr>
          <p:spPr>
            <a:xfrm>
              <a:off x="4206240" y="3410712"/>
              <a:ext cx="438912" cy="438912"/>
            </a:xfrm>
            <a:prstGeom prst="ellipse">
              <a:avLst/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4206240" y="3410712"/>
              <a:ext cx="438912" cy="4389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5A6672"/>
                  </a:solidFill>
                  <a:latin typeface="Inter"/>
                  <a:cs typeface="Inter"/>
                </a:rPr>
                <a:t>2</a:t>
              </a:r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5074920" y="3319272"/>
              <a:ext cx="640080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Compare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5074920" y="3648456"/>
              <a:ext cx="6400800" cy="25603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Every seller on one page — Best Value on top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206240" y="4087368"/>
            <a:ext cx="7269480" cy="585216"/>
            <a:chOff x="4206240" y="4087368"/>
            <a:chExt cx="7269480" cy="585216"/>
          </a:xfrm>
        </p:grpSpPr>
        <p:sp>
          <p:nvSpPr>
            <p:cNvPr id="120" name="Oval 119"/>
            <p:cNvSpPr/>
            <p:nvPr/>
          </p:nvSpPr>
          <p:spPr>
            <a:xfrm>
              <a:off x="4206240" y="4178808"/>
              <a:ext cx="438912" cy="438912"/>
            </a:xfrm>
            <a:prstGeom prst="ellipse">
              <a:avLst/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4206240" y="4178808"/>
              <a:ext cx="438912" cy="4389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5A6672"/>
                  </a:solidFill>
                  <a:latin typeface="Inter"/>
                  <a:cs typeface="Inter"/>
                </a:rPr>
                <a:t>3</a:t>
              </a:r>
            </a:p>
          </p:txBody>
        </p:sp>
        <p:sp>
          <p:nvSpPr>
            <p:cNvPr id="122" name="TextBox 121"/>
            <p:cNvSpPr txBox="1"/>
            <p:nvPr/>
          </p:nvSpPr>
          <p:spPr>
            <a:xfrm>
              <a:off x="5074920" y="4087368"/>
              <a:ext cx="640080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Order</a:t>
              </a:r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5074920" y="4416552"/>
              <a:ext cx="6400800" cy="25603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Doorstep total upfront · cash on delivery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206240" y="4855464"/>
            <a:ext cx="7269480" cy="585216"/>
            <a:chOff x="4206240" y="4855464"/>
            <a:chExt cx="7269480" cy="585216"/>
          </a:xfrm>
        </p:grpSpPr>
        <p:sp>
          <p:nvSpPr>
            <p:cNvPr id="124" name="Oval 123"/>
            <p:cNvSpPr/>
            <p:nvPr/>
          </p:nvSpPr>
          <p:spPr>
            <a:xfrm>
              <a:off x="4206240" y="4946904"/>
              <a:ext cx="438912" cy="438912"/>
            </a:xfrm>
            <a:prstGeom prst="ellipse">
              <a:avLst/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4206240" y="4946904"/>
              <a:ext cx="438912" cy="4389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5A6672"/>
                  </a:solidFill>
                  <a:latin typeface="Inter"/>
                  <a:cs typeface="Inter"/>
                </a:rPr>
                <a:t>4</a:t>
              </a:r>
            </a:p>
          </p:txBody>
        </p:sp>
        <p:sp>
          <p:nvSpPr>
            <p:cNvPr id="126" name="TextBox 125"/>
            <p:cNvSpPr txBox="1"/>
            <p:nvPr/>
          </p:nvSpPr>
          <p:spPr>
            <a:xfrm>
              <a:off x="5074920" y="4855464"/>
              <a:ext cx="640080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Merchant packs, courier picks up</a:t>
              </a:r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5074920" y="5184648"/>
              <a:ext cx="6400800" cy="25603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The order lands on the dashboard and WhatsApp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4206240" y="5623560"/>
            <a:ext cx="7269480" cy="585216"/>
            <a:chOff x="4206240" y="5623560"/>
            <a:chExt cx="7269480" cy="585216"/>
          </a:xfrm>
        </p:grpSpPr>
        <p:sp>
          <p:nvSpPr>
            <p:cNvPr id="128" name="Oval 127"/>
            <p:cNvSpPr/>
            <p:nvPr/>
          </p:nvSpPr>
          <p:spPr>
            <a:xfrm>
              <a:off x="4206240" y="5715000"/>
              <a:ext cx="438912" cy="438912"/>
            </a:xfrm>
            <a:prstGeom prst="ellipse">
              <a:avLst/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TextBox 128"/>
            <p:cNvSpPr txBox="1"/>
            <p:nvPr/>
          </p:nvSpPr>
          <p:spPr>
            <a:xfrm>
              <a:off x="4206240" y="5715000"/>
              <a:ext cx="438912" cy="4389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5A6672"/>
                  </a:solidFill>
                  <a:latin typeface="Inter"/>
                  <a:cs typeface="Inter"/>
                </a:rPr>
                <a:t>5</a:t>
              </a:r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5074920" y="5623560"/>
              <a:ext cx="640080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800" b="1" lang="en-US">
                  <a:solidFill>
                    <a:srgbClr val="101820"/>
                  </a:solidFill>
                  <a:latin typeface="Inter"/>
                  <a:cs typeface="Inter"/>
                </a:rPr>
                <a:t>Weekly payout</a:t>
              </a: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5074920" y="5952744"/>
              <a:ext cx="6400800" cy="25603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Paid every Sunday, minus our small fee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206240" y="2642616"/>
            <a:ext cx="438912" cy="438912"/>
            <a:chOff x="4206240" y="2642616"/>
            <a:chExt cx="438912" cy="438912"/>
          </a:xfrm>
        </p:grpSpPr>
        <p:sp>
          <p:nvSpPr>
            <p:cNvPr id="132" name="Oval 131"/>
            <p:cNvSpPr/>
            <p:nvPr/>
          </p:nvSpPr>
          <p:spPr>
            <a:xfrm>
              <a:off x="4206240" y="2642616"/>
              <a:ext cx="438912" cy="438912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4206240" y="2642616"/>
              <a:ext cx="438912" cy="4389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FFFFFF"/>
                  </a:solidFill>
                  <a:latin typeface="Inter"/>
                  <a:cs typeface="Inter"/>
                </a:rPr>
                <a:t>1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4206240" y="3410712"/>
            <a:ext cx="438912" cy="438912"/>
            <a:chOff x="4206240" y="3410712"/>
            <a:chExt cx="438912" cy="438912"/>
          </a:xfrm>
        </p:grpSpPr>
        <p:sp>
          <p:nvSpPr>
            <p:cNvPr id="134" name="Oval 133"/>
            <p:cNvSpPr/>
            <p:nvPr/>
          </p:nvSpPr>
          <p:spPr>
            <a:xfrm>
              <a:off x="4206240" y="3410712"/>
              <a:ext cx="438912" cy="438912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4206240" y="3410712"/>
              <a:ext cx="438912" cy="4389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FFFFFF"/>
                  </a:solidFill>
                  <a:latin typeface="Inter"/>
                  <a:cs typeface="Inter"/>
                </a:rPr>
                <a:t>2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4206240" y="4178808"/>
            <a:ext cx="438912" cy="438912"/>
            <a:chOff x="4206240" y="4178808"/>
            <a:chExt cx="438912" cy="438912"/>
          </a:xfrm>
        </p:grpSpPr>
        <p:sp>
          <p:nvSpPr>
            <p:cNvPr id="136" name="Oval 135"/>
            <p:cNvSpPr/>
            <p:nvPr/>
          </p:nvSpPr>
          <p:spPr>
            <a:xfrm>
              <a:off x="4206240" y="4178808"/>
              <a:ext cx="438912" cy="438912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4206240" y="4178808"/>
              <a:ext cx="438912" cy="4389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FFFFFF"/>
                  </a:solidFill>
                  <a:latin typeface="Inter"/>
                  <a:cs typeface="Inter"/>
                </a:rPr>
                <a:t>3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4206240" y="4946904"/>
            <a:ext cx="438912" cy="438912"/>
            <a:chOff x="4206240" y="4946904"/>
            <a:chExt cx="438912" cy="438912"/>
          </a:xfrm>
        </p:grpSpPr>
        <p:sp>
          <p:nvSpPr>
            <p:cNvPr id="138" name="Oval 137"/>
            <p:cNvSpPr/>
            <p:nvPr/>
          </p:nvSpPr>
          <p:spPr>
            <a:xfrm>
              <a:off x="4206240" y="4946904"/>
              <a:ext cx="438912" cy="438912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TextBox 138"/>
            <p:cNvSpPr txBox="1"/>
            <p:nvPr/>
          </p:nvSpPr>
          <p:spPr>
            <a:xfrm>
              <a:off x="4206240" y="4946904"/>
              <a:ext cx="438912" cy="4389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FFFFFF"/>
                  </a:solidFill>
                  <a:latin typeface="Inter"/>
                  <a:cs typeface="Inter"/>
                </a:rPr>
                <a:t>4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4206240" y="5715000"/>
            <a:ext cx="438912" cy="438912"/>
            <a:chOff x="4206240" y="5715000"/>
            <a:chExt cx="438912" cy="438912"/>
          </a:xfrm>
        </p:grpSpPr>
        <p:sp>
          <p:nvSpPr>
            <p:cNvPr id="140" name="Oval 139"/>
            <p:cNvSpPr/>
            <p:nvPr/>
          </p:nvSpPr>
          <p:spPr>
            <a:xfrm>
              <a:off x="4206240" y="5715000"/>
              <a:ext cx="438912" cy="438912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1" name="TextBox 140"/>
            <p:cNvSpPr txBox="1"/>
            <p:nvPr/>
          </p:nvSpPr>
          <p:spPr>
            <a:xfrm>
              <a:off x="4206240" y="5715000"/>
              <a:ext cx="438912" cy="43891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FFFFFF"/>
                  </a:solidFill>
                  <a:latin typeface="Inter"/>
                  <a:cs typeface="Inter"/>
                </a:rPr>
                <a:t>5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1307592" y="2468880"/>
            <a:ext cx="1865376" cy="3785616"/>
            <a:chOff x="1307592" y="2468880"/>
            <a:chExt cx="1865376" cy="3785616"/>
          </a:xfrm>
        </p:grpSpPr>
        <p:sp>
          <p:nvSpPr>
            <p:cNvPr id="142" name="Rounded Rectangle 141"/>
            <p:cNvSpPr/>
            <p:nvPr/>
          </p:nvSpPr>
          <p:spPr>
            <a:xfrm>
              <a:off x="1307592" y="2468880"/>
              <a:ext cx="1865376" cy="3785616"/>
            </a:xfrm>
            <a:prstGeom prst="roundRect">
              <a:avLst>
                <a:gd name="adj" fmla="val 10784"/>
              </a:avLst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3" name="Picture 142" descr="cheapify-logo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5608" y="2677886"/>
              <a:ext cx="201168" cy="258645"/>
            </a:xfrm>
            <a:prstGeom prst="rect">
              <a:avLst/>
            </a:prstGeom>
          </p:spPr>
        </p:pic>
        <p:sp>
          <p:nvSpPr>
            <p:cNvPr id="144" name="TextBox 143"/>
            <p:cNvSpPr txBox="1"/>
            <p:nvPr/>
          </p:nvSpPr>
          <p:spPr>
            <a:xfrm>
              <a:off x="1709928" y="2670048"/>
              <a:ext cx="109728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00" b="1" lang="en-US">
                  <a:solidFill>
                    <a:srgbClr val="101820"/>
                  </a:solidFill>
                  <a:latin typeface="Comfortaa"/>
                  <a:cs typeface="Comfortaa"/>
                </a:rPr>
                <a:t>Cheapify</a:t>
              </a:r>
            </a:p>
          </p:txBody>
        </p:sp>
        <p:sp>
          <p:nvSpPr>
            <p:cNvPr id="145" name="Rounded Rectangle 144"/>
            <p:cNvSpPr/>
            <p:nvPr/>
          </p:nvSpPr>
          <p:spPr>
            <a:xfrm>
              <a:off x="1435608" y="3090672"/>
              <a:ext cx="1609344" cy="329184"/>
            </a:xfrm>
            <a:prstGeom prst="roundRect">
              <a:avLst>
                <a:gd name="adj" fmla="val 50000"/>
              </a:avLst>
            </a:prstGeom>
            <a:solidFill>
              <a:srgbClr val="F4F6F8"/>
            </a:solidFill>
            <a:ln w="9525">
              <a:solidFill>
                <a:srgbClr val="DDE5E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6" name="Picture 145" descr="search_5A6672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527048" y="3182112"/>
              <a:ext cx="146304" cy="146304"/>
            </a:xfrm>
            <a:prstGeom prst="rect">
              <a:avLst/>
            </a:prstGeom>
          </p:spPr>
        </p:pic>
        <p:sp>
          <p:nvSpPr>
            <p:cNvPr id="147" name="TextBox 146"/>
            <p:cNvSpPr txBox="1"/>
            <p:nvPr/>
          </p:nvSpPr>
          <p:spPr>
            <a:xfrm>
              <a:off x="1746504" y="3090672"/>
              <a:ext cx="1243584" cy="32918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900" b="0" lang="en-US">
                  <a:solidFill>
                    <a:srgbClr val="101820"/>
                  </a:solidFill>
                  <a:latin typeface="Inter"/>
                  <a:cs typeface="Inter"/>
                </a:rPr>
                <a:t>anker power bank</a:t>
              </a:r>
            </a:p>
          </p:txBody>
        </p:sp>
        <p:sp>
          <p:nvSpPr>
            <p:cNvPr id="148" name="Rounded Rectangle 147"/>
            <p:cNvSpPr/>
            <p:nvPr/>
          </p:nvSpPr>
          <p:spPr>
            <a:xfrm>
              <a:off x="1435608" y="3611880"/>
              <a:ext cx="457200" cy="457200"/>
            </a:xfrm>
            <a:prstGeom prst="roundRect">
              <a:avLst>
                <a:gd name="adj" fmla="val 16000"/>
              </a:avLst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TextBox 148"/>
            <p:cNvSpPr txBox="1"/>
            <p:nvPr/>
          </p:nvSpPr>
          <p:spPr>
            <a:xfrm>
              <a:off x="1965960" y="3630168"/>
              <a:ext cx="109728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850" b="1" lang="en-US">
                  <a:solidFill>
                    <a:srgbClr val="101820"/>
                  </a:solidFill>
                  <a:latin typeface="Inter"/>
                  <a:cs typeface="Inter"/>
                </a:rPr>
                <a:t>Anker 25K · 165 W</a:t>
              </a:r>
            </a:p>
          </p:txBody>
        </p:sp>
        <p:sp>
          <p:nvSpPr>
            <p:cNvPr id="150" name="TextBox 149"/>
            <p:cNvSpPr txBox="1"/>
            <p:nvPr/>
          </p:nvSpPr>
          <p:spPr>
            <a:xfrm>
              <a:off x="1965960" y="3840480"/>
              <a:ext cx="1078992" cy="32918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800" b="0" lang="en-US">
                  <a:solidFill>
                    <a:srgbClr val="5A6672"/>
                  </a:solidFill>
                  <a:latin typeface="Inter"/>
                  <a:cs typeface="Inter"/>
                </a:rPr>
                <a:t>from 95,000 IQD · 4 sellers</a:t>
              </a:r>
            </a:p>
          </p:txBody>
        </p:sp>
        <p:sp>
          <p:nvSpPr>
            <p:cNvPr id="151" name="Rounded Rectangle 150"/>
            <p:cNvSpPr/>
            <p:nvPr/>
          </p:nvSpPr>
          <p:spPr>
            <a:xfrm>
              <a:off x="1435608" y="4434840"/>
              <a:ext cx="457200" cy="457200"/>
            </a:xfrm>
            <a:prstGeom prst="roundRect">
              <a:avLst>
                <a:gd name="adj" fmla="val 16000"/>
              </a:avLst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2" name="TextBox 151"/>
            <p:cNvSpPr txBox="1"/>
            <p:nvPr/>
          </p:nvSpPr>
          <p:spPr>
            <a:xfrm>
              <a:off x="1965960" y="4453128"/>
              <a:ext cx="109728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850" b="1" lang="en-US">
                  <a:solidFill>
                    <a:srgbClr val="101820"/>
                  </a:solidFill>
                  <a:latin typeface="Inter"/>
                  <a:cs typeface="Inter"/>
                </a:rPr>
                <a:t>Anker 10K · 30 W</a:t>
              </a:r>
            </a:p>
          </p:txBody>
        </p:sp>
        <p:sp>
          <p:nvSpPr>
            <p:cNvPr id="153" name="TextBox 152"/>
            <p:cNvSpPr txBox="1"/>
            <p:nvPr/>
          </p:nvSpPr>
          <p:spPr>
            <a:xfrm>
              <a:off x="1965960" y="4663440"/>
              <a:ext cx="1078992" cy="32918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800" b="0" lang="en-US">
                  <a:solidFill>
                    <a:srgbClr val="5A6672"/>
                  </a:solidFill>
                  <a:latin typeface="Inter"/>
                  <a:cs typeface="Inter"/>
                </a:rPr>
                <a:t>from 35,000 IQD · 2 sellers</a:t>
              </a:r>
            </a:p>
          </p:txBody>
        </p:sp>
        <p:sp>
          <p:nvSpPr>
            <p:cNvPr id="154" name="Rounded Rectangle 153"/>
            <p:cNvSpPr/>
            <p:nvPr/>
          </p:nvSpPr>
          <p:spPr>
            <a:xfrm>
              <a:off x="1435608" y="5257800"/>
              <a:ext cx="457200" cy="457200"/>
            </a:xfrm>
            <a:prstGeom prst="roundRect">
              <a:avLst>
                <a:gd name="adj" fmla="val 16000"/>
              </a:avLst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5" name="TextBox 154"/>
            <p:cNvSpPr txBox="1"/>
            <p:nvPr/>
          </p:nvSpPr>
          <p:spPr>
            <a:xfrm>
              <a:off x="1965960" y="5276088"/>
              <a:ext cx="1097280" cy="201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850" b="1" lang="en-US">
                  <a:solidFill>
                    <a:srgbClr val="101820"/>
                  </a:solidFill>
                  <a:latin typeface="Inter"/>
                  <a:cs typeface="Inter"/>
                </a:rPr>
                <a:t>Xiaomi 10K · 165 W</a:t>
              </a:r>
            </a:p>
          </p:txBody>
        </p:sp>
        <p:sp>
          <p:nvSpPr>
            <p:cNvPr id="156" name="TextBox 155"/>
            <p:cNvSpPr txBox="1"/>
            <p:nvPr/>
          </p:nvSpPr>
          <p:spPr>
            <a:xfrm>
              <a:off x="1965960" y="5486400"/>
              <a:ext cx="1078992" cy="32918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800" b="0" lang="en-US">
                  <a:solidFill>
                    <a:srgbClr val="5A6672"/>
                  </a:solidFill>
                  <a:latin typeface="Inter"/>
                  <a:cs typeface="Inter"/>
                </a:rPr>
                <a:t>from 60,000 IQD · 2 sellers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1307592" y="2468880"/>
            <a:ext cx="1865376" cy="3785616"/>
            <a:chOff x="1307592" y="2468880"/>
            <a:chExt cx="1865376" cy="3785616"/>
          </a:xfrm>
        </p:grpSpPr>
        <p:sp>
          <p:nvSpPr>
            <p:cNvPr id="157" name="Rounded Rectangle 156"/>
            <p:cNvSpPr/>
            <p:nvPr/>
          </p:nvSpPr>
          <p:spPr>
            <a:xfrm>
              <a:off x="1307592" y="2468880"/>
              <a:ext cx="1865376" cy="3785616"/>
            </a:xfrm>
            <a:prstGeom prst="roundRect">
              <a:avLst>
                <a:gd name="adj" fmla="val 10784"/>
              </a:avLst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58" name="Picture 157" descr="product-anker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35608" y="2745930"/>
              <a:ext cx="457200" cy="634621"/>
            </a:xfrm>
            <a:prstGeom prst="rect">
              <a:avLst/>
            </a:prstGeom>
          </p:spPr>
        </p:pic>
        <p:sp>
          <p:nvSpPr>
            <p:cNvPr id="159" name="TextBox 158"/>
            <p:cNvSpPr txBox="1"/>
            <p:nvPr/>
          </p:nvSpPr>
          <p:spPr>
            <a:xfrm>
              <a:off x="1984248" y="2834640"/>
              <a:ext cx="1188720" cy="2743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950" b="1" lang="en-US">
                  <a:solidFill>
                    <a:srgbClr val="101820"/>
                  </a:solidFill>
                  <a:latin typeface="Inter"/>
                  <a:cs typeface="Inter"/>
                </a:rPr>
                <a:t>Anker 25K · 165 W</a:t>
              </a:r>
            </a:p>
          </p:txBody>
        </p:sp>
        <p:sp>
          <p:nvSpPr>
            <p:cNvPr id="160" name="TextBox 159"/>
            <p:cNvSpPr txBox="1"/>
            <p:nvPr/>
          </p:nvSpPr>
          <p:spPr>
            <a:xfrm>
              <a:off x="1984248" y="3090672"/>
              <a:ext cx="1097280" cy="2743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900" b="0" lang="en-US">
                  <a:solidFill>
                    <a:srgbClr val="5A6672"/>
                  </a:solidFill>
                  <a:latin typeface="Inter"/>
                  <a:cs typeface="Inter"/>
                </a:rPr>
                <a:t>4 sellers</a:t>
              </a:r>
            </a:p>
          </p:txBody>
        </p:sp>
        <p:sp>
          <p:nvSpPr>
            <p:cNvPr id="161" name="Rounded Rectangle 160"/>
            <p:cNvSpPr/>
            <p:nvPr/>
          </p:nvSpPr>
          <p:spPr>
            <a:xfrm>
              <a:off x="1417320" y="3886200"/>
              <a:ext cx="1645920" cy="585216"/>
            </a:xfrm>
            <a:prstGeom prst="roundRect">
              <a:avLst>
                <a:gd name="adj" fmla="val 12500"/>
              </a:avLst>
            </a:prstGeom>
            <a:solidFill>
              <a:srgbClr val="EDF5F0"/>
            </a:solidFill>
            <a:ln w="12700">
              <a:solidFill>
                <a:srgbClr val="228848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2" name="TextBox 161"/>
            <p:cNvSpPr txBox="1"/>
            <p:nvPr/>
          </p:nvSpPr>
          <p:spPr>
            <a:xfrm>
              <a:off x="1508760" y="3941064"/>
              <a:ext cx="1371600" cy="1828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900" b="1" lang="en-US">
                  <a:solidFill>
                    <a:srgbClr val="101820"/>
                  </a:solidFill>
                  <a:latin typeface="Inter"/>
                  <a:cs typeface="Inter"/>
                </a:rPr>
                <a:t>Store A · Duhok</a:t>
              </a:r>
            </a:p>
          </p:txBody>
        </p:sp>
        <p:sp>
          <p:nvSpPr>
            <p:cNvPr id="163" name="TextBox 162"/>
            <p:cNvSpPr txBox="1"/>
            <p:nvPr/>
          </p:nvSpPr>
          <p:spPr>
            <a:xfrm>
              <a:off x="1508760" y="4114800"/>
              <a:ext cx="914400" cy="1828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1" lang="en-US">
                  <a:solidFill>
                    <a:srgbClr val="101820"/>
                  </a:solidFill>
                  <a:latin typeface="Inter"/>
                  <a:cs typeface="Inter"/>
                </a:rPr>
                <a:t>95,000 IQD</a:t>
              </a:r>
            </a:p>
          </p:txBody>
        </p:sp>
        <p:sp>
          <p:nvSpPr>
            <p:cNvPr id="164" name="TextBox 163"/>
            <p:cNvSpPr txBox="1"/>
            <p:nvPr/>
          </p:nvSpPr>
          <p:spPr>
            <a:xfrm>
              <a:off x="1508760" y="4297680"/>
              <a:ext cx="1371600" cy="14630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800" b="0" lang="en-US">
                  <a:solidFill>
                    <a:srgbClr val="5A6672"/>
                  </a:solidFill>
                  <a:latin typeface="Inter"/>
                  <a:cs typeface="Inter"/>
                </a:rPr>
                <a:t>Doorstep total</a:t>
              </a:r>
            </a:p>
          </p:txBody>
        </p:sp>
        <p:sp>
          <p:nvSpPr>
            <p:cNvPr id="165" name="Rounded Rectangle 164"/>
            <p:cNvSpPr/>
            <p:nvPr/>
          </p:nvSpPr>
          <p:spPr>
            <a:xfrm>
              <a:off x="1417320" y="4599432"/>
              <a:ext cx="1645920" cy="585216"/>
            </a:xfrm>
            <a:prstGeom prst="roundRect">
              <a:avLst>
                <a:gd name="adj" fmla="val 12500"/>
              </a:avLst>
            </a:prstGeom>
            <a:solidFill>
              <a:srgbClr val="FFFFFF"/>
            </a:solidFill>
            <a:ln w="9525">
              <a:solidFill>
                <a:srgbClr val="DDE5E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6" name="TextBox 165"/>
            <p:cNvSpPr txBox="1"/>
            <p:nvPr/>
          </p:nvSpPr>
          <p:spPr>
            <a:xfrm>
              <a:off x="1508760" y="4654296"/>
              <a:ext cx="1371600" cy="1828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900" b="1" lang="en-US">
                  <a:solidFill>
                    <a:srgbClr val="101820"/>
                  </a:solidFill>
                  <a:latin typeface="Inter"/>
                  <a:cs typeface="Inter"/>
                </a:rPr>
                <a:t>Store D · Erbil</a:t>
              </a:r>
            </a:p>
          </p:txBody>
        </p:sp>
        <p:sp>
          <p:nvSpPr>
            <p:cNvPr id="167" name="TextBox 166"/>
            <p:cNvSpPr txBox="1"/>
            <p:nvPr/>
          </p:nvSpPr>
          <p:spPr>
            <a:xfrm>
              <a:off x="1508760" y="4828032"/>
              <a:ext cx="914400" cy="1828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1" lang="en-US">
                  <a:solidFill>
                    <a:srgbClr val="101820"/>
                  </a:solidFill>
                  <a:latin typeface="Inter"/>
                  <a:cs typeface="Inter"/>
                </a:rPr>
                <a:t>96,000 IQD</a:t>
              </a:r>
            </a:p>
          </p:txBody>
        </p:sp>
        <p:sp>
          <p:nvSpPr>
            <p:cNvPr id="168" name="TextBox 167"/>
            <p:cNvSpPr txBox="1"/>
            <p:nvPr/>
          </p:nvSpPr>
          <p:spPr>
            <a:xfrm>
              <a:off x="1508760" y="5010912"/>
              <a:ext cx="1371600" cy="14630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800" b="0" lang="en-US">
                  <a:solidFill>
                    <a:srgbClr val="5A6672"/>
                  </a:solidFill>
                  <a:latin typeface="Inter"/>
                  <a:cs typeface="Inter"/>
                </a:rPr>
                <a:t>Doorstep total</a:t>
              </a:r>
            </a:p>
          </p:txBody>
        </p:sp>
        <p:sp>
          <p:nvSpPr>
            <p:cNvPr id="169" name="Rounded Rectangle 168"/>
            <p:cNvSpPr/>
            <p:nvPr/>
          </p:nvSpPr>
          <p:spPr>
            <a:xfrm>
              <a:off x="1417320" y="5312664"/>
              <a:ext cx="1645920" cy="585216"/>
            </a:xfrm>
            <a:prstGeom prst="roundRect">
              <a:avLst>
                <a:gd name="adj" fmla="val 12500"/>
              </a:avLst>
            </a:prstGeom>
            <a:solidFill>
              <a:srgbClr val="FFFFFF"/>
            </a:solidFill>
            <a:ln w="9525">
              <a:solidFill>
                <a:srgbClr val="DDE5E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0" name="TextBox 169"/>
            <p:cNvSpPr txBox="1"/>
            <p:nvPr/>
          </p:nvSpPr>
          <p:spPr>
            <a:xfrm>
              <a:off x="1508760" y="5367528"/>
              <a:ext cx="1371600" cy="1828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900" b="1" lang="en-US">
                  <a:solidFill>
                    <a:srgbClr val="101820"/>
                  </a:solidFill>
                  <a:latin typeface="Inter"/>
                  <a:cs typeface="Inter"/>
                </a:rPr>
                <a:t>Store B · Duhok</a:t>
              </a:r>
            </a:p>
          </p:txBody>
        </p:sp>
        <p:sp>
          <p:nvSpPr>
            <p:cNvPr id="171" name="TextBox 170"/>
            <p:cNvSpPr txBox="1"/>
            <p:nvPr/>
          </p:nvSpPr>
          <p:spPr>
            <a:xfrm>
              <a:off x="1508760" y="5541264"/>
              <a:ext cx="914400" cy="1828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1" lang="en-US">
                  <a:solidFill>
                    <a:srgbClr val="101820"/>
                  </a:solidFill>
                  <a:latin typeface="Inter"/>
                  <a:cs typeface="Inter"/>
                </a:rPr>
                <a:t>102,000 IQD</a:t>
              </a:r>
            </a:p>
          </p:txBody>
        </p:sp>
        <p:sp>
          <p:nvSpPr>
            <p:cNvPr id="172" name="TextBox 171"/>
            <p:cNvSpPr txBox="1"/>
            <p:nvPr/>
          </p:nvSpPr>
          <p:spPr>
            <a:xfrm>
              <a:off x="1508760" y="5724144"/>
              <a:ext cx="1371600" cy="14630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800" b="0" lang="en-US">
                  <a:solidFill>
                    <a:srgbClr val="5A6672"/>
                  </a:solidFill>
                  <a:latin typeface="Inter"/>
                  <a:cs typeface="Inter"/>
                </a:rPr>
                <a:t>Doorstep total</a:t>
              </a:r>
            </a:p>
          </p:txBody>
        </p:sp>
        <p:sp>
          <p:nvSpPr>
            <p:cNvPr id="173" name="Rounded Rectangle 172"/>
            <p:cNvSpPr/>
            <p:nvPr/>
          </p:nvSpPr>
          <p:spPr>
            <a:xfrm>
              <a:off x="2258568" y="4197096"/>
              <a:ext cx="731520" cy="201168"/>
            </a:xfrm>
            <a:prstGeom prst="roundRect">
              <a:avLst>
                <a:gd name="adj" fmla="val 50000"/>
              </a:avLst>
            </a:prstGeom>
            <a:solidFill>
              <a:srgbClr val="22884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4" name="TextBox 173"/>
            <p:cNvSpPr txBox="1"/>
            <p:nvPr/>
          </p:nvSpPr>
          <p:spPr>
            <a:xfrm>
              <a:off x="2258568" y="4197096"/>
              <a:ext cx="73152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800" b="1" lang="en-US">
                  <a:solidFill>
                    <a:srgbClr val="FFFFFF"/>
                  </a:solidFill>
                  <a:latin typeface="Inter"/>
                  <a:cs typeface="Inter"/>
                </a:rPr>
                <a:t>BEST VALUE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307592" y="2468880"/>
            <a:ext cx="1865376" cy="3785616"/>
            <a:chOff x="1307592" y="2468880"/>
            <a:chExt cx="1865376" cy="3785616"/>
          </a:xfrm>
        </p:grpSpPr>
        <p:sp>
          <p:nvSpPr>
            <p:cNvPr id="175" name="Rounded Rectangle 174"/>
            <p:cNvSpPr/>
            <p:nvPr/>
          </p:nvSpPr>
          <p:spPr>
            <a:xfrm>
              <a:off x="1307592" y="2468880"/>
              <a:ext cx="1865376" cy="3785616"/>
            </a:xfrm>
            <a:prstGeom prst="roundRect">
              <a:avLst>
                <a:gd name="adj" fmla="val 10784"/>
              </a:avLst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6" name="TextBox 175"/>
            <p:cNvSpPr txBox="1"/>
            <p:nvPr/>
          </p:nvSpPr>
          <p:spPr>
            <a:xfrm>
              <a:off x="1435608" y="2697480"/>
              <a:ext cx="1609344" cy="2743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Checkout</a:t>
              </a:r>
            </a:p>
          </p:txBody>
        </p:sp>
        <p:sp>
          <p:nvSpPr>
            <p:cNvPr id="177" name="TextBox 176"/>
            <p:cNvSpPr txBox="1"/>
            <p:nvPr/>
          </p:nvSpPr>
          <p:spPr>
            <a:xfrm>
              <a:off x="1435608" y="3017520"/>
              <a:ext cx="1609344" cy="2286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900" b="0" lang="en-US">
                  <a:solidFill>
                    <a:srgbClr val="5A6672"/>
                  </a:solidFill>
                  <a:latin typeface="Inter"/>
                  <a:cs typeface="Inter"/>
                </a:rPr>
                <a:t>Anker 25K · 165 W</a:t>
              </a:r>
            </a:p>
          </p:txBody>
        </p:sp>
        <p:sp>
          <p:nvSpPr>
            <p:cNvPr id="178" name="TextBox 177"/>
            <p:cNvSpPr txBox="1"/>
            <p:nvPr/>
          </p:nvSpPr>
          <p:spPr>
            <a:xfrm>
              <a:off x="1435608" y="3429000"/>
              <a:ext cx="100584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000" b="0" lang="en-US">
                  <a:solidFill>
                    <a:srgbClr val="101820"/>
                  </a:solidFill>
                  <a:latin typeface="Inter"/>
                  <a:cs typeface="Inter"/>
                </a:rPr>
                <a:t>Item</a:t>
              </a:r>
            </a:p>
          </p:txBody>
        </p:sp>
        <p:sp>
          <p:nvSpPr>
            <p:cNvPr id="179" name="TextBox 178"/>
            <p:cNvSpPr txBox="1"/>
            <p:nvPr/>
          </p:nvSpPr>
          <p:spPr>
            <a:xfrm>
              <a:off x="2313432" y="3429000"/>
              <a:ext cx="73152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00" b="0" lang="en-US">
                  <a:solidFill>
                    <a:srgbClr val="101820"/>
                  </a:solidFill>
                  <a:latin typeface="Inter"/>
                  <a:cs typeface="Inter"/>
                </a:rPr>
                <a:t>92,000</a:t>
              </a:r>
            </a:p>
          </p:txBody>
        </p:sp>
        <p:sp>
          <p:nvSpPr>
            <p:cNvPr id="180" name="TextBox 179"/>
            <p:cNvSpPr txBox="1"/>
            <p:nvPr/>
          </p:nvSpPr>
          <p:spPr>
            <a:xfrm>
              <a:off x="1435608" y="3739896"/>
              <a:ext cx="100584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000" b="0" lang="en-US">
                  <a:solidFill>
                    <a:srgbClr val="101820"/>
                  </a:solidFill>
                  <a:latin typeface="Inter"/>
                  <a:cs typeface="Inter"/>
                </a:rPr>
                <a:t>Delivery (Duhok)</a:t>
              </a:r>
            </a:p>
          </p:txBody>
        </p:sp>
        <p:sp>
          <p:nvSpPr>
            <p:cNvPr id="181" name="TextBox 180"/>
            <p:cNvSpPr txBox="1"/>
            <p:nvPr/>
          </p:nvSpPr>
          <p:spPr>
            <a:xfrm>
              <a:off x="2313432" y="3739896"/>
              <a:ext cx="73152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00" b="0" lang="en-US">
                  <a:solidFill>
                    <a:srgbClr val="101820"/>
                  </a:solidFill>
                  <a:latin typeface="Inter"/>
                  <a:cs typeface="Inter"/>
                </a:rPr>
                <a:t>3,000</a:t>
              </a:r>
            </a:p>
          </p:txBody>
        </p:sp>
        <p:cxnSp>
          <p:nvCxnSpPr>
            <p:cNvPr id="182" name="Connector 181"/>
            <p:cNvCxnSpPr/>
            <p:nvPr/>
          </p:nvCxnSpPr>
          <p:spPr>
            <a:xfrm>
              <a:off x="1435608" y="4114800"/>
              <a:ext cx="1609344" cy="0"/>
            </a:xfrm>
            <a:prstGeom prst="line">
              <a:avLst/>
            </a:prstGeom>
            <a:ln w="12700">
              <a:solidFill>
                <a:srgbClr val="DDE5ED"/>
              </a:solidFill>
            </a:ln>
            <a:effectLst/>
          </p:spPr>
        </p:cxnSp>
        <p:sp>
          <p:nvSpPr>
            <p:cNvPr id="183" name="TextBox 182"/>
            <p:cNvSpPr txBox="1"/>
            <p:nvPr/>
          </p:nvSpPr>
          <p:spPr>
            <a:xfrm>
              <a:off x="1435608" y="4206240"/>
              <a:ext cx="1609344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000" b="1" lang="en-US">
                  <a:solidFill>
                    <a:srgbClr val="101820"/>
                  </a:solidFill>
                  <a:latin typeface="Inter"/>
                  <a:cs typeface="Inter"/>
                </a:rPr>
                <a:t>Doorstep total</a:t>
              </a:r>
            </a:p>
          </p:txBody>
        </p:sp>
        <p:sp>
          <p:nvSpPr>
            <p:cNvPr id="184" name="TextBox 183"/>
            <p:cNvSpPr txBox="1"/>
            <p:nvPr/>
          </p:nvSpPr>
          <p:spPr>
            <a:xfrm>
              <a:off x="1435608" y="4425696"/>
              <a:ext cx="1609344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400" b="1" lang="en-US">
                  <a:solidFill>
                    <a:srgbClr val="101820"/>
                  </a:solidFill>
                  <a:latin typeface="Inter"/>
                  <a:cs typeface="Inter"/>
                </a:rPr>
                <a:t>95,000 IQD</a:t>
              </a:r>
            </a:p>
          </p:txBody>
        </p:sp>
        <p:sp>
          <p:nvSpPr>
            <p:cNvPr id="185" name="Rounded Rectangle 184"/>
            <p:cNvSpPr/>
            <p:nvPr/>
          </p:nvSpPr>
          <p:spPr>
            <a:xfrm>
              <a:off x="1435608" y="4937760"/>
              <a:ext cx="1609344" cy="420624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1270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6" name="Oval 185"/>
            <p:cNvSpPr/>
            <p:nvPr/>
          </p:nvSpPr>
          <p:spPr>
            <a:xfrm>
              <a:off x="1554480" y="5065776"/>
              <a:ext cx="164592" cy="164592"/>
            </a:xfrm>
            <a:prstGeom prst="ellipse">
              <a:avLst/>
            </a:prstGeom>
            <a:noFill/>
            <a:ln w="15875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7" name="Oval 186"/>
            <p:cNvSpPr/>
            <p:nvPr/>
          </p:nvSpPr>
          <p:spPr>
            <a:xfrm>
              <a:off x="1595628" y="5106924"/>
              <a:ext cx="82296" cy="82296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8" name="TextBox 187"/>
            <p:cNvSpPr txBox="1"/>
            <p:nvPr/>
          </p:nvSpPr>
          <p:spPr>
            <a:xfrm>
              <a:off x="1819656" y="4937760"/>
              <a:ext cx="1152144" cy="42062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000" b="1" lang="en-US">
                  <a:solidFill>
                    <a:srgbClr val="101820"/>
                  </a:solidFill>
                  <a:latin typeface="Inter"/>
                  <a:cs typeface="Inter"/>
                </a:rPr>
                <a:t>Cash on delivery</a:t>
              </a:r>
            </a:p>
          </p:txBody>
        </p:sp>
        <p:sp>
          <p:nvSpPr>
            <p:cNvPr id="189" name="Rounded Rectangle 188"/>
            <p:cNvSpPr/>
            <p:nvPr/>
          </p:nvSpPr>
          <p:spPr>
            <a:xfrm>
              <a:off x="1435608" y="5623560"/>
              <a:ext cx="1609344" cy="457200"/>
            </a:xfrm>
            <a:prstGeom prst="roundRect">
              <a:avLst>
                <a:gd name="adj" fmla="val 24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0" name="TextBox 189"/>
            <p:cNvSpPr txBox="1"/>
            <p:nvPr/>
          </p:nvSpPr>
          <p:spPr>
            <a:xfrm>
              <a:off x="1435608" y="5623560"/>
              <a:ext cx="1609344" cy="4572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1" lang="en-US">
                  <a:solidFill>
                    <a:srgbClr val="FFFFFF"/>
                  </a:solidFill>
                  <a:latin typeface="Inter"/>
                  <a:cs typeface="Inter"/>
                </a:rPr>
                <a:t>Order now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1307592" y="2468880"/>
            <a:ext cx="1865376" cy="3785616"/>
            <a:chOff x="1307592" y="2468880"/>
            <a:chExt cx="1865376" cy="3785616"/>
          </a:xfrm>
        </p:grpSpPr>
        <p:sp>
          <p:nvSpPr>
            <p:cNvPr id="191" name="Rounded Rectangle 190"/>
            <p:cNvSpPr/>
            <p:nvPr/>
          </p:nvSpPr>
          <p:spPr>
            <a:xfrm>
              <a:off x="1307592" y="2468880"/>
              <a:ext cx="1865376" cy="3785616"/>
            </a:xfrm>
            <a:prstGeom prst="roundRect">
              <a:avLst>
                <a:gd name="adj" fmla="val 10784"/>
              </a:avLst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2" name="TextBox 191"/>
            <p:cNvSpPr txBox="1"/>
            <p:nvPr/>
          </p:nvSpPr>
          <p:spPr>
            <a:xfrm>
              <a:off x="1435608" y="2697480"/>
              <a:ext cx="1609344" cy="2743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00" b="1" lang="en-US">
                  <a:solidFill>
                    <a:srgbClr val="101820"/>
                  </a:solidFill>
                  <a:latin typeface="Inter"/>
                  <a:cs typeface="Inter"/>
                </a:rPr>
                <a:t>Your store · Orders</a:t>
              </a:r>
            </a:p>
          </p:txBody>
        </p:sp>
        <p:cxnSp>
          <p:nvCxnSpPr>
            <p:cNvPr id="193" name="Connector 192"/>
            <p:cNvCxnSpPr/>
            <p:nvPr/>
          </p:nvCxnSpPr>
          <p:spPr>
            <a:xfrm>
              <a:off x="1435608" y="3035808"/>
              <a:ext cx="1609344" cy="0"/>
            </a:xfrm>
            <a:prstGeom prst="line">
              <a:avLst/>
            </a:prstGeom>
            <a:ln w="12700">
              <a:solidFill>
                <a:srgbClr val="DDE5ED"/>
              </a:solidFill>
            </a:ln>
            <a:effectLst/>
          </p:spPr>
        </p:cxnSp>
        <p:sp>
          <p:nvSpPr>
            <p:cNvPr id="194" name="Rounded Rectangle 193"/>
            <p:cNvSpPr/>
            <p:nvPr/>
          </p:nvSpPr>
          <p:spPr>
            <a:xfrm>
              <a:off x="1435608" y="3200400"/>
              <a:ext cx="1609344" cy="1874520"/>
            </a:xfrm>
            <a:prstGeom prst="roundRect">
              <a:avLst>
                <a:gd name="adj" fmla="val 5681"/>
              </a:avLst>
            </a:prstGeom>
            <a:solidFill>
              <a:srgbClr val="FFFFFF"/>
            </a:solidFill>
            <a:ln w="9525">
              <a:solidFill>
                <a:srgbClr val="DDE5E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5" name="TextBox 194"/>
            <p:cNvSpPr txBox="1"/>
            <p:nvPr/>
          </p:nvSpPr>
          <p:spPr>
            <a:xfrm>
              <a:off x="1545336" y="3291840"/>
              <a:ext cx="1426464" cy="2286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00" b="1" lang="en-US">
                  <a:solidFill>
                    <a:srgbClr val="298FC2"/>
                  </a:solidFill>
                  <a:latin typeface="Inter"/>
                  <a:cs typeface="Inter"/>
                </a:rPr>
                <a:t>New order</a:t>
              </a:r>
            </a:p>
          </p:txBody>
        </p:sp>
        <p:sp>
          <p:nvSpPr>
            <p:cNvPr id="196" name="TextBox 195"/>
            <p:cNvSpPr txBox="1"/>
            <p:nvPr/>
          </p:nvSpPr>
          <p:spPr>
            <a:xfrm>
              <a:off x="1545336" y="3547872"/>
              <a:ext cx="1426464" cy="2286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900" b="0" lang="en-US">
                  <a:solidFill>
                    <a:srgbClr val="101820"/>
                  </a:solidFill>
                  <a:latin typeface="Inter"/>
                  <a:cs typeface="Inter"/>
                </a:rPr>
                <a:t>Anker 25K · Black · ×1</a:t>
              </a:r>
            </a:p>
          </p:txBody>
        </p:sp>
        <p:sp>
          <p:nvSpPr>
            <p:cNvPr id="197" name="TextBox 196"/>
            <p:cNvSpPr txBox="1"/>
            <p:nvPr/>
          </p:nvSpPr>
          <p:spPr>
            <a:xfrm>
              <a:off x="1545336" y="3803904"/>
              <a:ext cx="1426464" cy="36576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900" b="1" lang="en-US">
                  <a:solidFill>
                    <a:srgbClr val="101820"/>
                  </a:solidFill>
                  <a:latin typeface="Inter"/>
                  <a:cs typeface="Inter"/>
                </a:rPr>
                <a:t>95,000 IQD · cash on delivery</a:t>
              </a:r>
            </a:p>
          </p:txBody>
        </p:sp>
        <p:pic>
          <p:nvPicPr>
            <p:cNvPr id="198" name="Picture 197" descr="map-pin_5A6672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45336" y="4224528"/>
              <a:ext cx="146304" cy="146304"/>
            </a:xfrm>
            <a:prstGeom prst="rect">
              <a:avLst/>
            </a:prstGeom>
          </p:spPr>
        </p:pic>
        <p:sp>
          <p:nvSpPr>
            <p:cNvPr id="199" name="TextBox 198"/>
            <p:cNvSpPr txBox="1"/>
            <p:nvPr/>
          </p:nvSpPr>
          <p:spPr>
            <a:xfrm>
              <a:off x="1746504" y="4206240"/>
              <a:ext cx="1243584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900" b="0" lang="en-US">
                  <a:solidFill>
                    <a:srgbClr val="5A6672"/>
                  </a:solidFill>
                  <a:latin typeface="Inter"/>
                  <a:cs typeface="Inter"/>
                </a:rPr>
                <a:t>Duhok — Malta</a:t>
              </a:r>
            </a:p>
          </p:txBody>
        </p:sp>
        <p:sp>
          <p:nvSpPr>
            <p:cNvPr id="200" name="Rounded Rectangle 199"/>
            <p:cNvSpPr/>
            <p:nvPr/>
          </p:nvSpPr>
          <p:spPr>
            <a:xfrm>
              <a:off x="1545336" y="4572000"/>
              <a:ext cx="603504" cy="310896"/>
            </a:xfrm>
            <a:prstGeom prst="roundRect">
              <a:avLst>
                <a:gd name="adj" fmla="val 23529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1" name="TextBox 200"/>
            <p:cNvSpPr txBox="1"/>
            <p:nvPr/>
          </p:nvSpPr>
          <p:spPr>
            <a:xfrm>
              <a:off x="1545336" y="4572000"/>
              <a:ext cx="603504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900" b="1" lang="en-US">
                  <a:solidFill>
                    <a:srgbClr val="FFFFFF"/>
                  </a:solidFill>
                  <a:latin typeface="Inter"/>
                  <a:cs typeface="Inter"/>
                </a:rPr>
                <a:t>Accept</a:t>
              </a:r>
            </a:p>
          </p:txBody>
        </p:sp>
        <p:sp>
          <p:nvSpPr>
            <p:cNvPr id="202" name="Rounded Rectangle 201"/>
            <p:cNvSpPr/>
            <p:nvPr/>
          </p:nvSpPr>
          <p:spPr>
            <a:xfrm>
              <a:off x="2221992" y="4572000"/>
              <a:ext cx="713232" cy="310896"/>
            </a:xfrm>
            <a:prstGeom prst="roundRect">
              <a:avLst>
                <a:gd name="adj" fmla="val 23529"/>
              </a:avLst>
            </a:prstGeom>
            <a:solidFill>
              <a:srgbClr val="FFFFFF"/>
            </a:solidFill>
            <a:ln w="1270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3" name="TextBox 202"/>
            <p:cNvSpPr txBox="1"/>
            <p:nvPr/>
          </p:nvSpPr>
          <p:spPr>
            <a:xfrm>
              <a:off x="2221992" y="4572000"/>
              <a:ext cx="713232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800" b="1" lang="en-US">
                  <a:solidFill>
                    <a:srgbClr val="298FC2"/>
                  </a:solidFill>
                  <a:latin typeface="Inter"/>
                  <a:cs typeface="Inter"/>
                </a:rPr>
                <a:t>Print waybill</a:t>
              </a:r>
            </a:p>
          </p:txBody>
        </p:sp>
        <p:pic>
          <p:nvPicPr>
            <p:cNvPr id="204" name="Picture 203" descr="truck_298FC2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453896" y="5349240"/>
              <a:ext cx="237744" cy="237744"/>
            </a:xfrm>
            <a:prstGeom prst="rect">
              <a:avLst/>
            </a:prstGeom>
          </p:spPr>
        </p:pic>
        <p:sp>
          <p:nvSpPr>
            <p:cNvPr id="205" name="TextBox 204"/>
            <p:cNvSpPr txBox="1"/>
            <p:nvPr/>
          </p:nvSpPr>
          <p:spPr>
            <a:xfrm>
              <a:off x="1764792" y="5321808"/>
              <a:ext cx="1243584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000" b="1" lang="en-US">
                  <a:solidFill>
                    <a:srgbClr val="101820"/>
                  </a:solidFill>
                  <a:latin typeface="Inter"/>
                  <a:cs typeface="Inter"/>
                </a:rPr>
                <a:t>Courier pickup today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1307592" y="2468880"/>
            <a:ext cx="1865376" cy="3785616"/>
            <a:chOff x="1307592" y="2468880"/>
            <a:chExt cx="1865376" cy="3785616"/>
          </a:xfrm>
        </p:grpSpPr>
        <p:sp>
          <p:nvSpPr>
            <p:cNvPr id="206" name="Rounded Rectangle 205"/>
            <p:cNvSpPr/>
            <p:nvPr/>
          </p:nvSpPr>
          <p:spPr>
            <a:xfrm>
              <a:off x="1307592" y="2468880"/>
              <a:ext cx="1865376" cy="3785616"/>
            </a:xfrm>
            <a:prstGeom prst="roundRect">
              <a:avLst>
                <a:gd name="adj" fmla="val 10784"/>
              </a:avLst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7" name="TextBox 206"/>
            <p:cNvSpPr txBox="1"/>
            <p:nvPr/>
          </p:nvSpPr>
          <p:spPr>
            <a:xfrm>
              <a:off x="1435608" y="2697480"/>
              <a:ext cx="1609344" cy="2743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200" b="1" lang="en-US">
                  <a:solidFill>
                    <a:srgbClr val="101820"/>
                  </a:solidFill>
                  <a:latin typeface="Inter"/>
                  <a:cs typeface="Inter"/>
                </a:rPr>
                <a:t>Sunday payout</a:t>
              </a:r>
            </a:p>
          </p:txBody>
        </p:sp>
        <p:sp>
          <p:nvSpPr>
            <p:cNvPr id="208" name="TextBox 207"/>
            <p:cNvSpPr txBox="1"/>
            <p:nvPr/>
          </p:nvSpPr>
          <p:spPr>
            <a:xfrm>
              <a:off x="1435608" y="3017520"/>
              <a:ext cx="1609344" cy="2286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900" b="0" lang="en-US">
                  <a:solidFill>
                    <a:srgbClr val="5A6672"/>
                  </a:solidFill>
                  <a:latin typeface="Inter"/>
                  <a:cs typeface="Inter"/>
                </a:rPr>
                <a:t>12 orders this week</a:t>
              </a:r>
            </a:p>
          </p:txBody>
        </p:sp>
        <p:sp>
          <p:nvSpPr>
            <p:cNvPr id="209" name="Rounded Rectangle 208"/>
            <p:cNvSpPr/>
            <p:nvPr/>
          </p:nvSpPr>
          <p:spPr>
            <a:xfrm>
              <a:off x="1435608" y="3429000"/>
              <a:ext cx="1609344" cy="1783080"/>
            </a:xfrm>
            <a:prstGeom prst="roundRect">
              <a:avLst>
                <a:gd name="adj" fmla="val 5681"/>
              </a:avLst>
            </a:prstGeom>
            <a:solidFill>
              <a:srgbClr val="FFFFFF"/>
            </a:solidFill>
            <a:ln w="9525">
              <a:solidFill>
                <a:srgbClr val="DDE5ED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0" name="TextBox 209"/>
            <p:cNvSpPr txBox="1"/>
            <p:nvPr/>
          </p:nvSpPr>
          <p:spPr>
            <a:xfrm>
              <a:off x="1545336" y="3566160"/>
              <a:ext cx="914400" cy="2560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950" b="0" lang="en-US">
                  <a:solidFill>
                    <a:srgbClr val="101820"/>
                  </a:solidFill>
                  <a:latin typeface="Inter"/>
                  <a:cs typeface="Inter"/>
                </a:rPr>
                <a:t>Sales</a:t>
              </a:r>
            </a:p>
          </p:txBody>
        </p:sp>
        <p:sp>
          <p:nvSpPr>
            <p:cNvPr id="211" name="TextBox 210"/>
            <p:cNvSpPr txBox="1"/>
            <p:nvPr/>
          </p:nvSpPr>
          <p:spPr>
            <a:xfrm>
              <a:off x="2020824" y="3566160"/>
              <a:ext cx="914400" cy="2560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950" b="0" lang="en-US">
                  <a:solidFill>
                    <a:srgbClr val="101820"/>
                  </a:solidFill>
                  <a:latin typeface="Inter"/>
                  <a:cs typeface="Inter"/>
                </a:rPr>
                <a:t>1,104,000</a:t>
              </a:r>
            </a:p>
          </p:txBody>
        </p:sp>
        <p:sp>
          <p:nvSpPr>
            <p:cNvPr id="212" name="TextBox 211"/>
            <p:cNvSpPr txBox="1"/>
            <p:nvPr/>
          </p:nvSpPr>
          <p:spPr>
            <a:xfrm>
              <a:off x="1545336" y="3895344"/>
              <a:ext cx="914400" cy="2560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950" b="0" lang="en-US">
                  <a:solidFill>
                    <a:srgbClr val="101820"/>
                  </a:solidFill>
                  <a:latin typeface="Inter"/>
                  <a:cs typeface="Inter"/>
                </a:rPr>
                <a:t>Cheapify fee</a:t>
              </a:r>
            </a:p>
          </p:txBody>
        </p:sp>
        <p:sp>
          <p:nvSpPr>
            <p:cNvPr id="213" name="TextBox 212"/>
            <p:cNvSpPr txBox="1"/>
            <p:nvPr/>
          </p:nvSpPr>
          <p:spPr>
            <a:xfrm>
              <a:off x="2020824" y="3895344"/>
              <a:ext cx="914400" cy="2560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950" b="0" lang="en-US">
                  <a:solidFill>
                    <a:srgbClr val="101820"/>
                  </a:solidFill>
                  <a:latin typeface="Inter"/>
                  <a:cs typeface="Inter"/>
                </a:rPr>
                <a:t>−35,520</a:t>
              </a:r>
            </a:p>
          </p:txBody>
        </p:sp>
        <p:cxnSp>
          <p:nvCxnSpPr>
            <p:cNvPr id="214" name="Connector 213"/>
            <p:cNvCxnSpPr/>
            <p:nvPr/>
          </p:nvCxnSpPr>
          <p:spPr>
            <a:xfrm>
              <a:off x="1545336" y="4279392"/>
              <a:ext cx="1389888" cy="0"/>
            </a:xfrm>
            <a:prstGeom prst="line">
              <a:avLst/>
            </a:prstGeom>
            <a:ln w="12700">
              <a:solidFill>
                <a:srgbClr val="DDE5ED"/>
              </a:solidFill>
            </a:ln>
            <a:effectLst/>
          </p:spPr>
        </p:cxnSp>
        <p:sp>
          <p:nvSpPr>
            <p:cNvPr id="215" name="TextBox 214"/>
            <p:cNvSpPr txBox="1"/>
            <p:nvPr/>
          </p:nvSpPr>
          <p:spPr>
            <a:xfrm>
              <a:off x="1545336" y="4389120"/>
              <a:ext cx="1426464" cy="219456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950" b="0" lang="en-US">
                  <a:solidFill>
                    <a:srgbClr val="5A6672"/>
                  </a:solidFill>
                  <a:latin typeface="Inter"/>
                  <a:cs typeface="Inter"/>
                </a:rPr>
                <a:t>Paid to you</a:t>
              </a:r>
            </a:p>
          </p:txBody>
        </p:sp>
        <p:sp>
          <p:nvSpPr>
            <p:cNvPr id="216" name="TextBox 215"/>
            <p:cNvSpPr txBox="1"/>
            <p:nvPr/>
          </p:nvSpPr>
          <p:spPr>
            <a:xfrm>
              <a:off x="1545336" y="4626864"/>
              <a:ext cx="1426464" cy="36576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400" b="1" lang="en-US">
                  <a:solidFill>
                    <a:srgbClr val="298FC2"/>
                  </a:solidFill>
                  <a:latin typeface="Inter"/>
                  <a:cs typeface="Inter"/>
                </a:rPr>
                <a:t>1,068,480 IQD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4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9593" y="351575"/>
            <a:ext cx="3178503" cy="96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900" y="436205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Business model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We earn only when an order is delivered.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lang="en-US">
                <a:solidFill>
                  <a:srgbClr val="5A6672"/>
                </a:solidFill>
                <a:latin typeface="Inter"/>
                <a:cs typeface="Inter"/>
              </a:rPr>
              <a:t>Example: 25,000 IQD item delivered in Duhok city; courier rate 2,500 IQD quoted by Fast Delivery (Duhok). The delivery margin applies once the courier contract is signed.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22376" y="2468880"/>
            <a:ext cx="7772400" cy="292608"/>
            <a:chOff x="722376" y="2468880"/>
            <a:chExt cx="7772400" cy="292608"/>
          </a:xfrm>
        </p:grpSpPr>
        <p:sp>
          <p:nvSpPr>
            <p:cNvPr id="104" name="TextBox 103"/>
            <p:cNvSpPr txBox="1"/>
            <p:nvPr/>
          </p:nvSpPr>
          <p:spPr>
            <a:xfrm>
              <a:off x="722376" y="2468880"/>
              <a:ext cx="777240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101820"/>
                  </a:solidFill>
                  <a:latin typeface="Inter"/>
                  <a:cs typeface="Inter"/>
                </a:rPr>
                <a:t>Shopper pays 28,000 IQD at the door</a:t>
              </a:r>
              <a:r>
                <a:rPr sz="1200" b="0" lang="en-US">
                  <a:solidFill>
                    <a:srgbClr val="5A6672"/>
                  </a:solidFill>
                  <a:latin typeface="Inter"/>
                  <a:cs typeface="Inter"/>
                </a:rPr>
                <a:t>   (25,000 item + 3,000 Duhok delivery)</a:t>
              </a: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722376" y="2880360"/>
            <a:ext cx="10744200" cy="777240"/>
            <a:chOff x="722376" y="2880360"/>
            <a:chExt cx="10744200" cy="777240"/>
          </a:xfrm>
        </p:grpSpPr>
        <p:sp>
          <p:nvSpPr>
            <p:cNvPr id="105" name="Rectangle 104"/>
            <p:cNvSpPr/>
            <p:nvPr/>
          </p:nvSpPr>
          <p:spPr>
            <a:xfrm>
              <a:off x="722376" y="2880360"/>
              <a:ext cx="10744200" cy="777240"/>
            </a:xfrm>
            <a:prstGeom prst="rect">
              <a:avLst/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22376" y="2880360"/>
              <a:ext cx="10744200" cy="77724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600" b="1" lang="en-US">
                  <a:solidFill>
                    <a:srgbClr val="101820"/>
                  </a:solidFill>
                  <a:latin typeface="Inter"/>
                  <a:cs typeface="Inter"/>
                </a:rPr>
                <a:t>28,000 IQD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722376" y="2880360"/>
            <a:ext cx="9229039" cy="777240"/>
            <a:chOff x="722376" y="2880360"/>
            <a:chExt cx="9229039" cy="777240"/>
          </a:xfrm>
        </p:grpSpPr>
        <p:sp>
          <p:nvSpPr>
            <p:cNvPr id="107" name="Rectangle 106"/>
            <p:cNvSpPr/>
            <p:nvPr/>
          </p:nvSpPr>
          <p:spPr>
            <a:xfrm>
              <a:off x="722376" y="2880360"/>
              <a:ext cx="9229039" cy="777240"/>
            </a:xfrm>
            <a:prstGeom prst="rect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9951415" y="2880360"/>
            <a:ext cx="959206" cy="777240"/>
            <a:chOff x="9951415" y="2880360"/>
            <a:chExt cx="959206" cy="777240"/>
          </a:xfrm>
        </p:grpSpPr>
        <p:sp>
          <p:nvSpPr>
            <p:cNvPr id="108" name="Rectangle 107"/>
            <p:cNvSpPr/>
            <p:nvPr/>
          </p:nvSpPr>
          <p:spPr>
            <a:xfrm>
              <a:off x="9951415" y="2880360"/>
              <a:ext cx="959206" cy="777240"/>
            </a:xfrm>
            <a:prstGeom prst="rect">
              <a:avLst/>
            </a:prstGeom>
            <a:solidFill>
              <a:srgbClr val="5A667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10910621" y="2880360"/>
            <a:ext cx="555955" cy="777240"/>
            <a:chOff x="10910621" y="2880360"/>
            <a:chExt cx="555955" cy="777240"/>
          </a:xfrm>
        </p:grpSpPr>
        <p:sp>
          <p:nvSpPr>
            <p:cNvPr id="109" name="Rectangle 108"/>
            <p:cNvSpPr/>
            <p:nvPr/>
          </p:nvSpPr>
          <p:spPr>
            <a:xfrm>
              <a:off x="10910621" y="2880360"/>
              <a:ext cx="555955" cy="777240"/>
            </a:xfrm>
            <a:prstGeom prst="rect">
              <a:avLst/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722376" y="3749040"/>
            <a:ext cx="7315200" cy="310896"/>
            <a:chOff x="722376" y="3749040"/>
            <a:chExt cx="7315200" cy="310896"/>
          </a:xfrm>
        </p:grpSpPr>
        <p:sp>
          <p:nvSpPr>
            <p:cNvPr id="110" name="TextBox 109"/>
            <p:cNvSpPr txBox="1"/>
            <p:nvPr/>
          </p:nvSpPr>
          <p:spPr>
            <a:xfrm>
              <a:off x="722376" y="3749040"/>
              <a:ext cx="731520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400" b="1" lang="en-US">
                  <a:solidFill>
                    <a:srgbClr val="101820"/>
                  </a:solidFill>
                  <a:latin typeface="Inter"/>
                  <a:cs typeface="Inter"/>
                </a:rPr>
                <a:t>Merchant 24,050 IQD — keeps </a:t>
              </a:r>
              <a:r>
                <a:rPr sz="1400" b="1" lang="en-US">
                  <a:solidFill>
                    <a:srgbClr val="298FC2"/>
                  </a:solidFill>
                  <a:latin typeface="Inter"/>
                  <a:cs typeface="Inter"/>
                </a:rPr>
                <a:t>96%</a:t>
              </a:r>
              <a:r>
                <a:rPr sz="1400" b="1" lang="en-US">
                  <a:solidFill>
                    <a:srgbClr val="101820"/>
                  </a:solidFill>
                  <a:latin typeface="Inter"/>
                  <a:cs typeface="Inter"/>
                </a:rPr>
                <a:t> of the item price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8138160" y="3675888"/>
            <a:ext cx="2292858" cy="365760"/>
            <a:chOff x="8138160" y="3675888"/>
            <a:chExt cx="2292858" cy="365760"/>
          </a:xfrm>
        </p:grpSpPr>
        <p:cxnSp>
          <p:nvCxnSpPr>
            <p:cNvPr id="111" name="Connector 110"/>
            <p:cNvCxnSpPr/>
            <p:nvPr/>
          </p:nvCxnSpPr>
          <p:spPr>
            <a:xfrm>
              <a:off x="10431018" y="3675888"/>
              <a:ext cx="0" cy="237744"/>
            </a:xfrm>
            <a:prstGeom prst="line">
              <a:avLst/>
            </a:prstGeom>
            <a:ln w="12700">
              <a:solidFill>
                <a:srgbClr val="5A6672"/>
              </a:solidFill>
            </a:ln>
            <a:effectLst/>
          </p:spPr>
        </p:cxnSp>
        <p:sp>
          <p:nvSpPr>
            <p:cNvPr id="112" name="TextBox 111"/>
            <p:cNvSpPr txBox="1"/>
            <p:nvPr/>
          </p:nvSpPr>
          <p:spPr>
            <a:xfrm>
              <a:off x="8138160" y="3767328"/>
              <a:ext cx="2219706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Courier 2,500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509760" y="3675888"/>
            <a:ext cx="1678838" cy="713232"/>
            <a:chOff x="9509760" y="3675888"/>
            <a:chExt cx="1678838" cy="713232"/>
          </a:xfrm>
        </p:grpSpPr>
        <p:cxnSp>
          <p:nvCxnSpPr>
            <p:cNvPr id="113" name="Connector 112"/>
            <p:cNvCxnSpPr/>
            <p:nvPr/>
          </p:nvCxnSpPr>
          <p:spPr>
            <a:xfrm>
              <a:off x="11188598" y="3675888"/>
              <a:ext cx="0" cy="548640"/>
            </a:xfrm>
            <a:prstGeom prst="line">
              <a:avLst/>
            </a:prstGeom>
            <a:ln w="12700">
              <a:solidFill>
                <a:srgbClr val="101820"/>
              </a:solidFill>
            </a:ln>
            <a:effectLst/>
          </p:spPr>
        </p:cxnSp>
        <p:sp>
          <p:nvSpPr>
            <p:cNvPr id="114" name="TextBox 113"/>
            <p:cNvSpPr txBox="1"/>
            <p:nvPr/>
          </p:nvSpPr>
          <p:spPr>
            <a:xfrm>
              <a:off x="9509760" y="4114800"/>
              <a:ext cx="1605686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Cheapify 1,450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7772400" y="2468880"/>
            <a:ext cx="3694176" cy="365760"/>
            <a:chOff x="7772400" y="2468880"/>
            <a:chExt cx="3694176" cy="365760"/>
          </a:xfrm>
        </p:grpSpPr>
        <p:sp>
          <p:nvSpPr>
            <p:cNvPr id="115" name="TextBox 114"/>
            <p:cNvSpPr txBox="1"/>
            <p:nvPr/>
          </p:nvSpPr>
          <p:spPr>
            <a:xfrm>
              <a:off x="7772400" y="2468880"/>
              <a:ext cx="3694176" cy="36576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200" b="0" lang="en-US">
                  <a:solidFill>
                    <a:srgbClr val="5A6672"/>
                  </a:solidFill>
                  <a:latin typeface="Inter"/>
                  <a:cs typeface="Inter"/>
                </a:rPr>
                <a:t>950 fee + 500 delivery margin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722376" y="4526280"/>
            <a:ext cx="1417320" cy="914400"/>
            <a:chOff x="722376" y="4526280"/>
            <a:chExt cx="1417320" cy="914400"/>
          </a:xfrm>
        </p:grpSpPr>
        <p:sp>
          <p:nvSpPr>
            <p:cNvPr id="116" name="TextBox 115"/>
            <p:cNvSpPr txBox="1"/>
            <p:nvPr/>
          </p:nvSpPr>
          <p:spPr>
            <a:xfrm>
              <a:off x="722376" y="4526280"/>
              <a:ext cx="1417320" cy="9144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500" b="1" lang="en-US">
                  <a:solidFill>
                    <a:srgbClr val="101820"/>
                  </a:solidFill>
                  <a:latin typeface="Inter"/>
                  <a:cs typeface="Inter"/>
                </a:rPr>
                <a:t>Our fee gets lighter as prices rise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2148840" y="4389120"/>
            <a:ext cx="1463040" cy="1874520"/>
            <a:chOff x="2148840" y="4389120"/>
            <a:chExt cx="1463040" cy="1874520"/>
          </a:xfrm>
        </p:grpSpPr>
        <p:sp>
          <p:nvSpPr>
            <p:cNvPr id="117" name="Rectangle 116"/>
            <p:cNvSpPr/>
            <p:nvPr/>
          </p:nvSpPr>
          <p:spPr>
            <a:xfrm>
              <a:off x="2331720" y="4754880"/>
              <a:ext cx="1097280" cy="1234440"/>
            </a:xfrm>
            <a:prstGeom prst="rect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2148840" y="4389120"/>
              <a:ext cx="1463040" cy="32918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2000" b="1" lang="en-US">
                  <a:solidFill>
                    <a:srgbClr val="101820"/>
                  </a:solidFill>
                  <a:latin typeface="Comfortaa"/>
                  <a:cs typeface="Comfortaa"/>
                </a:rPr>
                <a:t>5%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2148840" y="6035040"/>
              <a:ext cx="1463040" cy="2286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first 10,000 IQD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3429000" y="4882896"/>
            <a:ext cx="1463040" cy="1380744"/>
            <a:chOff x="3429000" y="4882896"/>
            <a:chExt cx="1463040" cy="1380744"/>
          </a:xfrm>
        </p:grpSpPr>
        <p:sp>
          <p:nvSpPr>
            <p:cNvPr id="120" name="Rectangle 119"/>
            <p:cNvSpPr/>
            <p:nvPr/>
          </p:nvSpPr>
          <p:spPr>
            <a:xfrm>
              <a:off x="3611880" y="5248656"/>
              <a:ext cx="1097280" cy="740664"/>
            </a:xfrm>
            <a:prstGeom prst="rect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3429000" y="4882896"/>
              <a:ext cx="1463040" cy="32918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2000" b="1" lang="en-US">
                  <a:solidFill>
                    <a:srgbClr val="101820"/>
                  </a:solidFill>
                  <a:latin typeface="Comfortaa"/>
                  <a:cs typeface="Comfortaa"/>
                </a:rPr>
                <a:t>3%</a:t>
              </a:r>
            </a:p>
          </p:txBody>
        </p:sp>
        <p:sp>
          <p:nvSpPr>
            <p:cNvPr id="122" name="TextBox 121"/>
            <p:cNvSpPr txBox="1"/>
            <p:nvPr/>
          </p:nvSpPr>
          <p:spPr>
            <a:xfrm>
              <a:off x="3429000" y="6035040"/>
              <a:ext cx="1463040" cy="2286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10,001 – 100,000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4709160" y="5248656"/>
            <a:ext cx="1463040" cy="1014984"/>
            <a:chOff x="4709160" y="5248656"/>
            <a:chExt cx="1463040" cy="1014984"/>
          </a:xfrm>
        </p:grpSpPr>
        <p:sp>
          <p:nvSpPr>
            <p:cNvPr id="123" name="Rectangle 122"/>
            <p:cNvSpPr/>
            <p:nvPr/>
          </p:nvSpPr>
          <p:spPr>
            <a:xfrm>
              <a:off x="4892040" y="5614416"/>
              <a:ext cx="1097280" cy="374904"/>
            </a:xfrm>
            <a:prstGeom prst="rect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4709160" y="5248656"/>
              <a:ext cx="1463040" cy="32918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2000" b="1" lang="en-US">
                  <a:solidFill>
                    <a:srgbClr val="101820"/>
                  </a:solidFill>
                  <a:latin typeface="Comfortaa"/>
                  <a:cs typeface="Comfortaa"/>
                </a:rPr>
                <a:t>1.5%</a:t>
              </a:r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4709160" y="6035040"/>
              <a:ext cx="1463040" cy="2286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above 100,000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309360" y="4526280"/>
            <a:ext cx="5157216" cy="777240"/>
            <a:chOff x="6309360" y="4526280"/>
            <a:chExt cx="5157216" cy="777240"/>
          </a:xfrm>
        </p:grpSpPr>
        <p:sp>
          <p:nvSpPr>
            <p:cNvPr id="126" name="TextBox 125"/>
            <p:cNvSpPr txBox="1"/>
            <p:nvPr/>
          </p:nvSpPr>
          <p:spPr>
            <a:xfrm>
              <a:off x="6309360" y="4526280"/>
              <a:ext cx="5157216" cy="77724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4400" b="1" lang="en-US">
                  <a:solidFill>
                    <a:srgbClr val="101820"/>
                  </a:solidFill>
                  <a:latin typeface="Comfortaa"/>
                  <a:cs typeface="Comfortaa"/>
                </a:rPr>
                <a:t>≈ 1,100 IQD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6309360" y="5349240"/>
            <a:ext cx="4937760" cy="548640"/>
            <a:chOff x="6309360" y="5349240"/>
            <a:chExt cx="4937760" cy="548640"/>
          </a:xfrm>
        </p:grpSpPr>
        <p:sp>
          <p:nvSpPr>
            <p:cNvPr id="127" name="TextBox 126"/>
            <p:cNvSpPr txBox="1"/>
            <p:nvPr/>
          </p:nvSpPr>
          <p:spPr>
            <a:xfrm>
              <a:off x="6309360" y="5349240"/>
              <a:ext cx="4937760" cy="5486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300" b="0" lang="en-US">
                  <a:solidFill>
                    <a:srgbClr val="5A6672"/>
                  </a:solidFill>
                  <a:latin typeface="Inter"/>
                  <a:cs typeface="Inter"/>
                </a:rPr>
                <a:t>kept per delivered order after messaging, failed-delivery and return costs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50"/>
                            </p:stCondLst>
                            <p:childTnLst>
                              <p:par>
                                <p:cTn id="44" presetID="53" presetClass="entr" presetSubtype="16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0"/>
                            </p:stCondLst>
                            <p:childTnLst>
                              <p:par>
                                <p:cTn id="50" presetID="53" presetClass="entr" presetSubtype="16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550"/>
                            </p:stCondLst>
                            <p:childTnLst>
                              <p:par>
                                <p:cTn id="56" presetID="53" presetClass="entr" presetSubtype="16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2100"/>
                            </p:stCondLst>
                            <p:childTnLst>
                              <p:par>
                                <p:cTn id="62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9593" y="351575"/>
            <a:ext cx="3178503" cy="96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900" y="436205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Competitor analysis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Nobody else puts every seller on one page.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lang="en-US">
                <a:solidFill>
                  <a:srgbClr val="5A6672"/>
                </a:solidFill>
                <a:latin typeface="Inter"/>
                <a:cs typeface="Inter"/>
              </a:rPr>
              <a:t>Based on in-app screenshots (Sep–Oct 2026) and public platform information.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22376" y="2560320"/>
            <a:ext cx="9244584" cy="3337560"/>
            <a:chOff x="722376" y="2560320"/>
            <a:chExt cx="9244584" cy="3337560"/>
          </a:xfrm>
        </p:grpSpPr>
        <p:sp>
          <p:nvSpPr>
            <p:cNvPr id="104" name="TextBox 103"/>
            <p:cNvSpPr txBox="1"/>
            <p:nvPr/>
          </p:nvSpPr>
          <p:spPr>
            <a:xfrm>
              <a:off x="722376" y="3154680"/>
              <a:ext cx="3200400" cy="6858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500" b="1" lang="en-US">
                  <a:solidFill>
                    <a:srgbClr val="101820"/>
                  </a:solidFill>
                  <a:latin typeface="Inter"/>
                  <a:cs typeface="Inter"/>
                </a:rPr>
                <a:t>Prices shown upfront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722376" y="3840480"/>
              <a:ext cx="3200400" cy="6858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500" b="1" lang="en-US">
                  <a:solidFill>
                    <a:srgbClr val="101820"/>
                  </a:solidFill>
                  <a:latin typeface="Inter"/>
                  <a:cs typeface="Inter"/>
                </a:rPr>
                <a:t>One page per product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22376" y="4526280"/>
              <a:ext cx="3200400" cy="6858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500" b="1" lang="en-US">
                  <a:solidFill>
                    <a:srgbClr val="101820"/>
                  </a:solidFill>
                  <a:latin typeface="Inter"/>
                  <a:cs typeface="Inter"/>
                </a:rPr>
                <a:t>Every seller compared on that page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722376" y="5212080"/>
              <a:ext cx="3200400" cy="6858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500" b="1" lang="en-US">
                  <a:solidFill>
                    <a:srgbClr val="101820"/>
                  </a:solidFill>
                  <a:latin typeface="Inter"/>
                  <a:cs typeface="Inter"/>
                </a:rPr>
                <a:t>Third-party sellers can join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4114800" y="2560320"/>
              <a:ext cx="1463040" cy="5029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Instagram / Facebook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5577840" y="2560320"/>
              <a:ext cx="1463040" cy="5029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Miswag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7040880" y="2560320"/>
              <a:ext cx="1463040" cy="5029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iBazzar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8503920" y="2560320"/>
              <a:ext cx="1463040" cy="5029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Elryan</a:t>
              </a:r>
            </a:p>
          </p:txBody>
        </p:sp>
        <p:cxnSp>
          <p:nvCxnSpPr>
            <p:cNvPr id="112" name="Connector 111"/>
            <p:cNvCxnSpPr/>
            <p:nvPr/>
          </p:nvCxnSpPr>
          <p:spPr>
            <a:xfrm>
              <a:off x="722376" y="3840480"/>
              <a:ext cx="9061704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cxnSp>
          <p:nvCxnSpPr>
            <p:cNvPr id="113" name="Connector 112"/>
            <p:cNvCxnSpPr/>
            <p:nvPr/>
          </p:nvCxnSpPr>
          <p:spPr>
            <a:xfrm>
              <a:off x="722376" y="4526280"/>
              <a:ext cx="9061704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cxnSp>
          <p:nvCxnSpPr>
            <p:cNvPr id="114" name="Connector 113"/>
            <p:cNvCxnSpPr/>
            <p:nvPr/>
          </p:nvCxnSpPr>
          <p:spPr>
            <a:xfrm>
              <a:off x="722376" y="5212080"/>
              <a:ext cx="9061704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cxnSp>
          <p:nvCxnSpPr>
            <p:cNvPr id="115" name="Connector 114"/>
            <p:cNvCxnSpPr/>
            <p:nvPr/>
          </p:nvCxnSpPr>
          <p:spPr>
            <a:xfrm>
              <a:off x="722376" y="3127248"/>
              <a:ext cx="9061704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cxnSp>
          <p:nvCxnSpPr>
            <p:cNvPr id="116" name="Connector 115"/>
            <p:cNvCxnSpPr/>
            <p:nvPr/>
          </p:nvCxnSpPr>
          <p:spPr>
            <a:xfrm>
              <a:off x="722376" y="5897880"/>
              <a:ext cx="9061704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</p:grpSp>
      <p:grpSp>
        <p:nvGrpSpPr>
          <p:cNvPr id="3" name="Group 2"/>
          <p:cNvGrpSpPr/>
          <p:nvPr/>
        </p:nvGrpSpPr>
        <p:grpSpPr>
          <a:xfrm>
            <a:off x="4681728" y="3332988"/>
            <a:ext cx="329184" cy="2386584"/>
            <a:chOff x="4681728" y="3332988"/>
            <a:chExt cx="329184" cy="2386584"/>
          </a:xfrm>
        </p:grpSpPr>
        <p:pic>
          <p:nvPicPr>
            <p:cNvPr id="117" name="Picture 116" descr="contrast_5A6672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81728" y="3332988"/>
              <a:ext cx="329184" cy="329184"/>
            </a:xfrm>
            <a:prstGeom prst="rect">
              <a:avLst/>
            </a:prstGeom>
          </p:spPr>
        </p:pic>
        <p:pic>
          <p:nvPicPr>
            <p:cNvPr id="118" name="Picture 117" descr="circle-x_D22730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81728" y="4018788"/>
              <a:ext cx="329184" cy="329184"/>
            </a:xfrm>
            <a:prstGeom prst="rect">
              <a:avLst/>
            </a:prstGeom>
          </p:spPr>
        </p:pic>
        <p:pic>
          <p:nvPicPr>
            <p:cNvPr id="119" name="Picture 118" descr="circle-x_D22730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81728" y="4704588"/>
              <a:ext cx="329184" cy="329184"/>
            </a:xfrm>
            <a:prstGeom prst="rect">
              <a:avLst/>
            </a:prstGeom>
          </p:spPr>
        </p:pic>
        <p:pic>
          <p:nvPicPr>
            <p:cNvPr id="120" name="Picture 119" descr="circle-check_5A667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681728" y="5390388"/>
              <a:ext cx="329184" cy="329184"/>
            </a:xfrm>
            <a:prstGeom prst="rect">
              <a:avLst/>
            </a:prstGeom>
          </p:spPr>
        </p:pic>
      </p:grpSp>
      <p:grpSp>
        <p:nvGrpSpPr>
          <p:cNvPr id="4" name="Group 3"/>
          <p:cNvGrpSpPr/>
          <p:nvPr/>
        </p:nvGrpSpPr>
        <p:grpSpPr>
          <a:xfrm>
            <a:off x="6144768" y="3332988"/>
            <a:ext cx="329184" cy="2386584"/>
            <a:chOff x="6144768" y="3332988"/>
            <a:chExt cx="329184" cy="2386584"/>
          </a:xfrm>
        </p:grpSpPr>
        <p:pic>
          <p:nvPicPr>
            <p:cNvPr id="121" name="Picture 120" descr="circle-check_5A667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44768" y="3332988"/>
              <a:ext cx="329184" cy="329184"/>
            </a:xfrm>
            <a:prstGeom prst="rect">
              <a:avLst/>
            </a:prstGeom>
          </p:spPr>
        </p:pic>
        <p:pic>
          <p:nvPicPr>
            <p:cNvPr id="122" name="Picture 121" descr="circle-x_D22730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44768" y="4018788"/>
              <a:ext cx="329184" cy="329184"/>
            </a:xfrm>
            <a:prstGeom prst="rect">
              <a:avLst/>
            </a:prstGeom>
          </p:spPr>
        </p:pic>
        <p:pic>
          <p:nvPicPr>
            <p:cNvPr id="123" name="Picture 122" descr="circle-x_D22730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44768" y="4704588"/>
              <a:ext cx="329184" cy="329184"/>
            </a:xfrm>
            <a:prstGeom prst="rect">
              <a:avLst/>
            </a:prstGeom>
          </p:spPr>
        </p:pic>
        <p:pic>
          <p:nvPicPr>
            <p:cNvPr id="124" name="Picture 123" descr="circle-check_5A667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44768" y="5390388"/>
              <a:ext cx="329184" cy="329184"/>
            </a:xfrm>
            <a:prstGeom prst="rect">
              <a:avLst/>
            </a:prstGeom>
          </p:spPr>
        </p:pic>
      </p:grpSp>
      <p:grpSp>
        <p:nvGrpSpPr>
          <p:cNvPr id="5" name="Group 4"/>
          <p:cNvGrpSpPr/>
          <p:nvPr/>
        </p:nvGrpSpPr>
        <p:grpSpPr>
          <a:xfrm>
            <a:off x="7607808" y="3332988"/>
            <a:ext cx="329184" cy="2386584"/>
            <a:chOff x="7607808" y="3332988"/>
            <a:chExt cx="329184" cy="2386584"/>
          </a:xfrm>
        </p:grpSpPr>
        <p:pic>
          <p:nvPicPr>
            <p:cNvPr id="125" name="Picture 124" descr="circle-check_5A667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607808" y="3332988"/>
              <a:ext cx="329184" cy="329184"/>
            </a:xfrm>
            <a:prstGeom prst="rect">
              <a:avLst/>
            </a:prstGeom>
          </p:spPr>
        </p:pic>
        <p:pic>
          <p:nvPicPr>
            <p:cNvPr id="126" name="Picture 125" descr="circle-x_D22730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607808" y="4018788"/>
              <a:ext cx="329184" cy="329184"/>
            </a:xfrm>
            <a:prstGeom prst="rect">
              <a:avLst/>
            </a:prstGeom>
          </p:spPr>
        </p:pic>
        <p:pic>
          <p:nvPicPr>
            <p:cNvPr id="127" name="Picture 126" descr="circle-x_D22730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607808" y="4704588"/>
              <a:ext cx="329184" cy="329184"/>
            </a:xfrm>
            <a:prstGeom prst="rect">
              <a:avLst/>
            </a:prstGeom>
          </p:spPr>
        </p:pic>
        <p:pic>
          <p:nvPicPr>
            <p:cNvPr id="128" name="Picture 127" descr="circle-check_5A667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607808" y="5390388"/>
              <a:ext cx="329184" cy="329184"/>
            </a:xfrm>
            <a:prstGeom prst="rect">
              <a:avLst/>
            </a:prstGeom>
          </p:spPr>
        </p:pic>
      </p:grpSp>
      <p:grpSp>
        <p:nvGrpSpPr>
          <p:cNvPr id="6" name="Group 5"/>
          <p:cNvGrpSpPr/>
          <p:nvPr/>
        </p:nvGrpSpPr>
        <p:grpSpPr>
          <a:xfrm>
            <a:off x="9070848" y="3332988"/>
            <a:ext cx="329184" cy="2386584"/>
            <a:chOff x="9070848" y="3332988"/>
            <a:chExt cx="329184" cy="2386584"/>
          </a:xfrm>
        </p:grpSpPr>
        <p:pic>
          <p:nvPicPr>
            <p:cNvPr id="129" name="Picture 128" descr="circle-check_5A667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070848" y="3332988"/>
              <a:ext cx="329184" cy="329184"/>
            </a:xfrm>
            <a:prstGeom prst="rect">
              <a:avLst/>
            </a:prstGeom>
          </p:spPr>
        </p:pic>
        <p:pic>
          <p:nvPicPr>
            <p:cNvPr id="130" name="Picture 129" descr="circle-check_5A667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070848" y="4018788"/>
              <a:ext cx="329184" cy="329184"/>
            </a:xfrm>
            <a:prstGeom prst="rect">
              <a:avLst/>
            </a:prstGeom>
          </p:spPr>
        </p:pic>
        <p:pic>
          <p:nvPicPr>
            <p:cNvPr id="131" name="Picture 130" descr="circle-x_D22730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70848" y="4704588"/>
              <a:ext cx="329184" cy="329184"/>
            </a:xfrm>
            <a:prstGeom prst="rect">
              <a:avLst/>
            </a:prstGeom>
          </p:spPr>
        </p:pic>
        <p:pic>
          <p:nvPicPr>
            <p:cNvPr id="132" name="Picture 131" descr="circle-x_D22730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70848" y="5390388"/>
              <a:ext cx="329184" cy="329184"/>
            </a:xfrm>
            <a:prstGeom prst="rect">
              <a:avLst/>
            </a:prstGeom>
          </p:spPr>
        </p:pic>
      </p:grpSp>
      <p:grpSp>
        <p:nvGrpSpPr>
          <p:cNvPr id="7" name="Group 6"/>
          <p:cNvGrpSpPr/>
          <p:nvPr/>
        </p:nvGrpSpPr>
        <p:grpSpPr>
          <a:xfrm>
            <a:off x="9966960" y="2468880"/>
            <a:ext cx="1463040" cy="3474720"/>
            <a:chOff x="9966960" y="2468880"/>
            <a:chExt cx="1463040" cy="3474720"/>
          </a:xfrm>
        </p:grpSpPr>
        <p:sp>
          <p:nvSpPr>
            <p:cNvPr id="133" name="Rounded Rectangle 132"/>
            <p:cNvSpPr/>
            <p:nvPr/>
          </p:nvSpPr>
          <p:spPr>
            <a:xfrm>
              <a:off x="9966960" y="2468880"/>
              <a:ext cx="1463040" cy="3474720"/>
            </a:xfrm>
            <a:prstGeom prst="roundRect">
              <a:avLst>
                <a:gd name="adj" fmla="val 8750"/>
              </a:avLst>
            </a:prstGeom>
            <a:solidFill>
              <a:srgbClr val="E5F2F8"/>
            </a:solidFill>
            <a:ln w="1905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4" name="Picture 133" descr="cheapify-logo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040112" y="2641310"/>
              <a:ext cx="201168" cy="258645"/>
            </a:xfrm>
            <a:prstGeom prst="rect">
              <a:avLst/>
            </a:prstGeom>
          </p:spPr>
        </p:pic>
        <p:sp>
          <p:nvSpPr>
            <p:cNvPr id="135" name="TextBox 134"/>
            <p:cNvSpPr txBox="1"/>
            <p:nvPr/>
          </p:nvSpPr>
          <p:spPr>
            <a:xfrm>
              <a:off x="10277856" y="2560320"/>
              <a:ext cx="1097280" cy="5029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1" lang="en-US">
                  <a:solidFill>
                    <a:srgbClr val="298FC2"/>
                  </a:solidFill>
                  <a:latin typeface="Inter"/>
                  <a:cs typeface="Inter"/>
                </a:rPr>
                <a:t>Cheapify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10533888" y="3332988"/>
            <a:ext cx="329184" cy="329184"/>
            <a:chOff x="10533888" y="3332988"/>
            <a:chExt cx="329184" cy="329184"/>
          </a:xfrm>
        </p:grpSpPr>
        <p:pic>
          <p:nvPicPr>
            <p:cNvPr id="136" name="Picture 135" descr="circle-check_228848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533888" y="3332988"/>
              <a:ext cx="329184" cy="329184"/>
            </a:xfrm>
            <a:prstGeom prst="rect">
              <a:avLst/>
            </a:prstGeom>
          </p:spPr>
        </p:pic>
      </p:grpSp>
      <p:grpSp>
        <p:nvGrpSpPr>
          <p:cNvPr id="9" name="Group 8"/>
          <p:cNvGrpSpPr/>
          <p:nvPr/>
        </p:nvGrpSpPr>
        <p:grpSpPr>
          <a:xfrm>
            <a:off x="10533888" y="4018788"/>
            <a:ext cx="329184" cy="329184"/>
            <a:chOff x="10533888" y="4018788"/>
            <a:chExt cx="329184" cy="329184"/>
          </a:xfrm>
        </p:grpSpPr>
        <p:pic>
          <p:nvPicPr>
            <p:cNvPr id="137" name="Picture 136" descr="circle-check_228848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533888" y="4018788"/>
              <a:ext cx="329184" cy="329184"/>
            </a:xfrm>
            <a:prstGeom prst="rect">
              <a:avLst/>
            </a:prstGeom>
          </p:spPr>
        </p:pic>
      </p:grpSp>
      <p:grpSp>
        <p:nvGrpSpPr>
          <p:cNvPr id="10" name="Group 9"/>
          <p:cNvGrpSpPr/>
          <p:nvPr/>
        </p:nvGrpSpPr>
        <p:grpSpPr>
          <a:xfrm>
            <a:off x="10533888" y="4704588"/>
            <a:ext cx="329184" cy="329184"/>
            <a:chOff x="10533888" y="4704588"/>
            <a:chExt cx="329184" cy="329184"/>
          </a:xfrm>
        </p:grpSpPr>
        <p:pic>
          <p:nvPicPr>
            <p:cNvPr id="138" name="Picture 137" descr="circle-check_228848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533888" y="4704588"/>
              <a:ext cx="329184" cy="329184"/>
            </a:xfrm>
            <a:prstGeom prst="rect">
              <a:avLst/>
            </a:prstGeom>
          </p:spPr>
        </p:pic>
      </p:grpSp>
      <p:grpSp>
        <p:nvGrpSpPr>
          <p:cNvPr id="11" name="Group 10"/>
          <p:cNvGrpSpPr/>
          <p:nvPr/>
        </p:nvGrpSpPr>
        <p:grpSpPr>
          <a:xfrm>
            <a:off x="10533888" y="5390388"/>
            <a:ext cx="329184" cy="329184"/>
            <a:chOff x="10533888" y="5390388"/>
            <a:chExt cx="329184" cy="329184"/>
          </a:xfrm>
        </p:grpSpPr>
        <p:pic>
          <p:nvPicPr>
            <p:cNvPr id="139" name="Picture 138" descr="circle-check_228848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533888" y="5390388"/>
              <a:ext cx="329184" cy="329184"/>
            </a:xfrm>
            <a:prstGeom prst="rect">
              <a:avLst/>
            </a:prstGeom>
          </p:spPr>
        </p:pic>
      </p:grpSp>
      <p:grpSp>
        <p:nvGrpSpPr>
          <p:cNvPr id="12" name="Group 11"/>
          <p:cNvGrpSpPr/>
          <p:nvPr/>
        </p:nvGrpSpPr>
        <p:grpSpPr>
          <a:xfrm>
            <a:off x="722376" y="6016752"/>
            <a:ext cx="3291840" cy="237744"/>
            <a:chOff x="722376" y="6016752"/>
            <a:chExt cx="3291840" cy="237744"/>
          </a:xfrm>
        </p:grpSpPr>
        <p:pic>
          <p:nvPicPr>
            <p:cNvPr id="140" name="Picture 139" descr="circle-check_5A667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376" y="6035040"/>
              <a:ext cx="201168" cy="201168"/>
            </a:xfrm>
            <a:prstGeom prst="rect">
              <a:avLst/>
            </a:prstGeom>
          </p:spPr>
        </p:pic>
        <p:sp>
          <p:nvSpPr>
            <p:cNvPr id="141" name="TextBox 140"/>
            <p:cNvSpPr txBox="1"/>
            <p:nvPr/>
          </p:nvSpPr>
          <p:spPr>
            <a:xfrm>
              <a:off x="996696" y="6016752"/>
              <a:ext cx="73152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yes</a:t>
              </a:r>
            </a:p>
          </p:txBody>
        </p:sp>
        <p:pic>
          <p:nvPicPr>
            <p:cNvPr id="142" name="Picture 141" descr="contrast_5A6672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65376" y="6035040"/>
              <a:ext cx="201168" cy="201168"/>
            </a:xfrm>
            <a:prstGeom prst="rect">
              <a:avLst/>
            </a:prstGeom>
          </p:spPr>
        </p:pic>
        <p:sp>
          <p:nvSpPr>
            <p:cNvPr id="143" name="TextBox 142"/>
            <p:cNvSpPr txBox="1"/>
            <p:nvPr/>
          </p:nvSpPr>
          <p:spPr>
            <a:xfrm>
              <a:off x="2139696" y="6016752"/>
              <a:ext cx="73152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partly</a:t>
              </a:r>
            </a:p>
          </p:txBody>
        </p:sp>
        <p:pic>
          <p:nvPicPr>
            <p:cNvPr id="144" name="Picture 143" descr="circle-x_D22730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008376" y="6035040"/>
              <a:ext cx="201168" cy="201168"/>
            </a:xfrm>
            <a:prstGeom prst="rect">
              <a:avLst/>
            </a:prstGeom>
          </p:spPr>
        </p:pic>
        <p:sp>
          <p:nvSpPr>
            <p:cNvPr id="145" name="TextBox 144"/>
            <p:cNvSpPr txBox="1"/>
            <p:nvPr/>
          </p:nvSpPr>
          <p:spPr>
            <a:xfrm>
              <a:off x="3282696" y="6016752"/>
              <a:ext cx="73152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no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1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00"/>
                            </p:stCondLst>
                            <p:childTnLst>
                              <p:par>
                                <p:cTn id="36" presetID="53" presetClass="entr" presetSubtype="16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920"/>
                            </p:stCondLst>
                            <p:childTnLst>
                              <p:par>
                                <p:cTn id="42" presetID="53" presetClass="entr" presetSubtype="16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440"/>
                            </p:stCondLst>
                            <p:childTnLst>
                              <p:par>
                                <p:cTn id="48" presetID="53" presetClass="entr" presetSubtype="16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960"/>
                            </p:stCondLst>
                            <p:childTnLst>
                              <p:par>
                                <p:cTn id="54" presetID="53" presetClass="entr" presetSubtype="16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9593" y="351575"/>
            <a:ext cx="3178503" cy="96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900" y="436205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Growth strategy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Every merchant brings their followers.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2148840" y="2926080"/>
            <a:ext cx="2834640" cy="2834640"/>
            <a:chOff x="2148840" y="2926080"/>
            <a:chExt cx="2834640" cy="2834640"/>
          </a:xfrm>
        </p:grpSpPr>
        <p:sp>
          <p:nvSpPr>
            <p:cNvPr id="103" name="Oval 102"/>
            <p:cNvSpPr/>
            <p:nvPr/>
          </p:nvSpPr>
          <p:spPr>
            <a:xfrm>
              <a:off x="2148840" y="2926080"/>
              <a:ext cx="2834640" cy="2834640"/>
            </a:xfrm>
            <a:prstGeom prst="ellipse">
              <a:avLst/>
            </a:prstGeom>
            <a:noFill/>
            <a:ln w="2540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4" name="Picture 103" descr="cheapify-logo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14751" y="4019702"/>
              <a:ext cx="502818" cy="646481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>
            <a:off x="2651760" y="2491740"/>
            <a:ext cx="1828800" cy="868680"/>
            <a:chOff x="2651760" y="2491740"/>
            <a:chExt cx="1828800" cy="868680"/>
          </a:xfrm>
        </p:grpSpPr>
        <p:sp>
          <p:nvSpPr>
            <p:cNvPr id="105" name="Rounded Rectangle 104"/>
            <p:cNvSpPr/>
            <p:nvPr/>
          </p:nvSpPr>
          <p:spPr>
            <a:xfrm>
              <a:off x="2651760" y="2491740"/>
              <a:ext cx="182880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6" name="Picture 105" descr="store_298FC2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761488" y="2779776"/>
              <a:ext cx="292608" cy="292608"/>
            </a:xfrm>
            <a:prstGeom prst="rect">
              <a:avLst/>
            </a:prstGeom>
          </p:spPr>
        </p:pic>
        <p:sp>
          <p:nvSpPr>
            <p:cNvPr id="107" name="TextBox 106"/>
            <p:cNvSpPr txBox="1"/>
            <p:nvPr/>
          </p:nvSpPr>
          <p:spPr>
            <a:xfrm>
              <a:off x="3154680" y="2560320"/>
              <a:ext cx="1261872" cy="7315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A store joins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2472523" y="3249763"/>
            <a:ext cx="182880" cy="182880"/>
            <a:chOff x="2472523" y="3249763"/>
            <a:chExt cx="182880" cy="182880"/>
          </a:xfrm>
        </p:grpSpPr>
        <p:sp>
          <p:nvSpPr>
            <p:cNvPr id="108" name="Isosceles Triangle 107"/>
            <p:cNvSpPr/>
            <p:nvPr/>
          </p:nvSpPr>
          <p:spPr>
            <a:xfrm rot="2700000">
              <a:off x="2472523" y="3249763"/>
              <a:ext cx="182880" cy="182880"/>
            </a:xfrm>
            <a:prstGeom prst="triangl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4572000" y="3909060"/>
            <a:ext cx="1828800" cy="868680"/>
            <a:chOff x="4572000" y="3909060"/>
            <a:chExt cx="1828800" cy="868680"/>
          </a:xfrm>
        </p:grpSpPr>
        <p:sp>
          <p:nvSpPr>
            <p:cNvPr id="109" name="Rounded Rectangle 108"/>
            <p:cNvSpPr/>
            <p:nvPr/>
          </p:nvSpPr>
          <p:spPr>
            <a:xfrm>
              <a:off x="4572000" y="3909060"/>
              <a:ext cx="182880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0" name="Picture 109" descr="link_298FC2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681728" y="4197096"/>
              <a:ext cx="292608" cy="292608"/>
            </a:xfrm>
            <a:prstGeom prst="rect">
              <a:avLst/>
            </a:prstGeom>
          </p:spPr>
        </p:pic>
        <p:sp>
          <p:nvSpPr>
            <p:cNvPr id="111" name="TextBox 110"/>
            <p:cNvSpPr txBox="1"/>
            <p:nvPr/>
          </p:nvSpPr>
          <p:spPr>
            <a:xfrm>
              <a:off x="5074920" y="3977640"/>
              <a:ext cx="1261872" cy="7315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Adds its Cheapify link to its bio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4476917" y="3249763"/>
            <a:ext cx="182880" cy="182880"/>
            <a:chOff x="4476917" y="3249763"/>
            <a:chExt cx="182880" cy="182880"/>
          </a:xfrm>
        </p:grpSpPr>
        <p:sp>
          <p:nvSpPr>
            <p:cNvPr id="112" name="Isosceles Triangle 111"/>
            <p:cNvSpPr/>
            <p:nvPr/>
          </p:nvSpPr>
          <p:spPr>
            <a:xfrm rot="8100000">
              <a:off x="4476917" y="3249763"/>
              <a:ext cx="182880" cy="182880"/>
            </a:xfrm>
            <a:prstGeom prst="triangl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2651760" y="5326380"/>
            <a:ext cx="1828800" cy="868680"/>
            <a:chOff x="2651760" y="5326380"/>
            <a:chExt cx="1828800" cy="868680"/>
          </a:xfrm>
        </p:grpSpPr>
        <p:sp>
          <p:nvSpPr>
            <p:cNvPr id="113" name="Rounded Rectangle 112"/>
            <p:cNvSpPr/>
            <p:nvPr/>
          </p:nvSpPr>
          <p:spPr>
            <a:xfrm>
              <a:off x="2651760" y="5326380"/>
              <a:ext cx="182880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4" name="Picture 113" descr="users_298FC2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761488" y="5614416"/>
              <a:ext cx="292608" cy="292608"/>
            </a:xfrm>
            <a:prstGeom prst="rect">
              <a:avLst/>
            </a:prstGeom>
          </p:spPr>
        </p:pic>
        <p:sp>
          <p:nvSpPr>
            <p:cNvPr id="115" name="TextBox 114"/>
            <p:cNvSpPr txBox="1"/>
            <p:nvPr/>
          </p:nvSpPr>
          <p:spPr>
            <a:xfrm>
              <a:off x="3154680" y="5394960"/>
              <a:ext cx="1261872" cy="7315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Its followers order on Cheapify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4476917" y="5254157"/>
            <a:ext cx="182880" cy="182880"/>
            <a:chOff x="4476917" y="5254157"/>
            <a:chExt cx="182880" cy="182880"/>
          </a:xfrm>
        </p:grpSpPr>
        <p:sp>
          <p:nvSpPr>
            <p:cNvPr id="116" name="Isosceles Triangle 115"/>
            <p:cNvSpPr/>
            <p:nvPr/>
          </p:nvSpPr>
          <p:spPr>
            <a:xfrm rot="13500000">
              <a:off x="4476917" y="5254157"/>
              <a:ext cx="182880" cy="182880"/>
            </a:xfrm>
            <a:prstGeom prst="triangl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731520" y="3909060"/>
            <a:ext cx="1828800" cy="868680"/>
            <a:chOff x="731520" y="3909060"/>
            <a:chExt cx="1828800" cy="868680"/>
          </a:xfrm>
        </p:grpSpPr>
        <p:sp>
          <p:nvSpPr>
            <p:cNvPr id="117" name="Rounded Rectangle 116"/>
            <p:cNvSpPr/>
            <p:nvPr/>
          </p:nvSpPr>
          <p:spPr>
            <a:xfrm>
              <a:off x="731520" y="3909060"/>
              <a:ext cx="182880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8" name="Picture 117" descr="trending-up_298FC2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41248" y="4197096"/>
              <a:ext cx="292608" cy="292608"/>
            </a:xfrm>
            <a:prstGeom prst="rect">
              <a:avLst/>
            </a:prstGeom>
          </p:spPr>
        </p:pic>
        <p:sp>
          <p:nvSpPr>
            <p:cNvPr id="119" name="TextBox 118"/>
            <p:cNvSpPr txBox="1"/>
            <p:nvPr/>
          </p:nvSpPr>
          <p:spPr>
            <a:xfrm>
              <a:off x="1234440" y="3977640"/>
              <a:ext cx="1261872" cy="7315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More orders bring more stores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472523" y="5254157"/>
            <a:ext cx="182880" cy="182880"/>
            <a:chOff x="2472523" y="5254157"/>
            <a:chExt cx="182880" cy="182880"/>
          </a:xfrm>
        </p:grpSpPr>
        <p:sp>
          <p:nvSpPr>
            <p:cNvPr id="120" name="Isosceles Triangle 119"/>
            <p:cNvSpPr/>
            <p:nvPr/>
          </p:nvSpPr>
          <p:spPr>
            <a:xfrm rot="18900000">
              <a:off x="2472523" y="5254157"/>
              <a:ext cx="182880" cy="182880"/>
            </a:xfrm>
            <a:prstGeom prst="triangl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94560" y="6236208"/>
            <a:ext cx="2743200" cy="219456"/>
            <a:chOff x="2194560" y="6236208"/>
            <a:chExt cx="2743200" cy="219456"/>
          </a:xfrm>
        </p:grpSpPr>
        <p:sp>
          <p:nvSpPr>
            <p:cNvPr id="121" name="TextBox 120"/>
            <p:cNvSpPr txBox="1"/>
            <p:nvPr/>
          </p:nvSpPr>
          <p:spPr>
            <a:xfrm>
              <a:off x="2194560" y="6236208"/>
              <a:ext cx="2743200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≈ zero cost to acquire these shoppers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7315200" y="2560320"/>
            <a:ext cx="4151376" cy="914400"/>
            <a:chOff x="7315200" y="2560320"/>
            <a:chExt cx="4151376" cy="914400"/>
          </a:xfrm>
        </p:grpSpPr>
        <p:sp>
          <p:nvSpPr>
            <p:cNvPr id="122" name="Rounded Rectangle 121"/>
            <p:cNvSpPr/>
            <p:nvPr/>
          </p:nvSpPr>
          <p:spPr>
            <a:xfrm>
              <a:off x="7315200" y="2560320"/>
              <a:ext cx="4151376" cy="914400"/>
            </a:xfrm>
            <a:prstGeom prst="roundRect">
              <a:avLst>
                <a:gd name="adj" fmla="val 14000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7498080" y="2651760"/>
              <a:ext cx="374904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298FC2"/>
                  </a:solidFill>
                  <a:latin typeface="Inter"/>
                  <a:cs typeface="Inter"/>
                </a:rPr>
                <a:t>Phase 1 · Months 1–6</a:t>
              </a: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7498080" y="2852928"/>
              <a:ext cx="374904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101820"/>
                  </a:solidFill>
                  <a:latin typeface="Inter"/>
                  <a:cs typeface="Inter"/>
                </a:rPr>
                <a:t>Duhok</a:t>
              </a:r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7498080" y="3163824"/>
              <a:ext cx="3749040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00" b="0" lang="en-US">
                  <a:solidFill>
                    <a:srgbClr val="5A6672"/>
                  </a:solidFill>
                  <a:latin typeface="Inter"/>
                  <a:cs typeface="Inter"/>
                </a:rPr>
                <a:t>20 founding stores · 3,000+ orders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7315200" y="3611880"/>
            <a:ext cx="4151376" cy="914400"/>
            <a:chOff x="7315200" y="3611880"/>
            <a:chExt cx="4151376" cy="914400"/>
          </a:xfrm>
        </p:grpSpPr>
        <p:sp>
          <p:nvSpPr>
            <p:cNvPr id="126" name="Rounded Rectangle 125"/>
            <p:cNvSpPr/>
            <p:nvPr/>
          </p:nvSpPr>
          <p:spPr>
            <a:xfrm>
              <a:off x="7315200" y="3611880"/>
              <a:ext cx="4151376" cy="914400"/>
            </a:xfrm>
            <a:prstGeom prst="roundRect">
              <a:avLst>
                <a:gd name="adj" fmla="val 14000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7498080" y="3703320"/>
              <a:ext cx="374904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298FC2"/>
                  </a:solidFill>
                  <a:latin typeface="Inter"/>
                  <a:cs typeface="Inter"/>
                </a:rPr>
                <a:t>Phase 2 · Months 7–15</a:t>
              </a:r>
            </a:p>
          </p:txBody>
        </p:sp>
        <p:sp>
          <p:nvSpPr>
            <p:cNvPr id="128" name="TextBox 127"/>
            <p:cNvSpPr txBox="1"/>
            <p:nvPr/>
          </p:nvSpPr>
          <p:spPr>
            <a:xfrm>
              <a:off x="7498080" y="3904488"/>
              <a:ext cx="374904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101820"/>
                  </a:solidFill>
                  <a:latin typeface="Inter"/>
                  <a:cs typeface="Inter"/>
                </a:rPr>
                <a:t>Erbil · Mosul · Sulaymaniyah</a:t>
              </a:r>
            </a:p>
          </p:txBody>
        </p:sp>
        <p:sp>
          <p:nvSpPr>
            <p:cNvPr id="129" name="TextBox 128"/>
            <p:cNvSpPr txBox="1"/>
            <p:nvPr/>
          </p:nvSpPr>
          <p:spPr>
            <a:xfrm>
              <a:off x="7498080" y="4215384"/>
              <a:ext cx="3749040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00" b="0" lang="en-US">
                  <a:solidFill>
                    <a:srgbClr val="5A6672"/>
                  </a:solidFill>
                  <a:latin typeface="Inter"/>
                  <a:cs typeface="Inter"/>
                </a:rPr>
                <a:t>75 stores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7315200" y="4663440"/>
            <a:ext cx="4151376" cy="914400"/>
            <a:chOff x="7315200" y="4663440"/>
            <a:chExt cx="4151376" cy="914400"/>
          </a:xfrm>
        </p:grpSpPr>
        <p:sp>
          <p:nvSpPr>
            <p:cNvPr id="130" name="Rounded Rectangle 129"/>
            <p:cNvSpPr/>
            <p:nvPr/>
          </p:nvSpPr>
          <p:spPr>
            <a:xfrm>
              <a:off x="7315200" y="4663440"/>
              <a:ext cx="4151376" cy="914400"/>
            </a:xfrm>
            <a:prstGeom prst="roundRect">
              <a:avLst>
                <a:gd name="adj" fmla="val 14000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7498080" y="4754880"/>
              <a:ext cx="374904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00" b="0" lang="en-US">
                  <a:solidFill>
                    <a:srgbClr val="298FC2"/>
                  </a:solidFill>
                  <a:latin typeface="Inter"/>
                  <a:cs typeface="Inter"/>
                </a:rPr>
                <a:t>Phase 3 · Month 16+</a:t>
              </a:r>
            </a:p>
          </p:txBody>
        </p:sp>
        <p:sp>
          <p:nvSpPr>
            <p:cNvPr id="132" name="TextBox 131"/>
            <p:cNvSpPr txBox="1"/>
            <p:nvPr/>
          </p:nvSpPr>
          <p:spPr>
            <a:xfrm>
              <a:off x="7498080" y="4956048"/>
              <a:ext cx="3749040" cy="29260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600" b="1" lang="en-US">
                  <a:solidFill>
                    <a:srgbClr val="101820"/>
                  </a:solidFill>
                  <a:latin typeface="Inter"/>
                  <a:cs typeface="Inter"/>
                </a:rPr>
                <a:t>All of Iraq</a:t>
              </a:r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7498080" y="5266944"/>
              <a:ext cx="3749040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00" b="0" lang="en-US">
                  <a:solidFill>
                    <a:srgbClr val="5A6672"/>
                  </a:solidFill>
                  <a:latin typeface="Inter"/>
                  <a:cs typeface="Inter"/>
                </a:rPr>
                <a:t>300+ stores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7315200" y="5760720"/>
            <a:ext cx="4151376" cy="411480"/>
            <a:chOff x="7315200" y="5760720"/>
            <a:chExt cx="4151376" cy="411480"/>
          </a:xfrm>
        </p:grpSpPr>
        <p:sp>
          <p:nvSpPr>
            <p:cNvPr id="134" name="Rounded Rectangle 133"/>
            <p:cNvSpPr/>
            <p:nvPr/>
          </p:nvSpPr>
          <p:spPr>
            <a:xfrm>
              <a:off x="7315200" y="5760720"/>
              <a:ext cx="4151376" cy="411480"/>
            </a:xfrm>
            <a:prstGeom prst="roundRect">
              <a:avLst>
                <a:gd name="adj" fmla="val 48888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7406640" y="5760720"/>
              <a:ext cx="3968496" cy="41148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100" b="1" lang="en-US">
                  <a:solidFill>
                    <a:srgbClr val="101820"/>
                  </a:solidFill>
                  <a:latin typeface="Inter"/>
                  <a:cs typeface="Inter"/>
                </a:rPr>
                <a:t>Founding stores: 0% commission in month 1 + free ads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6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8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9593" y="351575"/>
            <a:ext cx="3178503" cy="96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900" y="436205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Financial feasibility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Break-even at about 20 orders a day.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00" b="0" lang="en-US">
                <a:solidFill>
                  <a:srgbClr val="5A6672"/>
                </a:solidFill>
                <a:latin typeface="Inter"/>
                <a:cs typeface="Inter"/>
              </a:rPr>
              <a:t>Planning case: orders grow 100 → 2,000 a month; costs 652,000 IQD/month after launch (790,000 from month 6); includes 1.7M IQD startup costs. Assumes 25,000 IQD average order and a signed courier contract. USD at 1,500 IQD.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22376" y="2514600"/>
            <a:ext cx="3017520" cy="1115568"/>
            <a:chOff x="722376" y="2514600"/>
            <a:chExt cx="3017520" cy="1115568"/>
          </a:xfrm>
        </p:grpSpPr>
        <p:sp>
          <p:nvSpPr>
            <p:cNvPr id="104" name="Rounded Rectangle 103"/>
            <p:cNvSpPr/>
            <p:nvPr/>
          </p:nvSpPr>
          <p:spPr>
            <a:xfrm>
              <a:off x="722376" y="2514600"/>
              <a:ext cx="3017520" cy="1115568"/>
            </a:xfrm>
            <a:prstGeom prst="roundRect">
              <a:avLst>
                <a:gd name="adj" fmla="val 11475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914400" y="2642616"/>
              <a:ext cx="2743200" cy="4572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2400" b="1" lang="en-US">
                  <a:solidFill>
                    <a:srgbClr val="101820"/>
                  </a:solidFill>
                  <a:latin typeface="Comfortaa"/>
                  <a:cs typeface="Comfortaa"/>
                </a:rPr>
                <a:t>~585</a:t>
              </a:r>
              <a:r>
                <a:rPr sz="1400" b="1" lang="en-US">
                  <a:solidFill>
                    <a:srgbClr val="101820"/>
                  </a:solidFill>
                  <a:latin typeface="Comfortaa"/>
                  <a:cs typeface="Comfortaa"/>
                </a:rPr>
                <a:t> orders / month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914400" y="3154680"/>
              <a:ext cx="2743200" cy="36576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200" b="0" lang="en-US">
                  <a:solidFill>
                    <a:srgbClr val="5A6672"/>
                  </a:solidFill>
                  <a:latin typeface="Inter"/>
                  <a:cs typeface="Inter"/>
                </a:rPr>
                <a:t>break-even · about 1 order per store per day</a:t>
              </a: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722376" y="3749040"/>
            <a:ext cx="3017520" cy="1115568"/>
            <a:chOff x="722376" y="3749040"/>
            <a:chExt cx="3017520" cy="1115568"/>
          </a:xfrm>
        </p:grpSpPr>
        <p:sp>
          <p:nvSpPr>
            <p:cNvPr id="107" name="Rounded Rectangle 106"/>
            <p:cNvSpPr/>
            <p:nvPr/>
          </p:nvSpPr>
          <p:spPr>
            <a:xfrm>
              <a:off x="722376" y="3749040"/>
              <a:ext cx="3017520" cy="1115568"/>
            </a:xfrm>
            <a:prstGeom prst="roundRect">
              <a:avLst>
                <a:gd name="adj" fmla="val 11475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914400" y="3877056"/>
              <a:ext cx="2743200" cy="4572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2400" b="1" lang="en-US">
                  <a:solidFill>
                    <a:srgbClr val="101820"/>
                  </a:solidFill>
                  <a:latin typeface="Comfortaa"/>
                  <a:cs typeface="Comfortaa"/>
                </a:rPr>
                <a:t>~1,115 IQD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914400" y="4389120"/>
              <a:ext cx="2743200" cy="36576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200" b="0" lang="en-US">
                  <a:solidFill>
                    <a:srgbClr val="5A6672"/>
                  </a:solidFill>
                  <a:latin typeface="Inter"/>
                  <a:cs typeface="Inter"/>
                </a:rPr>
                <a:t>kept per delivered order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722376" y="4983480"/>
            <a:ext cx="3017520" cy="1115568"/>
            <a:chOff x="722376" y="4983480"/>
            <a:chExt cx="3017520" cy="1115568"/>
          </a:xfrm>
        </p:grpSpPr>
        <p:sp>
          <p:nvSpPr>
            <p:cNvPr id="110" name="Rounded Rectangle 109"/>
            <p:cNvSpPr/>
            <p:nvPr/>
          </p:nvSpPr>
          <p:spPr>
            <a:xfrm>
              <a:off x="722376" y="4983480"/>
              <a:ext cx="3017520" cy="1115568"/>
            </a:xfrm>
            <a:prstGeom prst="roundRect">
              <a:avLst>
                <a:gd name="adj" fmla="val 11475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914400" y="5111496"/>
              <a:ext cx="2743200" cy="4572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2400" b="1" lang="en-US">
                  <a:solidFill>
                    <a:srgbClr val="101820"/>
                  </a:solidFill>
                  <a:latin typeface="Comfortaa"/>
                  <a:cs typeface="Comfortaa"/>
                </a:rPr>
                <a:t>Month 4</a:t>
              </a:r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914400" y="5623560"/>
              <a:ext cx="2743200" cy="36576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200" b="0" lang="en-US">
                  <a:solidFill>
                    <a:srgbClr val="5A6672"/>
                  </a:solidFill>
                  <a:latin typeface="Inter"/>
                  <a:cs typeface="Inter"/>
                </a:rPr>
                <a:t>monthly break-even (planning case)</a:t>
              </a: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3840480" y="2979281"/>
            <a:ext cx="7772400" cy="3275215"/>
            <a:chOff x="3840480" y="2979281"/>
            <a:chExt cx="7772400" cy="3275215"/>
          </a:xfrm>
        </p:grpSpPr>
        <p:cxnSp>
          <p:nvCxnSpPr>
            <p:cNvPr id="113" name="Connector 112"/>
            <p:cNvCxnSpPr/>
            <p:nvPr/>
          </p:nvCxnSpPr>
          <p:spPr>
            <a:xfrm>
              <a:off x="4480560" y="3079865"/>
              <a:ext cx="6766560" cy="0"/>
            </a:xfrm>
            <a:prstGeom prst="line">
              <a:avLst/>
            </a:prstGeom>
            <a:ln w="6350">
              <a:solidFill>
                <a:srgbClr val="DDE5ED"/>
              </a:solidFill>
            </a:ln>
            <a:effectLst/>
          </p:spPr>
        </p:cxnSp>
        <p:sp>
          <p:nvSpPr>
            <p:cNvPr id="114" name="TextBox 113"/>
            <p:cNvSpPr txBox="1"/>
            <p:nvPr/>
          </p:nvSpPr>
          <p:spPr>
            <a:xfrm>
              <a:off x="3840480" y="2979281"/>
              <a:ext cx="54864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+$2k</a:t>
              </a:r>
            </a:p>
          </p:txBody>
        </p:sp>
        <p:cxnSp>
          <p:nvCxnSpPr>
            <p:cNvPr id="115" name="Connector 114"/>
            <p:cNvCxnSpPr/>
            <p:nvPr/>
          </p:nvCxnSpPr>
          <p:spPr>
            <a:xfrm>
              <a:off x="4480560" y="3661756"/>
              <a:ext cx="6766560" cy="0"/>
            </a:xfrm>
            <a:prstGeom prst="line">
              <a:avLst/>
            </a:prstGeom>
            <a:ln w="6350">
              <a:solidFill>
                <a:srgbClr val="DDE5ED"/>
              </a:solidFill>
            </a:ln>
            <a:effectLst/>
          </p:spPr>
        </p:cxnSp>
        <p:sp>
          <p:nvSpPr>
            <p:cNvPr id="116" name="TextBox 115"/>
            <p:cNvSpPr txBox="1"/>
            <p:nvPr/>
          </p:nvSpPr>
          <p:spPr>
            <a:xfrm>
              <a:off x="3840480" y="3561172"/>
              <a:ext cx="54864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+$1k</a:t>
              </a: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3840480" y="4143063"/>
              <a:ext cx="54864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$0</a:t>
              </a:r>
            </a:p>
          </p:txBody>
        </p:sp>
        <p:cxnSp>
          <p:nvCxnSpPr>
            <p:cNvPr id="118" name="Connector 117"/>
            <p:cNvCxnSpPr/>
            <p:nvPr/>
          </p:nvCxnSpPr>
          <p:spPr>
            <a:xfrm>
              <a:off x="4480560" y="4825538"/>
              <a:ext cx="6766560" cy="0"/>
            </a:xfrm>
            <a:prstGeom prst="line">
              <a:avLst/>
            </a:prstGeom>
            <a:ln w="6350">
              <a:solidFill>
                <a:srgbClr val="DDE5ED"/>
              </a:solidFill>
            </a:ln>
            <a:effectLst/>
          </p:spPr>
        </p:cxnSp>
        <p:sp>
          <p:nvSpPr>
            <p:cNvPr id="119" name="TextBox 118"/>
            <p:cNvSpPr txBox="1"/>
            <p:nvPr/>
          </p:nvSpPr>
          <p:spPr>
            <a:xfrm>
              <a:off x="3840480" y="4724954"/>
              <a:ext cx="54864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−$1k</a:t>
              </a:r>
            </a:p>
          </p:txBody>
        </p:sp>
        <p:cxnSp>
          <p:nvCxnSpPr>
            <p:cNvPr id="120" name="Connector 119"/>
            <p:cNvCxnSpPr/>
            <p:nvPr/>
          </p:nvCxnSpPr>
          <p:spPr>
            <a:xfrm>
              <a:off x="4480560" y="5407429"/>
              <a:ext cx="6766560" cy="0"/>
            </a:xfrm>
            <a:prstGeom prst="line">
              <a:avLst/>
            </a:prstGeom>
            <a:ln w="6350">
              <a:solidFill>
                <a:srgbClr val="DDE5ED"/>
              </a:solidFill>
            </a:ln>
            <a:effectLst/>
          </p:spPr>
        </p:cxnSp>
        <p:sp>
          <p:nvSpPr>
            <p:cNvPr id="121" name="TextBox 120"/>
            <p:cNvSpPr txBox="1"/>
            <p:nvPr/>
          </p:nvSpPr>
          <p:spPr>
            <a:xfrm>
              <a:off x="3840480" y="5306845"/>
              <a:ext cx="54864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−$2k</a:t>
              </a:r>
            </a:p>
          </p:txBody>
        </p:sp>
        <p:cxnSp>
          <p:nvCxnSpPr>
            <p:cNvPr id="122" name="Connector 121"/>
            <p:cNvCxnSpPr/>
            <p:nvPr/>
          </p:nvCxnSpPr>
          <p:spPr>
            <a:xfrm>
              <a:off x="4480560" y="5989320"/>
              <a:ext cx="6766560" cy="0"/>
            </a:xfrm>
            <a:prstGeom prst="line">
              <a:avLst/>
            </a:prstGeom>
            <a:ln w="6350">
              <a:solidFill>
                <a:srgbClr val="DDE5ED"/>
              </a:solidFill>
            </a:ln>
            <a:effectLst/>
          </p:spPr>
        </p:cxnSp>
        <p:sp>
          <p:nvSpPr>
            <p:cNvPr id="123" name="TextBox 122"/>
            <p:cNvSpPr txBox="1"/>
            <p:nvPr/>
          </p:nvSpPr>
          <p:spPr>
            <a:xfrm>
              <a:off x="3840480" y="5888736"/>
              <a:ext cx="54864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−$3k</a:t>
              </a:r>
            </a:p>
          </p:txBody>
        </p:sp>
        <p:cxnSp>
          <p:nvCxnSpPr>
            <p:cNvPr id="124" name="Connector 123"/>
            <p:cNvCxnSpPr/>
            <p:nvPr/>
          </p:nvCxnSpPr>
          <p:spPr>
            <a:xfrm>
              <a:off x="4480560" y="4243647"/>
              <a:ext cx="6766560" cy="0"/>
            </a:xfrm>
            <a:prstGeom prst="line">
              <a:avLst/>
            </a:prstGeom>
            <a:ln w="12700">
              <a:solidFill>
                <a:srgbClr val="101820"/>
              </a:solidFill>
            </a:ln>
            <a:effectLst/>
          </p:spPr>
        </p:cxnSp>
        <p:sp>
          <p:nvSpPr>
            <p:cNvPr id="125" name="TextBox 124"/>
            <p:cNvSpPr txBox="1"/>
            <p:nvPr/>
          </p:nvSpPr>
          <p:spPr>
            <a:xfrm>
              <a:off x="4526280" y="4005903"/>
              <a:ext cx="137160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break-even line</a:t>
              </a:r>
            </a:p>
          </p:txBody>
        </p:sp>
        <p:sp>
          <p:nvSpPr>
            <p:cNvPr id="126" name="TextBox 125"/>
            <p:cNvSpPr txBox="1"/>
            <p:nvPr/>
          </p:nvSpPr>
          <p:spPr>
            <a:xfrm>
              <a:off x="4114800" y="6053328"/>
              <a:ext cx="73152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Start</a:t>
              </a:r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5242560" y="6053328"/>
              <a:ext cx="73152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Launch</a:t>
              </a:r>
            </a:p>
          </p:txBody>
        </p:sp>
        <p:sp>
          <p:nvSpPr>
            <p:cNvPr id="128" name="TextBox 127"/>
            <p:cNvSpPr txBox="1"/>
            <p:nvPr/>
          </p:nvSpPr>
          <p:spPr>
            <a:xfrm>
              <a:off x="6370320" y="6053328"/>
              <a:ext cx="73152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M2</a:t>
              </a:r>
            </a:p>
          </p:txBody>
        </p:sp>
        <p:sp>
          <p:nvSpPr>
            <p:cNvPr id="129" name="TextBox 128"/>
            <p:cNvSpPr txBox="1"/>
            <p:nvPr/>
          </p:nvSpPr>
          <p:spPr>
            <a:xfrm>
              <a:off x="7498080" y="6053328"/>
              <a:ext cx="73152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M4</a:t>
              </a:r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8625840" y="6053328"/>
              <a:ext cx="73152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M6</a:t>
              </a: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9753600" y="6053328"/>
              <a:ext cx="73152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M8</a:t>
              </a:r>
            </a:p>
          </p:txBody>
        </p:sp>
        <p:sp>
          <p:nvSpPr>
            <p:cNvPr id="132" name="TextBox 131"/>
            <p:cNvSpPr txBox="1"/>
            <p:nvPr/>
          </p:nvSpPr>
          <p:spPr>
            <a:xfrm>
              <a:off x="10881360" y="6053328"/>
              <a:ext cx="731520" cy="20116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000" b="0" lang="en-US">
                  <a:solidFill>
                    <a:srgbClr val="5A6672"/>
                  </a:solidFill>
                  <a:latin typeface="Inter"/>
                  <a:cs typeface="Inter"/>
                </a:rPr>
                <a:t>M10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4480560" y="4902930"/>
            <a:ext cx="563880" cy="81464"/>
            <a:chOff x="4480560" y="4902930"/>
            <a:chExt cx="563880" cy="81464"/>
          </a:xfrm>
        </p:grpSpPr>
        <p:cxnSp>
          <p:nvCxnSpPr>
            <p:cNvPr id="133" name="Connector 132"/>
            <p:cNvCxnSpPr/>
            <p:nvPr/>
          </p:nvCxnSpPr>
          <p:spPr>
            <a:xfrm>
              <a:off x="4480560" y="4902930"/>
              <a:ext cx="563880" cy="81464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7" name="Group 6"/>
          <p:cNvGrpSpPr/>
          <p:nvPr/>
        </p:nvGrpSpPr>
        <p:grpSpPr>
          <a:xfrm>
            <a:off x="5044440" y="4984394"/>
            <a:ext cx="563880" cy="81465"/>
            <a:chOff x="5044440" y="4984394"/>
            <a:chExt cx="563880" cy="81465"/>
          </a:xfrm>
        </p:grpSpPr>
        <p:cxnSp>
          <p:nvCxnSpPr>
            <p:cNvPr id="134" name="Connector 133"/>
            <p:cNvCxnSpPr/>
            <p:nvPr/>
          </p:nvCxnSpPr>
          <p:spPr>
            <a:xfrm>
              <a:off x="5044440" y="4984394"/>
              <a:ext cx="563880" cy="81465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8" name="Group 7"/>
          <p:cNvGrpSpPr/>
          <p:nvPr/>
        </p:nvGrpSpPr>
        <p:grpSpPr>
          <a:xfrm>
            <a:off x="5608320" y="5065859"/>
            <a:ext cx="563880" cy="210063"/>
            <a:chOff x="5608320" y="5065859"/>
            <a:chExt cx="563880" cy="210063"/>
          </a:xfrm>
        </p:grpSpPr>
        <p:cxnSp>
          <p:nvCxnSpPr>
            <p:cNvPr id="135" name="Connector 134"/>
            <p:cNvCxnSpPr/>
            <p:nvPr/>
          </p:nvCxnSpPr>
          <p:spPr>
            <a:xfrm>
              <a:off x="5608320" y="5065859"/>
              <a:ext cx="563880" cy="210063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9" name="Group 8"/>
          <p:cNvGrpSpPr/>
          <p:nvPr/>
        </p:nvGrpSpPr>
        <p:grpSpPr>
          <a:xfrm>
            <a:off x="6172200" y="5275922"/>
            <a:ext cx="563880" cy="155365"/>
            <a:chOff x="6172200" y="5275922"/>
            <a:chExt cx="563880" cy="155365"/>
          </a:xfrm>
        </p:grpSpPr>
        <p:cxnSp>
          <p:nvCxnSpPr>
            <p:cNvPr id="136" name="Connector 135"/>
            <p:cNvCxnSpPr/>
            <p:nvPr/>
          </p:nvCxnSpPr>
          <p:spPr>
            <a:xfrm>
              <a:off x="6172200" y="5275922"/>
              <a:ext cx="563880" cy="155365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0" name="Group 9"/>
          <p:cNvGrpSpPr/>
          <p:nvPr/>
        </p:nvGrpSpPr>
        <p:grpSpPr>
          <a:xfrm>
            <a:off x="6736080" y="5431287"/>
            <a:ext cx="563880" cy="79719"/>
            <a:chOff x="6736080" y="5431287"/>
            <a:chExt cx="563880" cy="79719"/>
          </a:xfrm>
        </p:grpSpPr>
        <p:cxnSp>
          <p:nvCxnSpPr>
            <p:cNvPr id="137" name="Connector 136"/>
            <p:cNvCxnSpPr/>
            <p:nvPr/>
          </p:nvCxnSpPr>
          <p:spPr>
            <a:xfrm>
              <a:off x="6736080" y="5431287"/>
              <a:ext cx="563880" cy="79719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1" name="Group 10"/>
          <p:cNvGrpSpPr/>
          <p:nvPr/>
        </p:nvGrpSpPr>
        <p:grpSpPr>
          <a:xfrm>
            <a:off x="7299960" y="5504605"/>
            <a:ext cx="563880" cy="6401"/>
            <a:chOff x="7299960" y="5504605"/>
            <a:chExt cx="563880" cy="6401"/>
          </a:xfrm>
        </p:grpSpPr>
        <p:cxnSp>
          <p:nvCxnSpPr>
            <p:cNvPr id="138" name="Connector 137"/>
            <p:cNvCxnSpPr/>
            <p:nvPr/>
          </p:nvCxnSpPr>
          <p:spPr>
            <a:xfrm flipV="1">
              <a:off x="7299960" y="5504605"/>
              <a:ext cx="563880" cy="6401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2" name="Group 11"/>
          <p:cNvGrpSpPr/>
          <p:nvPr/>
        </p:nvGrpSpPr>
        <p:grpSpPr>
          <a:xfrm>
            <a:off x="7863840" y="5324801"/>
            <a:ext cx="563880" cy="179804"/>
            <a:chOff x="7863840" y="5324801"/>
            <a:chExt cx="563880" cy="179804"/>
          </a:xfrm>
        </p:grpSpPr>
        <p:cxnSp>
          <p:nvCxnSpPr>
            <p:cNvPr id="139" name="Connector 138"/>
            <p:cNvCxnSpPr/>
            <p:nvPr/>
          </p:nvCxnSpPr>
          <p:spPr>
            <a:xfrm flipV="1">
              <a:off x="7863840" y="5324801"/>
              <a:ext cx="563880" cy="179804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3" name="Group 12"/>
          <p:cNvGrpSpPr/>
          <p:nvPr/>
        </p:nvGrpSpPr>
        <p:grpSpPr>
          <a:xfrm>
            <a:off x="8427720" y="5047821"/>
            <a:ext cx="563880" cy="276980"/>
            <a:chOff x="8427720" y="5047821"/>
            <a:chExt cx="563880" cy="276980"/>
          </a:xfrm>
        </p:grpSpPr>
        <p:cxnSp>
          <p:nvCxnSpPr>
            <p:cNvPr id="140" name="Connector 139"/>
            <p:cNvCxnSpPr/>
            <p:nvPr/>
          </p:nvCxnSpPr>
          <p:spPr>
            <a:xfrm flipV="1">
              <a:off x="8427720" y="5047821"/>
              <a:ext cx="563880" cy="276980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4" name="Group 13"/>
          <p:cNvGrpSpPr/>
          <p:nvPr/>
        </p:nvGrpSpPr>
        <p:grpSpPr>
          <a:xfrm>
            <a:off x="8991600" y="4662027"/>
            <a:ext cx="563880" cy="385794"/>
            <a:chOff x="8991600" y="4662027"/>
            <a:chExt cx="563880" cy="385794"/>
          </a:xfrm>
        </p:grpSpPr>
        <p:cxnSp>
          <p:nvCxnSpPr>
            <p:cNvPr id="141" name="Connector 140"/>
            <p:cNvCxnSpPr/>
            <p:nvPr/>
          </p:nvCxnSpPr>
          <p:spPr>
            <a:xfrm flipV="1">
              <a:off x="8991600" y="4662027"/>
              <a:ext cx="563880" cy="385794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5" name="Group 14"/>
          <p:cNvGrpSpPr/>
          <p:nvPr/>
        </p:nvGrpSpPr>
        <p:grpSpPr>
          <a:xfrm>
            <a:off x="9555480" y="4168001"/>
            <a:ext cx="563880" cy="494026"/>
            <a:chOff x="9555480" y="4168001"/>
            <a:chExt cx="563880" cy="494026"/>
          </a:xfrm>
        </p:grpSpPr>
        <p:cxnSp>
          <p:nvCxnSpPr>
            <p:cNvPr id="142" name="Connector 141"/>
            <p:cNvCxnSpPr/>
            <p:nvPr/>
          </p:nvCxnSpPr>
          <p:spPr>
            <a:xfrm flipV="1">
              <a:off x="9555480" y="4168001"/>
              <a:ext cx="563880" cy="494026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6" name="Group 15"/>
          <p:cNvGrpSpPr/>
          <p:nvPr/>
        </p:nvGrpSpPr>
        <p:grpSpPr>
          <a:xfrm>
            <a:off x="10119360" y="3609386"/>
            <a:ext cx="563880" cy="558615"/>
            <a:chOff x="10119360" y="3609386"/>
            <a:chExt cx="563880" cy="558615"/>
          </a:xfrm>
        </p:grpSpPr>
        <p:cxnSp>
          <p:nvCxnSpPr>
            <p:cNvPr id="143" name="Connector 142"/>
            <p:cNvCxnSpPr/>
            <p:nvPr/>
          </p:nvCxnSpPr>
          <p:spPr>
            <a:xfrm flipV="1">
              <a:off x="10119360" y="3609386"/>
              <a:ext cx="563880" cy="558615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7" name="Group 16"/>
          <p:cNvGrpSpPr/>
          <p:nvPr/>
        </p:nvGrpSpPr>
        <p:grpSpPr>
          <a:xfrm>
            <a:off x="10683240" y="3007711"/>
            <a:ext cx="563880" cy="601675"/>
            <a:chOff x="10683240" y="3007711"/>
            <a:chExt cx="563880" cy="601675"/>
          </a:xfrm>
        </p:grpSpPr>
        <p:cxnSp>
          <p:nvCxnSpPr>
            <p:cNvPr id="144" name="Connector 143"/>
            <p:cNvCxnSpPr/>
            <p:nvPr/>
          </p:nvCxnSpPr>
          <p:spPr>
            <a:xfrm flipV="1">
              <a:off x="10683240" y="3007711"/>
              <a:ext cx="563880" cy="601675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8" name="Group 17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  <p:sp>
          <p:nvSpPr>
            <p:cNvPr id="19" name="Freeform 18"/>
            <p:cNvSpPr/>
            <p:nvPr/>
          </p:nvSpPr>
          <p:spPr>
            <a:xfrm>
              <a:off x="4480560" y="4902930"/>
              <a:ext cx="6766560" cy="938590"/>
            </a:xfrm>
            <a:custGeom>
              <a:avLst/>
              <a:gdLst/>
              <a:ahLst/>
              <a:cxnLst/>
              <a:rect l="l" t="t" r="r" b="b"/>
              <a:pathLst>
                <a:path w="6766560" h="938590">
                  <a:moveTo>
                    <a:pt x="0" y="0"/>
                  </a:moveTo>
                  <a:lnTo>
                    <a:pt x="563880" y="81464"/>
                  </a:lnTo>
                  <a:lnTo>
                    <a:pt x="1127760" y="162929"/>
                  </a:lnTo>
                  <a:lnTo>
                    <a:pt x="1691640" y="394522"/>
                  </a:lnTo>
                  <a:lnTo>
                    <a:pt x="2255520" y="597602"/>
                  </a:lnTo>
                  <a:lnTo>
                    <a:pt x="2819400" y="764022"/>
                  </a:lnTo>
                  <a:lnTo>
                    <a:pt x="3383280" y="887383"/>
                  </a:lnTo>
                  <a:lnTo>
                    <a:pt x="3947160" y="924042"/>
                  </a:lnTo>
                  <a:lnTo>
                    <a:pt x="4511040" y="938590"/>
                  </a:lnTo>
                  <a:lnTo>
                    <a:pt x="5074920" y="899021"/>
                  </a:lnTo>
                  <a:lnTo>
                    <a:pt x="5638800" y="805337"/>
                  </a:lnTo>
                  <a:lnTo>
                    <a:pt x="6202680" y="679066"/>
                  </a:lnTo>
                  <a:lnTo>
                    <a:pt x="6766560" y="552796"/>
                  </a:lnTo>
                </a:path>
              </a:pathLst>
            </a:custGeom>
            <a:noFill/>
            <a:ln w="25400">
              <a:solidFill>
                <a:srgbClr val="A9B1B9"/>
              </a:solidFill>
              <a:prstDash val="dash"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4754880" y="3794760"/>
            <a:ext cx="2618232" cy="1789398"/>
            <a:chOff x="4754880" y="3794760"/>
            <a:chExt cx="2618232" cy="1789398"/>
          </a:xfrm>
        </p:grpSpPr>
        <p:cxnSp>
          <p:nvCxnSpPr>
            <p:cNvPr id="145" name="Connector 144"/>
            <p:cNvCxnSpPr/>
            <p:nvPr/>
          </p:nvCxnSpPr>
          <p:spPr>
            <a:xfrm flipV="1">
              <a:off x="7299960" y="4041648"/>
              <a:ext cx="0" cy="1469358"/>
            </a:xfrm>
            <a:prstGeom prst="line">
              <a:avLst/>
            </a:prstGeom>
            <a:ln w="12700">
              <a:solidFill>
                <a:srgbClr val="D22730"/>
              </a:solidFill>
            </a:ln>
            <a:effectLst/>
          </p:spPr>
        </p:cxnSp>
        <p:sp>
          <p:nvSpPr>
            <p:cNvPr id="146" name="Oval 145"/>
            <p:cNvSpPr/>
            <p:nvPr/>
          </p:nvSpPr>
          <p:spPr>
            <a:xfrm>
              <a:off x="7226808" y="5437854"/>
              <a:ext cx="146304" cy="146304"/>
            </a:xfrm>
            <a:prstGeom prst="ellipse">
              <a:avLst/>
            </a:prstGeom>
            <a:solidFill>
              <a:srgbClr val="D22730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7" name="TextBox 146"/>
            <p:cNvSpPr txBox="1"/>
            <p:nvPr/>
          </p:nvSpPr>
          <p:spPr>
            <a:xfrm>
              <a:off x="4754880" y="3794760"/>
              <a:ext cx="2523744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100" b="1" lang="en-US">
                  <a:solidFill>
                    <a:srgbClr val="D22730"/>
                  </a:solidFill>
                  <a:latin typeface="Inter"/>
                  <a:cs typeface="Inter"/>
                </a:rPr>
                <a:t>Lowest point −$2,180 (month 3)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7790688" y="3794760"/>
            <a:ext cx="2267712" cy="1782997"/>
            <a:chOff x="7790688" y="3794760"/>
            <a:chExt cx="2267712" cy="1782997"/>
          </a:xfrm>
        </p:grpSpPr>
        <p:cxnSp>
          <p:nvCxnSpPr>
            <p:cNvPr id="148" name="Connector 147"/>
            <p:cNvCxnSpPr/>
            <p:nvPr/>
          </p:nvCxnSpPr>
          <p:spPr>
            <a:xfrm flipV="1">
              <a:off x="7863840" y="4041648"/>
              <a:ext cx="0" cy="1462957"/>
            </a:xfrm>
            <a:prstGeom prst="line">
              <a:avLst/>
            </a:prstGeom>
            <a:ln w="12700">
              <a:solidFill>
                <a:srgbClr val="298FC2"/>
              </a:solidFill>
            </a:ln>
            <a:effectLst/>
          </p:spPr>
        </p:cxnSp>
        <p:sp>
          <p:nvSpPr>
            <p:cNvPr id="149" name="Oval 148"/>
            <p:cNvSpPr/>
            <p:nvPr/>
          </p:nvSpPr>
          <p:spPr>
            <a:xfrm>
              <a:off x="7790688" y="5431453"/>
              <a:ext cx="146304" cy="146304"/>
            </a:xfrm>
            <a:prstGeom prst="ellipse">
              <a:avLst/>
            </a:prstGeom>
            <a:solidFill>
              <a:srgbClr val="298FC2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0" name="TextBox 149"/>
            <p:cNvSpPr txBox="1"/>
            <p:nvPr/>
          </p:nvSpPr>
          <p:spPr>
            <a:xfrm>
              <a:off x="7955280" y="3794760"/>
              <a:ext cx="2103120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00" b="1" lang="en-US">
                  <a:solidFill>
                    <a:srgbClr val="298FC2"/>
                  </a:solidFill>
                  <a:latin typeface="Inter"/>
                  <a:cs typeface="Inter"/>
                </a:rPr>
                <a:t>Monthly break-even (month 4)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223760" y="3246120"/>
            <a:ext cx="2968752" cy="995033"/>
            <a:chOff x="7223760" y="3246120"/>
            <a:chExt cx="2968752" cy="995033"/>
          </a:xfrm>
        </p:grpSpPr>
        <p:cxnSp>
          <p:nvCxnSpPr>
            <p:cNvPr id="151" name="Connector 150"/>
            <p:cNvCxnSpPr/>
            <p:nvPr/>
          </p:nvCxnSpPr>
          <p:spPr>
            <a:xfrm flipV="1">
              <a:off x="10119360" y="3493008"/>
              <a:ext cx="0" cy="674993"/>
            </a:xfrm>
            <a:prstGeom prst="line">
              <a:avLst/>
            </a:prstGeom>
            <a:ln w="12700">
              <a:solidFill>
                <a:srgbClr val="101820"/>
              </a:solidFill>
            </a:ln>
            <a:effectLst/>
          </p:spPr>
        </p:cxnSp>
        <p:sp>
          <p:nvSpPr>
            <p:cNvPr id="152" name="Oval 151"/>
            <p:cNvSpPr/>
            <p:nvPr/>
          </p:nvSpPr>
          <p:spPr>
            <a:xfrm>
              <a:off x="10046208" y="4094849"/>
              <a:ext cx="146304" cy="146304"/>
            </a:xfrm>
            <a:prstGeom prst="ellipse">
              <a:avLst/>
            </a:prstGeom>
            <a:solidFill>
              <a:srgbClr val="101820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3" name="TextBox 152"/>
            <p:cNvSpPr txBox="1"/>
            <p:nvPr/>
          </p:nvSpPr>
          <p:spPr>
            <a:xfrm>
              <a:off x="7223760" y="3246120"/>
              <a:ext cx="2862072" cy="21945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100" b="1" lang="en-US">
                  <a:solidFill>
                    <a:srgbClr val="101820"/>
                  </a:solidFill>
                  <a:latin typeface="Inter"/>
                  <a:cs typeface="Inter"/>
                </a:rPr>
                <a:t>All losses recovered (month 8)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8918448" y="5138928"/>
            <a:ext cx="2249424" cy="775744"/>
            <a:chOff x="8918448" y="5138928"/>
            <a:chExt cx="2249424" cy="775744"/>
          </a:xfrm>
        </p:grpSpPr>
        <p:sp>
          <p:nvSpPr>
            <p:cNvPr id="154" name="Oval 153"/>
            <p:cNvSpPr/>
            <p:nvPr/>
          </p:nvSpPr>
          <p:spPr>
            <a:xfrm>
              <a:off x="8918448" y="5768368"/>
              <a:ext cx="146304" cy="146304"/>
            </a:xfrm>
            <a:prstGeom prst="ellipse">
              <a:avLst/>
            </a:prstGeom>
            <a:solidFill>
              <a:srgbClr val="A9B1B9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55" name="Connector 154"/>
            <p:cNvCxnSpPr/>
            <p:nvPr/>
          </p:nvCxnSpPr>
          <p:spPr>
            <a:xfrm flipV="1">
              <a:off x="9046464" y="5567200"/>
              <a:ext cx="91440" cy="219456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56" name="TextBox 155"/>
            <p:cNvSpPr txBox="1"/>
            <p:nvPr/>
          </p:nvSpPr>
          <p:spPr>
            <a:xfrm>
              <a:off x="9156192" y="5138928"/>
              <a:ext cx="2011680" cy="36576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100" b="1" lang="en-US">
                  <a:solidFill>
                    <a:srgbClr val="5A6672"/>
                  </a:solidFill>
                  <a:latin typeface="Inter"/>
                  <a:cs typeface="Inter"/>
                </a:rPr>
                <a:t>Worst case −$2,750</a:t>
              </a:r>
            </a:p>
            <a:p>
              <a:pPr algn="l"/>
              <a:r>
                <a:rPr sz="1100" b="1" lang="en-US">
                  <a:solidFill>
                    <a:srgbClr val="5A6672"/>
                  </a:solidFill>
                  <a:latin typeface="Inter"/>
                  <a:cs typeface="Inter"/>
                </a:rPr>
                <a:t>(half-speed growth)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50"/>
                            </p:stCondLst>
                            <p:childTnLst>
                              <p:par>
                                <p:cTn id="22" presetID="1" presetClass="entr" presetSubtype="0" fill="hold" grpId="0" nodeType="after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21"/>
                            </p:stCondLst>
                            <p:childTnLst>
                              <p:par>
                                <p:cTn id="25" presetID="1" presetClass="entr" presetSubtype="0" fill="hold" grpId="0" nodeType="after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92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63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34"/>
                            </p:stCondLst>
                            <p:childTnLst>
                              <p:par>
                                <p:cTn id="34" presetID="1" presetClass="entr" presetSubtype="0" fill="hold" grpId="0" nodeType="after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5"/>
                            </p:stCondLst>
                            <p:childTnLst>
                              <p:par>
                                <p:cTn id="3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"/>
                            </p:stCondLst>
                            <p:childTnLst>
                              <p:par>
                                <p:cTn id="4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71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42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213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84"/>
                            </p:stCondLst>
                            <p:childTnLst>
                              <p:par>
                                <p:cTn id="66" presetID="1" presetClass="entr" presetSubtype="0" fill="hold" grpId="0" nodeType="after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355"/>
                            </p:stCondLst>
                            <p:childTnLst>
                              <p:par>
                                <p:cTn id="69" presetID="1" presetClass="entr" presetSubtype="0" fill="hold" grpId="0" nodeType="after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426"/>
                            </p:stCondLst>
                            <p:childTnLst>
                              <p:par>
                                <p:cTn id="7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9593" y="351575"/>
            <a:ext cx="3178503" cy="96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900" y="436205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Funding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$7,500 launches Duhok.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554480" y="3995928"/>
            <a:ext cx="1828800" cy="731520"/>
            <a:chOff x="1554480" y="3995928"/>
            <a:chExt cx="1828800" cy="731520"/>
          </a:xfrm>
        </p:grpSpPr>
        <p:sp>
          <p:nvSpPr>
            <p:cNvPr id="103" name="TextBox 102"/>
            <p:cNvSpPr txBox="1"/>
            <p:nvPr/>
          </p:nvSpPr>
          <p:spPr>
            <a:xfrm>
              <a:off x="1554480" y="3995928"/>
              <a:ext cx="1828800" cy="4572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3200" b="1" lang="en-US">
                  <a:solidFill>
                    <a:srgbClr val="101820"/>
                  </a:solidFill>
                  <a:latin typeface="Comfortaa"/>
                  <a:cs typeface="Comfortaa"/>
                </a:rPr>
                <a:t>$7,500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1554480" y="4471416"/>
              <a:ext cx="1828800" cy="2560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200" b="0" lang="en-US">
                  <a:solidFill>
                    <a:srgbClr val="5A6672"/>
                  </a:solidFill>
                  <a:latin typeface="Inter"/>
                  <a:cs typeface="Inter"/>
                </a:rPr>
                <a:t>≈ 11.25M IQD</a:t>
              </a: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868680" y="2743200"/>
            <a:ext cx="3200400" cy="3200400"/>
            <a:chOff x="868680" y="2743200"/>
            <a:chExt cx="3200400" cy="3200400"/>
          </a:xfrm>
        </p:grpSpPr>
        <p:sp>
          <p:nvSpPr>
            <p:cNvPr id="105" name="Block Arc 104"/>
            <p:cNvSpPr/>
            <p:nvPr/>
          </p:nvSpPr>
          <p:spPr>
            <a:xfrm>
              <a:off x="868680" y="2743200"/>
              <a:ext cx="3200400" cy="3200400"/>
            </a:xfrm>
            <a:prstGeom prst="blockArc">
              <a:avLst>
                <a:gd name="adj1" fmla="val 16200000"/>
                <a:gd name="adj2" fmla="val 936000"/>
                <a:gd name="adj3" fmla="val 20000"/>
              </a:avLst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4389120" y="2788920"/>
            <a:ext cx="3108960" cy="274320"/>
            <a:chOff x="4389120" y="2788920"/>
            <a:chExt cx="3108960" cy="274320"/>
          </a:xfrm>
        </p:grpSpPr>
        <p:sp>
          <p:nvSpPr>
            <p:cNvPr id="106" name="Rounded Rectangle 105"/>
            <p:cNvSpPr/>
            <p:nvPr/>
          </p:nvSpPr>
          <p:spPr>
            <a:xfrm>
              <a:off x="4389120" y="2825496"/>
              <a:ext cx="201168" cy="201168"/>
            </a:xfrm>
            <a:prstGeom prst="roundRect">
              <a:avLst>
                <a:gd name="adj" fmla="val 18181"/>
              </a:avLst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4681728" y="2788920"/>
              <a:ext cx="224028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00" b="0" lang="en-US">
                  <a:solidFill>
                    <a:srgbClr val="101820"/>
                  </a:solidFill>
                  <a:latin typeface="Inter"/>
                  <a:cs typeface="Inter"/>
                </a:rPr>
                <a:t>Launch gap (until break-even)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6903720" y="2788920"/>
              <a:ext cx="59436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$2,200</a:t>
              </a: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868680" y="2743200"/>
            <a:ext cx="3200400" cy="3200400"/>
            <a:chOff x="868680" y="2743200"/>
            <a:chExt cx="3200400" cy="3200400"/>
          </a:xfrm>
        </p:grpSpPr>
        <p:sp>
          <p:nvSpPr>
            <p:cNvPr id="109" name="Block Arc 108"/>
            <p:cNvSpPr/>
            <p:nvPr/>
          </p:nvSpPr>
          <p:spPr>
            <a:xfrm>
              <a:off x="868680" y="2743200"/>
              <a:ext cx="3200400" cy="3200400"/>
            </a:xfrm>
            <a:prstGeom prst="blockArc">
              <a:avLst>
                <a:gd name="adj1" fmla="val 936000"/>
                <a:gd name="adj2" fmla="val 8136000"/>
                <a:gd name="adj3" fmla="val 2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4389120" y="3227832"/>
            <a:ext cx="3108960" cy="274320"/>
            <a:chOff x="4389120" y="3227832"/>
            <a:chExt cx="3108960" cy="274320"/>
          </a:xfrm>
        </p:grpSpPr>
        <p:sp>
          <p:nvSpPr>
            <p:cNvPr id="110" name="Rounded Rectangle 109"/>
            <p:cNvSpPr/>
            <p:nvPr/>
          </p:nvSpPr>
          <p:spPr>
            <a:xfrm>
              <a:off x="4389120" y="3264408"/>
              <a:ext cx="201168" cy="201168"/>
            </a:xfrm>
            <a:prstGeom prst="roundRect">
              <a:avLst>
                <a:gd name="adj" fmla="val 18181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4681728" y="3227832"/>
              <a:ext cx="224028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00" b="0" lang="en-US">
                  <a:solidFill>
                    <a:srgbClr val="101820"/>
                  </a:solidFill>
                  <a:latin typeface="Inter"/>
                  <a:cs typeface="Inter"/>
                </a:rPr>
                <a:t>Growth marketing</a:t>
              </a:r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6903720" y="3227832"/>
              <a:ext cx="59436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$2,500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868680" y="2743200"/>
            <a:ext cx="3200400" cy="3200400"/>
            <a:chOff x="868680" y="2743200"/>
            <a:chExt cx="3200400" cy="3200400"/>
          </a:xfrm>
        </p:grpSpPr>
        <p:sp>
          <p:nvSpPr>
            <p:cNvPr id="113" name="Block Arc 112"/>
            <p:cNvSpPr/>
            <p:nvPr/>
          </p:nvSpPr>
          <p:spPr>
            <a:xfrm>
              <a:off x="868680" y="2743200"/>
              <a:ext cx="3200400" cy="3200400"/>
            </a:xfrm>
            <a:prstGeom prst="blockArc">
              <a:avLst>
                <a:gd name="adj1" fmla="val 8136000"/>
                <a:gd name="adj2" fmla="val 11016000"/>
                <a:gd name="adj3" fmla="val 20000"/>
              </a:avLst>
            </a:prstGeom>
            <a:solidFill>
              <a:srgbClr val="5A667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4389120" y="3666744"/>
            <a:ext cx="3108960" cy="274320"/>
            <a:chOff x="4389120" y="3666744"/>
            <a:chExt cx="3108960" cy="274320"/>
          </a:xfrm>
        </p:grpSpPr>
        <p:sp>
          <p:nvSpPr>
            <p:cNvPr id="114" name="Rounded Rectangle 113"/>
            <p:cNvSpPr/>
            <p:nvPr/>
          </p:nvSpPr>
          <p:spPr>
            <a:xfrm>
              <a:off x="4389120" y="3703320"/>
              <a:ext cx="201168" cy="201168"/>
            </a:xfrm>
            <a:prstGeom prst="roundRect">
              <a:avLst>
                <a:gd name="adj" fmla="val 18181"/>
              </a:avLst>
            </a:prstGeom>
            <a:solidFill>
              <a:srgbClr val="5A667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4681728" y="3666744"/>
              <a:ext cx="224028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00" b="0" lang="en-US">
                  <a:solidFill>
                    <a:srgbClr val="101820"/>
                  </a:solidFill>
                  <a:latin typeface="Inter"/>
                  <a:cs typeface="Inter"/>
                </a:rPr>
                <a:t>Registration &amp; legal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6903720" y="3666744"/>
              <a:ext cx="59436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$1,000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868680" y="2743200"/>
            <a:ext cx="3200400" cy="3200400"/>
            <a:chOff x="868680" y="2743200"/>
            <a:chExt cx="3200400" cy="3200400"/>
          </a:xfrm>
        </p:grpSpPr>
        <p:sp>
          <p:nvSpPr>
            <p:cNvPr id="117" name="Block Arc 116"/>
            <p:cNvSpPr/>
            <p:nvPr/>
          </p:nvSpPr>
          <p:spPr>
            <a:xfrm>
              <a:off x="868680" y="2743200"/>
              <a:ext cx="3200400" cy="3200400"/>
            </a:xfrm>
            <a:prstGeom prst="blockArc">
              <a:avLst>
                <a:gd name="adj1" fmla="val 11016000"/>
                <a:gd name="adj2" fmla="val 13608000"/>
                <a:gd name="adj3" fmla="val 20000"/>
              </a:avLst>
            </a:prstGeom>
            <a:solidFill>
              <a:srgbClr val="94C7E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389120" y="4105656"/>
            <a:ext cx="3108960" cy="274320"/>
            <a:chOff x="4389120" y="4105656"/>
            <a:chExt cx="3108960" cy="274320"/>
          </a:xfrm>
        </p:grpSpPr>
        <p:sp>
          <p:nvSpPr>
            <p:cNvPr id="118" name="Rounded Rectangle 117"/>
            <p:cNvSpPr/>
            <p:nvPr/>
          </p:nvSpPr>
          <p:spPr>
            <a:xfrm>
              <a:off x="4389120" y="4142232"/>
              <a:ext cx="201168" cy="201168"/>
            </a:xfrm>
            <a:prstGeom prst="roundRect">
              <a:avLst>
                <a:gd name="adj" fmla="val 18181"/>
              </a:avLst>
            </a:prstGeom>
            <a:solidFill>
              <a:srgbClr val="94C7E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4681728" y="4105656"/>
              <a:ext cx="224028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00" b="0" lang="en-US">
                  <a:solidFill>
                    <a:srgbClr val="101820"/>
                  </a:solidFill>
                  <a:latin typeface="Inter"/>
                  <a:cs typeface="Inter"/>
                </a:rPr>
                <a:t>Merchant kits &amp; packaging</a:t>
              </a:r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6903720" y="4105656"/>
              <a:ext cx="59436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$900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68680" y="2743200"/>
            <a:ext cx="3200400" cy="3200400"/>
            <a:chOff x="868680" y="2743200"/>
            <a:chExt cx="3200400" cy="3200400"/>
          </a:xfrm>
        </p:grpSpPr>
        <p:sp>
          <p:nvSpPr>
            <p:cNvPr id="121" name="Block Arc 120"/>
            <p:cNvSpPr/>
            <p:nvPr/>
          </p:nvSpPr>
          <p:spPr>
            <a:xfrm>
              <a:off x="868680" y="2743200"/>
              <a:ext cx="3200400" cy="3200400"/>
            </a:xfrm>
            <a:prstGeom prst="blockArc">
              <a:avLst>
                <a:gd name="adj1" fmla="val 13608000"/>
                <a:gd name="adj2" fmla="val 15912000"/>
                <a:gd name="adj3" fmla="val 20000"/>
              </a:avLst>
            </a:prstGeom>
            <a:solidFill>
              <a:srgbClr val="DDE5ED"/>
            </a:solidFill>
            <a:ln w="9525">
              <a:solidFill>
                <a:srgbClr val="A9B1B9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4389120" y="4544568"/>
            <a:ext cx="3108960" cy="274320"/>
            <a:chOff x="4389120" y="4544568"/>
            <a:chExt cx="3108960" cy="274320"/>
          </a:xfrm>
        </p:grpSpPr>
        <p:sp>
          <p:nvSpPr>
            <p:cNvPr id="122" name="Rounded Rectangle 121"/>
            <p:cNvSpPr/>
            <p:nvPr/>
          </p:nvSpPr>
          <p:spPr>
            <a:xfrm>
              <a:off x="4389120" y="4581144"/>
              <a:ext cx="201168" cy="201168"/>
            </a:xfrm>
            <a:prstGeom prst="roundRect">
              <a:avLst>
                <a:gd name="adj" fmla="val 18181"/>
              </a:avLst>
            </a:prstGeom>
            <a:solidFill>
              <a:srgbClr val="DDE5ED"/>
            </a:solidFill>
            <a:ln w="9525">
              <a:solidFill>
                <a:srgbClr val="A9B1B9"/>
              </a:solidFill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4681728" y="4544568"/>
              <a:ext cx="224028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00" b="0" lang="en-US">
                  <a:solidFill>
                    <a:srgbClr val="101820"/>
                  </a:solidFill>
                  <a:latin typeface="Inter"/>
                  <a:cs typeface="Inter"/>
                </a:rPr>
                <a:t>Reserve</a:t>
              </a: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6903720" y="4544568"/>
              <a:ext cx="59436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$800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868680" y="2743200"/>
            <a:ext cx="3200400" cy="3200400"/>
            <a:chOff x="868680" y="2743200"/>
            <a:chExt cx="3200400" cy="3200400"/>
          </a:xfrm>
        </p:grpSpPr>
        <p:sp>
          <p:nvSpPr>
            <p:cNvPr id="125" name="Block Arc 124"/>
            <p:cNvSpPr/>
            <p:nvPr/>
          </p:nvSpPr>
          <p:spPr>
            <a:xfrm>
              <a:off x="868680" y="2743200"/>
              <a:ext cx="3200400" cy="3200400"/>
            </a:xfrm>
            <a:prstGeom prst="blockArc">
              <a:avLst>
                <a:gd name="adj1" fmla="val 15912000"/>
                <a:gd name="adj2" fmla="val 16200000"/>
                <a:gd name="adj3" fmla="val 20000"/>
              </a:avLst>
            </a:prstGeom>
            <a:solidFill>
              <a:srgbClr val="FFA3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4389120" y="4983480"/>
            <a:ext cx="3108960" cy="274320"/>
            <a:chOff x="4389120" y="4983480"/>
            <a:chExt cx="3108960" cy="274320"/>
          </a:xfrm>
        </p:grpSpPr>
        <p:sp>
          <p:nvSpPr>
            <p:cNvPr id="126" name="Rounded Rectangle 125"/>
            <p:cNvSpPr/>
            <p:nvPr/>
          </p:nvSpPr>
          <p:spPr>
            <a:xfrm>
              <a:off x="4389120" y="5020056"/>
              <a:ext cx="201168" cy="201168"/>
            </a:xfrm>
            <a:prstGeom prst="roundRect">
              <a:avLst>
                <a:gd name="adj" fmla="val 18181"/>
              </a:avLst>
            </a:prstGeom>
            <a:solidFill>
              <a:srgbClr val="FFA3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4681728" y="4983480"/>
              <a:ext cx="224028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00" b="0" lang="en-US">
                  <a:solidFill>
                    <a:srgbClr val="101820"/>
                  </a:solidFill>
                  <a:latin typeface="Inter"/>
                  <a:cs typeface="Inter"/>
                </a:rPr>
                <a:t>Pilot test (10–20 orders)</a:t>
              </a:r>
            </a:p>
          </p:txBody>
        </p:sp>
        <p:sp>
          <p:nvSpPr>
            <p:cNvPr id="128" name="TextBox 127"/>
            <p:cNvSpPr txBox="1"/>
            <p:nvPr/>
          </p:nvSpPr>
          <p:spPr>
            <a:xfrm>
              <a:off x="6903720" y="4983480"/>
              <a:ext cx="59436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$100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7863840" y="5468112"/>
            <a:ext cx="3602736" cy="859536"/>
            <a:chOff x="7863840" y="5468112"/>
            <a:chExt cx="3602736" cy="859536"/>
          </a:xfrm>
        </p:grpSpPr>
        <p:sp>
          <p:nvSpPr>
            <p:cNvPr id="129" name="Rounded Rectangle 128"/>
            <p:cNvSpPr/>
            <p:nvPr/>
          </p:nvSpPr>
          <p:spPr>
            <a:xfrm>
              <a:off x="7863840" y="5468112"/>
              <a:ext cx="3602736" cy="859536"/>
            </a:xfrm>
            <a:prstGeom prst="roundRect">
              <a:avLst>
                <a:gd name="adj" fmla="val 12765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0" name="Picture 129" descr="code_298FC2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010144" y="5577840"/>
              <a:ext cx="256032" cy="256032"/>
            </a:xfrm>
            <a:prstGeom prst="rect">
              <a:avLst/>
            </a:prstGeom>
          </p:spPr>
        </p:pic>
        <p:sp>
          <p:nvSpPr>
            <p:cNvPr id="131" name="TextBox 130"/>
            <p:cNvSpPr txBox="1"/>
            <p:nvPr/>
          </p:nvSpPr>
          <p:spPr>
            <a:xfrm>
              <a:off x="8357616" y="5522976"/>
              <a:ext cx="3017520" cy="42062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Built in-house: $0 to developers · $0 salaries</a:t>
              </a:r>
            </a:p>
          </p:txBody>
        </p:sp>
        <p:sp>
          <p:nvSpPr>
            <p:cNvPr id="132" name="TextBox 131"/>
            <p:cNvSpPr txBox="1"/>
            <p:nvPr/>
          </p:nvSpPr>
          <p:spPr>
            <a:xfrm>
              <a:off x="8357616" y="5961888"/>
              <a:ext cx="3017520" cy="310896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050" b="0" lang="en-US">
                  <a:solidFill>
                    <a:srgbClr val="5A6672"/>
                  </a:solidFill>
                  <a:latin typeface="Inter"/>
                  <a:cs typeface="Inter"/>
                </a:rPr>
                <a:t>Founder in-kind contribution ≈ $9,500 (equipment + build time)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7863840" y="2560320"/>
            <a:ext cx="3602736" cy="274320"/>
            <a:chOff x="7863840" y="2560320"/>
            <a:chExt cx="3602736" cy="274320"/>
          </a:xfrm>
        </p:grpSpPr>
        <p:sp>
          <p:nvSpPr>
            <p:cNvPr id="133" name="TextBox 132"/>
            <p:cNvSpPr txBox="1"/>
            <p:nvPr/>
          </p:nvSpPr>
          <p:spPr>
            <a:xfrm>
              <a:off x="7863840" y="2560320"/>
              <a:ext cx="3602736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500" b="1" lang="en-US">
                  <a:solidFill>
                    <a:srgbClr val="101820"/>
                  </a:solidFill>
                  <a:latin typeface="Inter"/>
                  <a:cs typeface="Inter"/>
                </a:rPr>
                <a:t>Every rank funds a complete plan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7863840" y="2971800"/>
            <a:ext cx="3602736" cy="731520"/>
            <a:chOff x="7863840" y="2971800"/>
            <a:chExt cx="3602736" cy="731520"/>
          </a:xfrm>
        </p:grpSpPr>
        <p:sp>
          <p:nvSpPr>
            <p:cNvPr id="134" name="Rounded Rectangle 133"/>
            <p:cNvSpPr/>
            <p:nvPr/>
          </p:nvSpPr>
          <p:spPr>
            <a:xfrm>
              <a:off x="7863840" y="2971800"/>
              <a:ext cx="3602736" cy="731520"/>
            </a:xfrm>
            <a:prstGeom prst="roundRect">
              <a:avLst>
                <a:gd name="adj" fmla="val 17500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046720" y="3044952"/>
              <a:ext cx="3291840" cy="2560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500" b="1" lang="en-US">
                  <a:solidFill>
                    <a:srgbClr val="298FC2"/>
                  </a:solidFill>
                  <a:latin typeface="Inter"/>
                  <a:cs typeface="Inter"/>
                </a:rPr>
                <a:t>1st · $7,500</a:t>
              </a:r>
            </a:p>
          </p:txBody>
        </p:sp>
        <p:sp>
          <p:nvSpPr>
            <p:cNvPr id="136" name="TextBox 135"/>
            <p:cNvSpPr txBox="1"/>
            <p:nvPr/>
          </p:nvSpPr>
          <p:spPr>
            <a:xfrm>
              <a:off x="8046720" y="3337560"/>
              <a:ext cx="3291840" cy="310896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200" b="0" lang="en-US">
                  <a:solidFill>
                    <a:srgbClr val="5A6672"/>
                  </a:solidFill>
                  <a:latin typeface="Inter"/>
                  <a:cs typeface="Inter"/>
                </a:rPr>
                <a:t>Full plan: launch + growth marketing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7863840" y="3794760"/>
            <a:ext cx="3602736" cy="731520"/>
            <a:chOff x="7863840" y="3794760"/>
            <a:chExt cx="3602736" cy="731520"/>
          </a:xfrm>
        </p:grpSpPr>
        <p:sp>
          <p:nvSpPr>
            <p:cNvPr id="137" name="Rounded Rectangle 136"/>
            <p:cNvSpPr/>
            <p:nvPr/>
          </p:nvSpPr>
          <p:spPr>
            <a:xfrm>
              <a:off x="7863840" y="3794760"/>
              <a:ext cx="3602736" cy="731520"/>
            </a:xfrm>
            <a:prstGeom prst="roundRect">
              <a:avLst>
                <a:gd name="adj" fmla="val 17500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8" name="TextBox 137"/>
            <p:cNvSpPr txBox="1"/>
            <p:nvPr/>
          </p:nvSpPr>
          <p:spPr>
            <a:xfrm>
              <a:off x="8046720" y="3867912"/>
              <a:ext cx="3291840" cy="2560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500" b="1" lang="en-US">
                  <a:solidFill>
                    <a:srgbClr val="298FC2"/>
                  </a:solidFill>
                  <a:latin typeface="Inter"/>
                  <a:cs typeface="Inter"/>
                </a:rPr>
                <a:t>2nd · $4,500</a:t>
              </a:r>
            </a:p>
          </p:txBody>
        </p:sp>
        <p:sp>
          <p:nvSpPr>
            <p:cNvPr id="139" name="TextBox 138"/>
            <p:cNvSpPr txBox="1"/>
            <p:nvPr/>
          </p:nvSpPr>
          <p:spPr>
            <a:xfrm>
              <a:off x="8046720" y="4160520"/>
              <a:ext cx="3291840" cy="310896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200" b="0" lang="en-US">
                  <a:solidFill>
                    <a:srgbClr val="5A6672"/>
                  </a:solidFill>
                  <a:latin typeface="Inter"/>
                  <a:cs typeface="Inter"/>
                </a:rPr>
                <a:t>Launch, registration and pilot; slower growth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7863840" y="4617720"/>
            <a:ext cx="3602736" cy="731520"/>
            <a:chOff x="7863840" y="4617720"/>
            <a:chExt cx="3602736" cy="731520"/>
          </a:xfrm>
        </p:grpSpPr>
        <p:sp>
          <p:nvSpPr>
            <p:cNvPr id="140" name="Rounded Rectangle 139"/>
            <p:cNvSpPr/>
            <p:nvPr/>
          </p:nvSpPr>
          <p:spPr>
            <a:xfrm>
              <a:off x="7863840" y="4617720"/>
              <a:ext cx="3602736" cy="731520"/>
            </a:xfrm>
            <a:prstGeom prst="roundRect">
              <a:avLst>
                <a:gd name="adj" fmla="val 17500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1" name="TextBox 140"/>
            <p:cNvSpPr txBox="1"/>
            <p:nvPr/>
          </p:nvSpPr>
          <p:spPr>
            <a:xfrm>
              <a:off x="8046720" y="4690872"/>
              <a:ext cx="3291840" cy="256032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500" b="1" lang="en-US">
                  <a:solidFill>
                    <a:srgbClr val="298FC2"/>
                  </a:solidFill>
                  <a:latin typeface="Inter"/>
                  <a:cs typeface="Inter"/>
                </a:rPr>
                <a:t>3rd · $2,500</a:t>
              </a:r>
            </a:p>
          </p:txBody>
        </p:sp>
        <p:sp>
          <p:nvSpPr>
            <p:cNvPr id="142" name="TextBox 141"/>
            <p:cNvSpPr txBox="1"/>
            <p:nvPr/>
          </p:nvSpPr>
          <p:spPr>
            <a:xfrm>
              <a:off x="8046720" y="4983480"/>
              <a:ext cx="3291840" cy="310896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200" b="0" lang="en-US">
                  <a:solidFill>
                    <a:srgbClr val="5A6672"/>
                  </a:solidFill>
                  <a:latin typeface="Inter"/>
                  <a:cs typeface="Inter"/>
                </a:rPr>
                <a:t>Covers the launch gap; growth stays organic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5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5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6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25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85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5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5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65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9593" y="351575"/>
            <a:ext cx="3178503" cy="96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900" y="436205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Funding is done — what now?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Grant → pilot → launch → break-even.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097280" y="4023360"/>
            <a:ext cx="9966960" cy="0"/>
            <a:chOff x="1097280" y="4023360"/>
            <a:chExt cx="9966960" cy="0"/>
          </a:xfrm>
        </p:grpSpPr>
        <p:cxnSp>
          <p:nvCxnSpPr>
            <p:cNvPr id="103" name="Connector 102"/>
            <p:cNvCxnSpPr/>
            <p:nvPr/>
          </p:nvCxnSpPr>
          <p:spPr>
            <a:xfrm>
              <a:off x="1097280" y="4023360"/>
              <a:ext cx="9966960" cy="0"/>
            </a:xfrm>
            <a:prstGeom prst="line">
              <a:avLst/>
            </a:prstGeom>
            <a:ln w="38100">
              <a:solidFill>
                <a:srgbClr val="DDE5ED"/>
              </a:solidFill>
            </a:ln>
            <a:effectLst/>
          </p:spPr>
        </p:cxnSp>
      </p:grpSp>
      <p:grpSp>
        <p:nvGrpSpPr>
          <p:cNvPr id="3" name="Group 2"/>
          <p:cNvGrpSpPr/>
          <p:nvPr/>
        </p:nvGrpSpPr>
        <p:grpSpPr>
          <a:xfrm>
            <a:off x="1271016" y="3831336"/>
            <a:ext cx="384048" cy="384048"/>
            <a:chOff x="1271016" y="3831336"/>
            <a:chExt cx="384048" cy="384048"/>
          </a:xfrm>
        </p:grpSpPr>
        <p:sp>
          <p:nvSpPr>
            <p:cNvPr id="104" name="Oval 103"/>
            <p:cNvSpPr/>
            <p:nvPr/>
          </p:nvSpPr>
          <p:spPr>
            <a:xfrm>
              <a:off x="1271016" y="3831336"/>
              <a:ext cx="384048" cy="38404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1271016" y="3831336"/>
              <a:ext cx="384048" cy="38404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00" b="1" lang="en-US">
                  <a:solidFill>
                    <a:srgbClr val="FFFFFF"/>
                  </a:solidFill>
                  <a:latin typeface="Inter"/>
                  <a:cs typeface="Inter"/>
                </a:rPr>
                <a:t>1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411480" y="3383280"/>
            <a:ext cx="2103120" cy="274320"/>
            <a:chOff x="411480" y="3383280"/>
            <a:chExt cx="2103120" cy="274320"/>
          </a:xfrm>
        </p:grpSpPr>
        <p:sp>
          <p:nvSpPr>
            <p:cNvPr id="106" name="TextBox 105"/>
            <p:cNvSpPr txBox="1"/>
            <p:nvPr/>
          </p:nvSpPr>
          <p:spPr>
            <a:xfrm>
              <a:off x="411480" y="3383280"/>
              <a:ext cx="210312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00" b="1" lang="en-US">
                  <a:solidFill>
                    <a:srgbClr val="298FC2"/>
                  </a:solidFill>
                  <a:latin typeface="Inter"/>
                  <a:cs typeface="Inter"/>
                </a:rPr>
                <a:t>First</a:t>
              </a: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411480" y="4343400"/>
            <a:ext cx="2103120" cy="1417320"/>
            <a:chOff x="411480" y="4343400"/>
            <a:chExt cx="2103120" cy="1417320"/>
          </a:xfrm>
        </p:grpSpPr>
        <p:sp>
          <p:nvSpPr>
            <p:cNvPr id="107" name="Rounded Rectangle 106"/>
            <p:cNvSpPr/>
            <p:nvPr/>
          </p:nvSpPr>
          <p:spPr>
            <a:xfrm>
              <a:off x="411480" y="4343400"/>
              <a:ext cx="2103120" cy="1417320"/>
            </a:xfrm>
            <a:prstGeom prst="roundRect">
              <a:avLst>
                <a:gd name="adj" fmla="val 9032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548640" y="4462272"/>
              <a:ext cx="1828800" cy="6400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400" b="1" lang="en-US">
                  <a:solidFill>
                    <a:srgbClr val="101820"/>
                  </a:solidFill>
                  <a:latin typeface="Inter"/>
                  <a:cs typeface="Inter"/>
                </a:rPr>
                <a:t>Register &amp; sign the courier contract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548640" y="5138928"/>
              <a:ext cx="1828800" cy="5486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50" b="0" lang="en-US">
                  <a:solidFill>
                    <a:srgbClr val="5A6672"/>
                  </a:solidFill>
                  <a:latin typeface="Inter"/>
                  <a:cs typeface="Inter"/>
                </a:rPr>
                <a:t>Rates already quoted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3602736" y="3831336"/>
            <a:ext cx="384048" cy="384048"/>
            <a:chOff x="3602736" y="3831336"/>
            <a:chExt cx="384048" cy="384048"/>
          </a:xfrm>
        </p:grpSpPr>
        <p:sp>
          <p:nvSpPr>
            <p:cNvPr id="110" name="Oval 109"/>
            <p:cNvSpPr/>
            <p:nvPr/>
          </p:nvSpPr>
          <p:spPr>
            <a:xfrm>
              <a:off x="3602736" y="3831336"/>
              <a:ext cx="384048" cy="38404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3602736" y="3831336"/>
              <a:ext cx="384048" cy="38404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00" b="1" lang="en-US">
                  <a:solidFill>
                    <a:srgbClr val="FFFFFF"/>
                  </a:solidFill>
                  <a:latin typeface="Inter"/>
                  <a:cs typeface="Inter"/>
                </a:rPr>
                <a:t>2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2743200" y="3383280"/>
            <a:ext cx="2103120" cy="274320"/>
            <a:chOff x="2743200" y="3383280"/>
            <a:chExt cx="2103120" cy="274320"/>
          </a:xfrm>
        </p:grpSpPr>
        <p:sp>
          <p:nvSpPr>
            <p:cNvPr id="112" name="TextBox 111"/>
            <p:cNvSpPr txBox="1"/>
            <p:nvPr/>
          </p:nvSpPr>
          <p:spPr>
            <a:xfrm>
              <a:off x="2743200" y="3383280"/>
              <a:ext cx="210312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00" b="1" lang="en-US">
                  <a:solidFill>
                    <a:srgbClr val="298FC2"/>
                  </a:solidFill>
                  <a:latin typeface="Inter"/>
                  <a:cs typeface="Inter"/>
                </a:rPr>
                <a:t>Next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2743200" y="4343400"/>
            <a:ext cx="2103120" cy="1417320"/>
            <a:chOff x="2743200" y="4343400"/>
            <a:chExt cx="2103120" cy="1417320"/>
          </a:xfrm>
        </p:grpSpPr>
        <p:sp>
          <p:nvSpPr>
            <p:cNvPr id="113" name="Rounded Rectangle 112"/>
            <p:cNvSpPr/>
            <p:nvPr/>
          </p:nvSpPr>
          <p:spPr>
            <a:xfrm>
              <a:off x="2743200" y="4343400"/>
              <a:ext cx="2103120" cy="1417320"/>
            </a:xfrm>
            <a:prstGeom prst="roundRect">
              <a:avLst>
                <a:gd name="adj" fmla="val 9032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2880360" y="4462272"/>
              <a:ext cx="1828800" cy="6400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400" b="1" lang="en-US">
                  <a:solidFill>
                    <a:srgbClr val="101820"/>
                  </a:solidFill>
                  <a:latin typeface="Inter"/>
                  <a:cs typeface="Inter"/>
                </a:rPr>
                <a:t>Hand-run pilot:</a:t>
              </a:r>
            </a:p>
            <a:p>
              <a:pPr algn="l"/>
              <a:r>
                <a:rPr sz="1400" b="1" lang="en-US">
                  <a:solidFill>
                    <a:srgbClr val="101820"/>
                  </a:solidFill>
                  <a:latin typeface="Inter"/>
                  <a:cs typeface="Inter"/>
                </a:rPr>
                <a:t>10–20 real orders</a:t>
              </a: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2880360" y="5138928"/>
              <a:ext cx="1828800" cy="5486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50" b="0" lang="en-US">
                  <a:solidFill>
                    <a:srgbClr val="5A6672"/>
                  </a:solidFill>
                  <a:latin typeface="Inter"/>
                  <a:cs typeface="Inter"/>
                </a:rPr>
                <a:t>Measure real order size and costs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5934456" y="3831336"/>
            <a:ext cx="384048" cy="384048"/>
            <a:chOff x="5934456" y="3831336"/>
            <a:chExt cx="384048" cy="384048"/>
          </a:xfrm>
        </p:grpSpPr>
        <p:sp>
          <p:nvSpPr>
            <p:cNvPr id="116" name="Oval 115"/>
            <p:cNvSpPr/>
            <p:nvPr/>
          </p:nvSpPr>
          <p:spPr>
            <a:xfrm>
              <a:off x="5934456" y="3831336"/>
              <a:ext cx="384048" cy="38404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5934456" y="3831336"/>
              <a:ext cx="384048" cy="38404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00" b="1" lang="en-US">
                  <a:solidFill>
                    <a:srgbClr val="FFFFFF"/>
                  </a:solidFill>
                  <a:latin typeface="Inter"/>
                  <a:cs typeface="Inter"/>
                </a:rPr>
                <a:t>3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5074920" y="3383280"/>
            <a:ext cx="2103120" cy="274320"/>
            <a:chOff x="5074920" y="3383280"/>
            <a:chExt cx="2103120" cy="274320"/>
          </a:xfrm>
        </p:grpSpPr>
        <p:sp>
          <p:nvSpPr>
            <p:cNvPr id="118" name="TextBox 117"/>
            <p:cNvSpPr txBox="1"/>
            <p:nvPr/>
          </p:nvSpPr>
          <p:spPr>
            <a:xfrm>
              <a:off x="5074920" y="3383280"/>
              <a:ext cx="210312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00" b="1" lang="en-US">
                  <a:solidFill>
                    <a:srgbClr val="298FC2"/>
                  </a:solidFill>
                  <a:latin typeface="Inter"/>
                  <a:cs typeface="Inter"/>
                </a:rPr>
                <a:t>Launch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5074920" y="4343400"/>
            <a:ext cx="2103120" cy="1417320"/>
            <a:chOff x="5074920" y="4343400"/>
            <a:chExt cx="2103120" cy="1417320"/>
          </a:xfrm>
        </p:grpSpPr>
        <p:sp>
          <p:nvSpPr>
            <p:cNvPr id="119" name="Rounded Rectangle 118"/>
            <p:cNvSpPr/>
            <p:nvPr/>
          </p:nvSpPr>
          <p:spPr>
            <a:xfrm>
              <a:off x="5074920" y="4343400"/>
              <a:ext cx="2103120" cy="1417320"/>
            </a:xfrm>
            <a:prstGeom prst="roundRect">
              <a:avLst>
                <a:gd name="adj" fmla="val 9032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5212080" y="4462272"/>
              <a:ext cx="1828800" cy="6400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400" b="1" lang="en-US">
                  <a:solidFill>
                    <a:srgbClr val="101820"/>
                  </a:solidFill>
                  <a:latin typeface="Inter"/>
                  <a:cs typeface="Inter"/>
                </a:rPr>
                <a:t>20 founding stores go live in Duhok</a:t>
              </a:r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5212080" y="5138928"/>
              <a:ext cx="1828800" cy="5486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50" b="0" lang="en-US">
                  <a:solidFill>
                    <a:srgbClr val="5A6672"/>
                  </a:solidFill>
                  <a:latin typeface="Inter"/>
                  <a:cs typeface="Inter"/>
                </a:rPr>
                <a:t>0% commission in month 1 + free ads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8266176" y="3831336"/>
            <a:ext cx="384048" cy="384048"/>
            <a:chOff x="8266176" y="3831336"/>
            <a:chExt cx="384048" cy="384048"/>
          </a:xfrm>
        </p:grpSpPr>
        <p:sp>
          <p:nvSpPr>
            <p:cNvPr id="122" name="Oval 121"/>
            <p:cNvSpPr/>
            <p:nvPr/>
          </p:nvSpPr>
          <p:spPr>
            <a:xfrm>
              <a:off x="8266176" y="3831336"/>
              <a:ext cx="384048" cy="38404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8266176" y="3831336"/>
              <a:ext cx="384048" cy="38404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00" b="1" lang="en-US">
                  <a:solidFill>
                    <a:srgbClr val="FFFFFF"/>
                  </a:solidFill>
                  <a:latin typeface="Inter"/>
                  <a:cs typeface="Inter"/>
                </a:rPr>
                <a:t>4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7406640" y="3383280"/>
            <a:ext cx="2103120" cy="274320"/>
            <a:chOff x="7406640" y="3383280"/>
            <a:chExt cx="2103120" cy="274320"/>
          </a:xfrm>
        </p:grpSpPr>
        <p:sp>
          <p:nvSpPr>
            <p:cNvPr id="124" name="TextBox 123"/>
            <p:cNvSpPr txBox="1"/>
            <p:nvPr/>
          </p:nvSpPr>
          <p:spPr>
            <a:xfrm>
              <a:off x="7406640" y="3383280"/>
              <a:ext cx="210312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00" b="1" lang="en-US">
                  <a:solidFill>
                    <a:srgbClr val="298FC2"/>
                  </a:solidFill>
                  <a:latin typeface="Inter"/>
                  <a:cs typeface="Inter"/>
                </a:rPr>
                <a:t>Month 4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7406640" y="4343400"/>
            <a:ext cx="2103120" cy="1417320"/>
            <a:chOff x="7406640" y="4343400"/>
            <a:chExt cx="2103120" cy="1417320"/>
          </a:xfrm>
        </p:grpSpPr>
        <p:sp>
          <p:nvSpPr>
            <p:cNvPr id="125" name="Rounded Rectangle 124"/>
            <p:cNvSpPr/>
            <p:nvPr/>
          </p:nvSpPr>
          <p:spPr>
            <a:xfrm>
              <a:off x="7406640" y="4343400"/>
              <a:ext cx="2103120" cy="1417320"/>
            </a:xfrm>
            <a:prstGeom prst="roundRect">
              <a:avLst>
                <a:gd name="adj" fmla="val 9032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6" name="TextBox 125"/>
            <p:cNvSpPr txBox="1"/>
            <p:nvPr/>
          </p:nvSpPr>
          <p:spPr>
            <a:xfrm>
              <a:off x="7543800" y="4462272"/>
              <a:ext cx="1828800" cy="6400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400" b="1" lang="en-US">
                  <a:solidFill>
                    <a:srgbClr val="101820"/>
                  </a:solidFill>
                  <a:latin typeface="Inter"/>
                  <a:cs typeface="Inter"/>
                </a:rPr>
                <a:t>Monthly break-even</a:t>
              </a:r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7543800" y="5138928"/>
              <a:ext cx="1828800" cy="5486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50" b="0" lang="en-US">
                  <a:solidFill>
                    <a:srgbClr val="5A6672"/>
                  </a:solidFill>
                  <a:latin typeface="Inter"/>
                  <a:cs typeface="Inter"/>
                </a:rPr>
                <a:t>About 600 orders a month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0597896" y="3831336"/>
            <a:ext cx="384048" cy="384048"/>
            <a:chOff x="10597896" y="3831336"/>
            <a:chExt cx="384048" cy="384048"/>
          </a:xfrm>
        </p:grpSpPr>
        <p:sp>
          <p:nvSpPr>
            <p:cNvPr id="128" name="Oval 127"/>
            <p:cNvSpPr/>
            <p:nvPr/>
          </p:nvSpPr>
          <p:spPr>
            <a:xfrm>
              <a:off x="10597896" y="3831336"/>
              <a:ext cx="384048" cy="38404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TextBox 128"/>
            <p:cNvSpPr txBox="1"/>
            <p:nvPr/>
          </p:nvSpPr>
          <p:spPr>
            <a:xfrm>
              <a:off x="10597896" y="3831336"/>
              <a:ext cx="384048" cy="38404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00" b="1" lang="en-US">
                  <a:solidFill>
                    <a:srgbClr val="FFFFFF"/>
                  </a:solidFill>
                  <a:latin typeface="Inter"/>
                  <a:cs typeface="Inter"/>
                </a:rPr>
                <a:t>5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9738360" y="3383280"/>
            <a:ext cx="2103120" cy="274320"/>
            <a:chOff x="9738360" y="3383280"/>
            <a:chExt cx="2103120" cy="274320"/>
          </a:xfrm>
        </p:grpSpPr>
        <p:sp>
          <p:nvSpPr>
            <p:cNvPr id="130" name="TextBox 129"/>
            <p:cNvSpPr txBox="1"/>
            <p:nvPr/>
          </p:nvSpPr>
          <p:spPr>
            <a:xfrm>
              <a:off x="9738360" y="3383280"/>
              <a:ext cx="210312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300" b="1" lang="en-US">
                  <a:solidFill>
                    <a:srgbClr val="298FC2"/>
                  </a:solidFill>
                  <a:latin typeface="Inter"/>
                  <a:cs typeface="Inter"/>
                </a:rPr>
                <a:t>Month 7+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9738360" y="4343400"/>
            <a:ext cx="2103120" cy="1417320"/>
            <a:chOff x="9738360" y="4343400"/>
            <a:chExt cx="2103120" cy="1417320"/>
          </a:xfrm>
        </p:grpSpPr>
        <p:sp>
          <p:nvSpPr>
            <p:cNvPr id="131" name="Rounded Rectangle 130"/>
            <p:cNvSpPr/>
            <p:nvPr/>
          </p:nvSpPr>
          <p:spPr>
            <a:xfrm>
              <a:off x="9738360" y="4343400"/>
              <a:ext cx="2103120" cy="1417320"/>
            </a:xfrm>
            <a:prstGeom prst="roundRect">
              <a:avLst>
                <a:gd name="adj" fmla="val 9032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TextBox 131"/>
            <p:cNvSpPr txBox="1"/>
            <p:nvPr/>
          </p:nvSpPr>
          <p:spPr>
            <a:xfrm>
              <a:off x="9875520" y="4462272"/>
              <a:ext cx="1828800" cy="6400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400" b="1" lang="en-US">
                  <a:solidFill>
                    <a:srgbClr val="101820"/>
                  </a:solidFill>
                  <a:latin typeface="Inter"/>
                  <a:cs typeface="Inter"/>
                </a:rPr>
                <a:t>Erbil · Mosul · Sulaymaniyah</a:t>
              </a:r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9875520" y="5138928"/>
              <a:ext cx="1828800" cy="5486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50" b="0" lang="en-US">
                  <a:solidFill>
                    <a:srgbClr val="5A6672"/>
                  </a:solidFill>
                  <a:latin typeface="Inter"/>
                  <a:cs typeface="Inter"/>
                </a:rPr>
                <a:t>Then all of Iraq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722376" y="5989320"/>
            <a:ext cx="10753344" cy="320040"/>
            <a:chOff x="722376" y="5989320"/>
            <a:chExt cx="10753344" cy="320040"/>
          </a:xfrm>
        </p:grpSpPr>
        <p:pic>
          <p:nvPicPr>
            <p:cNvPr id="134" name="Picture 133" descr="chart-column_298FC2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2376" y="6035040"/>
              <a:ext cx="237744" cy="237744"/>
            </a:xfrm>
            <a:prstGeom prst="rect">
              <a:avLst/>
            </a:prstGeom>
          </p:spPr>
        </p:pic>
        <p:sp>
          <p:nvSpPr>
            <p:cNvPr id="135" name="TextBox 134"/>
            <p:cNvSpPr txBox="1"/>
            <p:nvPr/>
          </p:nvSpPr>
          <p:spPr>
            <a:xfrm>
              <a:off x="1051560" y="5989320"/>
              <a:ext cx="10424160" cy="32004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/>
              <a:r>
                <a:rPr sz="1200" b="0" lang="en-US">
                  <a:solidFill>
                    <a:srgbClr val="5A6672"/>
                  </a:solidFill>
                  <a:latin typeface="Inter"/>
                  <a:cs typeface="Inter"/>
                </a:rPr>
                <a:t>We report monthly: delivered orders · sales volume · active stores · repeat orders · delivery time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45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9593" y="351575"/>
            <a:ext cx="3178503" cy="96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900" y="436205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Appendix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Fee schedule: lighter as prices rise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22376" y="2423160"/>
            <a:ext cx="107442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lang="en-US">
                <a:solidFill>
                  <a:srgbClr val="5A6672"/>
                </a:solidFill>
                <a:latin typeface="Inter"/>
                <a:cs typeface="Inter"/>
              </a:rPr>
              <a:t>5% on the first 10,000 IQD · 3% on 10,001–100,000 · 1.5% above 100,000 — marginal, like tax brackets: a higher price never pays a lower fee.</a:t>
            </a:r>
          </a:p>
        </p:txBody>
      </p:sp>
      <p:graphicFrame>
        <p:nvGraphicFramePr>
          <p:cNvPr id="104" name="Table 103"/>
          <p:cNvGraphicFramePr>
            <a:graphicFrameLocks noGrp="1"/>
          </p:cNvGraphicFramePr>
          <p:nvPr/>
        </p:nvGraphicFramePr>
        <p:xfrm>
          <a:off x="722376" y="3108960"/>
          <a:ext cx="10744200" cy="2962656"/>
        </p:xfrm>
        <a:graphic>
          <a:graphicData uri="http://schemas.openxmlformats.org/drawingml/2006/table">
            <a:tbl>
              <a:tblPr firstRow="0" bandRow="0"/>
              <a:tblGrid>
                <a:gridCol w="3581400"/>
                <a:gridCol w="3581400"/>
                <a:gridCol w="35814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Item price (IQD)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Cheapify fee (IQD)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Effective rate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DDE5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5,000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250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5.0%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10,000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500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5.0%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25,000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950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3.8%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45,000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1,550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3.4%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100,000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3,200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3.2%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150,000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3,950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2.6%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350,000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6,950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2.0%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1,200,000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19,700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1.6%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9593" y="351575"/>
            <a:ext cx="3178503" cy="96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900" y="436205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Appendix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Unit economics per order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722376" y="2423160"/>
          <a:ext cx="10744200" cy="2121408"/>
        </p:xfrm>
        <a:graphic>
          <a:graphicData uri="http://schemas.openxmlformats.org/drawingml/2006/table">
            <a:tbl>
              <a:tblPr firstRow="0" bandRow="0"/>
              <a:tblGrid>
                <a:gridCol w="8595360"/>
                <a:gridCol w="2148840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Per 25,000 IQD order (Duhok city)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IQD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DDE5ED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Platform fee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+950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Delivery margin (3,000 charged − 2,500 courier)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+500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WhatsApp notifications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−90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Login codes (OTP)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−25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Returns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−20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Failed-delivery re-attempts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−200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Kept per delivered order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+1,115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722376" y="4608576"/>
            <a:ext cx="10744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lang="en-US">
                <a:solidFill>
                  <a:srgbClr val="101820"/>
                </a:solidFill>
                <a:latin typeface="Inter"/>
                <a:cs typeface="Inter"/>
              </a:rPr>
              <a:t>Break-even (monthly costs 652,000 IQD after launch, incl. a capped 225,000 incentive pool)</a:t>
            </a:r>
          </a:p>
        </p:txBody>
      </p:sp>
      <p:graphicFrame>
        <p:nvGraphicFramePr>
          <p:cNvPr id="105" name="Table 104"/>
          <p:cNvGraphicFramePr>
            <a:graphicFrameLocks noGrp="1"/>
          </p:cNvGraphicFramePr>
          <p:nvPr/>
        </p:nvGraphicFramePr>
        <p:xfrm>
          <a:off x="722376" y="4901184"/>
          <a:ext cx="10744200" cy="1325880"/>
        </p:xfrm>
        <a:graphic>
          <a:graphicData uri="http://schemas.openxmlformats.org/drawingml/2006/table">
            <a:tbl>
              <a:tblPr firstRow="0" bandRow="0"/>
              <a:tblGrid>
                <a:gridCol w="5198806"/>
                <a:gridCol w="2426110"/>
                <a:gridCol w="311928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Case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Kept per order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Break-even orders / month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DDE5ED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Base case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1,115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~585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Courier contract not signed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615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~1,060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Average order 20,000 IQD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965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~676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Incentive pool doubled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1,115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~787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9593" y="351575"/>
            <a:ext cx="3178503" cy="96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900" y="436205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Appendix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Three growth scenarios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722376" y="2560320"/>
          <a:ext cx="10744201" cy="1828800"/>
        </p:xfrm>
        <a:graphic>
          <a:graphicData uri="http://schemas.openxmlformats.org/drawingml/2006/table">
            <a:tbl>
              <a:tblPr firstRow="0" bandRow="0"/>
              <a:tblGrid>
                <a:gridCol w="2354893"/>
                <a:gridCol w="2060532"/>
                <a:gridCol w="2207712"/>
                <a:gridCol w="2060532"/>
                <a:gridCol w="206053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Scenario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Orders by month 6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Lowest cash point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Monthly break-even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All losses recovered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DDE5E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Fast (2× plan)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2,700 / month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−$1,800 (month 2)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Month 3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Month 6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Planning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1,350 / month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−$2,180 (month 3)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Month 4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Month 8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Slow (half of plan)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675 / month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−$2,750 (month 6)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Month 7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~Month 20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722376" y="4572000"/>
            <a:ext cx="10744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lang="en-US">
                <a:solidFill>
                  <a:srgbClr val="5A6672"/>
                </a:solidFill>
                <a:latin typeface="Inter"/>
                <a:cs typeface="Inter"/>
              </a:rPr>
              <a:t>Includes 1.7M IQD startup costs and two build months before launch. USD at 1,500 IQD.</a:t>
            </a:r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9593" y="351575"/>
            <a:ext cx="3178503" cy="96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900" y="436205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Appendix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Survey: what 199 people told us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22376" y="2514600"/>
            <a:ext cx="10753344" cy="3840480"/>
            <a:chOff x="722376" y="2514600"/>
            <a:chExt cx="10753344" cy="3840480"/>
          </a:xfrm>
        </p:grpSpPr>
        <p:sp>
          <p:nvSpPr>
            <p:cNvPr id="103" name="TextBox 102"/>
            <p:cNvSpPr txBox="1"/>
            <p:nvPr/>
          </p:nvSpPr>
          <p:spPr>
            <a:xfrm>
              <a:off x="722376" y="2514600"/>
              <a:ext cx="5212080" cy="310896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600" b="1" lang="en-US">
                  <a:solidFill>
                    <a:srgbClr val="298FC2"/>
                  </a:solidFill>
                  <a:latin typeface="Inter"/>
                  <a:cs typeface="Inter"/>
                </a:rPr>
                <a:t>Shoppers (179)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722376" y="2926080"/>
              <a:ext cx="5212080" cy="310896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0000"/>
                </a:lnSpc>
                <a:spcAft>
                  <a:spcPts val="900"/>
                </a:spcAft>
              </a:pPr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97% notice price gaps on the same item (39% often see large gaps)</a:t>
              </a:r>
            </a:p>
            <a:p>
              <a:pPr algn="l">
                <a:lnSpc>
                  <a:spcPct val="110000"/>
                </a:lnSpc>
                <a:spcAft>
                  <a:spcPts val="900"/>
                </a:spcAft>
              </a:pPr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88% would use a side-by-side app · 10% maybe · 2% prefer DMs</a:t>
              </a:r>
            </a:p>
            <a:p>
              <a:pPr algn="l">
                <a:lnSpc>
                  <a:spcPct val="110000"/>
                </a:lnSpc>
                <a:spcAft>
                  <a:spcPts val="900"/>
                </a:spcAft>
              </a:pPr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Top annoyances: untrusted / duplicate pages ~52% · found it cheaper after buying ~47% · DM just to ask the price ~46% · delivery delays ~27%</a:t>
              </a:r>
            </a:p>
            <a:p>
              <a:pPr algn="l">
                <a:lnSpc>
                  <a:spcPct val="110000"/>
                </a:lnSpc>
                <a:spcAft>
                  <a:spcPts val="900"/>
                </a:spcAft>
              </a:pPr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~52 usable beta-waitlist contacts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6263640" y="2514600"/>
              <a:ext cx="5212080" cy="310896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600" b="1" lang="en-US">
                  <a:solidFill>
                    <a:srgbClr val="298FC2"/>
                  </a:solidFill>
                  <a:latin typeface="Inter"/>
                  <a:cs typeface="Inter"/>
                </a:rPr>
                <a:t>Merchants (20)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6263640" y="2926080"/>
              <a:ext cx="5212080" cy="310896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0000"/>
                </a:lnSpc>
                <a:spcAft>
                  <a:spcPts val="900"/>
                </a:spcAft>
              </a:pPr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85% sell on Instagram / Facebook</a:t>
              </a:r>
            </a:p>
            <a:p>
              <a:pPr algn="l">
                <a:lnSpc>
                  <a:spcPct val="110000"/>
                </a:lnSpc>
                <a:spcAft>
                  <a:spcPts val="900"/>
                </a:spcAft>
              </a:pPr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75% would try Cheapify · 15% maybe (depends on commission) · 10% no</a:t>
              </a:r>
            </a:p>
            <a:p>
              <a:pPr algn="l">
                <a:lnSpc>
                  <a:spcPct val="110000"/>
                </a:lnSpc>
                <a:spcAft>
                  <a:spcPts val="900"/>
                </a:spcAft>
              </a:pPr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Top headaches: “price?” DMs 55% · price conflicts 45% · cost of own app/site 35% · manual delivery coordination 35%</a:t>
              </a:r>
            </a:p>
            <a:p>
              <a:pPr algn="l">
                <a:lnSpc>
                  <a:spcPct val="110000"/>
                </a:lnSpc>
                <a:spcAft>
                  <a:spcPts val="900"/>
                </a:spcAft>
              </a:pPr>
              <a:r>
                <a:rPr sz="1300" b="0" lang="en-US">
                  <a:solidFill>
                    <a:srgbClr val="101820"/>
                  </a:solidFill>
                  <a:latin typeface="Inter"/>
                  <a:cs typeface="Inter"/>
                </a:rPr>
                <a:t>~8 valid pilot-store leads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722376" y="5989320"/>
              <a:ext cx="10744200" cy="36576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100" b="0" lang="en-US">
                  <a:solidFill>
                    <a:srgbClr val="5A6672"/>
                  </a:solidFill>
                  <a:latin typeface="Inter"/>
                  <a:cs typeface="Inter"/>
                </a:rPr>
                <a:t>Limits: self-selected sample; only 10 Kurdish-language responses; stated intent is not purchases — the hand-run pilot measures real behavior.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9593" y="351575"/>
            <a:ext cx="3178503" cy="96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900" y="436205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Appendix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Six documented price cases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722376" y="2514600"/>
          <a:ext cx="10744201" cy="3200400"/>
        </p:xfrm>
        <a:graphic>
          <a:graphicData uri="http://schemas.openxmlformats.org/drawingml/2006/table">
            <a:tbl>
              <a:tblPr firstRow="0" bandRow="0"/>
              <a:tblGrid>
                <a:gridCol w="2686050"/>
                <a:gridCol w="1902619"/>
                <a:gridCol w="1902619"/>
                <a:gridCol w="1343025"/>
                <a:gridCol w="2909888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Product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Lowest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Highest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Gap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Where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DDE5E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Anker power bank 25K 165W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90,000 (Instagram)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200,000 (Miswag)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+122%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Instagram, iBazzar, Miswag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ASUS VA24EHF monitor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135,000 (Elryan)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163,350 (Miswag)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+21%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Elryan, Miswag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Hoco HX80 coffee maker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25,000 (Instagram)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35,280 (Miswag)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+41%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Instagram, Miswag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Newal 2000W vacuum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95,000 (Instagram)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133,250 (Miswag)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+40%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Instagram, Miswag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Xiaomi 165W power bank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60,000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70,000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+17%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Same app (iBazzar)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Coffee machines (two posts)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—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—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No price shown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Instagram: “call / DM to order”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722376" y="5897880"/>
            <a:ext cx="10744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0" lang="en-US">
                <a:solidFill>
                  <a:srgbClr val="5A6672"/>
                </a:solidFill>
                <a:latin typeface="Inter"/>
                <a:cs typeface="Inter"/>
              </a:rPr>
              <a:t>Screenshots Sep–Oct 2026; Instagram posts dated Apr–Oct 2026.</a:t>
            </a:r>
          </a:p>
        </p:txBody>
      </p: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9593" y="351575"/>
            <a:ext cx="3178503" cy="96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900" y="436205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Appendix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Top risks and how we handle them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722376" y="2514600"/>
          <a:ext cx="10744200" cy="3840480"/>
        </p:xfrm>
        <a:graphic>
          <a:graphicData uri="http://schemas.openxmlformats.org/drawingml/2006/table">
            <a:tbl>
              <a:tblPr firstRow="0" bandRow="0"/>
              <a:tblGrid>
                <a:gridCol w="3174423"/>
                <a:gridCol w="7569777"/>
              </a:tblGrid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Risk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How we handle it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DDE5E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Buyers and sellers bypass the app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Low fee (~3.8%), no contact details on parcels, credits and ratings count only on-platform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Slower growth than planned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Plan is already conservative; half-speed case capped at ~$2,750; hand-run pilot tests demand before spending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Courier contract delayed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Registration first (budgeted); second courier quote as fallback; without the margin, break-even ≈ 1,060 orders/month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Failed deliveries ("not at home")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One free re-attempt; 3 failures remove cash-on-delivery; WhatsApp reminder before delivery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Courier holds the cash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en-US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Contract fixes custody and timing; weekly settlement</a:t>
                      </a:r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DE5ED"/>
                      </a:solidFill>
                      <a:prstDash val="solid"/>
                    </a:lnL>
                    <a:lnR w="9525" cap="flat" cmpd="sng" algn="ctr">
                      <a:solidFill>
                        <a:srgbClr val="DDE5ED"/>
                      </a:solidFill>
                      <a:prstDash val="solid"/>
                    </a:lnR>
                    <a:lnT w="9525" cap="flat" cmpd="sng" algn="ctr">
                      <a:solidFill>
                        <a:srgbClr val="DDE5ED"/>
                      </a:solidFill>
                      <a:prstDash val="solid"/>
                    </a:lnT>
                    <a:lnB w="9525" cap="flat" cmpd="sng" algn="ctr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98" name="Google Shape;98;p14" title="Center_for_Academic_and_Professional_Advancement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9593" y="351575"/>
            <a:ext cx="3178503" cy="96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title="german cooperation deutsche zusammenarbei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900" y="436205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ectangle 99"/>
          <p:cNvSpPr/>
          <p:nvPr/>
        </p:nvSpPr>
        <p:spPr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lang="en-US">
                <a:solidFill>
                  <a:srgbClr val="5A6672"/>
                </a:solidFill>
                <a:latin typeface="Inter"/>
                <a:cs typeface="Inter"/>
              </a:rPr>
              <a:t>Appendix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000" b="1" lang="en-US">
                <a:solidFill>
                  <a:srgbClr val="101820"/>
                </a:solidFill>
                <a:latin typeface="Comfortaa"/>
                <a:cs typeface="Comfortaa"/>
              </a:rPr>
              <a:t>How an order flows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22376" y="2779776"/>
            <a:ext cx="10744200" cy="2834640"/>
            <a:chOff x="722376" y="2779776"/>
            <a:chExt cx="10744200" cy="2834640"/>
          </a:xfrm>
        </p:grpSpPr>
        <p:cxnSp>
          <p:nvCxnSpPr>
            <p:cNvPr id="103" name="Connector 102"/>
            <p:cNvCxnSpPr/>
            <p:nvPr/>
          </p:nvCxnSpPr>
          <p:spPr>
            <a:xfrm>
              <a:off x="1609344" y="3017520"/>
              <a:ext cx="8961120" cy="0"/>
            </a:xfrm>
            <a:prstGeom prst="line">
              <a:avLst/>
            </a:prstGeom>
            <a:ln w="38100">
              <a:solidFill>
                <a:srgbClr val="DDE5ED"/>
              </a:solidFill>
            </a:ln>
            <a:effectLst/>
          </p:spPr>
        </p:cxnSp>
        <p:sp>
          <p:nvSpPr>
            <p:cNvPr id="104" name="Oval 103"/>
            <p:cNvSpPr/>
            <p:nvPr/>
          </p:nvSpPr>
          <p:spPr>
            <a:xfrm>
              <a:off x="1371600" y="2779776"/>
              <a:ext cx="475488" cy="47548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1371600" y="2779776"/>
              <a:ext cx="475488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FFFFFF"/>
                  </a:solidFill>
                  <a:latin typeface="Inter"/>
                  <a:cs typeface="Inter"/>
                </a:rPr>
                <a:t>1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86384" y="3429000"/>
              <a:ext cx="1645920" cy="6400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Checkout (cash on delivery)</a:t>
              </a:r>
            </a:p>
          </p:txBody>
        </p:sp>
        <p:sp>
          <p:nvSpPr>
            <p:cNvPr id="107" name="Oval 106"/>
            <p:cNvSpPr/>
            <p:nvPr/>
          </p:nvSpPr>
          <p:spPr>
            <a:xfrm>
              <a:off x="3163824" y="2779776"/>
              <a:ext cx="475488" cy="47548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3163824" y="2779776"/>
              <a:ext cx="475488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FFFFFF"/>
                  </a:solidFill>
                  <a:latin typeface="Inter"/>
                  <a:cs typeface="Inter"/>
                </a:rPr>
                <a:t>2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2578608" y="3429000"/>
              <a:ext cx="1645920" cy="6400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Merchant accepts</a:t>
              </a:r>
            </a:p>
          </p:txBody>
        </p:sp>
        <p:sp>
          <p:nvSpPr>
            <p:cNvPr id="110" name="Oval 109"/>
            <p:cNvSpPr/>
            <p:nvPr/>
          </p:nvSpPr>
          <p:spPr>
            <a:xfrm>
              <a:off x="4956048" y="2779776"/>
              <a:ext cx="475488" cy="47548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4956048" y="2779776"/>
              <a:ext cx="475488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FFFFFF"/>
                  </a:solidFill>
                  <a:latin typeface="Inter"/>
                  <a:cs typeface="Inter"/>
                </a:rPr>
                <a:t>3</a:t>
              </a:r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4370832" y="3429000"/>
              <a:ext cx="1645920" cy="6400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Sealed package + waybill</a:t>
              </a:r>
            </a:p>
          </p:txBody>
        </p:sp>
        <p:sp>
          <p:nvSpPr>
            <p:cNvPr id="113" name="Oval 112"/>
            <p:cNvSpPr/>
            <p:nvPr/>
          </p:nvSpPr>
          <p:spPr>
            <a:xfrm>
              <a:off x="6748272" y="2779776"/>
              <a:ext cx="475488" cy="47548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6748272" y="2779776"/>
              <a:ext cx="475488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FFFFFF"/>
                  </a:solidFill>
                  <a:latin typeface="Inter"/>
                  <a:cs typeface="Inter"/>
                </a:rPr>
                <a:t>4</a:t>
              </a: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163056" y="3429000"/>
              <a:ext cx="1645920" cy="6400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Courier pickup</a:t>
              </a:r>
            </a:p>
          </p:txBody>
        </p:sp>
        <p:sp>
          <p:nvSpPr>
            <p:cNvPr id="116" name="Oval 115"/>
            <p:cNvSpPr/>
            <p:nvPr/>
          </p:nvSpPr>
          <p:spPr>
            <a:xfrm>
              <a:off x="8540496" y="2779776"/>
              <a:ext cx="475488" cy="47548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8540496" y="2779776"/>
              <a:ext cx="475488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FFFFFF"/>
                  </a:solidFill>
                  <a:latin typeface="Inter"/>
                  <a:cs typeface="Inter"/>
                </a:rPr>
                <a:t>5</a:t>
              </a:r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7955280" y="3429000"/>
              <a:ext cx="1645920" cy="6400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Delivery + cash collected</a:t>
              </a:r>
            </a:p>
          </p:txBody>
        </p:sp>
        <p:sp>
          <p:nvSpPr>
            <p:cNvPr id="119" name="Oval 118"/>
            <p:cNvSpPr/>
            <p:nvPr/>
          </p:nvSpPr>
          <p:spPr>
            <a:xfrm>
              <a:off x="10332720" y="2779776"/>
              <a:ext cx="475488" cy="47548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10332720" y="2779776"/>
              <a:ext cx="475488" cy="47548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/>
              <a:r>
                <a:rPr sz="1400" b="1" lang="en-US">
                  <a:solidFill>
                    <a:srgbClr val="FFFFFF"/>
                  </a:solidFill>
                  <a:latin typeface="Inter"/>
                  <a:cs typeface="Inter"/>
                </a:rPr>
                <a:t>6</a:t>
              </a:r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9747504" y="3429000"/>
              <a:ext cx="1645920" cy="64008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/>
              <a:r>
                <a:rPr sz="1300" b="1" lang="en-US">
                  <a:solidFill>
                    <a:srgbClr val="101820"/>
                  </a:solidFill>
                  <a:latin typeface="Inter"/>
                  <a:cs typeface="Inter"/>
                </a:rPr>
                <a:t>Sunday settlement</a:t>
              </a:r>
            </a:p>
          </p:txBody>
        </p:sp>
        <p:sp>
          <p:nvSpPr>
            <p:cNvPr id="122" name="TextBox 121"/>
            <p:cNvSpPr txBox="1"/>
            <p:nvPr/>
          </p:nvSpPr>
          <p:spPr>
            <a:xfrm>
              <a:off x="722376" y="4572000"/>
              <a:ext cx="10744200" cy="2743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200" b="0" lang="en-US">
                  <a:solidFill>
                    <a:srgbClr val="5A6672"/>
                  </a:solidFill>
                  <a:latin typeface="Inter"/>
                  <a:cs typeface="Inter"/>
                </a:rPr>
                <a:t>Returns: 48 hours — faulty item: merchant pays the return; change of mind: customer pays 3,000 IQD.</a:t>
              </a:r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722376" y="4956048"/>
              <a:ext cx="10744200" cy="2743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200" b="0" lang="en-US">
                  <a:solidFill>
                    <a:srgbClr val="5A6672"/>
                  </a:solidFill>
                  <a:latin typeface="Inter"/>
                  <a:cs typeface="Inter"/>
                </a:rPr>
                <a:t>Failed delivery: one free re-attempt, then back to the merchant.</a:t>
              </a: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722376" y="5340096"/>
              <a:ext cx="10744200" cy="2743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/>
              <a:r>
                <a:rPr sz="1200" b="0" lang="en-US">
                  <a:solidFill>
                    <a:srgbClr val="5A6672"/>
                  </a:solidFill>
                  <a:latin typeface="Inter"/>
                  <a:cs typeface="Inter"/>
                </a:rPr>
                <a:t>Packaging: opaque and sealed; tamper tape on orders ≥ 50,000 IQD.</a:t>
              </a:r>
            </a:p>
          </p:txBody>
        </p:sp>
      </p:grpSp>
    </p:spTree>
  </p:cSld>
  <p:clrMapOvr>
    <a:masterClrMapping/>
  </p:clrMapOvr>
  <p:transition spd="fast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