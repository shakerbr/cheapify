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BM Plex Sans Arabic"/>
      <p:regular r:id="rId19"/>
      <p:bold r:id="rId20"/>
    </p:embeddedFont>
    <p:embeddedFont>
      <p:font typeface="Plus Jakarta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Arabic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regular.fntdata"/><Relationship Id="rId13" Type="http://schemas.openxmlformats.org/officeDocument/2006/relationships/slide" Target="slides/slide8.xml"/><Relationship Id="rId24" Type="http://schemas.openxmlformats.org/officeDocument/2006/relationships/font" Target="fonts/PlusJakartaSans-boldItalic.fntdata"/><Relationship Id="rId12" Type="http://schemas.openxmlformats.org/officeDocument/2006/relationships/slide" Target="slides/slide7.xml"/><Relationship Id="rId23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Arabic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C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Cheapify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0" y="1536352"/>
            <a:ext cx="1714499" cy="17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48112" y="3708052"/>
            <a:ext cx="36957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 BRAND SPECIFICATION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02677" y="4136677"/>
            <a:ext cx="878664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Cheapify Brand Identity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52812" y="5035748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A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Deals. Verified Sellers. One App.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2C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2286000" y="4003178"/>
            <a:ext cx="7620000" cy="124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0" y="4003178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230378" y="1608832"/>
            <a:ext cx="17312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SLOGAN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072989" y="2037457"/>
            <a:ext cx="6045872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bright side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 choosing.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33500" y="4469903"/>
            <a:ext cx="952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PROMISE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33500" y="4822328"/>
            <a:ext cx="9525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Deals. Verified Sellers. One App.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762000" y="2572642"/>
            <a:ext cx="3352800" cy="3048000"/>
          </a:xfrm>
          <a:prstGeom prst="roundRect">
            <a:avLst>
              <a:gd fmla="val 5000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419600" y="2572642"/>
            <a:ext cx="3352800" cy="3048000"/>
          </a:xfrm>
          <a:prstGeom prst="roundRect">
            <a:avLst>
              <a:gd fmla="val 5000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8077200" y="2572642"/>
            <a:ext cx="3352800" cy="3048000"/>
          </a:xfrm>
          <a:prstGeom prst="roundRect">
            <a:avLst>
              <a:gd fmla="val 5000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029842"/>
            <a:ext cx="2590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02984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302984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CORE IDENTITY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Brand Triad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43000" y="3715642"/>
            <a:ext cx="3400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43000" y="4249042"/>
            <a:ext cx="26860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side-by-side pricing.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Zero hidden fees.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800600" y="3715642"/>
            <a:ext cx="126015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800600" y="4249042"/>
            <a:ext cx="2686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SKU grouping.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Algorithmic best-value ranking.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58200" y="3715642"/>
            <a:ext cx="156269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Reliable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58200" y="4249042"/>
            <a:ext cx="23050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merchant vetting.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Integrated local delivery.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762000"/>
            <a:ext cx="55626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Cheapify.png"/>
          <p:cNvPicPr preferRelativeResize="0"/>
          <p:nvPr/>
        </p:nvPicPr>
        <p:blipFill rotWithShape="1">
          <a:blip r:embed="rId4">
            <a:alphaModFix/>
          </a:blip>
          <a:srcRect b="0" l="-20778" r="-20764" t="0"/>
          <a:stretch/>
        </p:blipFill>
        <p:spPr>
          <a:xfrm>
            <a:off x="6477000" y="1371600"/>
            <a:ext cx="4343400" cy="411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2180332"/>
            <a:ext cx="542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VISUAL MARK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2532757"/>
            <a:ext cx="5700712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Lockup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3363217"/>
            <a:ext cx="5429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Hub:</a:t>
            </a:r>
            <a:r>
              <a:rPr b="0" i="0" lang="en-US" sz="18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blue container.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3877567"/>
            <a:ext cx="5429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Growth:</a:t>
            </a:r>
            <a:r>
              <a:rPr b="0" i="0" lang="en-US" sz="18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upward green arrow.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4391917"/>
            <a:ext cx="5429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Discovery:</a:t>
            </a:r>
            <a:r>
              <a:rPr b="0" i="0" lang="en-US" sz="18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search magnifier.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762000" y="2021075"/>
            <a:ext cx="6367800" cy="4350900"/>
          </a:xfrm>
          <a:prstGeom prst="roundRect">
            <a:avLst>
              <a:gd fmla="val 2853" name="adj"/>
            </a:avLst>
          </a:prstGeom>
          <a:solidFill>
            <a:srgbClr val="FFFFFF"/>
          </a:solidFill>
          <a:ln cap="flat" cmpd="sng" w="8525">
            <a:solidFill>
              <a:srgbClr val="A0AA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2512500" y="2265000"/>
            <a:ext cx="2827500" cy="3622500"/>
          </a:xfrm>
          <a:prstGeom prst="rect">
            <a:avLst/>
          </a:prstGeom>
          <a:noFill/>
          <a:ln cap="flat" cmpd="sng" w="17050">
            <a:solidFill>
              <a:srgbClr val="0E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777123" y="2173680"/>
            <a:ext cx="320400" cy="187500"/>
          </a:xfrm>
          <a:prstGeom prst="roundRect">
            <a:avLst>
              <a:gd fmla="val 18181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777123" y="5784593"/>
            <a:ext cx="320400" cy="187500"/>
          </a:xfrm>
          <a:prstGeom prst="roundRect">
            <a:avLst>
              <a:gd fmla="val 18181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361027" y="3979137"/>
            <a:ext cx="320400" cy="187500"/>
          </a:xfrm>
          <a:prstGeom prst="roundRect">
            <a:avLst>
              <a:gd fmla="val 18181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193218" y="3979137"/>
            <a:ext cx="320400" cy="187500"/>
          </a:xfrm>
          <a:prstGeom prst="roundRect">
            <a:avLst>
              <a:gd fmla="val 18181" name="adj"/>
            </a:avLst>
          </a:prstGeom>
          <a:solidFill>
            <a:srgbClr val="0E82C4"/>
          </a:solidFill>
          <a:ln>
            <a:noFill/>
          </a:ln>
        </p:spPr>
        <p:txBody>
          <a:bodyPr anchorCtr="0" anchor="ctr" bIns="40875" lIns="81775" spcFirstLastPara="1" rIns="81775" wrap="square" tIns="40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782750" y="2542885"/>
            <a:ext cx="3092400" cy="1434900"/>
          </a:xfrm>
          <a:prstGeom prst="roundRect">
            <a:avLst>
              <a:gd fmla="val 41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782750" y="4234674"/>
            <a:ext cx="1101300" cy="628800"/>
          </a:xfrm>
          <a:prstGeom prst="roundRect">
            <a:avLst>
              <a:gd fmla="val 18181" name="adj"/>
            </a:avLst>
          </a:prstGeom>
          <a:solidFill>
            <a:srgbClr val="1B1C1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782750" y="5815824"/>
            <a:ext cx="309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782750" y="5815824"/>
            <a:ext cx="309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870" y="2684922"/>
            <a:ext cx="2044961" cy="2741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title="Cheapify-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4675" y="2687612"/>
            <a:ext cx="1142999" cy="114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title="Cheapify-2-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44675" y="4396599"/>
            <a:ext cx="304799" cy="3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02B. GEOMETRIC STANDARDS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Space &amp; Minimums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3845288" y="2207763"/>
            <a:ext cx="269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X</a:t>
            </a:r>
            <a:endParaRPr sz="1252"/>
          </a:p>
        </p:txBody>
      </p:sp>
      <p:sp>
        <p:nvSpPr>
          <p:cNvPr id="147" name="Google Shape;147;p17"/>
          <p:cNvSpPr txBox="1"/>
          <p:nvPr/>
        </p:nvSpPr>
        <p:spPr>
          <a:xfrm>
            <a:off x="3845288" y="5818675"/>
            <a:ext cx="269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X</a:t>
            </a:r>
            <a:endParaRPr sz="1252"/>
          </a:p>
        </p:txBody>
      </p:sp>
      <p:sp>
        <p:nvSpPr>
          <p:cNvPr id="148" name="Google Shape;148;p17"/>
          <p:cNvSpPr txBox="1"/>
          <p:nvPr/>
        </p:nvSpPr>
        <p:spPr>
          <a:xfrm>
            <a:off x="2429192" y="4013220"/>
            <a:ext cx="269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805">
                <a:solidFill>
                  <a:srgbClr val="FFFFFF"/>
                </a:solidFill>
              </a:rPr>
              <a:t>Y</a:t>
            </a:r>
            <a:endParaRPr sz="1252"/>
          </a:p>
        </p:txBody>
      </p:sp>
      <p:sp>
        <p:nvSpPr>
          <p:cNvPr id="149" name="Google Shape;149;p17"/>
          <p:cNvSpPr txBox="1"/>
          <p:nvPr/>
        </p:nvSpPr>
        <p:spPr>
          <a:xfrm>
            <a:off x="5261383" y="4013220"/>
            <a:ext cx="269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805">
                <a:solidFill>
                  <a:srgbClr val="FFFFFF"/>
                </a:solidFill>
              </a:rPr>
              <a:t>Y</a:t>
            </a:r>
            <a:endParaRPr sz="1252"/>
          </a:p>
        </p:txBody>
      </p:sp>
      <p:sp>
        <p:nvSpPr>
          <p:cNvPr id="150" name="Google Shape;150;p17"/>
          <p:cNvSpPr txBox="1"/>
          <p:nvPr/>
        </p:nvSpPr>
        <p:spPr>
          <a:xfrm>
            <a:off x="7782750" y="1987816"/>
            <a:ext cx="385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Minimums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782750" y="5168124"/>
            <a:ext cx="385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Print Minimums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250900" y="3178233"/>
            <a:ext cx="68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120px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01875" y="4472799"/>
            <a:ext cx="60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0AAB2"/>
                </a:solidFill>
                <a:latin typeface="Arial"/>
                <a:ea typeface="Arial"/>
                <a:cs typeface="Arial"/>
                <a:sym typeface="Arial"/>
              </a:rPr>
              <a:t>32px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782750" y="5558649"/>
            <a:ext cx="318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Full Lockup: 28mm width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782750" y="5977749"/>
            <a:ext cx="318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Icon Only: 10mm width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762000" y="2097285"/>
            <a:ext cx="3352800" cy="3998714"/>
          </a:xfrm>
          <a:prstGeom prst="roundRect">
            <a:avLst>
              <a:gd fmla="val 4545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419600" y="2097285"/>
            <a:ext cx="3352800" cy="3998714"/>
          </a:xfrm>
          <a:prstGeom prst="roundRect">
            <a:avLst>
              <a:gd fmla="val 4545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077200" y="2097285"/>
            <a:ext cx="3352800" cy="3998714"/>
          </a:xfrm>
          <a:prstGeom prst="roundRect">
            <a:avLst>
              <a:gd fmla="val 4545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402085"/>
            <a:ext cx="2743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675" y="415468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400" y="2402085"/>
            <a:ext cx="2743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0275" y="415468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402085"/>
            <a:ext cx="2743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7875" y="415468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8825" y="2497550"/>
            <a:ext cx="1019125" cy="136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0" y="2783085"/>
            <a:ext cx="1524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19250" y="2464325"/>
            <a:ext cx="1068695" cy="143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02C. BRAND VIOLATIONS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Unacceptable Uses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462087" y="4459485"/>
            <a:ext cx="1952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not alter colors.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738687" y="4459485"/>
            <a:ext cx="2714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not stretch or squeeze.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70131" y="4459485"/>
            <a:ext cx="2166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not add shadows.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67830"/>
            <a:ext cx="5105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167830"/>
            <a:ext cx="5105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title="Cheapify-2.png"/>
          <p:cNvPicPr preferRelativeResize="0"/>
          <p:nvPr/>
        </p:nvPicPr>
        <p:blipFill rotWithShape="1">
          <a:blip r:embed="rId5">
            <a:alphaModFix/>
          </a:blip>
          <a:srcRect b="0" l="-48222" r="-48203" t="0"/>
          <a:stretch/>
        </p:blipFill>
        <p:spPr>
          <a:xfrm>
            <a:off x="1219200" y="2625030"/>
            <a:ext cx="4191002" cy="21336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2625030"/>
            <a:ext cx="41910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APPLICATION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Contexts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2462212" y="5444430"/>
            <a:ext cx="22377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 Substrate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963340" y="5806380"/>
            <a:ext cx="27027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web &amp; print format.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134350" y="5444430"/>
            <a:ext cx="19502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Dark Squircle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03331" y="5806380"/>
            <a:ext cx="2547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icon &amp; social avatars.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048000" y="0"/>
            <a:ext cx="3048000" cy="6858000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rgbClr val="292F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57200" y="762000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457200" y="1190625"/>
            <a:ext cx="23402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Boston Blue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57200" y="5553075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#0E82C4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" y="589597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targets.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3505200" y="762000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ACCENT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3505200" y="1190625"/>
            <a:ext cx="2800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Jade Green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505200" y="5553075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#148C53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3505200" y="589597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Trust &amp; verification.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553200" y="762000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DARK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53200" y="1190625"/>
            <a:ext cx="2800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Charcoal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553200" y="5553075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#292F33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553200" y="589597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Typography &amp; structure.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601200" y="762000"/>
            <a:ext cx="2590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601200" y="1190625"/>
            <a:ext cx="2590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601200" y="5553075"/>
            <a:ext cx="259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Arial"/>
                <a:ea typeface="Arial"/>
                <a:cs typeface="Arial"/>
                <a:sym typeface="Arial"/>
              </a:rPr>
              <a:t>#F6F8FA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601200" y="5895975"/>
            <a:ext cx="2590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canvas surface.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6091237" y="2097285"/>
            <a:ext cx="9525" cy="3998714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762000" y="3268860"/>
            <a:ext cx="4719637" cy="190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710362" y="3198465"/>
            <a:ext cx="4719637" cy="1905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TYPOGRAPHY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Bilingual Scale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2783085"/>
            <a:ext cx="50556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 / Plus Jakarta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3592710"/>
            <a:ext cx="589954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Display Headline 800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4324201"/>
            <a:ext cx="58995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Subheader 600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62000" y="4838551"/>
            <a:ext cx="48148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body text for technical specifications, merchant data, and UI navigation labels.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710362" y="2712690"/>
            <a:ext cx="505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IBM Plex Sans Arabic / Kurdish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530453" y="3522315"/>
            <a:ext cx="5899546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باشترین نرخ ژ فرۆشیاران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615112" y="4299495"/>
            <a:ext cx="48148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92F33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بەراوردکرنا دەستبەجێ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15112" y="4870995"/>
            <a:ext cx="48148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رووناهی د بهایاندا، بەراوردکرنا دەستبەجێ، و گەهاندنا لەز بۆ هەمی دەڤەران بێی هیچ کێشەیەک.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762000" y="2097285"/>
            <a:ext cx="5143500" cy="3998714"/>
          </a:xfrm>
          <a:prstGeom prst="roundRect">
            <a:avLst>
              <a:gd fmla="val 285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286500" y="2097285"/>
            <a:ext cx="5143500" cy="3998714"/>
          </a:xfrm>
          <a:prstGeom prst="roundRect">
            <a:avLst>
              <a:gd fmla="val 285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62000" y="2097285"/>
            <a:ext cx="57150" cy="3998714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286500" y="2097285"/>
            <a:ext cx="57150" cy="399871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350" y="374421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350" y="421094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350" y="46776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850" y="386328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850" y="433000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850" y="4796730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BRAND VOICE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Editorial Standards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276350" y="3072705"/>
            <a:ext cx="547568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Cheapify Way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800850" y="3191767"/>
            <a:ext cx="53911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Strictly Avoid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600200" y="3710880"/>
            <a:ext cx="48910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First: State exact IQD savings.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600200" y="4177605"/>
            <a:ext cx="48910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Respectful: Treat merchants as partners.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600200" y="4644330"/>
            <a:ext cx="3943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Transparent: List prices upfront immediately.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096125" y="3829942"/>
            <a:ext cx="49196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Hype: Avoid "dirt cheap" slang.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096125" y="4296667"/>
            <a:ext cx="49196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Disrespect: Never imply low quality.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096125" y="4763392"/>
            <a:ext cx="49196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Friction: Never say "DM for price".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129879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235847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2795001" y="3272879"/>
            <a:ext cx="660199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Single-SKU Rule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333500" y="4088159"/>
            <a:ext cx="9525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master product page. Multiple verified sellers competing transparently. Zero duplicate listings.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762000" y="2097285"/>
            <a:ext cx="5029200" cy="3998714"/>
          </a:xfrm>
          <a:prstGeom prst="roundRect">
            <a:avLst>
              <a:gd fmla="val 38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400800" y="2097285"/>
            <a:ext cx="5029200" cy="3998714"/>
          </a:xfrm>
          <a:prstGeom prst="roundRect">
            <a:avLst>
              <a:gd fmla="val 38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762000" y="2097285"/>
            <a:ext cx="5029200" cy="5715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6400800" y="2097285"/>
            <a:ext cx="5029200" cy="57150"/>
          </a:xfrm>
          <a:prstGeom prst="rect">
            <a:avLst/>
          </a:prstGeom>
          <a:solidFill>
            <a:srgbClr val="148C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6259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6259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42880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464046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42880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464046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07. AUDIENCE PERSONAS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62000" y="1114425"/>
            <a:ext cx="11430000" cy="52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Who We Serve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219200" y="3173610"/>
            <a:ext cx="4210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Young adults (18-35) across major KRI/Iraqi cities looking for transparent, fair prices without the hassle of DM negotiations.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858000" y="3173610"/>
            <a:ext cx="42100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Small to medium physical and social-media retailers who need a scalable digital storefront without expensive agency build costs.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752600" y="2611635"/>
            <a:ext cx="327540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Smart Shopper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1466850" y="4249935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Pain Point: Wasting hours asking "How much?"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466850" y="4602360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82C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Goal: Instant side-by-side comparison.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353300" y="2611635"/>
            <a:ext cx="33129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2F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Local Merchant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7105650" y="4249935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Pain Point: High fees on traditional apps.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7105650" y="4602360"/>
            <a:ext cx="4895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8C5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Goal: Predictable orders &amp; verified status.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C1E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5810250" y="4575720"/>
            <a:ext cx="571500" cy="38100"/>
          </a:xfrm>
          <a:prstGeom prst="rect">
            <a:avLst/>
          </a:prstGeom>
          <a:solidFill>
            <a:srgbClr val="0E8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5" title="Cheapify-2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0" y="2244030"/>
            <a:ext cx="1142999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3618151" y="3844230"/>
            <a:ext cx="4955697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 Commerce.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