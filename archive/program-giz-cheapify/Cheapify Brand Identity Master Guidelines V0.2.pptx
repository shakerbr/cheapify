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6858000" cx="12192000"/>
  <p:notesSz cx="6858000" cy="9144000"/>
  <p:embeddedFontLst>
    <p:embeddedFont>
      <p:font typeface="IBM Plex Sans Arabic"/>
      <p:regular r:id="rId34"/>
      <p:bold r:id="rId35"/>
    </p:embeddedFont>
    <p:embeddedFont>
      <p:font typeface="Comfortaa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IBMPlexSansArabic-bold.fntdata"/><Relationship Id="rId12" Type="http://schemas.openxmlformats.org/officeDocument/2006/relationships/slide" Target="slides/slide7.xml"/><Relationship Id="rId34" Type="http://schemas.openxmlformats.org/officeDocument/2006/relationships/font" Target="fonts/IBMPlexSansArabic-regular.fntdata"/><Relationship Id="rId15" Type="http://schemas.openxmlformats.org/officeDocument/2006/relationships/slide" Target="slides/slide10.xml"/><Relationship Id="rId37" Type="http://schemas.openxmlformats.org/officeDocument/2006/relationships/font" Target="fonts/Comfortaa-bold.fntdata"/><Relationship Id="rId14" Type="http://schemas.openxmlformats.org/officeDocument/2006/relationships/slide" Target="slides/slide9.xml"/><Relationship Id="rId36" Type="http://schemas.openxmlformats.org/officeDocument/2006/relationships/font" Target="fonts/Comfortaa-regular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22.png"/><Relationship Id="rId5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5.png"/><Relationship Id="rId4" Type="http://schemas.openxmlformats.org/officeDocument/2006/relationships/image" Target="../media/image19.png"/><Relationship Id="rId5" Type="http://schemas.openxmlformats.org/officeDocument/2006/relationships/image" Target="../media/image11.png"/><Relationship Id="rId6" Type="http://schemas.openxmlformats.org/officeDocument/2006/relationships/image" Target="../media/image1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7.png"/><Relationship Id="rId4" Type="http://schemas.openxmlformats.org/officeDocument/2006/relationships/image" Target="../media/image1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C1E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title="Cheapify-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8750" y="1523107"/>
            <a:ext cx="1714499" cy="171449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825440" y="3694807"/>
            <a:ext cx="4541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82C4"/>
                </a:solidFill>
                <a:latin typeface="Comfortaa"/>
                <a:ea typeface="Comfortaa"/>
                <a:cs typeface="Comfortaa"/>
                <a:sym typeface="Comfortaa"/>
              </a:rPr>
              <a:t>MASTER BRAND SPECIFICATION V3.0</a:t>
            </a:r>
            <a:endParaRPr>
              <a:solidFill>
                <a:srgbClr val="0E82C4"/>
              </a:solidFill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581662" y="4094857"/>
            <a:ext cx="11028526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Cheapify Identity System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256359" y="5077717"/>
            <a:ext cx="567928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8795A1"/>
                </a:solidFill>
                <a:latin typeface="Comfortaa"/>
                <a:ea typeface="Comfortaa"/>
                <a:cs typeface="Comfortaa"/>
                <a:sym typeface="Comfortaa"/>
              </a:rPr>
              <a:t>Smart Deals. Verified Sellers. One App.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/>
          <p:nvPr/>
        </p:nvSpPr>
        <p:spPr>
          <a:xfrm>
            <a:off x="0" y="0"/>
            <a:ext cx="583882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762000" y="2667000"/>
            <a:ext cx="53934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0" u="none" cap="none" strike="noStrike">
                <a:solidFill>
                  <a:srgbClr val="0F172A"/>
                </a:solidFill>
                <a:latin typeface="Comfortaa"/>
                <a:ea typeface="Comfortaa"/>
                <a:cs typeface="Comfortaa"/>
                <a:sym typeface="Comfortaa"/>
              </a:rPr>
              <a:t>In</a:t>
            </a:r>
            <a:r>
              <a:rPr b="1" i="0" lang="en-US" sz="12000" u="none" cap="none" strike="noStrike">
                <a:solidFill>
                  <a:srgbClr val="0E82C4"/>
                </a:solidFill>
                <a:latin typeface="Comfortaa"/>
                <a:ea typeface="Comfortaa"/>
                <a:cs typeface="Comfortaa"/>
                <a:sym typeface="Comfortaa"/>
              </a:rPr>
              <a:t>dex</a:t>
            </a:r>
            <a:endParaRPr>
              <a:solidFill>
                <a:srgbClr val="0E82C4"/>
              </a:solidFill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6600825" y="1666875"/>
            <a:ext cx="492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E82C4"/>
                </a:solidFill>
                <a:latin typeface="Comfortaa"/>
                <a:ea typeface="Comfortaa"/>
                <a:cs typeface="Comfortaa"/>
                <a:sym typeface="Comfortaa"/>
              </a:rPr>
              <a:t>01   </a:t>
            </a:r>
            <a:r>
              <a:rPr b="1" i="0" lang="en-US" sz="2400" u="none" cap="none" strike="noStrike">
                <a:solidFill>
                  <a:srgbClr val="292F33"/>
                </a:solidFill>
                <a:latin typeface="Comfortaa"/>
                <a:ea typeface="Comfortaa"/>
                <a:cs typeface="Comfortaa"/>
                <a:sym typeface="Comfortaa"/>
              </a:rPr>
              <a:t>Strategic Foundation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6600825" y="2305050"/>
            <a:ext cx="492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E82C4"/>
                </a:solidFill>
                <a:latin typeface="Comfortaa"/>
                <a:ea typeface="Comfortaa"/>
                <a:cs typeface="Comfortaa"/>
                <a:sym typeface="Comfortaa"/>
              </a:rPr>
              <a:t>02   </a:t>
            </a:r>
            <a:r>
              <a:rPr b="1" i="0" lang="en-US" sz="2400" u="none" cap="none" strike="noStrike">
                <a:solidFill>
                  <a:srgbClr val="292F33"/>
                </a:solidFill>
                <a:latin typeface="Comfortaa"/>
                <a:ea typeface="Comfortaa"/>
                <a:cs typeface="Comfortaa"/>
                <a:sym typeface="Comfortaa"/>
              </a:rPr>
              <a:t>Visual Mark System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6600825" y="2943225"/>
            <a:ext cx="492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E82C4"/>
                </a:solidFill>
                <a:latin typeface="Comfortaa"/>
                <a:ea typeface="Comfortaa"/>
                <a:cs typeface="Comfortaa"/>
                <a:sym typeface="Comfortaa"/>
              </a:rPr>
              <a:t>03   </a:t>
            </a:r>
            <a:r>
              <a:rPr b="1" i="0" lang="en-US" sz="2400" u="none" cap="none" strike="noStrike">
                <a:solidFill>
                  <a:srgbClr val="292F33"/>
                </a:solidFill>
                <a:latin typeface="Comfortaa"/>
                <a:ea typeface="Comfortaa"/>
                <a:cs typeface="Comfortaa"/>
                <a:sym typeface="Comfortaa"/>
              </a:rPr>
              <a:t>Color Architecture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600825" y="3581400"/>
            <a:ext cx="492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E82C4"/>
                </a:solidFill>
                <a:latin typeface="Comfortaa"/>
                <a:ea typeface="Comfortaa"/>
                <a:cs typeface="Comfortaa"/>
                <a:sym typeface="Comfortaa"/>
              </a:rPr>
              <a:t>04   </a:t>
            </a:r>
            <a:r>
              <a:rPr b="1" i="0" lang="en-US" sz="2400" u="none" cap="none" strike="noStrike">
                <a:solidFill>
                  <a:srgbClr val="292F33"/>
                </a:solidFill>
                <a:latin typeface="Comfortaa"/>
                <a:ea typeface="Comfortaa"/>
                <a:cs typeface="Comfortaa"/>
                <a:sym typeface="Comfortaa"/>
              </a:rPr>
              <a:t>Typography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600825" y="4219575"/>
            <a:ext cx="492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E82C4"/>
                </a:solidFill>
                <a:latin typeface="Comfortaa"/>
                <a:ea typeface="Comfortaa"/>
                <a:cs typeface="Comfortaa"/>
                <a:sym typeface="Comfortaa"/>
              </a:rPr>
              <a:t>05   </a:t>
            </a:r>
            <a:r>
              <a:rPr b="1" i="0" lang="en-US" sz="2400" u="none" cap="none" strike="noStrike">
                <a:solidFill>
                  <a:srgbClr val="292F33"/>
                </a:solidFill>
                <a:latin typeface="Comfortaa"/>
                <a:ea typeface="Comfortaa"/>
                <a:cs typeface="Comfortaa"/>
                <a:sym typeface="Comfortaa"/>
              </a:rPr>
              <a:t>Voice &amp; Tone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600825" y="4857750"/>
            <a:ext cx="492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E82C4"/>
                </a:solidFill>
                <a:latin typeface="Comfortaa"/>
                <a:ea typeface="Comfortaa"/>
                <a:cs typeface="Comfortaa"/>
                <a:sym typeface="Comfortaa"/>
              </a:rPr>
              <a:t>06   </a:t>
            </a:r>
            <a:r>
              <a:rPr b="1" i="0" lang="en-US" sz="2400" u="none" cap="none" strike="noStrike">
                <a:solidFill>
                  <a:srgbClr val="292F33"/>
                </a:solidFill>
                <a:latin typeface="Comfortaa"/>
                <a:ea typeface="Comfortaa"/>
                <a:cs typeface="Comfortaa"/>
                <a:sym typeface="Comfortaa"/>
              </a:rPr>
              <a:t>Digital Application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/>
          <p:nvPr/>
        </p:nvSpPr>
        <p:spPr>
          <a:xfrm>
            <a:off x="2286000" y="3498502"/>
            <a:ext cx="7620000" cy="13201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/>
          <p:nvPr/>
        </p:nvSpPr>
        <p:spPr>
          <a:xfrm>
            <a:off x="2286000" y="3498502"/>
            <a:ext cx="7620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4843425" y="2039391"/>
            <a:ext cx="250514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82C4"/>
                </a:solidFill>
                <a:latin typeface="Comfortaa"/>
                <a:ea typeface="Comfortaa"/>
                <a:cs typeface="Comfortaa"/>
                <a:sym typeface="Comfortaa"/>
              </a:rPr>
              <a:t>THE CORE PROMISE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135805" y="2439441"/>
            <a:ext cx="11920388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292F33"/>
                </a:solidFill>
                <a:latin typeface="Comfortaa"/>
                <a:ea typeface="Comfortaa"/>
                <a:cs typeface="Comfortaa"/>
                <a:sym typeface="Comfortaa"/>
              </a:rPr>
              <a:t>The bright side of choosing.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1333500" y="3965227"/>
            <a:ext cx="9525000" cy="853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5C6B7A"/>
                </a:solidFill>
                <a:latin typeface="Comfortaa"/>
                <a:ea typeface="Comfortaa"/>
                <a:cs typeface="Comfortaa"/>
                <a:sym typeface="Comfortaa"/>
              </a:rPr>
              <a:t>Replace arbitrary pricing and endless DMs with clear, side-by-side market truth.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A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/>
          <p:nvPr/>
        </p:nvSpPr>
        <p:spPr>
          <a:xfrm>
            <a:off x="762000" y="2873573"/>
            <a:ext cx="3352800" cy="2581275"/>
          </a:xfrm>
          <a:prstGeom prst="roundRect">
            <a:avLst>
              <a:gd fmla="val 590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6"/>
          <p:cNvSpPr/>
          <p:nvPr/>
        </p:nvSpPr>
        <p:spPr>
          <a:xfrm>
            <a:off x="4419600" y="2764035"/>
            <a:ext cx="3352800" cy="2800350"/>
          </a:xfrm>
          <a:prstGeom prst="roundRect">
            <a:avLst>
              <a:gd fmla="val 544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6"/>
          <p:cNvSpPr/>
          <p:nvPr/>
        </p:nvSpPr>
        <p:spPr>
          <a:xfrm>
            <a:off x="8077200" y="2873573"/>
            <a:ext cx="3352800" cy="2581275"/>
          </a:xfrm>
          <a:prstGeom prst="roundRect">
            <a:avLst>
              <a:gd fmla="val 590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762000" y="2873573"/>
            <a:ext cx="3352800" cy="57150"/>
          </a:xfrm>
          <a:prstGeom prst="rect">
            <a:avLst/>
          </a:prstGeom>
          <a:solidFill>
            <a:srgbClr val="0E82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4419600" y="2764035"/>
            <a:ext cx="3352800" cy="57150"/>
          </a:xfrm>
          <a:prstGeom prst="rect">
            <a:avLst/>
          </a:prstGeom>
          <a:solidFill>
            <a:srgbClr val="148C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8077200" y="2873573"/>
            <a:ext cx="3352800" cy="57150"/>
          </a:xfrm>
          <a:prstGeom prst="rect">
            <a:avLst/>
          </a:prstGeom>
          <a:solidFill>
            <a:srgbClr val="292F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9" name="Google Shape;11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3387923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00600" y="327838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58200" y="3387923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762000" y="7620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82C4"/>
                </a:solidFill>
                <a:latin typeface="Comfortaa"/>
                <a:ea typeface="Comfortaa"/>
                <a:cs typeface="Comfortaa"/>
                <a:sym typeface="Comfortaa"/>
              </a:rPr>
              <a:t>01. STRATEGY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762000" y="1162050"/>
            <a:ext cx="11430000" cy="6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292F33"/>
                </a:solidFill>
                <a:latin typeface="Comfortaa"/>
                <a:ea typeface="Comfortaa"/>
                <a:cs typeface="Comfortaa"/>
                <a:sym typeface="Comfortaa"/>
              </a:rPr>
              <a:t>The Brand Triad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1143000" y="4073723"/>
            <a:ext cx="34004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Transparent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1143000" y="4559498"/>
            <a:ext cx="26860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C6B7A"/>
                </a:solidFill>
                <a:latin typeface="Comfortaa"/>
                <a:ea typeface="Comfortaa"/>
                <a:cs typeface="Comfortaa"/>
                <a:sym typeface="Comfortaa"/>
              </a:rPr>
              <a:t>Live side-by-side pricing. Zero hidden fees.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4800600" y="3964185"/>
            <a:ext cx="34004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Smart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4800600" y="4449960"/>
            <a:ext cx="268605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C6B7A"/>
                </a:solidFill>
                <a:latin typeface="Comfortaa"/>
                <a:ea typeface="Comfortaa"/>
                <a:cs typeface="Comfortaa"/>
                <a:sym typeface="Comfortaa"/>
              </a:rPr>
              <a:t>Automated SKU grouping. Algorithmic ranking.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8458200" y="4073723"/>
            <a:ext cx="34004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Reliable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8458200" y="4559498"/>
            <a:ext cx="26860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C6B7A"/>
                </a:solidFill>
                <a:latin typeface="Comfortaa"/>
                <a:ea typeface="Comfortaa"/>
                <a:cs typeface="Comfortaa"/>
                <a:sym typeface="Comfortaa"/>
              </a:rPr>
              <a:t>Strict merchant vetting. Integrated delivery.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7"/>
          <p:cNvSpPr/>
          <p:nvPr/>
        </p:nvSpPr>
        <p:spPr>
          <a:xfrm>
            <a:off x="9334500" y="0"/>
            <a:ext cx="2857500" cy="6858000"/>
          </a:xfrm>
          <a:prstGeom prst="rect">
            <a:avLst/>
          </a:prstGeom>
          <a:solidFill>
            <a:srgbClr val="0E82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762000" y="2390775"/>
            <a:ext cx="9763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82C4"/>
                </a:solidFill>
                <a:latin typeface="Comfortaa"/>
                <a:ea typeface="Comfortaa"/>
                <a:cs typeface="Comfortaa"/>
                <a:sym typeface="Comfortaa"/>
              </a:rPr>
              <a:t>SECTION 02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762000" y="2790825"/>
            <a:ext cx="83010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292F33"/>
                </a:solidFill>
                <a:latin typeface="Comfortaa"/>
                <a:ea typeface="Comfortaa"/>
                <a:cs typeface="Comfortaa"/>
                <a:sym typeface="Comfortaa"/>
              </a:rPr>
              <a:t>Visual Mark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000" u="none" cap="none" strike="noStrike">
                <a:solidFill>
                  <a:srgbClr val="292F33"/>
                </a:solidFill>
                <a:latin typeface="Comfortaa"/>
                <a:ea typeface="Comfortaa"/>
                <a:cs typeface="Comfortaa"/>
                <a:sym typeface="Comfortaa"/>
              </a:rPr>
              <a:t>System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1" name="Google Shape;14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232575"/>
            <a:ext cx="10668000" cy="421452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8"/>
          <p:cNvSpPr txBox="1"/>
          <p:nvPr/>
        </p:nvSpPr>
        <p:spPr>
          <a:xfrm>
            <a:off x="762000" y="7620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82C4"/>
                </a:solidFill>
                <a:latin typeface="Comfortaa"/>
                <a:ea typeface="Comfortaa"/>
                <a:cs typeface="Comfortaa"/>
                <a:sym typeface="Comfortaa"/>
              </a:rPr>
              <a:t>02. VISUAL MARK</a:t>
            </a:r>
            <a:endParaRPr/>
          </a:p>
        </p:txBody>
      </p:sp>
      <p:sp>
        <p:nvSpPr>
          <p:cNvPr id="143" name="Google Shape;143;p18"/>
          <p:cNvSpPr txBox="1"/>
          <p:nvPr/>
        </p:nvSpPr>
        <p:spPr>
          <a:xfrm>
            <a:off x="762000" y="1162050"/>
            <a:ext cx="11430000" cy="6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292F33"/>
                </a:solidFill>
                <a:latin typeface="Comfortaa"/>
                <a:ea typeface="Comfortaa"/>
                <a:cs typeface="Comfortaa"/>
                <a:sym typeface="Comfortaa"/>
              </a:rPr>
              <a:t>Primary Lockup</a:t>
            </a:r>
            <a:endParaRPr/>
          </a:p>
        </p:txBody>
      </p:sp>
      <p:grpSp>
        <p:nvGrpSpPr>
          <p:cNvPr id="144" name="Google Shape;144;p18"/>
          <p:cNvGrpSpPr/>
          <p:nvPr/>
        </p:nvGrpSpPr>
        <p:grpSpPr>
          <a:xfrm>
            <a:off x="4578750" y="2516300"/>
            <a:ext cx="3034500" cy="3353025"/>
            <a:chOff x="4578750" y="2516300"/>
            <a:chExt cx="3034500" cy="3353025"/>
          </a:xfrm>
        </p:grpSpPr>
        <p:pic>
          <p:nvPicPr>
            <p:cNvPr id="145" name="Google Shape;145;p18" title="Cheapify.png"/>
            <p:cNvPicPr preferRelativeResize="0"/>
            <p:nvPr/>
          </p:nvPicPr>
          <p:blipFill rotWithShape="1">
            <a:blip r:embed="rId4">
              <a:alphaModFix/>
            </a:blip>
            <a:srcRect b="23242" l="2570" r="-2570" t="0"/>
            <a:stretch/>
          </p:blipFill>
          <p:spPr>
            <a:xfrm>
              <a:off x="4747100" y="2516300"/>
              <a:ext cx="2697800" cy="277639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6" name="Google Shape;146;p18"/>
            <p:cNvGrpSpPr/>
            <p:nvPr/>
          </p:nvGrpSpPr>
          <p:grpSpPr>
            <a:xfrm>
              <a:off x="4578750" y="4504943"/>
              <a:ext cx="3034500" cy="1364382"/>
              <a:chOff x="4578750" y="4504943"/>
              <a:chExt cx="3034500" cy="1364382"/>
            </a:xfrm>
          </p:grpSpPr>
          <p:sp>
            <p:nvSpPr>
              <p:cNvPr id="147" name="Google Shape;147;p18"/>
              <p:cNvSpPr txBox="1"/>
              <p:nvPr/>
            </p:nvSpPr>
            <p:spPr>
              <a:xfrm>
                <a:off x="4578750" y="5222825"/>
                <a:ext cx="3034500" cy="64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4200">
                    <a:solidFill>
                      <a:srgbClr val="292F33"/>
                    </a:solidFill>
                    <a:latin typeface="Comfortaa"/>
                    <a:ea typeface="Comfortaa"/>
                    <a:cs typeface="Comfortaa"/>
                    <a:sym typeface="Comfortaa"/>
                  </a:rPr>
                  <a:t>Cheapify</a:t>
                </a:r>
                <a:endParaRPr b="1"/>
              </a:p>
            </p:txBody>
          </p:sp>
          <p:sp>
            <p:nvSpPr>
              <p:cNvPr id="148" name="Google Shape;148;p18"/>
              <p:cNvSpPr txBox="1"/>
              <p:nvPr/>
            </p:nvSpPr>
            <p:spPr>
              <a:xfrm>
                <a:off x="6219094" y="4504943"/>
                <a:ext cx="1104900" cy="110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7200">
                    <a:solidFill>
                      <a:srgbClr val="298BCD"/>
                    </a:solidFill>
                    <a:latin typeface="Comfortaa"/>
                    <a:ea typeface="Comfortaa"/>
                    <a:cs typeface="Comfortaa"/>
                    <a:sym typeface="Comfortaa"/>
                  </a:rPr>
                  <a:t>.</a:t>
                </a:r>
                <a:endParaRPr b="1" sz="7200">
                  <a:solidFill>
                    <a:srgbClr val="298BCD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A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9"/>
          <p:cNvSpPr/>
          <p:nvPr/>
        </p:nvSpPr>
        <p:spPr>
          <a:xfrm>
            <a:off x="6400800" y="4826198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292F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>
            <a:off x="6257850" y="4962403"/>
            <a:ext cx="743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3</a:t>
            </a:r>
            <a:endParaRPr/>
          </a:p>
        </p:txBody>
      </p:sp>
      <p:sp>
        <p:nvSpPr>
          <p:cNvPr id="155" name="Google Shape;155;p19"/>
          <p:cNvSpPr/>
          <p:nvPr/>
        </p:nvSpPr>
        <p:spPr>
          <a:xfrm>
            <a:off x="6400800" y="2787848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E82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9"/>
          <p:cNvSpPr/>
          <p:nvPr/>
        </p:nvSpPr>
        <p:spPr>
          <a:xfrm>
            <a:off x="6400800" y="3807023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148C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9"/>
          <p:cNvSpPr txBox="1"/>
          <p:nvPr/>
        </p:nvSpPr>
        <p:spPr>
          <a:xfrm>
            <a:off x="762000" y="7620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82C4"/>
                </a:solidFill>
                <a:latin typeface="Comfortaa"/>
                <a:ea typeface="Comfortaa"/>
                <a:cs typeface="Comfortaa"/>
                <a:sym typeface="Comfortaa"/>
              </a:rPr>
              <a:t>02. VISUAL MARK</a:t>
            </a:r>
            <a:endParaRPr/>
          </a:p>
        </p:txBody>
      </p:sp>
      <p:sp>
        <p:nvSpPr>
          <p:cNvPr id="158" name="Google Shape;158;p19"/>
          <p:cNvSpPr txBox="1"/>
          <p:nvPr/>
        </p:nvSpPr>
        <p:spPr>
          <a:xfrm>
            <a:off x="762000" y="1162050"/>
            <a:ext cx="11430000" cy="6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292F33"/>
                </a:solidFill>
                <a:latin typeface="Comfortaa"/>
                <a:ea typeface="Comfortaa"/>
                <a:cs typeface="Comfortaa"/>
                <a:sym typeface="Comfortaa"/>
              </a:rPr>
              <a:t>Mark Anatomy</a:t>
            </a:r>
            <a:endParaRPr/>
          </a:p>
        </p:txBody>
      </p:sp>
      <p:sp>
        <p:nvSpPr>
          <p:cNvPr id="159" name="Google Shape;159;p19"/>
          <p:cNvSpPr txBox="1"/>
          <p:nvPr/>
        </p:nvSpPr>
        <p:spPr>
          <a:xfrm>
            <a:off x="6257925" y="2787848"/>
            <a:ext cx="742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1</a:t>
            </a:r>
            <a:endParaRPr/>
          </a:p>
        </p:txBody>
      </p:sp>
      <p:sp>
        <p:nvSpPr>
          <p:cNvPr id="160" name="Google Shape;160;p19"/>
          <p:cNvSpPr txBox="1"/>
          <p:nvPr/>
        </p:nvSpPr>
        <p:spPr>
          <a:xfrm>
            <a:off x="6257925" y="3807023"/>
            <a:ext cx="742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2</a:t>
            </a: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7086600" y="2787848"/>
            <a:ext cx="5105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92F33"/>
                </a:solidFill>
                <a:latin typeface="Comfortaa"/>
                <a:ea typeface="Comfortaa"/>
                <a:cs typeface="Comfortaa"/>
                <a:sym typeface="Comfortaa"/>
              </a:rPr>
              <a:t>Market Hub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7086600" y="3121223"/>
            <a:ext cx="44386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C6B7A"/>
                </a:solidFill>
                <a:latin typeface="Comfortaa"/>
                <a:ea typeface="Comfortaa"/>
                <a:cs typeface="Comfortaa"/>
                <a:sym typeface="Comfortaa"/>
              </a:rPr>
              <a:t>The blue container houses verified local merchants.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7086600" y="3807023"/>
            <a:ext cx="5105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92F33"/>
                </a:solidFill>
                <a:latin typeface="Comfortaa"/>
                <a:ea typeface="Comfortaa"/>
                <a:cs typeface="Comfortaa"/>
                <a:sym typeface="Comfortaa"/>
              </a:rPr>
              <a:t>Growth Vector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7086600" y="4140398"/>
            <a:ext cx="44386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C6B7A"/>
                </a:solidFill>
                <a:latin typeface="Comfortaa"/>
                <a:ea typeface="Comfortaa"/>
                <a:cs typeface="Comfortaa"/>
                <a:sym typeface="Comfortaa"/>
              </a:rPr>
              <a:t>The upward arrow symbolizes immediate financial savings.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7086600" y="4826198"/>
            <a:ext cx="5105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92F33"/>
                </a:solidFill>
                <a:latin typeface="Comfortaa"/>
                <a:ea typeface="Comfortaa"/>
                <a:cs typeface="Comfortaa"/>
                <a:sym typeface="Comfortaa"/>
              </a:rPr>
              <a:t>Discovery Engine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7086600" y="5159573"/>
            <a:ext cx="44386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C6B7A"/>
                </a:solidFill>
                <a:latin typeface="Comfortaa"/>
                <a:ea typeface="Comfortaa"/>
                <a:cs typeface="Comfortaa"/>
                <a:sym typeface="Comfortaa"/>
              </a:rPr>
              <a:t>The magnifier communicates algorithmic price matching.</a:t>
            </a:r>
            <a:endParaRPr/>
          </a:p>
        </p:txBody>
      </p:sp>
      <p:grpSp>
        <p:nvGrpSpPr>
          <p:cNvPr id="167" name="Google Shape;167;p19"/>
          <p:cNvGrpSpPr/>
          <p:nvPr/>
        </p:nvGrpSpPr>
        <p:grpSpPr>
          <a:xfrm>
            <a:off x="1210475" y="2538587"/>
            <a:ext cx="3034500" cy="3353025"/>
            <a:chOff x="4578750" y="2516300"/>
            <a:chExt cx="3034500" cy="3353025"/>
          </a:xfrm>
        </p:grpSpPr>
        <p:pic>
          <p:nvPicPr>
            <p:cNvPr id="168" name="Google Shape;168;p19" title="Cheapify.png"/>
            <p:cNvPicPr preferRelativeResize="0"/>
            <p:nvPr/>
          </p:nvPicPr>
          <p:blipFill rotWithShape="1">
            <a:blip r:embed="rId3">
              <a:alphaModFix/>
            </a:blip>
            <a:srcRect b="23242" l="2570" r="-2570" t="0"/>
            <a:stretch/>
          </p:blipFill>
          <p:spPr>
            <a:xfrm>
              <a:off x="4747100" y="2516300"/>
              <a:ext cx="2697800" cy="277639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69" name="Google Shape;169;p19"/>
            <p:cNvGrpSpPr/>
            <p:nvPr/>
          </p:nvGrpSpPr>
          <p:grpSpPr>
            <a:xfrm>
              <a:off x="4578750" y="4504943"/>
              <a:ext cx="3034500" cy="1364382"/>
              <a:chOff x="4578750" y="4504943"/>
              <a:chExt cx="3034500" cy="1364382"/>
            </a:xfrm>
          </p:grpSpPr>
          <p:sp>
            <p:nvSpPr>
              <p:cNvPr id="170" name="Google Shape;170;p19"/>
              <p:cNvSpPr txBox="1"/>
              <p:nvPr/>
            </p:nvSpPr>
            <p:spPr>
              <a:xfrm>
                <a:off x="4578750" y="5222825"/>
                <a:ext cx="3034500" cy="64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4200">
                    <a:solidFill>
                      <a:srgbClr val="292F33"/>
                    </a:solidFill>
                    <a:latin typeface="Comfortaa"/>
                    <a:ea typeface="Comfortaa"/>
                    <a:cs typeface="Comfortaa"/>
                    <a:sym typeface="Comfortaa"/>
                  </a:rPr>
                  <a:t>Cheapify</a:t>
                </a:r>
                <a:endParaRPr b="1"/>
              </a:p>
            </p:txBody>
          </p:sp>
          <p:sp>
            <p:nvSpPr>
              <p:cNvPr id="171" name="Google Shape;171;p19"/>
              <p:cNvSpPr txBox="1"/>
              <p:nvPr/>
            </p:nvSpPr>
            <p:spPr>
              <a:xfrm>
                <a:off x="6219094" y="4504943"/>
                <a:ext cx="1104900" cy="110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7200">
                    <a:solidFill>
                      <a:srgbClr val="298BCD"/>
                    </a:solidFill>
                    <a:latin typeface="Comfortaa"/>
                    <a:ea typeface="Comfortaa"/>
                    <a:cs typeface="Comfortaa"/>
                    <a:sym typeface="Comfortaa"/>
                  </a:rPr>
                  <a:t>.</a:t>
                </a:r>
                <a:endParaRPr b="1" sz="7200">
                  <a:solidFill>
                    <a:srgbClr val="298BCD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/>
          <p:nvPr/>
        </p:nvSpPr>
        <p:spPr>
          <a:xfrm>
            <a:off x="4038600" y="2232574"/>
            <a:ext cx="4114800" cy="4090500"/>
          </a:xfrm>
          <a:prstGeom prst="rect">
            <a:avLst/>
          </a:prstGeom>
          <a:noFill/>
          <a:ln cap="flat" cmpd="sng" w="19050">
            <a:solidFill>
              <a:srgbClr val="0E8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5843550" y="2088920"/>
            <a:ext cx="504900" cy="295200"/>
          </a:xfrm>
          <a:prstGeom prst="roundRect">
            <a:avLst>
              <a:gd fmla="val 12903" name="adj"/>
            </a:avLst>
          </a:prstGeom>
          <a:solidFill>
            <a:srgbClr val="0E82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3787100" y="4130213"/>
            <a:ext cx="504900" cy="295200"/>
          </a:xfrm>
          <a:prstGeom prst="roundRect">
            <a:avLst>
              <a:gd fmla="val 12903" name="adj"/>
            </a:avLst>
          </a:prstGeom>
          <a:solidFill>
            <a:srgbClr val="0E82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7900000" y="4130213"/>
            <a:ext cx="504900" cy="295200"/>
          </a:xfrm>
          <a:prstGeom prst="roundRect">
            <a:avLst>
              <a:gd fmla="val 12903" name="adj"/>
            </a:avLst>
          </a:prstGeom>
          <a:solidFill>
            <a:srgbClr val="0E82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762000" y="7620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82C4"/>
                </a:solidFill>
                <a:latin typeface="Comfortaa"/>
                <a:ea typeface="Comfortaa"/>
                <a:cs typeface="Comfortaa"/>
                <a:sym typeface="Comfortaa"/>
              </a:rPr>
              <a:t>02. VISUAL MARK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762000" y="1162050"/>
            <a:ext cx="11430000" cy="6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292F33"/>
                </a:solidFill>
                <a:latin typeface="Comfortaa"/>
                <a:ea typeface="Comfortaa"/>
                <a:cs typeface="Comfortaa"/>
                <a:sym typeface="Comfortaa"/>
              </a:rPr>
              <a:t>Clear Space Standard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-285750" y="7664053"/>
            <a:ext cx="127635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C6B7A"/>
                </a:solidFill>
                <a:latin typeface="Comfortaa"/>
                <a:ea typeface="Comfortaa"/>
                <a:cs typeface="Comfortaa"/>
                <a:sym typeface="Comfortaa"/>
              </a:rPr>
              <a:t>X</a:t>
            </a:r>
            <a:r>
              <a:rPr b="0" i="0" lang="en-US" sz="1500" u="none" cap="none" strike="noStrike">
                <a:solidFill>
                  <a:srgbClr val="5C6B7A"/>
                </a:solidFill>
                <a:latin typeface="Comfortaa"/>
                <a:ea typeface="Comfortaa"/>
                <a:cs typeface="Comfortaa"/>
                <a:sym typeface="Comfortaa"/>
              </a:rPr>
              <a:t> = The exact height of the letter "C" in the wordmark.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5995950" y="2165120"/>
            <a:ext cx="295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= X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3939500" y="4206413"/>
            <a:ext cx="295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= </a:t>
            </a:r>
            <a:r>
              <a:rPr b="1" lang="en-US" sz="105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Y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8052400" y="4206413"/>
            <a:ext cx="295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= </a:t>
            </a:r>
            <a:r>
              <a:rPr b="1" lang="en-US" sz="105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Y</a:t>
            </a:r>
            <a:endParaRPr/>
          </a:p>
        </p:txBody>
      </p:sp>
      <p:grpSp>
        <p:nvGrpSpPr>
          <p:cNvPr id="186" name="Google Shape;186;p20"/>
          <p:cNvGrpSpPr/>
          <p:nvPr/>
        </p:nvGrpSpPr>
        <p:grpSpPr>
          <a:xfrm>
            <a:off x="4578750" y="2516300"/>
            <a:ext cx="3034500" cy="3353025"/>
            <a:chOff x="4578750" y="2516300"/>
            <a:chExt cx="3034500" cy="3353025"/>
          </a:xfrm>
        </p:grpSpPr>
        <p:pic>
          <p:nvPicPr>
            <p:cNvPr id="187" name="Google Shape;187;p20" title="Cheapify.png"/>
            <p:cNvPicPr preferRelativeResize="0"/>
            <p:nvPr/>
          </p:nvPicPr>
          <p:blipFill rotWithShape="1">
            <a:blip r:embed="rId3">
              <a:alphaModFix/>
            </a:blip>
            <a:srcRect b="23242" l="2570" r="-2570" t="0"/>
            <a:stretch/>
          </p:blipFill>
          <p:spPr>
            <a:xfrm>
              <a:off x="4747100" y="2516300"/>
              <a:ext cx="2697800" cy="277639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88" name="Google Shape;188;p20"/>
            <p:cNvGrpSpPr/>
            <p:nvPr/>
          </p:nvGrpSpPr>
          <p:grpSpPr>
            <a:xfrm>
              <a:off x="4578750" y="4504943"/>
              <a:ext cx="3034500" cy="1364382"/>
              <a:chOff x="4578750" y="4504943"/>
              <a:chExt cx="3034500" cy="1364382"/>
            </a:xfrm>
          </p:grpSpPr>
          <p:sp>
            <p:nvSpPr>
              <p:cNvPr id="189" name="Google Shape;189;p20"/>
              <p:cNvSpPr txBox="1"/>
              <p:nvPr/>
            </p:nvSpPr>
            <p:spPr>
              <a:xfrm>
                <a:off x="4578750" y="5222825"/>
                <a:ext cx="3034500" cy="64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4200">
                    <a:solidFill>
                      <a:srgbClr val="292F33"/>
                    </a:solidFill>
                    <a:latin typeface="Comfortaa"/>
                    <a:ea typeface="Comfortaa"/>
                    <a:cs typeface="Comfortaa"/>
                    <a:sym typeface="Comfortaa"/>
                  </a:rPr>
                  <a:t>Cheapify</a:t>
                </a:r>
                <a:endParaRPr b="1"/>
              </a:p>
            </p:txBody>
          </p:sp>
          <p:sp>
            <p:nvSpPr>
              <p:cNvPr id="190" name="Google Shape;190;p20"/>
              <p:cNvSpPr txBox="1"/>
              <p:nvPr/>
            </p:nvSpPr>
            <p:spPr>
              <a:xfrm>
                <a:off x="6219094" y="4504943"/>
                <a:ext cx="1104900" cy="110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7200">
                    <a:solidFill>
                      <a:srgbClr val="298BCD"/>
                    </a:solidFill>
                    <a:latin typeface="Comfortaa"/>
                    <a:ea typeface="Comfortaa"/>
                    <a:cs typeface="Comfortaa"/>
                    <a:sym typeface="Comfortaa"/>
                  </a:rPr>
                  <a:t>.</a:t>
                </a:r>
                <a:endParaRPr b="1" sz="7200">
                  <a:solidFill>
                    <a:srgbClr val="298BCD"/>
                  </a:solidFill>
                </a:endParaRPr>
              </a:p>
            </p:txBody>
          </p:sp>
        </p:grpSp>
      </p:grpSp>
      <p:sp>
        <p:nvSpPr>
          <p:cNvPr id="191" name="Google Shape;191;p20"/>
          <p:cNvSpPr/>
          <p:nvPr/>
        </p:nvSpPr>
        <p:spPr>
          <a:xfrm>
            <a:off x="5843550" y="6174443"/>
            <a:ext cx="504900" cy="295200"/>
          </a:xfrm>
          <a:prstGeom prst="roundRect">
            <a:avLst>
              <a:gd fmla="val 12903" name="adj"/>
            </a:avLst>
          </a:prstGeom>
          <a:solidFill>
            <a:srgbClr val="0E82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5995950" y="6250643"/>
            <a:ext cx="295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= X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A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1"/>
          <p:cNvSpPr/>
          <p:nvPr/>
        </p:nvSpPr>
        <p:spPr>
          <a:xfrm>
            <a:off x="762000" y="2445990"/>
            <a:ext cx="5029200" cy="3923258"/>
          </a:xfrm>
          <a:prstGeom prst="roundRect">
            <a:avLst>
              <a:gd fmla="val 388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6400800" y="2232570"/>
            <a:ext cx="5029200" cy="4350097"/>
          </a:xfrm>
          <a:prstGeom prst="roundRect">
            <a:avLst>
              <a:gd fmla="val 350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762000" y="7620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82C4"/>
                </a:solidFill>
                <a:latin typeface="Comfortaa"/>
                <a:ea typeface="Comfortaa"/>
                <a:cs typeface="Comfortaa"/>
                <a:sym typeface="Comfortaa"/>
              </a:rPr>
              <a:t>02. VISUAL MARK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762000" y="1162050"/>
            <a:ext cx="11430000" cy="6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292F33"/>
                </a:solidFill>
                <a:latin typeface="Comfortaa"/>
                <a:ea typeface="Comfortaa"/>
                <a:cs typeface="Comfortaa"/>
                <a:sym typeface="Comfortaa"/>
              </a:rPr>
              <a:t>Minimum Reproduction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2466975" y="2903190"/>
            <a:ext cx="212526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92F33"/>
                </a:solidFill>
                <a:latin typeface="Comfortaa"/>
                <a:ea typeface="Comfortaa"/>
                <a:cs typeface="Comfortaa"/>
                <a:sym typeface="Comfortaa"/>
              </a:rPr>
              <a:t>Digital Assets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8115300" y="2689770"/>
            <a:ext cx="210026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92F33"/>
                </a:solidFill>
                <a:latin typeface="Comfortaa"/>
                <a:ea typeface="Comfortaa"/>
                <a:cs typeface="Comfortaa"/>
                <a:sym typeface="Comfortaa"/>
              </a:rPr>
              <a:t>Physical Print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3686175" y="4255144"/>
            <a:ext cx="914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E82C4"/>
                </a:solidFill>
                <a:latin typeface="Comfortaa"/>
                <a:ea typeface="Comfortaa"/>
                <a:cs typeface="Comfortaa"/>
                <a:sym typeface="Comfortaa"/>
              </a:rPr>
              <a:t>120px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3309937" y="5631060"/>
            <a:ext cx="8286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E82C4"/>
                </a:solidFill>
                <a:latin typeface="Comfortaa"/>
                <a:ea typeface="Comfortaa"/>
                <a:cs typeface="Comfortaa"/>
                <a:sym typeface="Comfortaa"/>
              </a:rPr>
              <a:t>32px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9382125" y="4169419"/>
            <a:ext cx="9906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92F33"/>
                </a:solidFill>
                <a:latin typeface="Comfortaa"/>
                <a:ea typeface="Comfortaa"/>
                <a:cs typeface="Comfortaa"/>
                <a:sym typeface="Comfortaa"/>
              </a:rPr>
              <a:t>28mm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8977312" y="5758755"/>
            <a:ext cx="9429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92F33"/>
                </a:solidFill>
                <a:latin typeface="Comfortaa"/>
                <a:ea typeface="Comfortaa"/>
                <a:cs typeface="Comfortaa"/>
                <a:sym typeface="Comfortaa"/>
              </a:rPr>
              <a:t>10mm</a:t>
            </a:r>
            <a:endParaRPr/>
          </a:p>
        </p:txBody>
      </p:sp>
      <p:pic>
        <p:nvPicPr>
          <p:cNvPr id="207" name="Google Shape;207;p21" title="Cheapify.png"/>
          <p:cNvPicPr preferRelativeResize="0"/>
          <p:nvPr/>
        </p:nvPicPr>
        <p:blipFill rotWithShape="1">
          <a:blip r:embed="rId3">
            <a:alphaModFix/>
          </a:blip>
          <a:srcRect b="23242" l="2570" r="-2570" t="0"/>
          <a:stretch/>
        </p:blipFill>
        <p:spPr>
          <a:xfrm>
            <a:off x="1897700" y="3422550"/>
            <a:ext cx="1821900" cy="187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1" title="Cheapify.png"/>
          <p:cNvPicPr preferRelativeResize="0"/>
          <p:nvPr/>
        </p:nvPicPr>
        <p:blipFill rotWithShape="1">
          <a:blip r:embed="rId3">
            <a:alphaModFix/>
          </a:blip>
          <a:srcRect b="23242" l="2570" r="-2570" t="0"/>
          <a:stretch/>
        </p:blipFill>
        <p:spPr>
          <a:xfrm>
            <a:off x="2614371" y="5559701"/>
            <a:ext cx="388547" cy="3998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1" title="Cheapify.png"/>
          <p:cNvPicPr preferRelativeResize="0"/>
          <p:nvPr/>
        </p:nvPicPr>
        <p:blipFill rotWithShape="1">
          <a:blip r:embed="rId4">
            <a:alphaModFix/>
          </a:blip>
          <a:srcRect b="23242" l="2570" r="-2570" t="0"/>
          <a:stretch/>
        </p:blipFill>
        <p:spPr>
          <a:xfrm>
            <a:off x="7406725" y="3470138"/>
            <a:ext cx="1821900" cy="187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1" title="Cheapify.png"/>
          <p:cNvPicPr preferRelativeResize="0"/>
          <p:nvPr/>
        </p:nvPicPr>
        <p:blipFill rotWithShape="1">
          <a:blip r:embed="rId4">
            <a:alphaModFix/>
          </a:blip>
          <a:srcRect b="23242" l="2570" r="-2570" t="0"/>
          <a:stretch/>
        </p:blipFill>
        <p:spPr>
          <a:xfrm>
            <a:off x="8236596" y="5687401"/>
            <a:ext cx="388547" cy="399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2"/>
          <p:cNvSpPr/>
          <p:nvPr/>
        </p:nvSpPr>
        <p:spPr>
          <a:xfrm>
            <a:off x="6067425" y="2923133"/>
            <a:ext cx="19050" cy="1905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6" name="Google Shape;216;p22" title="Cheapify-2-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1825" y="2384970"/>
            <a:ext cx="2285998" cy="22859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217" name="Google Shape;217;p22" title="Cheapify-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15125" y="2384970"/>
            <a:ext cx="2285998" cy="22859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218" name="Google Shape;218;p22"/>
          <p:cNvSpPr txBox="1"/>
          <p:nvPr/>
        </p:nvSpPr>
        <p:spPr>
          <a:xfrm>
            <a:off x="762000" y="762000"/>
            <a:ext cx="213121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82C4"/>
                </a:solidFill>
                <a:latin typeface="Comfortaa"/>
                <a:ea typeface="Comfortaa"/>
                <a:cs typeface="Comfortaa"/>
                <a:sym typeface="Comfortaa"/>
              </a:rPr>
              <a:t>02. VISUAL MARK</a:t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762000" y="1162050"/>
            <a:ext cx="5939804" cy="6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292F33"/>
                </a:solidFill>
                <a:latin typeface="Comfortaa"/>
                <a:ea typeface="Comfortaa"/>
                <a:cs typeface="Comfortaa"/>
                <a:sym typeface="Comfortaa"/>
              </a:rPr>
              <a:t>App Icon Context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3633787" y="4975770"/>
            <a:ext cx="17025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92F33"/>
                </a:solidFill>
                <a:latin typeface="Comfortaa"/>
                <a:ea typeface="Comfortaa"/>
                <a:cs typeface="Comfortaa"/>
                <a:sym typeface="Comfortaa"/>
              </a:rPr>
              <a:t>Dark Squircle</a:t>
            </a:r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3295650" y="5194845"/>
            <a:ext cx="254793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C6B7A"/>
                </a:solidFill>
                <a:latin typeface="Comfortaa"/>
                <a:ea typeface="Comfortaa"/>
                <a:cs typeface="Comfortaa"/>
                <a:sym typeface="Comfortaa"/>
              </a:rPr>
              <a:t>Primary OS icon &amp; Avatar.</a:t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7058025" y="4975770"/>
            <a:ext cx="20002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92F33"/>
                </a:solidFill>
                <a:latin typeface="Comfortaa"/>
                <a:ea typeface="Comfortaa"/>
                <a:cs typeface="Comfortaa"/>
                <a:sym typeface="Comfortaa"/>
              </a:rPr>
              <a:t>Light Container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6696075" y="5194845"/>
            <a:ext cx="2905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C6B7A"/>
                </a:solidFill>
                <a:latin typeface="Comfortaa"/>
                <a:ea typeface="Comfortaa"/>
                <a:cs typeface="Comfortaa"/>
                <a:sym typeface="Comfortaa"/>
              </a:rPr>
              <a:t>Secondary partner branding.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A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3"/>
          <p:cNvSpPr/>
          <p:nvPr/>
        </p:nvSpPr>
        <p:spPr>
          <a:xfrm>
            <a:off x="762000" y="2232570"/>
            <a:ext cx="3352800" cy="3863429"/>
          </a:xfrm>
          <a:prstGeom prst="roundRect">
            <a:avLst>
              <a:gd fmla="val 4545" name="adj"/>
            </a:avLst>
          </a:prstGeom>
          <a:solidFill>
            <a:srgbClr val="FFFFFF"/>
          </a:solidFill>
          <a:ln cap="flat" cmpd="sng" w="9525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3"/>
          <p:cNvSpPr/>
          <p:nvPr/>
        </p:nvSpPr>
        <p:spPr>
          <a:xfrm>
            <a:off x="4419600" y="2232570"/>
            <a:ext cx="3352800" cy="3863429"/>
          </a:xfrm>
          <a:prstGeom prst="roundRect">
            <a:avLst>
              <a:gd fmla="val 4545" name="adj"/>
            </a:avLst>
          </a:prstGeom>
          <a:solidFill>
            <a:srgbClr val="FFFFFF"/>
          </a:solidFill>
          <a:ln cap="flat" cmpd="sng" w="9525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3"/>
          <p:cNvSpPr/>
          <p:nvPr/>
        </p:nvSpPr>
        <p:spPr>
          <a:xfrm>
            <a:off x="8077200" y="2232570"/>
            <a:ext cx="3352800" cy="3863429"/>
          </a:xfrm>
          <a:prstGeom prst="roundRect">
            <a:avLst>
              <a:gd fmla="val 4545" name="adj"/>
            </a:avLst>
          </a:prstGeom>
          <a:solidFill>
            <a:srgbClr val="FFFFFF"/>
          </a:solidFill>
          <a:ln cap="flat" cmpd="sng" w="9525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1" name="Google Shape;23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24100" y="536629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81700" y="536629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39300" y="536629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3"/>
          <p:cNvSpPr txBox="1"/>
          <p:nvPr/>
        </p:nvSpPr>
        <p:spPr>
          <a:xfrm>
            <a:off x="762000" y="7620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0021B"/>
                </a:solidFill>
                <a:latin typeface="Comfortaa"/>
                <a:ea typeface="Comfortaa"/>
                <a:cs typeface="Comfortaa"/>
                <a:sym typeface="Comfortaa"/>
              </a:rPr>
              <a:t>02. VISUAL MARK</a:t>
            </a:r>
            <a:endParaRPr/>
          </a:p>
        </p:txBody>
      </p:sp>
      <p:sp>
        <p:nvSpPr>
          <p:cNvPr id="235" name="Google Shape;235;p23"/>
          <p:cNvSpPr txBox="1"/>
          <p:nvPr/>
        </p:nvSpPr>
        <p:spPr>
          <a:xfrm>
            <a:off x="762000" y="1162050"/>
            <a:ext cx="11430000" cy="6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292F33"/>
                </a:solidFill>
                <a:latin typeface="Comfortaa"/>
                <a:ea typeface="Comfortaa"/>
                <a:cs typeface="Comfortaa"/>
                <a:sym typeface="Comfortaa"/>
              </a:rPr>
              <a:t>Unacceptable Uses</a:t>
            </a:r>
            <a:endParaRPr/>
          </a:p>
        </p:txBody>
      </p:sp>
      <p:sp>
        <p:nvSpPr>
          <p:cNvPr id="236" name="Google Shape;236;p23"/>
          <p:cNvSpPr txBox="1"/>
          <p:nvPr/>
        </p:nvSpPr>
        <p:spPr>
          <a:xfrm>
            <a:off x="1218009" y="5747295"/>
            <a:ext cx="2440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92F33"/>
                </a:solidFill>
                <a:latin typeface="Comfortaa"/>
                <a:ea typeface="Comfortaa"/>
                <a:cs typeface="Comfortaa"/>
                <a:sym typeface="Comfortaa"/>
              </a:rPr>
              <a:t>Do not alter colors.</a:t>
            </a:r>
            <a:endParaRPr/>
          </a:p>
        </p:txBody>
      </p:sp>
      <p:sp>
        <p:nvSpPr>
          <p:cNvPr id="237" name="Google Shape;237;p23"/>
          <p:cNvSpPr txBox="1"/>
          <p:nvPr/>
        </p:nvSpPr>
        <p:spPr>
          <a:xfrm>
            <a:off x="4488656" y="5747295"/>
            <a:ext cx="3214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92F33"/>
                </a:solidFill>
                <a:latin typeface="Comfortaa"/>
                <a:ea typeface="Comfortaa"/>
                <a:cs typeface="Comfortaa"/>
                <a:sym typeface="Comfortaa"/>
              </a:rPr>
              <a:t>Do not stretch or squeeze.</a:t>
            </a:r>
            <a:endParaRPr/>
          </a:p>
        </p:txBody>
      </p:sp>
      <p:sp>
        <p:nvSpPr>
          <p:cNvPr id="238" name="Google Shape;238;p23"/>
          <p:cNvSpPr txBox="1"/>
          <p:nvPr/>
        </p:nvSpPr>
        <p:spPr>
          <a:xfrm>
            <a:off x="8146256" y="5747295"/>
            <a:ext cx="3214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292F33"/>
                </a:solidFill>
                <a:latin typeface="Comfortaa"/>
                <a:ea typeface="Comfortaa"/>
                <a:cs typeface="Comfortaa"/>
                <a:sym typeface="Comfortaa"/>
              </a:rPr>
              <a:t>Do not rotate</a:t>
            </a:r>
            <a:endParaRPr/>
          </a:p>
        </p:txBody>
      </p:sp>
      <p:pic>
        <p:nvPicPr>
          <p:cNvPr id="239" name="Google Shape;239;p23" title="Screenshot From 2026-09-23 16-33-0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62075" y="2512900"/>
            <a:ext cx="2152649" cy="275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3" title="Screenshot From 2026-09-23 16-33-0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19675" y="3043000"/>
            <a:ext cx="2152649" cy="169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3" title="Screenshot From 2026-09-23 16-33-0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1821232">
            <a:off x="8893267" y="2789635"/>
            <a:ext cx="1720664" cy="22045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82C4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4"/>
          <p:cNvSpPr/>
          <p:nvPr/>
        </p:nvSpPr>
        <p:spPr>
          <a:xfrm>
            <a:off x="6858000" y="0"/>
            <a:ext cx="5334000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4"/>
          <p:cNvSpPr txBox="1"/>
          <p:nvPr/>
        </p:nvSpPr>
        <p:spPr>
          <a:xfrm>
            <a:off x="762000" y="2390775"/>
            <a:ext cx="6667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SECTION 03</a:t>
            </a:r>
            <a:endParaRPr/>
          </a:p>
        </p:txBody>
      </p:sp>
      <p:sp>
        <p:nvSpPr>
          <p:cNvPr id="248" name="Google Shape;248;p24"/>
          <p:cNvSpPr txBox="1"/>
          <p:nvPr/>
        </p:nvSpPr>
        <p:spPr>
          <a:xfrm>
            <a:off x="762000" y="2790825"/>
            <a:ext cx="57006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Color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000" u="none" cap="none" strike="noStrike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Architecture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5"/>
          <p:cNvSpPr/>
          <p:nvPr/>
        </p:nvSpPr>
        <p:spPr>
          <a:xfrm>
            <a:off x="762000" y="2232570"/>
            <a:ext cx="10668000" cy="846832"/>
          </a:xfrm>
          <a:prstGeom prst="roundRect">
            <a:avLst>
              <a:gd fmla="val 17996" name="adj"/>
            </a:avLst>
          </a:prstGeom>
          <a:solidFill>
            <a:srgbClr val="0E82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5"/>
          <p:cNvSpPr/>
          <p:nvPr/>
        </p:nvSpPr>
        <p:spPr>
          <a:xfrm>
            <a:off x="762000" y="3231802"/>
            <a:ext cx="10668000" cy="846832"/>
          </a:xfrm>
          <a:prstGeom prst="roundRect">
            <a:avLst>
              <a:gd fmla="val 17996" name="adj"/>
            </a:avLst>
          </a:prstGeom>
          <a:solidFill>
            <a:srgbClr val="148C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5"/>
          <p:cNvSpPr/>
          <p:nvPr/>
        </p:nvSpPr>
        <p:spPr>
          <a:xfrm>
            <a:off x="762000" y="4231034"/>
            <a:ext cx="10668000" cy="846832"/>
          </a:xfrm>
          <a:prstGeom prst="roundRect">
            <a:avLst>
              <a:gd fmla="val 17996" name="adj"/>
            </a:avLst>
          </a:prstGeom>
          <a:solidFill>
            <a:srgbClr val="292F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5"/>
          <p:cNvSpPr/>
          <p:nvPr/>
        </p:nvSpPr>
        <p:spPr>
          <a:xfrm>
            <a:off x="762000" y="5230266"/>
            <a:ext cx="10668000" cy="865882"/>
          </a:xfrm>
          <a:prstGeom prst="roundRect">
            <a:avLst>
              <a:gd fmla="val 17600" name="adj"/>
            </a:avLst>
          </a:prstGeom>
          <a:solidFill>
            <a:srgbClr val="F6F8F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5"/>
          <p:cNvSpPr txBox="1"/>
          <p:nvPr/>
        </p:nvSpPr>
        <p:spPr>
          <a:xfrm>
            <a:off x="762000" y="7620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82C4"/>
                </a:solidFill>
                <a:latin typeface="Comfortaa"/>
                <a:ea typeface="Comfortaa"/>
                <a:cs typeface="Comfortaa"/>
                <a:sym typeface="Comfortaa"/>
              </a:rPr>
              <a:t>03. COLOR ARCHITECTURE</a:t>
            </a:r>
            <a:endParaRPr/>
          </a:p>
        </p:txBody>
      </p:sp>
      <p:sp>
        <p:nvSpPr>
          <p:cNvPr id="258" name="Google Shape;258;p25"/>
          <p:cNvSpPr txBox="1"/>
          <p:nvPr/>
        </p:nvSpPr>
        <p:spPr>
          <a:xfrm>
            <a:off x="762000" y="1162050"/>
            <a:ext cx="11430000" cy="6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292F33"/>
                </a:solidFill>
                <a:latin typeface="Comfortaa"/>
                <a:ea typeface="Comfortaa"/>
                <a:cs typeface="Comfortaa"/>
                <a:sym typeface="Comfortaa"/>
              </a:rPr>
              <a:t>Primary Palette</a:t>
            </a:r>
            <a:endParaRPr/>
          </a:p>
        </p:txBody>
      </p:sp>
      <p:sp>
        <p:nvSpPr>
          <p:cNvPr id="259" name="Google Shape;259;p25"/>
          <p:cNvSpPr txBox="1"/>
          <p:nvPr/>
        </p:nvSpPr>
        <p:spPr>
          <a:xfrm>
            <a:off x="9660135" y="2503586"/>
            <a:ext cx="164083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#0E82C4</a:t>
            </a:r>
            <a:endParaRPr/>
          </a:p>
        </p:txBody>
      </p:sp>
      <p:sp>
        <p:nvSpPr>
          <p:cNvPr id="260" name="Google Shape;260;p25"/>
          <p:cNvSpPr txBox="1"/>
          <p:nvPr/>
        </p:nvSpPr>
        <p:spPr>
          <a:xfrm>
            <a:off x="9717285" y="3502818"/>
            <a:ext cx="156939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#148C53</a:t>
            </a:r>
            <a:endParaRPr/>
          </a:p>
        </p:txBody>
      </p:sp>
      <p:sp>
        <p:nvSpPr>
          <p:cNvPr id="261" name="Google Shape;261;p25"/>
          <p:cNvSpPr txBox="1"/>
          <p:nvPr/>
        </p:nvSpPr>
        <p:spPr>
          <a:xfrm>
            <a:off x="9736335" y="4502050"/>
            <a:ext cx="154558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#292F33</a:t>
            </a:r>
            <a:endParaRPr/>
          </a:p>
        </p:txBody>
      </p:sp>
      <p:sp>
        <p:nvSpPr>
          <p:cNvPr id="262" name="Google Shape;262;p25"/>
          <p:cNvSpPr txBox="1"/>
          <p:nvPr/>
        </p:nvSpPr>
        <p:spPr>
          <a:xfrm>
            <a:off x="9698235" y="5510807"/>
            <a:ext cx="1581298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92F33"/>
                </a:solidFill>
                <a:latin typeface="Comfortaa"/>
                <a:ea typeface="Comfortaa"/>
                <a:cs typeface="Comfortaa"/>
                <a:sym typeface="Comfortaa"/>
              </a:rPr>
              <a:t>#F6F8FA</a:t>
            </a:r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1219200" y="2374999"/>
            <a:ext cx="528816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Boston Blue</a:t>
            </a:r>
            <a:endParaRPr/>
          </a:p>
        </p:txBody>
      </p:sp>
      <p:sp>
        <p:nvSpPr>
          <p:cNvPr id="264" name="Google Shape;264;p25"/>
          <p:cNvSpPr txBox="1"/>
          <p:nvPr/>
        </p:nvSpPr>
        <p:spPr>
          <a:xfrm>
            <a:off x="1219200" y="2746474"/>
            <a:ext cx="5036343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Primary brand. Interactive targets, bag vector.</a:t>
            </a:r>
            <a:endParaRPr/>
          </a:p>
        </p:txBody>
      </p:sp>
      <p:sp>
        <p:nvSpPr>
          <p:cNvPr id="265" name="Google Shape;265;p25"/>
          <p:cNvSpPr txBox="1"/>
          <p:nvPr/>
        </p:nvSpPr>
        <p:spPr>
          <a:xfrm>
            <a:off x="1219200" y="3374231"/>
            <a:ext cx="528816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Jade Green</a:t>
            </a:r>
            <a:endParaRPr/>
          </a:p>
        </p:txBody>
      </p:sp>
      <p:sp>
        <p:nvSpPr>
          <p:cNvPr id="266" name="Google Shape;266;p25"/>
          <p:cNvSpPr txBox="1"/>
          <p:nvPr/>
        </p:nvSpPr>
        <p:spPr>
          <a:xfrm>
            <a:off x="1219200" y="3745706"/>
            <a:ext cx="5036343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Trust accent. Verified badges, savings, arrows.</a:t>
            </a:r>
            <a:endParaRPr/>
          </a:p>
        </p:txBody>
      </p:sp>
      <p:sp>
        <p:nvSpPr>
          <p:cNvPr id="267" name="Google Shape;267;p25"/>
          <p:cNvSpPr txBox="1"/>
          <p:nvPr/>
        </p:nvSpPr>
        <p:spPr>
          <a:xfrm>
            <a:off x="1219200" y="4373463"/>
            <a:ext cx="475059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Dark Charcoal</a:t>
            </a:r>
            <a:endParaRPr/>
          </a:p>
        </p:txBody>
      </p:sp>
      <p:sp>
        <p:nvSpPr>
          <p:cNvPr id="268" name="Google Shape;268;p25"/>
          <p:cNvSpPr txBox="1"/>
          <p:nvPr/>
        </p:nvSpPr>
        <p:spPr>
          <a:xfrm>
            <a:off x="1219200" y="4744938"/>
            <a:ext cx="45243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Structure. Typography, borders, headers.</a:t>
            </a:r>
            <a:endParaRPr/>
          </a:p>
        </p:txBody>
      </p:sp>
      <p:sp>
        <p:nvSpPr>
          <p:cNvPr id="269" name="Google Shape;269;p25"/>
          <p:cNvSpPr txBox="1"/>
          <p:nvPr/>
        </p:nvSpPr>
        <p:spPr>
          <a:xfrm>
            <a:off x="1228725" y="5382220"/>
            <a:ext cx="486310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92F33"/>
                </a:solidFill>
                <a:latin typeface="Comfortaa"/>
                <a:ea typeface="Comfortaa"/>
                <a:cs typeface="Comfortaa"/>
                <a:sym typeface="Comfortaa"/>
              </a:rPr>
              <a:t>Cloud Light</a:t>
            </a:r>
            <a:endParaRPr/>
          </a:p>
        </p:txBody>
      </p:sp>
      <p:sp>
        <p:nvSpPr>
          <p:cNvPr id="270" name="Google Shape;270;p25"/>
          <p:cNvSpPr txBox="1"/>
          <p:nvPr/>
        </p:nvSpPr>
        <p:spPr>
          <a:xfrm>
            <a:off x="1228725" y="5753695"/>
            <a:ext cx="4631531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C6B7A"/>
                </a:solidFill>
                <a:latin typeface="Comfortaa"/>
                <a:ea typeface="Comfortaa"/>
                <a:cs typeface="Comfortaa"/>
                <a:sym typeface="Comfortaa"/>
              </a:rPr>
              <a:t>Canvas. App surface, table zebra-striping.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A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6"/>
          <p:cNvSpPr/>
          <p:nvPr/>
        </p:nvSpPr>
        <p:spPr>
          <a:xfrm>
            <a:off x="762000" y="2232570"/>
            <a:ext cx="3352800" cy="3863429"/>
          </a:xfrm>
          <a:prstGeom prst="roundRect">
            <a:avLst>
              <a:gd fmla="val 454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6"/>
          <p:cNvSpPr/>
          <p:nvPr/>
        </p:nvSpPr>
        <p:spPr>
          <a:xfrm>
            <a:off x="4419600" y="2232570"/>
            <a:ext cx="3352800" cy="3863429"/>
          </a:xfrm>
          <a:prstGeom prst="roundRect">
            <a:avLst>
              <a:gd fmla="val 454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6"/>
          <p:cNvSpPr/>
          <p:nvPr/>
        </p:nvSpPr>
        <p:spPr>
          <a:xfrm>
            <a:off x="8077200" y="2232570"/>
            <a:ext cx="3352800" cy="3863429"/>
          </a:xfrm>
          <a:prstGeom prst="roundRect">
            <a:avLst>
              <a:gd fmla="val 454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6"/>
          <p:cNvSpPr/>
          <p:nvPr/>
        </p:nvSpPr>
        <p:spPr>
          <a:xfrm>
            <a:off x="1143000" y="2689770"/>
            <a:ext cx="2590800" cy="1143000"/>
          </a:xfrm>
          <a:prstGeom prst="roundRect">
            <a:avLst>
              <a:gd fmla="val 10000" name="adj"/>
            </a:avLst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6"/>
          <p:cNvSpPr/>
          <p:nvPr/>
        </p:nvSpPr>
        <p:spPr>
          <a:xfrm>
            <a:off x="4800600" y="2689770"/>
            <a:ext cx="2590800" cy="1143000"/>
          </a:xfrm>
          <a:prstGeom prst="roundRect">
            <a:avLst>
              <a:gd fmla="val 10000" name="adj"/>
            </a:avLst>
          </a:prstGeom>
          <a:solidFill>
            <a:srgbClr val="D002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6"/>
          <p:cNvSpPr/>
          <p:nvPr/>
        </p:nvSpPr>
        <p:spPr>
          <a:xfrm>
            <a:off x="8458200" y="2689770"/>
            <a:ext cx="2590800" cy="1143000"/>
          </a:xfrm>
          <a:prstGeom prst="roundRect">
            <a:avLst>
              <a:gd fmla="val 10000" name="adj"/>
            </a:avLst>
          </a:prstGeom>
          <a:solidFill>
            <a:srgbClr val="8795A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6"/>
          <p:cNvSpPr txBox="1"/>
          <p:nvPr/>
        </p:nvSpPr>
        <p:spPr>
          <a:xfrm>
            <a:off x="762000" y="7620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82C4"/>
                </a:solidFill>
                <a:latin typeface="Comfortaa"/>
                <a:ea typeface="Comfortaa"/>
                <a:cs typeface="Comfortaa"/>
                <a:sym typeface="Comfortaa"/>
              </a:rPr>
              <a:t>03. COLOR ARCHITECTURE</a:t>
            </a:r>
            <a:endParaRPr/>
          </a:p>
        </p:txBody>
      </p:sp>
      <p:sp>
        <p:nvSpPr>
          <p:cNvPr id="282" name="Google Shape;282;p26"/>
          <p:cNvSpPr txBox="1"/>
          <p:nvPr/>
        </p:nvSpPr>
        <p:spPr>
          <a:xfrm>
            <a:off x="762000" y="1162050"/>
            <a:ext cx="11430000" cy="6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292F33"/>
                </a:solidFill>
                <a:latin typeface="Comfortaa"/>
                <a:ea typeface="Comfortaa"/>
                <a:cs typeface="Comfortaa"/>
                <a:sym typeface="Comfortaa"/>
              </a:rPr>
              <a:t>Secondary UI System</a:t>
            </a:r>
            <a:endParaRPr/>
          </a:p>
        </p:txBody>
      </p:sp>
      <p:sp>
        <p:nvSpPr>
          <p:cNvPr id="283" name="Google Shape;283;p26"/>
          <p:cNvSpPr txBox="1"/>
          <p:nvPr/>
        </p:nvSpPr>
        <p:spPr>
          <a:xfrm>
            <a:off x="1143000" y="4137570"/>
            <a:ext cx="3400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92F33"/>
                </a:solidFill>
                <a:latin typeface="Comfortaa"/>
                <a:ea typeface="Comfortaa"/>
                <a:cs typeface="Comfortaa"/>
                <a:sym typeface="Comfortaa"/>
              </a:rPr>
              <a:t>Sunset Amber</a:t>
            </a:r>
            <a:endParaRPr/>
          </a:p>
        </p:txBody>
      </p:sp>
      <p:sp>
        <p:nvSpPr>
          <p:cNvPr id="284" name="Google Shape;284;p26"/>
          <p:cNvSpPr txBox="1"/>
          <p:nvPr/>
        </p:nvSpPr>
        <p:spPr>
          <a:xfrm>
            <a:off x="1143000" y="4518570"/>
            <a:ext cx="3238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#F5A623</a:t>
            </a:r>
            <a:endParaRPr/>
          </a:p>
        </p:txBody>
      </p:sp>
      <p:sp>
        <p:nvSpPr>
          <p:cNvPr id="285" name="Google Shape;285;p26"/>
          <p:cNvSpPr txBox="1"/>
          <p:nvPr/>
        </p:nvSpPr>
        <p:spPr>
          <a:xfrm>
            <a:off x="1143000" y="4870995"/>
            <a:ext cx="2686050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C6B7A"/>
                </a:solidFill>
                <a:latin typeface="Comfortaa"/>
                <a:ea typeface="Comfortaa"/>
                <a:cs typeface="Comfortaa"/>
                <a:sym typeface="Comfortaa"/>
              </a:rPr>
              <a:t>Used strictly for time-sensitive elements and merchant ratings.</a:t>
            </a:r>
            <a:endParaRPr/>
          </a:p>
        </p:txBody>
      </p:sp>
      <p:sp>
        <p:nvSpPr>
          <p:cNvPr id="286" name="Google Shape;286;p26"/>
          <p:cNvSpPr txBox="1"/>
          <p:nvPr/>
        </p:nvSpPr>
        <p:spPr>
          <a:xfrm>
            <a:off x="4800600" y="4137570"/>
            <a:ext cx="3400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92F33"/>
                </a:solidFill>
                <a:latin typeface="Comfortaa"/>
                <a:ea typeface="Comfortaa"/>
                <a:cs typeface="Comfortaa"/>
                <a:sym typeface="Comfortaa"/>
              </a:rPr>
              <a:t>Crimson Alert</a:t>
            </a:r>
            <a:endParaRPr/>
          </a:p>
        </p:txBody>
      </p:sp>
      <p:sp>
        <p:nvSpPr>
          <p:cNvPr id="287" name="Google Shape;287;p26"/>
          <p:cNvSpPr txBox="1"/>
          <p:nvPr/>
        </p:nvSpPr>
        <p:spPr>
          <a:xfrm>
            <a:off x="4800600" y="4518570"/>
            <a:ext cx="3238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0021B"/>
                </a:solidFill>
                <a:latin typeface="Arial"/>
                <a:ea typeface="Arial"/>
                <a:cs typeface="Arial"/>
                <a:sym typeface="Arial"/>
              </a:rPr>
              <a:t>#D0021B</a:t>
            </a:r>
            <a:endParaRPr/>
          </a:p>
        </p:txBody>
      </p:sp>
      <p:sp>
        <p:nvSpPr>
          <p:cNvPr id="288" name="Google Shape;288;p26"/>
          <p:cNvSpPr txBox="1"/>
          <p:nvPr/>
        </p:nvSpPr>
        <p:spPr>
          <a:xfrm>
            <a:off x="4800600" y="4870995"/>
            <a:ext cx="2686050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C6B7A"/>
                </a:solidFill>
                <a:latin typeface="Comfortaa"/>
                <a:ea typeface="Comfortaa"/>
                <a:cs typeface="Comfortaa"/>
                <a:sym typeface="Comfortaa"/>
              </a:rPr>
              <a:t>Reserved exclusively for destructive actions and out-of-stock states.</a:t>
            </a:r>
            <a:endParaRPr/>
          </a:p>
        </p:txBody>
      </p:sp>
      <p:sp>
        <p:nvSpPr>
          <p:cNvPr id="289" name="Google Shape;289;p26"/>
          <p:cNvSpPr txBox="1"/>
          <p:nvPr/>
        </p:nvSpPr>
        <p:spPr>
          <a:xfrm>
            <a:off x="8458200" y="4137570"/>
            <a:ext cx="3400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92F33"/>
                </a:solidFill>
                <a:latin typeface="Comfortaa"/>
                <a:ea typeface="Comfortaa"/>
                <a:cs typeface="Comfortaa"/>
                <a:sym typeface="Comfortaa"/>
              </a:rPr>
              <a:t>Slate Mid-Gray</a:t>
            </a:r>
            <a:endParaRPr/>
          </a:p>
        </p:txBody>
      </p:sp>
      <p:sp>
        <p:nvSpPr>
          <p:cNvPr id="290" name="Google Shape;290;p26"/>
          <p:cNvSpPr txBox="1"/>
          <p:nvPr/>
        </p:nvSpPr>
        <p:spPr>
          <a:xfrm>
            <a:off x="8458200" y="4518570"/>
            <a:ext cx="3238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795A1"/>
                </a:solidFill>
                <a:latin typeface="Arial"/>
                <a:ea typeface="Arial"/>
                <a:cs typeface="Arial"/>
                <a:sym typeface="Arial"/>
              </a:rPr>
              <a:t>#8795A1</a:t>
            </a:r>
            <a:endParaRPr/>
          </a:p>
        </p:txBody>
      </p:sp>
      <p:sp>
        <p:nvSpPr>
          <p:cNvPr id="291" name="Google Shape;291;p26"/>
          <p:cNvSpPr txBox="1"/>
          <p:nvPr/>
        </p:nvSpPr>
        <p:spPr>
          <a:xfrm>
            <a:off x="8458200" y="4870995"/>
            <a:ext cx="2686050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C6B7A"/>
                </a:solidFill>
                <a:latin typeface="Comfortaa"/>
                <a:ea typeface="Comfortaa"/>
                <a:cs typeface="Comfortaa"/>
                <a:sym typeface="Comfortaa"/>
              </a:rPr>
              <a:t>Placeholder text, disabled buttons, and secondary UI metadata.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7"/>
          <p:cNvSpPr/>
          <p:nvPr/>
        </p:nvSpPr>
        <p:spPr>
          <a:xfrm>
            <a:off x="762000" y="2397323"/>
            <a:ext cx="6309568" cy="2857500"/>
          </a:xfrm>
          <a:prstGeom prst="roundRect">
            <a:avLst>
              <a:gd fmla="val 5333" name="adj"/>
            </a:avLst>
          </a:prstGeom>
          <a:solidFill>
            <a:srgbClr val="F6F8FA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7"/>
          <p:cNvSpPr/>
          <p:nvPr/>
        </p:nvSpPr>
        <p:spPr>
          <a:xfrm>
            <a:off x="7147768" y="2397323"/>
            <a:ext cx="3154560" cy="2857500"/>
          </a:xfrm>
          <a:prstGeom prst="rect">
            <a:avLst/>
          </a:prstGeom>
          <a:solidFill>
            <a:srgbClr val="292F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7"/>
          <p:cNvSpPr/>
          <p:nvPr/>
        </p:nvSpPr>
        <p:spPr>
          <a:xfrm>
            <a:off x="10378529" y="2397323"/>
            <a:ext cx="1051470" cy="2857500"/>
          </a:xfrm>
          <a:prstGeom prst="rect">
            <a:avLst/>
          </a:prstGeom>
          <a:solidFill>
            <a:srgbClr val="0E82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7"/>
          <p:cNvSpPr txBox="1"/>
          <p:nvPr/>
        </p:nvSpPr>
        <p:spPr>
          <a:xfrm>
            <a:off x="762000" y="7620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82C4"/>
                </a:solidFill>
                <a:latin typeface="Comfortaa"/>
                <a:ea typeface="Comfortaa"/>
                <a:cs typeface="Comfortaa"/>
                <a:sym typeface="Comfortaa"/>
              </a:rPr>
              <a:t>03. COLOR ARCHITECTURE</a:t>
            </a:r>
            <a:endParaRPr/>
          </a:p>
        </p:txBody>
      </p:sp>
      <p:sp>
        <p:nvSpPr>
          <p:cNvPr id="300" name="Google Shape;300;p27"/>
          <p:cNvSpPr txBox="1"/>
          <p:nvPr/>
        </p:nvSpPr>
        <p:spPr>
          <a:xfrm>
            <a:off x="762000" y="1162050"/>
            <a:ext cx="11430000" cy="6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292F33"/>
                </a:solidFill>
                <a:latin typeface="Comfortaa"/>
                <a:ea typeface="Comfortaa"/>
                <a:cs typeface="Comfortaa"/>
                <a:sym typeface="Comfortaa"/>
              </a:rPr>
              <a:t>Visual Balance Standard</a:t>
            </a:r>
            <a:endParaRPr/>
          </a:p>
        </p:txBody>
      </p:sp>
      <p:sp>
        <p:nvSpPr>
          <p:cNvPr id="301" name="Google Shape;301;p27"/>
          <p:cNvSpPr txBox="1"/>
          <p:nvPr/>
        </p:nvSpPr>
        <p:spPr>
          <a:xfrm>
            <a:off x="-285750" y="5876925"/>
            <a:ext cx="127635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C6B7A"/>
                </a:solidFill>
                <a:latin typeface="Comfortaa"/>
                <a:ea typeface="Comfortaa"/>
                <a:cs typeface="Comfortaa"/>
                <a:sym typeface="Comfortaa"/>
              </a:rPr>
              <a:t>A clean canvas prevents visual fatigue in dense pricing tables.</a:t>
            </a:r>
            <a:endParaRPr/>
          </a:p>
        </p:txBody>
      </p:sp>
      <p:sp>
        <p:nvSpPr>
          <p:cNvPr id="302" name="Google Shape;302;p27"/>
          <p:cNvSpPr txBox="1"/>
          <p:nvPr/>
        </p:nvSpPr>
        <p:spPr>
          <a:xfrm>
            <a:off x="3302347" y="3340298"/>
            <a:ext cx="1535906" cy="676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292F33"/>
                </a:solidFill>
                <a:latin typeface="Comfortaa"/>
                <a:ea typeface="Comfortaa"/>
                <a:cs typeface="Comfortaa"/>
                <a:sym typeface="Comfortaa"/>
              </a:rPr>
              <a:t>60%</a:t>
            </a:r>
            <a:endParaRPr/>
          </a:p>
        </p:txBody>
      </p:sp>
      <p:sp>
        <p:nvSpPr>
          <p:cNvPr id="303" name="Google Shape;303;p27"/>
          <p:cNvSpPr txBox="1"/>
          <p:nvPr/>
        </p:nvSpPr>
        <p:spPr>
          <a:xfrm>
            <a:off x="3211859" y="4092773"/>
            <a:ext cx="17621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C6B7A"/>
                </a:solidFill>
                <a:latin typeface="Comfortaa"/>
                <a:ea typeface="Comfortaa"/>
                <a:cs typeface="Comfortaa"/>
                <a:sym typeface="Comfortaa"/>
              </a:rPr>
              <a:t>Canvas Space</a:t>
            </a:r>
            <a:endParaRPr/>
          </a:p>
        </p:txBody>
      </p:sp>
      <p:sp>
        <p:nvSpPr>
          <p:cNvPr id="304" name="Google Shape;304;p27"/>
          <p:cNvSpPr txBox="1"/>
          <p:nvPr/>
        </p:nvSpPr>
        <p:spPr>
          <a:xfrm>
            <a:off x="8105923" y="3340298"/>
            <a:ext cx="1547812" cy="676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30%</a:t>
            </a:r>
            <a:endParaRPr/>
          </a:p>
        </p:txBody>
      </p:sp>
      <p:sp>
        <p:nvSpPr>
          <p:cNvPr id="305" name="Google Shape;305;p27"/>
          <p:cNvSpPr txBox="1"/>
          <p:nvPr/>
        </p:nvSpPr>
        <p:spPr>
          <a:xfrm>
            <a:off x="8129736" y="4092773"/>
            <a:ext cx="148828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0AAB2"/>
                </a:solidFill>
                <a:latin typeface="Comfortaa"/>
                <a:ea typeface="Comfortaa"/>
                <a:cs typeface="Comfortaa"/>
                <a:sym typeface="Comfortaa"/>
              </a:rPr>
              <a:t>Typography</a:t>
            </a:r>
            <a:endParaRPr/>
          </a:p>
        </p:txBody>
      </p:sp>
      <p:sp>
        <p:nvSpPr>
          <p:cNvPr id="306" name="Google Shape;306;p27"/>
          <p:cNvSpPr txBox="1"/>
          <p:nvPr/>
        </p:nvSpPr>
        <p:spPr>
          <a:xfrm>
            <a:off x="10623202" y="3659385"/>
            <a:ext cx="8477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10%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8"/>
          <p:cNvSpPr/>
          <p:nvPr/>
        </p:nvSpPr>
        <p:spPr>
          <a:xfrm>
            <a:off x="5791200" y="4029075"/>
            <a:ext cx="609600" cy="38100"/>
          </a:xfrm>
          <a:prstGeom prst="rect">
            <a:avLst/>
          </a:prstGeom>
          <a:solidFill>
            <a:srgbClr val="0E82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8"/>
          <p:cNvSpPr txBox="1"/>
          <p:nvPr/>
        </p:nvSpPr>
        <p:spPr>
          <a:xfrm>
            <a:off x="5345906" y="2486025"/>
            <a:ext cx="150018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82C4"/>
                </a:solidFill>
                <a:latin typeface="Comfortaa"/>
                <a:ea typeface="Comfortaa"/>
                <a:cs typeface="Comfortaa"/>
                <a:sym typeface="Comfortaa"/>
              </a:rPr>
              <a:t>SECTION 04</a:t>
            </a:r>
            <a:endParaRPr/>
          </a:p>
        </p:txBody>
      </p:sp>
      <p:sp>
        <p:nvSpPr>
          <p:cNvPr id="313" name="Google Shape;313;p28"/>
          <p:cNvSpPr txBox="1"/>
          <p:nvPr/>
        </p:nvSpPr>
        <p:spPr>
          <a:xfrm>
            <a:off x="3201716" y="2886075"/>
            <a:ext cx="5788418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292F33"/>
                </a:solidFill>
                <a:latin typeface="Comfortaa"/>
                <a:ea typeface="Comfortaa"/>
                <a:cs typeface="Comfortaa"/>
                <a:sym typeface="Comfortaa"/>
              </a:rPr>
              <a:t>Typography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A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9"/>
          <p:cNvSpPr/>
          <p:nvPr/>
        </p:nvSpPr>
        <p:spPr>
          <a:xfrm>
            <a:off x="5867400" y="1097309"/>
            <a:ext cx="5562600" cy="4663380"/>
          </a:xfrm>
          <a:prstGeom prst="roundRect">
            <a:avLst>
              <a:gd fmla="val 490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9"/>
          <p:cNvSpPr txBox="1"/>
          <p:nvPr/>
        </p:nvSpPr>
        <p:spPr>
          <a:xfrm>
            <a:off x="762000" y="1112490"/>
            <a:ext cx="5429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82C4"/>
                </a:solidFill>
                <a:latin typeface="Comfortaa"/>
                <a:ea typeface="Comfortaa"/>
                <a:cs typeface="Comfortaa"/>
                <a:sym typeface="Comfortaa"/>
              </a:rPr>
              <a:t>04. TYPOGRAPHY</a:t>
            </a:r>
            <a:endParaRPr/>
          </a:p>
        </p:txBody>
      </p:sp>
      <p:sp>
        <p:nvSpPr>
          <p:cNvPr id="320" name="Google Shape;320;p29"/>
          <p:cNvSpPr txBox="1"/>
          <p:nvPr/>
        </p:nvSpPr>
        <p:spPr>
          <a:xfrm>
            <a:off x="762000" y="1512540"/>
            <a:ext cx="5700712" cy="6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292F33"/>
                </a:solidFill>
                <a:latin typeface="Comfortaa"/>
                <a:ea typeface="Comfortaa"/>
                <a:cs typeface="Comfortaa"/>
                <a:sym typeface="Comfortaa"/>
              </a:rPr>
              <a:t>Comfortaa</a:t>
            </a:r>
            <a:endParaRPr/>
          </a:p>
        </p:txBody>
      </p:sp>
      <p:sp>
        <p:nvSpPr>
          <p:cNvPr id="321" name="Google Shape;321;p29"/>
          <p:cNvSpPr txBox="1"/>
          <p:nvPr/>
        </p:nvSpPr>
        <p:spPr>
          <a:xfrm>
            <a:off x="762000" y="2354460"/>
            <a:ext cx="44386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C6B7A"/>
                </a:solidFill>
                <a:latin typeface="Comfortaa"/>
                <a:ea typeface="Comfortaa"/>
                <a:cs typeface="Comfortaa"/>
                <a:sym typeface="Comfortaa"/>
              </a:rPr>
              <a:t>Primary Latin Typeface. This rounded geometric sans-serif softens the technical nature of price comparison, making the UI accessible.</a:t>
            </a:r>
            <a:endParaRPr/>
          </a:p>
        </p:txBody>
      </p:sp>
      <p:sp>
        <p:nvSpPr>
          <p:cNvPr id="322" name="Google Shape;322;p29"/>
          <p:cNvSpPr txBox="1"/>
          <p:nvPr/>
        </p:nvSpPr>
        <p:spPr>
          <a:xfrm>
            <a:off x="5934075" y="1706909"/>
            <a:ext cx="5429250" cy="1005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0E82C4"/>
                </a:solidFill>
                <a:latin typeface="Comfortaa"/>
                <a:ea typeface="Comfortaa"/>
                <a:cs typeface="Comfortaa"/>
                <a:sym typeface="Comfortaa"/>
              </a:rPr>
              <a:t>Aa</a:t>
            </a:r>
            <a:endParaRPr/>
          </a:p>
        </p:txBody>
      </p:sp>
      <p:sp>
        <p:nvSpPr>
          <p:cNvPr id="323" name="Google Shape;323;p29"/>
          <p:cNvSpPr txBox="1"/>
          <p:nvPr/>
        </p:nvSpPr>
        <p:spPr>
          <a:xfrm>
            <a:off x="5934075" y="3017490"/>
            <a:ext cx="542925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2F33"/>
                </a:solidFill>
                <a:latin typeface="Comfortaa"/>
                <a:ea typeface="Comfortaa"/>
                <a:cs typeface="Comfortaa"/>
                <a:sym typeface="Comfortaa"/>
              </a:rPr>
              <a:t>A B C D E F G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3000" u="none" cap="none" strike="noStrike">
                <a:solidFill>
                  <a:srgbClr val="292F33"/>
                </a:solidFill>
                <a:latin typeface="Comfortaa"/>
                <a:ea typeface="Comfortaa"/>
                <a:cs typeface="Comfortaa"/>
                <a:sym typeface="Comfortaa"/>
              </a:rPr>
              <a:t> H I J K L M 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3000" u="none" cap="none" strike="noStrike">
                <a:solidFill>
                  <a:srgbClr val="292F33"/>
                </a:solidFill>
                <a:latin typeface="Comfortaa"/>
                <a:ea typeface="Comfortaa"/>
                <a:cs typeface="Comfortaa"/>
                <a:sym typeface="Comfortaa"/>
              </a:rPr>
              <a:t> O P Q R S T U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3000" u="none" cap="none" strike="noStrike">
                <a:solidFill>
                  <a:srgbClr val="292F33"/>
                </a:solidFill>
                <a:latin typeface="Comfortaa"/>
                <a:ea typeface="Comfortaa"/>
                <a:cs typeface="Comfortaa"/>
                <a:sym typeface="Comfortaa"/>
              </a:rPr>
              <a:t> V W X Y Z</a:t>
            </a:r>
            <a:endParaRPr/>
          </a:p>
        </p:txBody>
      </p:sp>
      <p:sp>
        <p:nvSpPr>
          <p:cNvPr id="324" name="Google Shape;324;p29"/>
          <p:cNvSpPr txBox="1"/>
          <p:nvPr/>
        </p:nvSpPr>
        <p:spPr>
          <a:xfrm>
            <a:off x="762000" y="3954660"/>
            <a:ext cx="5429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92F33"/>
                </a:solidFill>
                <a:latin typeface="Comfortaa"/>
                <a:ea typeface="Comfortaa"/>
                <a:cs typeface="Comfortaa"/>
                <a:sym typeface="Comfortaa"/>
              </a:rPr>
              <a:t>Regular 400</a:t>
            </a:r>
            <a:endParaRPr/>
          </a:p>
        </p:txBody>
      </p:sp>
      <p:sp>
        <p:nvSpPr>
          <p:cNvPr id="325" name="Google Shape;325;p29"/>
          <p:cNvSpPr txBox="1"/>
          <p:nvPr/>
        </p:nvSpPr>
        <p:spPr>
          <a:xfrm>
            <a:off x="762000" y="4440435"/>
            <a:ext cx="5429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92F33"/>
                </a:solidFill>
                <a:latin typeface="Comfortaa"/>
                <a:ea typeface="Comfortaa"/>
                <a:cs typeface="Comfortaa"/>
                <a:sym typeface="Comfortaa"/>
              </a:rPr>
              <a:t>Medium 500</a:t>
            </a:r>
            <a:endParaRPr/>
          </a:p>
        </p:txBody>
      </p:sp>
      <p:sp>
        <p:nvSpPr>
          <p:cNvPr id="326" name="Google Shape;326;p29"/>
          <p:cNvSpPr txBox="1"/>
          <p:nvPr/>
        </p:nvSpPr>
        <p:spPr>
          <a:xfrm>
            <a:off x="762000" y="4926210"/>
            <a:ext cx="5429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92F33"/>
                </a:solidFill>
                <a:latin typeface="Comfortaa"/>
                <a:ea typeface="Comfortaa"/>
                <a:cs typeface="Comfortaa"/>
                <a:sym typeface="Comfortaa"/>
              </a:rPr>
              <a:t>SemiBold 600</a:t>
            </a:r>
            <a:endParaRPr/>
          </a:p>
        </p:txBody>
      </p:sp>
      <p:sp>
        <p:nvSpPr>
          <p:cNvPr id="327" name="Google Shape;327;p29"/>
          <p:cNvSpPr txBox="1"/>
          <p:nvPr/>
        </p:nvSpPr>
        <p:spPr>
          <a:xfrm>
            <a:off x="762000" y="5411985"/>
            <a:ext cx="5429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92F33"/>
                </a:solidFill>
                <a:latin typeface="Comfortaa"/>
                <a:ea typeface="Comfortaa"/>
                <a:cs typeface="Comfortaa"/>
                <a:sym typeface="Comfortaa"/>
              </a:rPr>
              <a:t>Bold 700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0"/>
          <p:cNvSpPr/>
          <p:nvPr/>
        </p:nvSpPr>
        <p:spPr>
          <a:xfrm>
            <a:off x="5867400" y="1554509"/>
            <a:ext cx="5562600" cy="3748980"/>
          </a:xfrm>
          <a:prstGeom prst="roundRect">
            <a:avLst>
              <a:gd fmla="val 6097" name="adj"/>
            </a:avLst>
          </a:prstGeom>
          <a:solidFill>
            <a:srgbClr val="F6F8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30"/>
          <p:cNvSpPr txBox="1"/>
          <p:nvPr/>
        </p:nvSpPr>
        <p:spPr>
          <a:xfrm>
            <a:off x="762000" y="1255365"/>
            <a:ext cx="5429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82C4"/>
                </a:solidFill>
                <a:latin typeface="Comfortaa"/>
                <a:ea typeface="Comfortaa"/>
                <a:cs typeface="Comfortaa"/>
                <a:sym typeface="Comfortaa"/>
              </a:rPr>
              <a:t>04. TYPOGRAPHY</a:t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762000" y="1655415"/>
            <a:ext cx="5700712" cy="6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292F33"/>
                </a:solidFill>
                <a:latin typeface="Comfortaa"/>
                <a:ea typeface="Comfortaa"/>
                <a:cs typeface="Comfortaa"/>
                <a:sym typeface="Comfortaa"/>
              </a:rPr>
              <a:t>IBM Plex Arabic</a:t>
            </a:r>
            <a:endParaRPr/>
          </a:p>
        </p:txBody>
      </p:sp>
      <p:sp>
        <p:nvSpPr>
          <p:cNvPr id="335" name="Google Shape;335;p30"/>
          <p:cNvSpPr txBox="1"/>
          <p:nvPr/>
        </p:nvSpPr>
        <p:spPr>
          <a:xfrm>
            <a:off x="762000" y="2497335"/>
            <a:ext cx="44386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C6B7A"/>
                </a:solidFill>
                <a:latin typeface="Comfortaa"/>
                <a:ea typeface="Comfortaa"/>
                <a:cs typeface="Comfortaa"/>
                <a:sym typeface="Comfortaa"/>
              </a:rPr>
              <a:t>Primary Arabic &amp; Kurdish Typeface. Maintains structural harmony with Comfortaa for right-to-left UI reading.</a:t>
            </a:r>
            <a:endParaRPr/>
          </a:p>
        </p:txBody>
      </p:sp>
      <p:sp>
        <p:nvSpPr>
          <p:cNvPr id="336" name="Google Shape;336;p30"/>
          <p:cNvSpPr txBox="1"/>
          <p:nvPr/>
        </p:nvSpPr>
        <p:spPr>
          <a:xfrm>
            <a:off x="5934075" y="2164109"/>
            <a:ext cx="5429250" cy="1005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148C53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أ ب</a:t>
            </a:r>
            <a:endParaRPr/>
          </a:p>
        </p:txBody>
      </p:sp>
      <p:sp>
        <p:nvSpPr>
          <p:cNvPr id="337" name="Google Shape;337;p30"/>
          <p:cNvSpPr txBox="1"/>
          <p:nvPr/>
        </p:nvSpPr>
        <p:spPr>
          <a:xfrm>
            <a:off x="5934075" y="3474690"/>
            <a:ext cx="54292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2F33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باشترین نرخ ژ فرۆشیاران. بەراوردکرنا دەستبەجێ.</a:t>
            </a:r>
            <a:endParaRPr/>
          </a:p>
        </p:txBody>
      </p:sp>
      <p:sp>
        <p:nvSpPr>
          <p:cNvPr id="338" name="Google Shape;338;p30"/>
          <p:cNvSpPr txBox="1"/>
          <p:nvPr/>
        </p:nvSpPr>
        <p:spPr>
          <a:xfrm>
            <a:off x="762000" y="3811785"/>
            <a:ext cx="5429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92F33"/>
                </a:solidFill>
                <a:latin typeface="Comfortaa"/>
                <a:ea typeface="Comfortaa"/>
                <a:cs typeface="Comfortaa"/>
                <a:sym typeface="Comfortaa"/>
              </a:rPr>
              <a:t>Regular 400</a:t>
            </a:r>
            <a:endParaRPr/>
          </a:p>
        </p:txBody>
      </p:sp>
      <p:sp>
        <p:nvSpPr>
          <p:cNvPr id="339" name="Google Shape;339;p30"/>
          <p:cNvSpPr txBox="1"/>
          <p:nvPr/>
        </p:nvSpPr>
        <p:spPr>
          <a:xfrm>
            <a:off x="762000" y="4297560"/>
            <a:ext cx="5429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92F33"/>
                </a:solidFill>
                <a:latin typeface="Comfortaa"/>
                <a:ea typeface="Comfortaa"/>
                <a:cs typeface="Comfortaa"/>
                <a:sym typeface="Comfortaa"/>
              </a:rPr>
              <a:t>Medium 500</a:t>
            </a:r>
            <a:endParaRPr/>
          </a:p>
        </p:txBody>
      </p:sp>
      <p:sp>
        <p:nvSpPr>
          <p:cNvPr id="340" name="Google Shape;340;p30"/>
          <p:cNvSpPr txBox="1"/>
          <p:nvPr/>
        </p:nvSpPr>
        <p:spPr>
          <a:xfrm>
            <a:off x="762000" y="4783335"/>
            <a:ext cx="5429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92F33"/>
                </a:solidFill>
                <a:latin typeface="Comfortaa"/>
                <a:ea typeface="Comfortaa"/>
                <a:cs typeface="Comfortaa"/>
                <a:sym typeface="Comfortaa"/>
              </a:rPr>
              <a:t>SemiBold 600</a:t>
            </a:r>
            <a:endParaRPr/>
          </a:p>
        </p:txBody>
      </p:sp>
      <p:sp>
        <p:nvSpPr>
          <p:cNvPr id="341" name="Google Shape;341;p30"/>
          <p:cNvSpPr txBox="1"/>
          <p:nvPr/>
        </p:nvSpPr>
        <p:spPr>
          <a:xfrm>
            <a:off x="762000" y="5269110"/>
            <a:ext cx="5429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92F33"/>
                </a:solidFill>
                <a:latin typeface="Comfortaa"/>
                <a:ea typeface="Comfortaa"/>
                <a:cs typeface="Comfortaa"/>
                <a:sym typeface="Comfortaa"/>
              </a:rPr>
              <a:t>Bold 700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A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1"/>
          <p:cNvSpPr txBox="1"/>
          <p:nvPr/>
        </p:nvSpPr>
        <p:spPr>
          <a:xfrm>
            <a:off x="762000" y="7620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82C4"/>
                </a:solidFill>
                <a:latin typeface="Comfortaa"/>
                <a:ea typeface="Comfortaa"/>
                <a:cs typeface="Comfortaa"/>
                <a:sym typeface="Comfortaa"/>
              </a:rPr>
              <a:t>04. TYPOGRAPHY</a:t>
            </a:r>
            <a:endParaRPr/>
          </a:p>
        </p:txBody>
      </p:sp>
      <p:sp>
        <p:nvSpPr>
          <p:cNvPr id="347" name="Google Shape;347;p31"/>
          <p:cNvSpPr txBox="1"/>
          <p:nvPr/>
        </p:nvSpPr>
        <p:spPr>
          <a:xfrm>
            <a:off x="762000" y="1162050"/>
            <a:ext cx="11430000" cy="6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292F33"/>
                </a:solidFill>
                <a:latin typeface="Comfortaa"/>
                <a:ea typeface="Comfortaa"/>
                <a:cs typeface="Comfortaa"/>
                <a:sym typeface="Comfortaa"/>
              </a:rPr>
              <a:t>Scale &amp; Application</a:t>
            </a:r>
            <a:endParaRPr/>
          </a:p>
        </p:txBody>
      </p:sp>
      <p:sp>
        <p:nvSpPr>
          <p:cNvPr id="348" name="Google Shape;348;p31"/>
          <p:cNvSpPr txBox="1"/>
          <p:nvPr/>
        </p:nvSpPr>
        <p:spPr>
          <a:xfrm>
            <a:off x="1181100" y="2232570"/>
            <a:ext cx="11010900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292F33"/>
                </a:solidFill>
                <a:latin typeface="Comfortaa"/>
                <a:ea typeface="Comfortaa"/>
                <a:cs typeface="Comfortaa"/>
                <a:sym typeface="Comfortaa"/>
              </a:rPr>
              <a:t>Display Headline (700)</a:t>
            </a:r>
            <a:endParaRPr/>
          </a:p>
        </p:txBody>
      </p:sp>
      <p:sp>
        <p:nvSpPr>
          <p:cNvPr id="349" name="Google Shape;349;p31"/>
          <p:cNvSpPr txBox="1"/>
          <p:nvPr/>
        </p:nvSpPr>
        <p:spPr>
          <a:xfrm>
            <a:off x="1181100" y="2979241"/>
            <a:ext cx="11010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E82C4"/>
                </a:solidFill>
                <a:latin typeface="Comfortaa"/>
                <a:ea typeface="Comfortaa"/>
                <a:cs typeface="Comfortaa"/>
                <a:sym typeface="Comfortaa"/>
              </a:rPr>
              <a:t>MARKETING HEROES &amp; CAMPAIGN BANNERS.</a:t>
            </a:r>
            <a:endParaRPr/>
          </a:p>
        </p:txBody>
      </p:sp>
      <p:sp>
        <p:nvSpPr>
          <p:cNvPr id="350" name="Google Shape;350;p31"/>
          <p:cNvSpPr txBox="1"/>
          <p:nvPr/>
        </p:nvSpPr>
        <p:spPr>
          <a:xfrm>
            <a:off x="1181100" y="3550741"/>
            <a:ext cx="11010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92F33"/>
                </a:solidFill>
                <a:latin typeface="Comfortaa"/>
                <a:ea typeface="Comfortaa"/>
                <a:cs typeface="Comfortaa"/>
                <a:sym typeface="Comfortaa"/>
              </a:rPr>
              <a:t>Section Subheader (600)</a:t>
            </a:r>
            <a:endParaRPr/>
          </a:p>
        </p:txBody>
      </p:sp>
      <p:sp>
        <p:nvSpPr>
          <p:cNvPr id="351" name="Google Shape;351;p31"/>
          <p:cNvSpPr txBox="1"/>
          <p:nvPr/>
        </p:nvSpPr>
        <p:spPr>
          <a:xfrm>
            <a:off x="1181100" y="4084141"/>
            <a:ext cx="110109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C6B7A"/>
                </a:solidFill>
                <a:latin typeface="Comfortaa"/>
                <a:ea typeface="Comfortaa"/>
                <a:cs typeface="Comfortaa"/>
                <a:sym typeface="Comfortaa"/>
              </a:rPr>
              <a:t>CATEGORY TITLES &amp; MERCHANT STOREFRONTS.</a:t>
            </a:r>
            <a:endParaRPr/>
          </a:p>
        </p:txBody>
      </p:sp>
      <p:sp>
        <p:nvSpPr>
          <p:cNvPr id="352" name="Google Shape;352;p31"/>
          <p:cNvSpPr txBox="1"/>
          <p:nvPr/>
        </p:nvSpPr>
        <p:spPr>
          <a:xfrm>
            <a:off x="1181100" y="4636591"/>
            <a:ext cx="77152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92F33"/>
                </a:solidFill>
                <a:latin typeface="Comfortaa"/>
                <a:ea typeface="Comfortaa"/>
                <a:cs typeface="Comfortaa"/>
                <a:sym typeface="Comfortaa"/>
              </a:rPr>
              <a:t>Body Text (400). Clear readability for technical specifications, merchant data, and standard UI navigation labels.</a:t>
            </a:r>
            <a:endParaRPr/>
          </a:p>
        </p:txBody>
      </p:sp>
      <p:sp>
        <p:nvSpPr>
          <p:cNvPr id="353" name="Google Shape;353;p31"/>
          <p:cNvSpPr txBox="1"/>
          <p:nvPr/>
        </p:nvSpPr>
        <p:spPr>
          <a:xfrm>
            <a:off x="1181100" y="5703391"/>
            <a:ext cx="110109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48C53"/>
                </a:solidFill>
                <a:latin typeface="Comfortaa"/>
                <a:ea typeface="Comfortaa"/>
                <a:cs typeface="Comfortaa"/>
                <a:sym typeface="Comfortaa"/>
              </a:rPr>
              <a:t>116,721 IQD</a:t>
            </a:r>
            <a:endParaRPr/>
          </a:p>
        </p:txBody>
      </p:sp>
      <p:sp>
        <p:nvSpPr>
          <p:cNvPr id="354" name="Google Shape;354;p31"/>
          <p:cNvSpPr txBox="1"/>
          <p:nvPr/>
        </p:nvSpPr>
        <p:spPr>
          <a:xfrm>
            <a:off x="1181100" y="6112966"/>
            <a:ext cx="110109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C6B7A"/>
                </a:solidFill>
                <a:latin typeface="Comfortaa"/>
                <a:ea typeface="Comfortaa"/>
                <a:cs typeface="Comfortaa"/>
                <a:sym typeface="Comfortaa"/>
              </a:rPr>
              <a:t>PRICING DATA (700). ALWAYS PROMINENT.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2"/>
          <p:cNvSpPr/>
          <p:nvPr/>
        </p:nvSpPr>
        <p:spPr>
          <a:xfrm>
            <a:off x="9334500" y="0"/>
            <a:ext cx="2857500" cy="6858000"/>
          </a:xfrm>
          <a:prstGeom prst="rect">
            <a:avLst/>
          </a:prstGeom>
          <a:solidFill>
            <a:srgbClr val="148C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32"/>
          <p:cNvSpPr txBox="1"/>
          <p:nvPr/>
        </p:nvSpPr>
        <p:spPr>
          <a:xfrm>
            <a:off x="762000" y="2390775"/>
            <a:ext cx="9763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82C4"/>
                </a:solidFill>
                <a:latin typeface="Comfortaa"/>
                <a:ea typeface="Comfortaa"/>
                <a:cs typeface="Comfortaa"/>
                <a:sym typeface="Comfortaa"/>
              </a:rPr>
              <a:t>SECTION 05</a:t>
            </a:r>
            <a:endParaRPr/>
          </a:p>
        </p:txBody>
      </p:sp>
      <p:sp>
        <p:nvSpPr>
          <p:cNvPr id="361" name="Google Shape;361;p32"/>
          <p:cNvSpPr txBox="1"/>
          <p:nvPr/>
        </p:nvSpPr>
        <p:spPr>
          <a:xfrm>
            <a:off x="762000" y="2790825"/>
            <a:ext cx="83010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292F33"/>
                </a:solidFill>
                <a:latin typeface="Comfortaa"/>
                <a:ea typeface="Comfortaa"/>
                <a:cs typeface="Comfortaa"/>
                <a:sym typeface="Comfortaa"/>
              </a:rPr>
              <a:t>Brand Voice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000" u="none" cap="none" strike="noStrike">
                <a:solidFill>
                  <a:srgbClr val="292F33"/>
                </a:solidFill>
                <a:latin typeface="Comfortaa"/>
                <a:ea typeface="Comfortaa"/>
                <a:cs typeface="Comfortaa"/>
                <a:sym typeface="Comfortaa"/>
              </a:rPr>
              <a:t>&amp; Tone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A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3"/>
          <p:cNvSpPr/>
          <p:nvPr/>
        </p:nvSpPr>
        <p:spPr>
          <a:xfrm>
            <a:off x="1295400" y="4164210"/>
            <a:ext cx="96012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33"/>
          <p:cNvSpPr txBox="1"/>
          <p:nvPr/>
        </p:nvSpPr>
        <p:spPr>
          <a:xfrm>
            <a:off x="762000" y="7620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82C4"/>
                </a:solidFill>
                <a:latin typeface="Comfortaa"/>
                <a:ea typeface="Comfortaa"/>
                <a:cs typeface="Comfortaa"/>
                <a:sym typeface="Comfortaa"/>
              </a:rPr>
              <a:t>05. VOICE &amp; TONE</a:t>
            </a:r>
            <a:endParaRPr/>
          </a:p>
        </p:txBody>
      </p:sp>
      <p:sp>
        <p:nvSpPr>
          <p:cNvPr id="368" name="Google Shape;368;p33"/>
          <p:cNvSpPr txBox="1"/>
          <p:nvPr/>
        </p:nvSpPr>
        <p:spPr>
          <a:xfrm>
            <a:off x="762000" y="1162050"/>
            <a:ext cx="11430000" cy="6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292F33"/>
                </a:solidFill>
                <a:latin typeface="Comfortaa"/>
                <a:ea typeface="Comfortaa"/>
                <a:cs typeface="Comfortaa"/>
                <a:sym typeface="Comfortaa"/>
              </a:rPr>
              <a:t>Editorial Principles</a:t>
            </a:r>
            <a:endParaRPr/>
          </a:p>
        </p:txBody>
      </p:sp>
      <p:sp>
        <p:nvSpPr>
          <p:cNvPr id="369" name="Google Shape;369;p33"/>
          <p:cNvSpPr/>
          <p:nvPr/>
        </p:nvSpPr>
        <p:spPr>
          <a:xfrm>
            <a:off x="762000" y="3368873"/>
            <a:ext cx="3200400" cy="1590675"/>
          </a:xfrm>
          <a:prstGeom prst="roundRect">
            <a:avLst>
              <a:gd fmla="val 9580" name="adj"/>
            </a:avLst>
          </a:prstGeom>
          <a:solidFill>
            <a:srgbClr val="FFFFFF"/>
          </a:solidFill>
          <a:ln cap="flat" cmpd="sng" w="19050">
            <a:solidFill>
              <a:srgbClr val="0E8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33"/>
          <p:cNvSpPr/>
          <p:nvPr/>
        </p:nvSpPr>
        <p:spPr>
          <a:xfrm>
            <a:off x="4495800" y="3273623"/>
            <a:ext cx="3200400" cy="1781100"/>
          </a:xfrm>
          <a:prstGeom prst="roundRect">
            <a:avLst>
              <a:gd fmla="val 8556" name="adj"/>
            </a:avLst>
          </a:prstGeom>
          <a:solidFill>
            <a:srgbClr val="FFFFFF"/>
          </a:solidFill>
          <a:ln cap="flat" cmpd="sng" w="19050">
            <a:solidFill>
              <a:srgbClr val="148C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3"/>
          <p:cNvSpPr/>
          <p:nvPr/>
        </p:nvSpPr>
        <p:spPr>
          <a:xfrm>
            <a:off x="8229600" y="3368875"/>
            <a:ext cx="3200400" cy="1590600"/>
          </a:xfrm>
          <a:prstGeom prst="roundRect">
            <a:avLst>
              <a:gd fmla="val 8556" name="adj"/>
            </a:avLst>
          </a:prstGeom>
          <a:solidFill>
            <a:srgbClr val="FFFFFF"/>
          </a:solidFill>
          <a:ln cap="flat" cmpd="sng" w="19050">
            <a:solidFill>
              <a:srgbClr val="292F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3"/>
          <p:cNvSpPr txBox="1"/>
          <p:nvPr/>
        </p:nvSpPr>
        <p:spPr>
          <a:xfrm>
            <a:off x="1162050" y="3768923"/>
            <a:ext cx="315039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E82C4"/>
                </a:solidFill>
                <a:latin typeface="Comfortaa"/>
                <a:ea typeface="Comfortaa"/>
                <a:cs typeface="Comfortaa"/>
                <a:sym typeface="Comfortaa"/>
              </a:rPr>
              <a:t>1. Data First</a:t>
            </a:r>
            <a:endParaRPr/>
          </a:p>
        </p:txBody>
      </p:sp>
      <p:sp>
        <p:nvSpPr>
          <p:cNvPr id="373" name="Google Shape;373;p33"/>
          <p:cNvSpPr txBox="1"/>
          <p:nvPr/>
        </p:nvSpPr>
        <p:spPr>
          <a:xfrm>
            <a:off x="1162050" y="4178498"/>
            <a:ext cx="24955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C6B7A"/>
                </a:solidFill>
                <a:latin typeface="Comfortaa"/>
                <a:ea typeface="Comfortaa"/>
                <a:cs typeface="Comfortaa"/>
                <a:sym typeface="Comfortaa"/>
              </a:rPr>
              <a:t>State exact IQD savings. Hard numbers over hype.</a:t>
            </a:r>
            <a:endParaRPr/>
          </a:p>
        </p:txBody>
      </p:sp>
      <p:sp>
        <p:nvSpPr>
          <p:cNvPr id="374" name="Google Shape;374;p33"/>
          <p:cNvSpPr txBox="1"/>
          <p:nvPr/>
        </p:nvSpPr>
        <p:spPr>
          <a:xfrm>
            <a:off x="4895850" y="3673673"/>
            <a:ext cx="315039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48C53"/>
                </a:solidFill>
                <a:latin typeface="Comfortaa"/>
                <a:ea typeface="Comfortaa"/>
                <a:cs typeface="Comfortaa"/>
                <a:sym typeface="Comfortaa"/>
              </a:rPr>
              <a:t>2. Transparent</a:t>
            </a:r>
            <a:endParaRPr/>
          </a:p>
        </p:txBody>
      </p:sp>
      <p:sp>
        <p:nvSpPr>
          <p:cNvPr id="375" name="Google Shape;375;p33"/>
          <p:cNvSpPr txBox="1"/>
          <p:nvPr/>
        </p:nvSpPr>
        <p:spPr>
          <a:xfrm>
            <a:off x="4895850" y="4083248"/>
            <a:ext cx="24955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C6B7A"/>
                </a:solidFill>
                <a:latin typeface="Comfortaa"/>
                <a:ea typeface="Comfortaa"/>
                <a:cs typeface="Comfortaa"/>
                <a:sym typeface="Comfortaa"/>
              </a:rPr>
              <a:t>List prices upfront. Eradicate "DM for price" friction.</a:t>
            </a:r>
            <a:endParaRPr/>
          </a:p>
        </p:txBody>
      </p:sp>
      <p:sp>
        <p:nvSpPr>
          <p:cNvPr id="376" name="Google Shape;376;p33"/>
          <p:cNvSpPr txBox="1"/>
          <p:nvPr/>
        </p:nvSpPr>
        <p:spPr>
          <a:xfrm>
            <a:off x="8629650" y="3673673"/>
            <a:ext cx="315039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92F33"/>
                </a:solidFill>
                <a:latin typeface="Comfortaa"/>
                <a:ea typeface="Comfortaa"/>
                <a:cs typeface="Comfortaa"/>
                <a:sym typeface="Comfortaa"/>
              </a:rPr>
              <a:t>3. Respectful</a:t>
            </a:r>
            <a:endParaRPr/>
          </a:p>
        </p:txBody>
      </p:sp>
      <p:sp>
        <p:nvSpPr>
          <p:cNvPr id="377" name="Google Shape;377;p33"/>
          <p:cNvSpPr txBox="1"/>
          <p:nvPr/>
        </p:nvSpPr>
        <p:spPr>
          <a:xfrm>
            <a:off x="8629650" y="4083248"/>
            <a:ext cx="24957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C6B7A"/>
                </a:solidFill>
                <a:latin typeface="Comfortaa"/>
                <a:ea typeface="Comfortaa"/>
                <a:cs typeface="Comfortaa"/>
                <a:sym typeface="Comfortaa"/>
              </a:rPr>
              <a:t>Treat merchants as partners. Build localized trust.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4"/>
          <p:cNvSpPr/>
          <p:nvPr/>
        </p:nvSpPr>
        <p:spPr>
          <a:xfrm>
            <a:off x="762000" y="2232570"/>
            <a:ext cx="5029200" cy="3863429"/>
          </a:xfrm>
          <a:prstGeom prst="roundRect">
            <a:avLst>
              <a:gd fmla="val 5917" name="adj"/>
            </a:avLst>
          </a:prstGeom>
          <a:solidFill>
            <a:srgbClr val="F6F8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34"/>
          <p:cNvSpPr/>
          <p:nvPr/>
        </p:nvSpPr>
        <p:spPr>
          <a:xfrm>
            <a:off x="6400800" y="2232570"/>
            <a:ext cx="5029200" cy="3863429"/>
          </a:xfrm>
          <a:prstGeom prst="roundRect">
            <a:avLst>
              <a:gd fmla="val 5917" name="adj"/>
            </a:avLst>
          </a:prstGeom>
          <a:solidFill>
            <a:srgbClr val="F6F8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34"/>
          <p:cNvSpPr/>
          <p:nvPr/>
        </p:nvSpPr>
        <p:spPr>
          <a:xfrm>
            <a:off x="762000" y="2232570"/>
            <a:ext cx="5029200" cy="76200"/>
          </a:xfrm>
          <a:prstGeom prst="rect">
            <a:avLst/>
          </a:prstGeom>
          <a:solidFill>
            <a:srgbClr val="148C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34"/>
          <p:cNvSpPr/>
          <p:nvPr/>
        </p:nvSpPr>
        <p:spPr>
          <a:xfrm>
            <a:off x="6400800" y="2232570"/>
            <a:ext cx="5029200" cy="76200"/>
          </a:xfrm>
          <a:prstGeom prst="rect">
            <a:avLst/>
          </a:prstGeom>
          <a:solidFill>
            <a:srgbClr val="D002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86" name="Google Shape;386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200" y="3404145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7" name="Google Shape;38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200" y="4451895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8" name="Google Shape;388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0" y="3404145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9" name="Google Shape;389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0" y="4451895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34"/>
          <p:cNvSpPr txBox="1"/>
          <p:nvPr/>
        </p:nvSpPr>
        <p:spPr>
          <a:xfrm>
            <a:off x="762000" y="7620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82C4"/>
                </a:solidFill>
                <a:latin typeface="Comfortaa"/>
                <a:ea typeface="Comfortaa"/>
                <a:cs typeface="Comfortaa"/>
                <a:sym typeface="Comfortaa"/>
              </a:rPr>
              <a:t>05. VOICE &amp; TONE</a:t>
            </a:r>
            <a:endParaRPr/>
          </a:p>
        </p:txBody>
      </p:sp>
      <p:sp>
        <p:nvSpPr>
          <p:cNvPr id="391" name="Google Shape;391;p34"/>
          <p:cNvSpPr txBox="1"/>
          <p:nvPr/>
        </p:nvSpPr>
        <p:spPr>
          <a:xfrm>
            <a:off x="762000" y="1162050"/>
            <a:ext cx="11430000" cy="6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292F33"/>
                </a:solidFill>
                <a:latin typeface="Comfortaa"/>
                <a:ea typeface="Comfortaa"/>
                <a:cs typeface="Comfortaa"/>
                <a:sym typeface="Comfortaa"/>
              </a:rPr>
              <a:t>Copywriting Matrix</a:t>
            </a:r>
            <a:endParaRPr/>
          </a:p>
        </p:txBody>
      </p:sp>
      <p:sp>
        <p:nvSpPr>
          <p:cNvPr id="392" name="Google Shape;392;p34"/>
          <p:cNvSpPr txBox="1"/>
          <p:nvPr/>
        </p:nvSpPr>
        <p:spPr>
          <a:xfrm>
            <a:off x="1219200" y="2765970"/>
            <a:ext cx="54006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48C53"/>
                </a:solidFill>
                <a:latin typeface="Comfortaa"/>
                <a:ea typeface="Comfortaa"/>
                <a:cs typeface="Comfortaa"/>
                <a:sym typeface="Comfortaa"/>
              </a:rPr>
              <a:t>Cheapify Standard</a:t>
            </a:r>
            <a:endParaRPr/>
          </a:p>
        </p:txBody>
      </p:sp>
      <p:sp>
        <p:nvSpPr>
          <p:cNvPr id="393" name="Google Shape;393;p34"/>
          <p:cNvSpPr txBox="1"/>
          <p:nvPr/>
        </p:nvSpPr>
        <p:spPr>
          <a:xfrm>
            <a:off x="6858000" y="2765970"/>
            <a:ext cx="53340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0021B"/>
                </a:solidFill>
                <a:latin typeface="Comfortaa"/>
                <a:ea typeface="Comfortaa"/>
                <a:cs typeface="Comfortaa"/>
                <a:sym typeface="Comfortaa"/>
              </a:rPr>
              <a:t>Strictly Avoid</a:t>
            </a:r>
            <a:endParaRPr/>
          </a:p>
        </p:txBody>
      </p:sp>
      <p:sp>
        <p:nvSpPr>
          <p:cNvPr id="394" name="Google Shape;394;p34"/>
          <p:cNvSpPr txBox="1"/>
          <p:nvPr/>
        </p:nvSpPr>
        <p:spPr>
          <a:xfrm>
            <a:off x="1219200" y="3708945"/>
            <a:ext cx="42100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92F33"/>
                </a:solidFill>
                <a:latin typeface="Comfortaa"/>
                <a:ea typeface="Comfortaa"/>
                <a:cs typeface="Comfortaa"/>
                <a:sym typeface="Comfortaa"/>
              </a:rPr>
              <a:t>"Save 15,000 IQD instantly from verified stores."</a:t>
            </a:r>
            <a:endParaRPr/>
          </a:p>
        </p:txBody>
      </p:sp>
      <p:sp>
        <p:nvSpPr>
          <p:cNvPr id="395" name="Google Shape;395;p34"/>
          <p:cNvSpPr txBox="1"/>
          <p:nvPr/>
        </p:nvSpPr>
        <p:spPr>
          <a:xfrm>
            <a:off x="1219200" y="4756695"/>
            <a:ext cx="42100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92F33"/>
                </a:solidFill>
                <a:latin typeface="Comfortaa"/>
                <a:ea typeface="Comfortaa"/>
                <a:cs typeface="Comfortaa"/>
                <a:sym typeface="Comfortaa"/>
              </a:rPr>
              <a:t>"Stop sending DMs. Compare live listings."</a:t>
            </a:r>
            <a:endParaRPr/>
          </a:p>
        </p:txBody>
      </p:sp>
      <p:sp>
        <p:nvSpPr>
          <p:cNvPr id="396" name="Google Shape;396;p34"/>
          <p:cNvSpPr txBox="1"/>
          <p:nvPr/>
        </p:nvSpPr>
        <p:spPr>
          <a:xfrm>
            <a:off x="6858000" y="3708945"/>
            <a:ext cx="42100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C6B7A"/>
                </a:solidFill>
                <a:latin typeface="Comfortaa"/>
                <a:ea typeface="Comfortaa"/>
                <a:cs typeface="Comfortaa"/>
                <a:sym typeface="Comfortaa"/>
              </a:rPr>
              <a:t>"Crazy cheap! Best prices in the universe!"</a:t>
            </a:r>
            <a:endParaRPr/>
          </a:p>
        </p:txBody>
      </p:sp>
      <p:sp>
        <p:nvSpPr>
          <p:cNvPr id="397" name="Google Shape;397;p34"/>
          <p:cNvSpPr txBox="1"/>
          <p:nvPr/>
        </p:nvSpPr>
        <p:spPr>
          <a:xfrm>
            <a:off x="6858000" y="4756695"/>
            <a:ext cx="51435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C6B7A"/>
                </a:solidFill>
                <a:latin typeface="Comfortaa"/>
                <a:ea typeface="Comfortaa"/>
                <a:cs typeface="Comfortaa"/>
                <a:sym typeface="Comfortaa"/>
              </a:rPr>
              <a:t>"DM us for a secret discount code, dear."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A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5"/>
          <p:cNvSpPr/>
          <p:nvPr/>
        </p:nvSpPr>
        <p:spPr>
          <a:xfrm>
            <a:off x="762000" y="2232570"/>
            <a:ext cx="5105400" cy="3863429"/>
          </a:xfrm>
          <a:prstGeom prst="roundRect">
            <a:avLst>
              <a:gd fmla="val 591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35"/>
          <p:cNvSpPr/>
          <p:nvPr/>
        </p:nvSpPr>
        <p:spPr>
          <a:xfrm>
            <a:off x="6324600" y="2232570"/>
            <a:ext cx="5105400" cy="3863429"/>
          </a:xfrm>
          <a:prstGeom prst="roundRect">
            <a:avLst>
              <a:gd fmla="val 591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04" name="Google Shape;404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8725" y="2699295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5" name="Google Shape;405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91325" y="2699295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6" name="Google Shape;406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66837" y="2870745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7" name="Google Shape;407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43725" y="2870745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35"/>
          <p:cNvSpPr txBox="1"/>
          <p:nvPr/>
        </p:nvSpPr>
        <p:spPr>
          <a:xfrm>
            <a:off x="762000" y="7620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82C4"/>
                </a:solidFill>
                <a:latin typeface="Comfortaa"/>
                <a:ea typeface="Comfortaa"/>
                <a:cs typeface="Comfortaa"/>
                <a:sym typeface="Comfortaa"/>
              </a:rPr>
              <a:t>05. VOICE &amp; TONE</a:t>
            </a:r>
            <a:endParaRPr/>
          </a:p>
        </p:txBody>
      </p:sp>
      <p:sp>
        <p:nvSpPr>
          <p:cNvPr id="409" name="Google Shape;409;p35"/>
          <p:cNvSpPr txBox="1"/>
          <p:nvPr/>
        </p:nvSpPr>
        <p:spPr>
          <a:xfrm>
            <a:off x="762000" y="1162050"/>
            <a:ext cx="11430000" cy="6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292F33"/>
                </a:solidFill>
                <a:latin typeface="Comfortaa"/>
                <a:ea typeface="Comfortaa"/>
                <a:cs typeface="Comfortaa"/>
                <a:sym typeface="Comfortaa"/>
              </a:rPr>
              <a:t>Audience Personas</a:t>
            </a:r>
            <a:endParaRPr/>
          </a:p>
        </p:txBody>
      </p:sp>
      <p:sp>
        <p:nvSpPr>
          <p:cNvPr id="410" name="Google Shape;410;p35"/>
          <p:cNvSpPr txBox="1"/>
          <p:nvPr/>
        </p:nvSpPr>
        <p:spPr>
          <a:xfrm>
            <a:off x="1228725" y="3613695"/>
            <a:ext cx="4267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C6B7A"/>
                </a:solidFill>
                <a:latin typeface="Comfortaa"/>
                <a:ea typeface="Comfortaa"/>
                <a:cs typeface="Comfortaa"/>
                <a:sym typeface="Comfortaa"/>
              </a:rPr>
              <a:t>Young adults avoiding the hassle of DM price negotiations.</a:t>
            </a:r>
            <a:endParaRPr/>
          </a:p>
        </p:txBody>
      </p:sp>
      <p:sp>
        <p:nvSpPr>
          <p:cNvPr id="411" name="Google Shape;411;p35"/>
          <p:cNvSpPr txBox="1"/>
          <p:nvPr/>
        </p:nvSpPr>
        <p:spPr>
          <a:xfrm>
            <a:off x="1228725" y="5410200"/>
            <a:ext cx="521493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E82C4"/>
                </a:solidFill>
                <a:latin typeface="Comfortaa"/>
                <a:ea typeface="Comfortaa"/>
                <a:cs typeface="Comfortaa"/>
                <a:sym typeface="Comfortaa"/>
              </a:rPr>
              <a:t>Goal: Instant side-by-side comparison.</a:t>
            </a:r>
            <a:endParaRPr/>
          </a:p>
        </p:txBody>
      </p:sp>
      <p:sp>
        <p:nvSpPr>
          <p:cNvPr id="412" name="Google Shape;412;p35"/>
          <p:cNvSpPr txBox="1"/>
          <p:nvPr/>
        </p:nvSpPr>
        <p:spPr>
          <a:xfrm>
            <a:off x="6791325" y="3613695"/>
            <a:ext cx="4267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C6B7A"/>
                </a:solidFill>
                <a:latin typeface="Comfortaa"/>
                <a:ea typeface="Comfortaa"/>
                <a:cs typeface="Comfortaa"/>
                <a:sym typeface="Comfortaa"/>
              </a:rPr>
              <a:t>Small retailers needing a scalable digital storefront without agency costs.</a:t>
            </a:r>
            <a:endParaRPr/>
          </a:p>
        </p:txBody>
      </p:sp>
      <p:sp>
        <p:nvSpPr>
          <p:cNvPr id="413" name="Google Shape;413;p35"/>
          <p:cNvSpPr txBox="1"/>
          <p:nvPr/>
        </p:nvSpPr>
        <p:spPr>
          <a:xfrm>
            <a:off x="6791325" y="5410200"/>
            <a:ext cx="521493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8C53"/>
                </a:solidFill>
                <a:latin typeface="Comfortaa"/>
                <a:ea typeface="Comfortaa"/>
                <a:cs typeface="Comfortaa"/>
                <a:sym typeface="Comfortaa"/>
              </a:rPr>
              <a:t>Goal: Predictable orders &amp; verified status.</a:t>
            </a:r>
            <a:endParaRPr/>
          </a:p>
        </p:txBody>
      </p:sp>
      <p:sp>
        <p:nvSpPr>
          <p:cNvPr id="414" name="Google Shape;414;p35"/>
          <p:cNvSpPr txBox="1"/>
          <p:nvPr/>
        </p:nvSpPr>
        <p:spPr>
          <a:xfrm>
            <a:off x="2066925" y="2837408"/>
            <a:ext cx="325040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92F33"/>
                </a:solidFill>
                <a:latin typeface="Comfortaa"/>
                <a:ea typeface="Comfortaa"/>
                <a:cs typeface="Comfortaa"/>
                <a:sym typeface="Comfortaa"/>
              </a:rPr>
              <a:t>Smart Shopper</a:t>
            </a:r>
            <a:endParaRPr/>
          </a:p>
        </p:txBody>
      </p:sp>
      <p:sp>
        <p:nvSpPr>
          <p:cNvPr id="415" name="Google Shape;415;p35"/>
          <p:cNvSpPr txBox="1"/>
          <p:nvPr/>
        </p:nvSpPr>
        <p:spPr>
          <a:xfrm>
            <a:off x="7629525" y="2837408"/>
            <a:ext cx="333791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92F33"/>
                </a:solidFill>
                <a:latin typeface="Comfortaa"/>
                <a:ea typeface="Comfortaa"/>
                <a:cs typeface="Comfortaa"/>
                <a:sym typeface="Comfortaa"/>
              </a:rPr>
              <a:t>Local Merchant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6"/>
          <p:cNvSpPr/>
          <p:nvPr/>
        </p:nvSpPr>
        <p:spPr>
          <a:xfrm>
            <a:off x="0" y="0"/>
            <a:ext cx="5334000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36"/>
          <p:cNvSpPr txBox="1"/>
          <p:nvPr/>
        </p:nvSpPr>
        <p:spPr>
          <a:xfrm>
            <a:off x="6096000" y="2390775"/>
            <a:ext cx="6096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82C4"/>
                </a:solidFill>
                <a:latin typeface="Comfortaa"/>
                <a:ea typeface="Comfortaa"/>
                <a:cs typeface="Comfortaa"/>
                <a:sym typeface="Comfortaa"/>
              </a:rPr>
              <a:t>SECTION 06</a:t>
            </a:r>
            <a:endParaRPr/>
          </a:p>
        </p:txBody>
      </p:sp>
      <p:sp>
        <p:nvSpPr>
          <p:cNvPr id="422" name="Google Shape;422;p36"/>
          <p:cNvSpPr txBox="1"/>
          <p:nvPr/>
        </p:nvSpPr>
        <p:spPr>
          <a:xfrm>
            <a:off x="6096000" y="2790825"/>
            <a:ext cx="57006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292F33"/>
                </a:solidFill>
                <a:latin typeface="Comfortaa"/>
                <a:ea typeface="Comfortaa"/>
                <a:cs typeface="Comfortaa"/>
                <a:sym typeface="Comfortaa"/>
              </a:rPr>
              <a:t>Digital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000" u="none" cap="none" strike="noStrike">
                <a:solidFill>
                  <a:srgbClr val="292F33"/>
                </a:solidFill>
                <a:latin typeface="Comfortaa"/>
                <a:ea typeface="Comfortaa"/>
                <a:cs typeface="Comfortaa"/>
                <a:sym typeface="Comfortaa"/>
              </a:rPr>
              <a:t>Application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27" name="Google Shape;427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19750" y="1525934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8" name="Google Shape;428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81687" y="1811684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37"/>
          <p:cNvSpPr txBox="1"/>
          <p:nvPr/>
        </p:nvSpPr>
        <p:spPr>
          <a:xfrm>
            <a:off x="4713591" y="2935634"/>
            <a:ext cx="276466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82C4"/>
                </a:solidFill>
                <a:latin typeface="Comfortaa"/>
                <a:ea typeface="Comfortaa"/>
                <a:cs typeface="Comfortaa"/>
                <a:sym typeface="Comfortaa"/>
              </a:rPr>
              <a:t>THE GOLDEN UI RULE</a:t>
            </a:r>
            <a:endParaRPr/>
          </a:p>
        </p:txBody>
      </p:sp>
      <p:sp>
        <p:nvSpPr>
          <p:cNvPr id="430" name="Google Shape;430;p37"/>
          <p:cNvSpPr txBox="1"/>
          <p:nvPr/>
        </p:nvSpPr>
        <p:spPr>
          <a:xfrm>
            <a:off x="285140" y="3335684"/>
            <a:ext cx="11621569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292F33"/>
                </a:solidFill>
                <a:latin typeface="Comfortaa"/>
                <a:ea typeface="Comfortaa"/>
                <a:cs typeface="Comfortaa"/>
                <a:sym typeface="Comfortaa"/>
              </a:rPr>
              <a:t>The Single-SKU Catalog</a:t>
            </a:r>
            <a:endParaRPr/>
          </a:p>
        </p:txBody>
      </p:sp>
      <p:sp>
        <p:nvSpPr>
          <p:cNvPr id="431" name="Google Shape;431;p37"/>
          <p:cNvSpPr txBox="1"/>
          <p:nvPr/>
        </p:nvSpPr>
        <p:spPr>
          <a:xfrm>
            <a:off x="1333500" y="4478684"/>
            <a:ext cx="9525000" cy="853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5C6B7A"/>
                </a:solidFill>
                <a:latin typeface="Comfortaa"/>
                <a:ea typeface="Comfortaa"/>
                <a:cs typeface="Comfortaa"/>
                <a:sym typeface="Comfortaa"/>
              </a:rPr>
              <a:t>One master product page. Multiple verified sellers competing. Zero duplicate listings.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A"/>
        </a:solid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8"/>
          <p:cNvSpPr/>
          <p:nvPr/>
        </p:nvSpPr>
        <p:spPr>
          <a:xfrm>
            <a:off x="762000" y="2754510"/>
            <a:ext cx="5029200" cy="2819400"/>
          </a:xfrm>
          <a:prstGeom prst="roundRect">
            <a:avLst>
              <a:gd fmla="val 810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38"/>
          <p:cNvSpPr/>
          <p:nvPr/>
        </p:nvSpPr>
        <p:spPr>
          <a:xfrm>
            <a:off x="6400800" y="2759273"/>
            <a:ext cx="5029200" cy="2809875"/>
          </a:xfrm>
          <a:prstGeom prst="roundRect">
            <a:avLst>
              <a:gd fmla="val 813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38"/>
          <p:cNvSpPr/>
          <p:nvPr/>
        </p:nvSpPr>
        <p:spPr>
          <a:xfrm>
            <a:off x="2185987" y="3364110"/>
            <a:ext cx="2181225" cy="457200"/>
          </a:xfrm>
          <a:prstGeom prst="roundRect">
            <a:avLst>
              <a:gd fmla="val 50000" name="adj"/>
            </a:avLst>
          </a:prstGeom>
          <a:solidFill>
            <a:srgbClr val="E6F4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38"/>
          <p:cNvSpPr/>
          <p:nvPr/>
        </p:nvSpPr>
        <p:spPr>
          <a:xfrm>
            <a:off x="8010525" y="3368873"/>
            <a:ext cx="1809750" cy="447675"/>
          </a:xfrm>
          <a:prstGeom prst="roundRect">
            <a:avLst>
              <a:gd fmla="val 17021" name="adj"/>
            </a:avLst>
          </a:prstGeom>
          <a:solidFill>
            <a:srgbClr val="148C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40" name="Google Shape;44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14587" y="347841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38"/>
          <p:cNvSpPr txBox="1"/>
          <p:nvPr/>
        </p:nvSpPr>
        <p:spPr>
          <a:xfrm>
            <a:off x="762000" y="7620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82C4"/>
                </a:solidFill>
                <a:latin typeface="Comfortaa"/>
                <a:ea typeface="Comfortaa"/>
                <a:cs typeface="Comfortaa"/>
                <a:sym typeface="Comfortaa"/>
              </a:rPr>
              <a:t>06. DIGITAL APPLICATION</a:t>
            </a:r>
            <a:endParaRPr/>
          </a:p>
        </p:txBody>
      </p:sp>
      <p:sp>
        <p:nvSpPr>
          <p:cNvPr id="442" name="Google Shape;442;p38"/>
          <p:cNvSpPr txBox="1"/>
          <p:nvPr/>
        </p:nvSpPr>
        <p:spPr>
          <a:xfrm>
            <a:off x="762000" y="1162050"/>
            <a:ext cx="11430000" cy="6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292F33"/>
                </a:solidFill>
                <a:latin typeface="Comfortaa"/>
                <a:ea typeface="Comfortaa"/>
                <a:cs typeface="Comfortaa"/>
                <a:sym typeface="Comfortaa"/>
              </a:rPr>
              <a:t>Trust Identifiers</a:t>
            </a:r>
            <a:endParaRPr/>
          </a:p>
        </p:txBody>
      </p:sp>
      <p:sp>
        <p:nvSpPr>
          <p:cNvPr id="443" name="Google Shape;443;p38"/>
          <p:cNvSpPr txBox="1"/>
          <p:nvPr/>
        </p:nvSpPr>
        <p:spPr>
          <a:xfrm>
            <a:off x="776287" y="4126110"/>
            <a:ext cx="5000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92F33"/>
                </a:solidFill>
                <a:latin typeface="Comfortaa"/>
                <a:ea typeface="Comfortaa"/>
                <a:cs typeface="Comfortaa"/>
                <a:sym typeface="Comfortaa"/>
              </a:rPr>
              <a:t>Merchant Verification</a:t>
            </a:r>
            <a:endParaRPr/>
          </a:p>
        </p:txBody>
      </p:sp>
      <p:sp>
        <p:nvSpPr>
          <p:cNvPr id="444" name="Google Shape;444;p38"/>
          <p:cNvSpPr txBox="1"/>
          <p:nvPr/>
        </p:nvSpPr>
        <p:spPr>
          <a:xfrm>
            <a:off x="895350" y="4583310"/>
            <a:ext cx="4762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C6B7A"/>
                </a:solidFill>
                <a:latin typeface="Comfortaa"/>
                <a:ea typeface="Comfortaa"/>
                <a:cs typeface="Comfortaa"/>
                <a:sym typeface="Comfortaa"/>
              </a:rPr>
              <a:t>Appended to legitimate storefront names to combat market fraud.</a:t>
            </a:r>
            <a:endParaRPr/>
          </a:p>
        </p:txBody>
      </p:sp>
      <p:sp>
        <p:nvSpPr>
          <p:cNvPr id="445" name="Google Shape;445;p38"/>
          <p:cNvSpPr txBox="1"/>
          <p:nvPr/>
        </p:nvSpPr>
        <p:spPr>
          <a:xfrm>
            <a:off x="8012906" y="3483173"/>
            <a:ext cx="18049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Best Value</a:t>
            </a:r>
            <a:endParaRPr/>
          </a:p>
        </p:txBody>
      </p:sp>
      <p:sp>
        <p:nvSpPr>
          <p:cNvPr id="446" name="Google Shape;446;p38"/>
          <p:cNvSpPr txBox="1"/>
          <p:nvPr/>
        </p:nvSpPr>
        <p:spPr>
          <a:xfrm>
            <a:off x="6415087" y="4121348"/>
            <a:ext cx="5000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92F33"/>
                </a:solidFill>
                <a:latin typeface="Comfortaa"/>
                <a:ea typeface="Comfortaa"/>
                <a:cs typeface="Comfortaa"/>
                <a:sym typeface="Comfortaa"/>
              </a:rPr>
              <a:t>Algorithmic Highlight</a:t>
            </a:r>
            <a:endParaRPr/>
          </a:p>
        </p:txBody>
      </p:sp>
      <p:sp>
        <p:nvSpPr>
          <p:cNvPr id="447" name="Google Shape;447;p38"/>
          <p:cNvSpPr txBox="1"/>
          <p:nvPr/>
        </p:nvSpPr>
        <p:spPr>
          <a:xfrm>
            <a:off x="6534150" y="4578548"/>
            <a:ext cx="4762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C6B7A"/>
                </a:solidFill>
                <a:latin typeface="Comfortaa"/>
                <a:ea typeface="Comfortaa"/>
                <a:cs typeface="Comfortaa"/>
                <a:sym typeface="Comfortaa"/>
              </a:rPr>
              <a:t>Automatically assigned to the lowest verified price per SKU.</a:t>
            </a:r>
            <a:endParaRPr/>
          </a:p>
        </p:txBody>
      </p:sp>
      <p:sp>
        <p:nvSpPr>
          <p:cNvPr id="448" name="Google Shape;448;p38"/>
          <p:cNvSpPr txBox="1"/>
          <p:nvPr/>
        </p:nvSpPr>
        <p:spPr>
          <a:xfrm>
            <a:off x="2584846" y="3483173"/>
            <a:ext cx="172640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8C53"/>
                </a:solidFill>
                <a:latin typeface="Comfortaa"/>
                <a:ea typeface="Comfortaa"/>
                <a:cs typeface="Comfortaa"/>
                <a:sym typeface="Comfortaa"/>
              </a:rPr>
              <a:t>Verified Seller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9"/>
          <p:cNvSpPr/>
          <p:nvPr/>
        </p:nvSpPr>
        <p:spPr>
          <a:xfrm>
            <a:off x="762000" y="2232570"/>
            <a:ext cx="3352800" cy="3863429"/>
          </a:xfrm>
          <a:prstGeom prst="roundRect">
            <a:avLst>
              <a:gd fmla="val 4545" name="adj"/>
            </a:avLst>
          </a:prstGeom>
          <a:solidFill>
            <a:srgbClr val="F6F8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39"/>
          <p:cNvSpPr/>
          <p:nvPr/>
        </p:nvSpPr>
        <p:spPr>
          <a:xfrm>
            <a:off x="4419600" y="2232570"/>
            <a:ext cx="3352800" cy="3863429"/>
          </a:xfrm>
          <a:prstGeom prst="roundRect">
            <a:avLst>
              <a:gd fmla="val 4545" name="adj"/>
            </a:avLst>
          </a:prstGeom>
          <a:solidFill>
            <a:srgbClr val="F6F8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39"/>
          <p:cNvSpPr/>
          <p:nvPr/>
        </p:nvSpPr>
        <p:spPr>
          <a:xfrm>
            <a:off x="8077200" y="2232570"/>
            <a:ext cx="3352800" cy="3863429"/>
          </a:xfrm>
          <a:prstGeom prst="roundRect">
            <a:avLst>
              <a:gd fmla="val 4545" name="adj"/>
            </a:avLst>
          </a:prstGeom>
          <a:solidFill>
            <a:srgbClr val="F6F8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39"/>
          <p:cNvSpPr txBox="1"/>
          <p:nvPr/>
        </p:nvSpPr>
        <p:spPr>
          <a:xfrm>
            <a:off x="762000" y="7620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82C4"/>
                </a:solidFill>
                <a:latin typeface="Comfortaa"/>
                <a:ea typeface="Comfortaa"/>
                <a:cs typeface="Comfortaa"/>
                <a:sym typeface="Comfortaa"/>
              </a:rPr>
              <a:t>06. DIGITAL APPLICATION</a:t>
            </a:r>
            <a:endParaRPr/>
          </a:p>
        </p:txBody>
      </p:sp>
      <p:sp>
        <p:nvSpPr>
          <p:cNvPr id="457" name="Google Shape;457;p39"/>
          <p:cNvSpPr txBox="1"/>
          <p:nvPr/>
        </p:nvSpPr>
        <p:spPr>
          <a:xfrm>
            <a:off x="762000" y="1162050"/>
            <a:ext cx="11430000" cy="6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292F33"/>
                </a:solidFill>
                <a:latin typeface="Comfortaa"/>
                <a:ea typeface="Comfortaa"/>
                <a:cs typeface="Comfortaa"/>
                <a:sym typeface="Comfortaa"/>
              </a:rPr>
              <a:t>Content Strategy Pillars</a:t>
            </a:r>
            <a:endParaRPr/>
          </a:p>
        </p:txBody>
      </p:sp>
      <p:sp>
        <p:nvSpPr>
          <p:cNvPr id="458" name="Google Shape;458;p39"/>
          <p:cNvSpPr txBox="1"/>
          <p:nvPr/>
        </p:nvSpPr>
        <p:spPr>
          <a:xfrm>
            <a:off x="1219200" y="2689770"/>
            <a:ext cx="3200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E82C4"/>
                </a:solidFill>
                <a:latin typeface="Comfortaa"/>
                <a:ea typeface="Comfortaa"/>
                <a:cs typeface="Comfortaa"/>
                <a:sym typeface="Comfortaa"/>
              </a:rPr>
              <a:t>1. Transparent Value</a:t>
            </a:r>
            <a:endParaRPr/>
          </a:p>
        </p:txBody>
      </p:sp>
      <p:sp>
        <p:nvSpPr>
          <p:cNvPr id="459" name="Google Shape;459;p39"/>
          <p:cNvSpPr txBox="1"/>
          <p:nvPr/>
        </p:nvSpPr>
        <p:spPr>
          <a:xfrm>
            <a:off x="1219200" y="3099345"/>
            <a:ext cx="25336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C6B7A"/>
                </a:solidFill>
                <a:latin typeface="Comfortaa"/>
                <a:ea typeface="Comfortaa"/>
                <a:cs typeface="Comfortaa"/>
                <a:sym typeface="Comfortaa"/>
              </a:rPr>
              <a:t>Side-by-side savings comparisons.</a:t>
            </a:r>
            <a:endParaRPr/>
          </a:p>
        </p:txBody>
      </p:sp>
      <p:sp>
        <p:nvSpPr>
          <p:cNvPr id="460" name="Google Shape;460;p39"/>
          <p:cNvSpPr txBox="1"/>
          <p:nvPr/>
        </p:nvSpPr>
        <p:spPr>
          <a:xfrm>
            <a:off x="1219200" y="5124450"/>
            <a:ext cx="25336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92F33"/>
                </a:solidFill>
                <a:latin typeface="Comfortaa"/>
                <a:ea typeface="Comfortaa"/>
                <a:cs typeface="Comfortaa"/>
                <a:sym typeface="Comfortaa"/>
              </a:rPr>
              <a:t>Format: "Deal of the Day" graphics highlighting IQD savings.</a:t>
            </a:r>
            <a:endParaRPr/>
          </a:p>
        </p:txBody>
      </p:sp>
      <p:sp>
        <p:nvSpPr>
          <p:cNvPr id="461" name="Google Shape;461;p39"/>
          <p:cNvSpPr txBox="1"/>
          <p:nvPr/>
        </p:nvSpPr>
        <p:spPr>
          <a:xfrm>
            <a:off x="4876800" y="2689770"/>
            <a:ext cx="3200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48C53"/>
                </a:solidFill>
                <a:latin typeface="Comfortaa"/>
                <a:ea typeface="Comfortaa"/>
                <a:cs typeface="Comfortaa"/>
                <a:sym typeface="Comfortaa"/>
              </a:rPr>
              <a:t>2. Reliability &amp; Trust</a:t>
            </a:r>
            <a:endParaRPr/>
          </a:p>
        </p:txBody>
      </p:sp>
      <p:sp>
        <p:nvSpPr>
          <p:cNvPr id="462" name="Google Shape;462;p39"/>
          <p:cNvSpPr txBox="1"/>
          <p:nvPr/>
        </p:nvSpPr>
        <p:spPr>
          <a:xfrm>
            <a:off x="4876800" y="3099345"/>
            <a:ext cx="25336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C6B7A"/>
                </a:solidFill>
                <a:latin typeface="Comfortaa"/>
                <a:ea typeface="Comfortaa"/>
                <a:cs typeface="Comfortaa"/>
                <a:sym typeface="Comfortaa"/>
              </a:rPr>
              <a:t>Merchant spotlights and vetting proof.</a:t>
            </a:r>
            <a:endParaRPr/>
          </a:p>
        </p:txBody>
      </p:sp>
      <p:sp>
        <p:nvSpPr>
          <p:cNvPr id="463" name="Google Shape;463;p39"/>
          <p:cNvSpPr txBox="1"/>
          <p:nvPr/>
        </p:nvSpPr>
        <p:spPr>
          <a:xfrm>
            <a:off x="4876800" y="5124450"/>
            <a:ext cx="25336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92F33"/>
                </a:solidFill>
                <a:latin typeface="Comfortaa"/>
                <a:ea typeface="Comfortaa"/>
                <a:cs typeface="Comfortaa"/>
                <a:sym typeface="Comfortaa"/>
              </a:rPr>
              <a:t>Format: Behind-the-scenes shop features building buyer trust.</a:t>
            </a:r>
            <a:endParaRPr/>
          </a:p>
        </p:txBody>
      </p:sp>
      <p:sp>
        <p:nvSpPr>
          <p:cNvPr id="464" name="Google Shape;464;p39"/>
          <p:cNvSpPr txBox="1"/>
          <p:nvPr/>
        </p:nvSpPr>
        <p:spPr>
          <a:xfrm>
            <a:off x="8534400" y="2689770"/>
            <a:ext cx="3200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92F33"/>
                </a:solidFill>
                <a:latin typeface="Comfortaa"/>
                <a:ea typeface="Comfortaa"/>
                <a:cs typeface="Comfortaa"/>
                <a:sym typeface="Comfortaa"/>
              </a:rPr>
              <a:t>3. Smart Discovery</a:t>
            </a:r>
            <a:endParaRPr/>
          </a:p>
        </p:txBody>
      </p:sp>
      <p:sp>
        <p:nvSpPr>
          <p:cNvPr id="465" name="Google Shape;465;p39"/>
          <p:cNvSpPr txBox="1"/>
          <p:nvPr/>
        </p:nvSpPr>
        <p:spPr>
          <a:xfrm>
            <a:off x="8534400" y="3099345"/>
            <a:ext cx="25336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C6B7A"/>
                </a:solidFill>
                <a:latin typeface="Comfortaa"/>
                <a:ea typeface="Comfortaa"/>
                <a:cs typeface="Comfortaa"/>
                <a:sym typeface="Comfortaa"/>
              </a:rPr>
              <a:t>Feature education and ordering ease.</a:t>
            </a:r>
            <a:endParaRPr/>
          </a:p>
        </p:txBody>
      </p:sp>
      <p:sp>
        <p:nvSpPr>
          <p:cNvPr id="466" name="Google Shape;466;p39"/>
          <p:cNvSpPr txBox="1"/>
          <p:nvPr/>
        </p:nvSpPr>
        <p:spPr>
          <a:xfrm>
            <a:off x="8534400" y="5124450"/>
            <a:ext cx="25336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92F33"/>
                </a:solidFill>
                <a:latin typeface="Comfortaa"/>
                <a:ea typeface="Comfortaa"/>
                <a:cs typeface="Comfortaa"/>
                <a:sym typeface="Comfortaa"/>
              </a:rPr>
              <a:t>Format: How-to guides demonstrating WhatsApp ordering.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C1E"/>
        </a:solidFill>
      </p:bgPr>
    </p:bg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0"/>
          <p:cNvSpPr/>
          <p:nvPr/>
        </p:nvSpPr>
        <p:spPr>
          <a:xfrm>
            <a:off x="5715000" y="4800600"/>
            <a:ext cx="762000" cy="38100"/>
          </a:xfrm>
          <a:prstGeom prst="rect">
            <a:avLst/>
          </a:prstGeom>
          <a:solidFill>
            <a:srgbClr val="148C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2" name="Google Shape;472;p40" title="Cheapify-2-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29250" y="2019300"/>
            <a:ext cx="1333499" cy="1333499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40"/>
          <p:cNvSpPr txBox="1"/>
          <p:nvPr/>
        </p:nvSpPr>
        <p:spPr>
          <a:xfrm>
            <a:off x="2266638" y="3810000"/>
            <a:ext cx="7658574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Clear Commerce.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