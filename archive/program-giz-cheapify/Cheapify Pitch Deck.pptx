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Comforta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bold.fntdata"/><Relationship Id="rId14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11" Type="http://schemas.openxmlformats.org/officeDocument/2006/relationships/image" Target="../media/image7.png"/><Relationship Id="rId10" Type="http://schemas.openxmlformats.org/officeDocument/2006/relationships/image" Target="../media/image28.jpg"/><Relationship Id="rId12" Type="http://schemas.openxmlformats.org/officeDocument/2006/relationships/image" Target="../media/image9.png"/><Relationship Id="rId9" Type="http://schemas.openxmlformats.org/officeDocument/2006/relationships/image" Target="../media/image26.jp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9.jpg"/><Relationship Id="rId8" Type="http://schemas.openxmlformats.org/officeDocument/2006/relationships/image" Target="../media/image3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9" Type="http://schemas.openxmlformats.org/officeDocument/2006/relationships/image" Target="../media/image39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50.png"/><Relationship Id="rId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9" Type="http://schemas.openxmlformats.org/officeDocument/2006/relationships/image" Target="../media/image45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48.png"/><Relationship Id="rId8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0.png"/><Relationship Id="rId13" Type="http://schemas.openxmlformats.org/officeDocument/2006/relationships/image" Target="../media/image49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openxmlformats.org/officeDocument/2006/relationships/image" Target="../media/image8.png"/><Relationship Id="rId9" Type="http://schemas.openxmlformats.org/officeDocument/2006/relationships/image" Target="../media/image35.png"/><Relationship Id="rId15" Type="http://schemas.openxmlformats.org/officeDocument/2006/relationships/image" Target="../media/image9.png"/><Relationship Id="rId14" Type="http://schemas.openxmlformats.org/officeDocument/2006/relationships/image" Target="../media/image7.png"/><Relationship Id="rId5" Type="http://schemas.openxmlformats.org/officeDocument/2006/relationships/image" Target="../media/image46.png"/><Relationship Id="rId6" Type="http://schemas.openxmlformats.org/officeDocument/2006/relationships/image" Target="../media/image41.png"/><Relationship Id="rId7" Type="http://schemas.openxmlformats.org/officeDocument/2006/relationships/image" Target="../media/image38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134300" y="4460052"/>
            <a:ext cx="457200" cy="38100"/>
          </a:xfrm>
          <a:prstGeom prst="roundRect">
            <a:avLst>
              <a:gd fmla="val 50000" name="adj"/>
            </a:avLst>
          </a:prstGeom>
          <a:solidFill>
            <a:srgbClr val="1587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4300" y="2749422"/>
            <a:ext cx="16668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377181" y="2744650"/>
            <a:ext cx="5340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GIZ YOUTH ENTREPRENEURSHIP PROGRAM · PITCH SHOWCASE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134300" y="3087550"/>
            <a:ext cx="5583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Cheapify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134300" y="3849550"/>
            <a:ext cx="558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A Smart Multi-Seller Marketplace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820100" y="4388615"/>
            <a:ext cx="2524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Founder: </a:t>
            </a:r>
            <a:r>
              <a:rPr b="1" i="0" lang="en-US" sz="12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Shakir Bashar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685925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510212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439275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98" name="Google Shape;98;p13" title="Cheapify.png"/>
          <p:cNvPicPr preferRelativeResize="0"/>
          <p:nvPr/>
        </p:nvPicPr>
        <p:blipFill rotWithShape="1">
          <a:blip r:embed="rId8">
            <a:alphaModFix/>
          </a:blip>
          <a:srcRect b="23600" l="0" r="0" t="0"/>
          <a:stretch/>
        </p:blipFill>
        <p:spPr>
          <a:xfrm>
            <a:off x="970828" y="2754650"/>
            <a:ext cx="1776922" cy="182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title="Center_for_Academic_and_Professional_Advancem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title="german cooperation deutsche zusammenarbei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7239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3815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0391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962025" y="3887539"/>
            <a:ext cx="1640234" cy="200025"/>
          </a:xfrm>
          <a:prstGeom prst="roundRect">
            <a:avLst>
              <a:gd fmla="val 2857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619625" y="3887539"/>
            <a:ext cx="1398389" cy="200025"/>
          </a:xfrm>
          <a:prstGeom prst="roundRect">
            <a:avLst>
              <a:gd fmla="val 2857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277225" y="3887539"/>
            <a:ext cx="1390650" cy="200025"/>
          </a:xfrm>
          <a:prstGeom prst="roundRect">
            <a:avLst>
              <a:gd fmla="val 2857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3811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6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72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5850" y="340176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340176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7237" y="3401764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38212" y="1560596"/>
            <a:ext cx="112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1 · THE PROBLEM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Price Disparity &amp; Market Fragmentation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57275" y="3925639"/>
            <a:ext cx="154498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ACROSS APPS &amp; PAGES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620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Arbitrary Disparity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620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Identical items sell at conflicting prices across social media pages and apps (e.g., Miswag, Simma).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714875" y="3925639"/>
            <a:ext cx="1303139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91C1C"/>
                </a:solidFill>
                <a:latin typeface="Comfortaa"/>
                <a:ea typeface="Comfortaa"/>
                <a:cs typeface="Comfortaa"/>
                <a:sym typeface="Comfortaa"/>
              </a:rPr>
              <a:t>INSIDE PLATFORMS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6196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Intra-Platform Chaos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6196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Duplicate listings for the exact same SKU appear on multi-seller platforms like iBazzar with inconsistent pricing.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372475" y="3925639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45309"/>
                </a:solidFill>
                <a:latin typeface="Comfortaa"/>
                <a:ea typeface="Comfortaa"/>
                <a:cs typeface="Comfortaa"/>
                <a:sym typeface="Comfortaa"/>
              </a:rPr>
              <a:t>DIRECT MESSAGES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2772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The "How Much?" Friction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277225" y="4535239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Buyers waste hours in repetitive direct messages without price clarity.</a:t>
            </a:r>
            <a:endParaRPr/>
          </a:p>
        </p:txBody>
      </p:sp>
      <p:pic>
        <p:nvPicPr>
          <p:cNvPr id="129" name="Google Shape;129;p14" title="Center_for_Academic_and_Professional_Advancem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title="german cooperation deutsche zusammenarbei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723900" y="2516315"/>
            <a:ext cx="2538300" cy="3667200"/>
          </a:xfrm>
          <a:prstGeom prst="roundRect">
            <a:avLst>
              <a:gd fmla="val 52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452812" y="2516315"/>
            <a:ext cx="2538300" cy="3667200"/>
          </a:xfrm>
          <a:prstGeom prst="roundRect">
            <a:avLst>
              <a:gd fmla="val 52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181725" y="2516315"/>
            <a:ext cx="2538300" cy="3667200"/>
          </a:xfrm>
          <a:prstGeom prst="roundRect">
            <a:avLst>
              <a:gd fmla="val 52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8910637" y="2516315"/>
            <a:ext cx="2557500" cy="3667200"/>
          </a:xfrm>
          <a:prstGeom prst="roundRect">
            <a:avLst>
              <a:gd fmla="val 5214" name="adj"/>
            </a:avLst>
          </a:prstGeom>
          <a:solidFill>
            <a:srgbClr val="F0F9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32942" y="2640140"/>
            <a:ext cx="720300" cy="200100"/>
          </a:xfrm>
          <a:prstGeom prst="roundRect">
            <a:avLst>
              <a:gd fmla="val 2857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361854" y="2640140"/>
            <a:ext cx="720300" cy="200100"/>
          </a:xfrm>
          <a:prstGeom prst="roundRect">
            <a:avLst>
              <a:gd fmla="val 2857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7086004" y="2640140"/>
            <a:ext cx="729600" cy="200100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9227343" y="2649665"/>
            <a:ext cx="1924200" cy="200100"/>
          </a:xfrm>
          <a:prstGeom prst="roundRect">
            <a:avLst>
              <a:gd fmla="val 2857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1906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0168" y="2973515"/>
            <a:ext cx="12858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081" y="2973515"/>
            <a:ext cx="12858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993" y="2973515"/>
            <a:ext cx="12858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6431" y="2973515"/>
            <a:ext cx="12858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title="Screenshot_20260920_132358_Miswag.jpg"/>
          <p:cNvPicPr preferRelativeResize="0"/>
          <p:nvPr/>
        </p:nvPicPr>
        <p:blipFill rotWithShape="1">
          <a:blip r:embed="rId7">
            <a:alphaModFix/>
          </a:blip>
          <a:srcRect b="0" l="446" r="456" t="0"/>
          <a:stretch/>
        </p:blipFill>
        <p:spPr>
          <a:xfrm>
            <a:off x="1369218" y="2992565"/>
            <a:ext cx="1247700" cy="2581200"/>
          </a:xfrm>
          <a:prstGeom prst="roundRect">
            <a:avLst>
              <a:gd fmla="val 7849" name="adj"/>
            </a:avLst>
          </a:prstGeom>
          <a:noFill/>
          <a:ln>
            <a:noFill/>
          </a:ln>
        </p:spPr>
      </p:pic>
      <p:pic>
        <p:nvPicPr>
          <p:cNvPr id="149" name="Google Shape;149;p15" title="Screenshot_20260920_132436_Gallery.jpg"/>
          <p:cNvPicPr preferRelativeResize="0"/>
          <p:nvPr/>
        </p:nvPicPr>
        <p:blipFill rotWithShape="1">
          <a:blip r:embed="rId8">
            <a:alphaModFix/>
          </a:blip>
          <a:srcRect b="0" l="942" r="942" t="0"/>
          <a:stretch/>
        </p:blipFill>
        <p:spPr>
          <a:xfrm>
            <a:off x="4098131" y="2992565"/>
            <a:ext cx="1247700" cy="2581200"/>
          </a:xfrm>
          <a:prstGeom prst="roundRect">
            <a:avLst>
              <a:gd fmla="val 8265" name="adj"/>
            </a:avLst>
          </a:prstGeom>
          <a:noFill/>
          <a:ln>
            <a:noFill/>
          </a:ln>
        </p:spPr>
      </p:pic>
      <p:pic>
        <p:nvPicPr>
          <p:cNvPr id="150" name="Google Shape;150;p15" title="Screenshot_20260920_132423_Gallery.jpg"/>
          <p:cNvPicPr preferRelativeResize="0"/>
          <p:nvPr/>
        </p:nvPicPr>
        <p:blipFill rotWithShape="1">
          <a:blip r:embed="rId9">
            <a:alphaModFix/>
          </a:blip>
          <a:srcRect b="0" l="505" r="495" t="0"/>
          <a:stretch/>
        </p:blipFill>
        <p:spPr>
          <a:xfrm>
            <a:off x="6827043" y="2992565"/>
            <a:ext cx="1247700" cy="2581200"/>
          </a:xfrm>
          <a:prstGeom prst="roundRect">
            <a:avLst>
              <a:gd fmla="val 7643" name="adj"/>
            </a:avLst>
          </a:prstGeom>
          <a:noFill/>
          <a:ln>
            <a:noFill/>
          </a:ln>
        </p:spPr>
      </p:pic>
      <p:pic>
        <p:nvPicPr>
          <p:cNvPr id="151" name="Google Shape;151;p15" title="Screenshot_20260920_130923.jpg"/>
          <p:cNvPicPr preferRelativeResize="0"/>
          <p:nvPr/>
        </p:nvPicPr>
        <p:blipFill rotWithShape="1">
          <a:blip r:embed="rId10">
            <a:alphaModFix/>
          </a:blip>
          <a:srcRect b="0" l="249" r="259" t="0"/>
          <a:stretch/>
        </p:blipFill>
        <p:spPr>
          <a:xfrm>
            <a:off x="9572050" y="2992565"/>
            <a:ext cx="1247700" cy="2581200"/>
          </a:xfrm>
          <a:prstGeom prst="roundRect">
            <a:avLst>
              <a:gd fmla="val 8864" name="adj"/>
            </a:avLst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919162" y="1560596"/>
            <a:ext cx="11272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1 · EVIDENCE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Proof of Price Inconsistency in the Market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728192" y="2678240"/>
            <a:ext cx="624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91C1C"/>
                </a:solidFill>
                <a:latin typeface="Comfortaa"/>
                <a:ea typeface="Comfortaa"/>
                <a:cs typeface="Comfortaa"/>
                <a:sym typeface="Comfortaa"/>
              </a:rPr>
              <a:t>STORE A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457104" y="2678240"/>
            <a:ext cx="624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45309"/>
                </a:solidFill>
                <a:latin typeface="Comfortaa"/>
                <a:ea typeface="Comfortaa"/>
                <a:cs typeface="Comfortaa"/>
                <a:sym typeface="Comfortaa"/>
              </a:rPr>
              <a:t>STORE B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181254" y="2678240"/>
            <a:ext cx="634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5803D"/>
                </a:solidFill>
                <a:latin typeface="Comfortaa"/>
                <a:ea typeface="Comfortaa"/>
                <a:cs typeface="Comfortaa"/>
                <a:sym typeface="Comfortaa"/>
              </a:rPr>
              <a:t>STORE C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322593" y="2687765"/>
            <a:ext cx="1828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INSIDE IBAZZAR (SAME APP)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561379" y="5745290"/>
            <a:ext cx="286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ASUS Gaming Monitor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561379" y="5897690"/>
            <a:ext cx="286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C2626"/>
                </a:solidFill>
                <a:latin typeface="Comfortaa"/>
                <a:ea typeface="Comfortaa"/>
                <a:cs typeface="Comfortaa"/>
                <a:sym typeface="Comfortaa"/>
              </a:rPr>
              <a:t>163,350 IQD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3290292" y="5745290"/>
            <a:ext cx="286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ASUS Gaming Monitor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3290292" y="5897690"/>
            <a:ext cx="286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135,000 IQD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019204" y="5745290"/>
            <a:ext cx="286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ASUS Gaming Monitor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019204" y="5897690"/>
            <a:ext cx="286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0B981"/>
                </a:solidFill>
                <a:latin typeface="Comfortaa"/>
                <a:ea typeface="Comfortaa"/>
                <a:cs typeface="Comfortaa"/>
                <a:sym typeface="Comfortaa"/>
              </a:rPr>
              <a:t>116,721 IQD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8757642" y="5735765"/>
            <a:ext cx="2863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Xiaomi 165W (Same SKU)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757642" y="5888165"/>
            <a:ext cx="2863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70k vs 60k IQD</a:t>
            </a:r>
            <a:endParaRPr/>
          </a:p>
        </p:txBody>
      </p:sp>
      <p:pic>
        <p:nvPicPr>
          <p:cNvPr id="166" name="Google Shape;166;p15" title="Center_for_Academic_and_Professional_Advancem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title="german cooperation deutsche zusammenarbeit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/>
          <p:nvPr/>
        </p:nvSpPr>
        <p:spPr>
          <a:xfrm>
            <a:off x="7239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3815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80391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962025" y="3887539"/>
            <a:ext cx="942975" cy="200025"/>
          </a:xfrm>
          <a:prstGeom prst="roundRect">
            <a:avLst>
              <a:gd fmla="val 2857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619625" y="3887539"/>
            <a:ext cx="1034504" cy="200025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8277225" y="3887539"/>
            <a:ext cx="1156394" cy="200025"/>
          </a:xfrm>
          <a:prstGeom prst="roundRect">
            <a:avLst>
              <a:gd fmla="val 28571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0953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6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72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1562" y="3401764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9637" y="340176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0575" y="3401764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909637" y="1560596"/>
            <a:ext cx="11282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2 · THE SOLUTION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Cheapify: Transparent &amp; Smart Commerce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057275" y="3925639"/>
            <a:ext cx="8477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SINGLE SKU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620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Unified Product Pages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620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Aggregates every seller under a single product card, eliminating duplicate clutter.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4714875" y="3925639"/>
            <a:ext cx="93925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5803D"/>
                </a:solidFill>
                <a:latin typeface="Comfortaa"/>
                <a:ea typeface="Comfortaa"/>
                <a:cs typeface="Comfortaa"/>
                <a:sym typeface="Comfortaa"/>
              </a:rPr>
              <a:t>FAIR RANKING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46196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Best-Price Prioritization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619625" y="4535239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Automatically displays the lowest price and highest-rated verified seller first.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372475" y="3925639"/>
            <a:ext cx="106114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D28D9"/>
                </a:solidFill>
                <a:latin typeface="Comfortaa"/>
                <a:ea typeface="Comfortaa"/>
                <a:cs typeface="Comfortaa"/>
                <a:sym typeface="Comfortaa"/>
              </a:rPr>
              <a:t>SMART PRICING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2772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Live Merchant Alerts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277225" y="4535239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Alerts sellers when competing listings drop lower, driving organic fair deals.</a:t>
            </a:r>
            <a:endParaRPr/>
          </a:p>
        </p:txBody>
      </p:sp>
      <p:pic>
        <p:nvPicPr>
          <p:cNvPr id="196" name="Google Shape;196;p16" title="Center_for_Academic_and_Professional_Advancem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title="german cooperation deutsche zusammenarbei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723900" y="2746920"/>
            <a:ext cx="5238750" cy="2962275"/>
          </a:xfrm>
          <a:prstGeom prst="roundRect">
            <a:avLst>
              <a:gd fmla="val 45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229350" y="2746920"/>
            <a:ext cx="5238750" cy="2962275"/>
          </a:xfrm>
          <a:prstGeom prst="roundRect">
            <a:avLst>
              <a:gd fmla="val 45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6668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3061245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38803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439474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49090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5575" y="3061245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5575" y="38803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5575" y="439474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5575" y="49090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0137" y="318507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18507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966787" y="1560596"/>
            <a:ext cx="11225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3 · TARGET CUSTOMERS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Who Benefits: Shoppers &amp; Local Merchants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238250" y="38518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Behavior: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Everyday online shoppers, savvy deal-seekers, and budget-conscious buyers.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238250" y="436617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Demographics: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Young adults and working professionals across major Iraqi &amp; KRI cities.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238250" y="48805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Goal: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Transparent price comparison in seconds without overpaying or endless DMs.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743700" y="38518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Audience: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Small &amp; medium retail stores seeking digital order volume.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743700" y="436617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Pain Point: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Custom e-commerce apps are too expensive to build and maintain.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743700" y="48805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Goal: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Ready-made digital storefront with steady buyers and no heavy cuts.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571625" y="3061245"/>
            <a:ext cx="32879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Everyday Deal-Seekers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571625" y="3299370"/>
            <a:ext cx="3131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Consumer Segment (18–35 Years Old)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7077075" y="3061245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Local Retail Merchants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7077075" y="3299370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Physical Store Owners &amp; Social Media Shops</a:t>
            </a:r>
            <a:endParaRPr/>
          </a:p>
        </p:txBody>
      </p:sp>
      <p:pic>
        <p:nvPicPr>
          <p:cNvPr id="227" name="Google Shape;227;p17" title="Center_for_Academic_and_Professional_Advancem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7" title="german cooperation deutsche zusammenarbei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7239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43815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039100" y="3001714"/>
            <a:ext cx="3429000" cy="2452687"/>
          </a:xfrm>
          <a:prstGeom prst="roundRect">
            <a:avLst>
              <a:gd fmla="val 54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962025" y="3887539"/>
            <a:ext cx="1158329" cy="200025"/>
          </a:xfrm>
          <a:prstGeom prst="roundRect">
            <a:avLst>
              <a:gd fmla="val 2857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4619625" y="3887539"/>
            <a:ext cx="1280219" cy="200025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8277225" y="3887539"/>
            <a:ext cx="1278284" cy="200025"/>
          </a:xfrm>
          <a:prstGeom prst="roundRect">
            <a:avLst>
              <a:gd fmla="val 28571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3811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6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7225" y="3277939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5850" y="340176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9162" y="3401764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7237" y="3401764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938212" y="1560596"/>
            <a:ext cx="112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3 · VALUE PROPOSITION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Clear &amp; Measurable Value Across the Market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1057275" y="3925639"/>
            <a:ext cx="1063079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FOR SHOPPERS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9620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Guaranteed Savings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9620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Saves money instantly, avoids retail markups, and eliminates hours spent messaging sellers.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4714875" y="3925639"/>
            <a:ext cx="1184969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5803D"/>
                </a:solidFill>
                <a:latin typeface="Comfortaa"/>
                <a:ea typeface="Comfortaa"/>
                <a:cs typeface="Comfortaa"/>
                <a:sym typeface="Comfortaa"/>
              </a:rPr>
              <a:t>FOR MERCHANTS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46196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Sales &amp; Reach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46196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Instant access to active buyers, automated order management, and live pricing insights.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8372475" y="3925639"/>
            <a:ext cx="118303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D28D9"/>
                </a:solidFill>
                <a:latin typeface="Comfortaa"/>
                <a:ea typeface="Comfortaa"/>
                <a:cs typeface="Comfortaa"/>
                <a:sym typeface="Comfortaa"/>
              </a:rPr>
              <a:t>FOR THE MARKET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8277225" y="4201864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Standardized Trust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277225" y="4535239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Replaces chaotic direct messaging with dependable checkout, courier integration, and ratings.</a:t>
            </a:r>
            <a:endParaRPr/>
          </a:p>
        </p:txBody>
      </p:sp>
      <p:pic>
        <p:nvPicPr>
          <p:cNvPr id="257" name="Google Shape;257;p18" title="Center_for_Academic_and_Professional_Advancem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 title="german cooperation deutsche zusammenarbei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/>
          <p:nvPr/>
        </p:nvSpPr>
        <p:spPr>
          <a:xfrm>
            <a:off x="723900" y="2746920"/>
            <a:ext cx="5238750" cy="2962275"/>
          </a:xfrm>
          <a:prstGeom prst="roundRect">
            <a:avLst>
              <a:gd fmla="val 45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6229350" y="2746920"/>
            <a:ext cx="5238750" cy="2962275"/>
          </a:xfrm>
          <a:prstGeom prst="roundRect">
            <a:avLst>
              <a:gd fmla="val 45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65358"/>
            <a:ext cx="16668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3061245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388039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39474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490909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5575" y="3061245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5575" y="38803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05575" y="4394745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5575" y="490909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0137" y="318507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318507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966787" y="1560596"/>
            <a:ext cx="11225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PART 4 · BUSINESS LOGIC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723900" y="1846346"/>
            <a:ext cx="114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Delivery Operations &amp; Revenue Model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1276350" y="3851820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In-House Platform: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Architecture built directly by founder, keeping dev costs low.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1219200" y="4366170"/>
            <a:ext cx="4562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Courier Integration: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Local dispatch partners handle merchant pickup and delivery.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1276350" y="4880520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Local Payments: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Seamless Cash on Delivery (COD) plus FastPay, FIB, and Qi Card.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6743700" y="38518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Active Tiers: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&lt;9k IQD (5%) · 10k–99k IQD (Flat 1,000 IQD) · 100k–499k IQD (2%), etc.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6762750" y="4366170"/>
            <a:ext cx="4524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Fair Adoption Model: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Replaces heavy platform commissions to accelerate sign-ups.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6743700" y="4880520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Growth Streams: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Featured product placement and merchant analytics.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571625" y="3061245"/>
            <a:ext cx="32254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Fulfillment &amp; Operations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571625" y="3299370"/>
            <a:ext cx="3071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Lean Logistics Infrastructure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7077075" y="3061245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Revenue Generation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7077075" y="3299370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Tiered Pricing Model</a:t>
            </a:r>
            <a:endParaRPr/>
          </a:p>
        </p:txBody>
      </p:sp>
      <p:pic>
        <p:nvPicPr>
          <p:cNvPr id="288" name="Google Shape;288;p19" title="Center_for_Academic_and_Professional_Advancement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9" title="german cooperation deutsche zusammenarbeit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829300" y="4441815"/>
            <a:ext cx="5334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1429791" y="3445559"/>
            <a:ext cx="9332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Smart Deals. Verified Sellers. One App.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4375546" y="3994140"/>
            <a:ext cx="3441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Transparent · Smart · Reliable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4470155" y="4698623"/>
            <a:ext cx="32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Thank You</a:t>
            </a:r>
            <a:endParaRPr sz="2400"/>
          </a:p>
        </p:txBody>
      </p:sp>
      <p:sp>
        <p:nvSpPr>
          <p:cNvPr id="303" name="Google Shape;303;p20"/>
          <p:cNvSpPr txBox="1"/>
          <p:nvPr/>
        </p:nvSpPr>
        <p:spPr>
          <a:xfrm>
            <a:off x="5505450" y="5184527"/>
            <a:ext cx="118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Comfortaa"/>
                <a:ea typeface="Comfortaa"/>
                <a:cs typeface="Comfortaa"/>
                <a:sym typeface="Comfortaa"/>
              </a:rPr>
              <a:t>Cheapify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1543050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5367337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9228534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307" name="Google Shape;307;p20" title="Center_for_Academic_and_Professional_Advancem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0" title="german cooperation deutsche zusammenarbe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0"/>
          <p:cNvGrpSpPr/>
          <p:nvPr/>
        </p:nvGrpSpPr>
        <p:grpSpPr>
          <a:xfrm>
            <a:off x="4751851" y="1356702"/>
            <a:ext cx="2412025" cy="1666371"/>
            <a:chOff x="4751864" y="1317427"/>
            <a:chExt cx="2412025" cy="1666371"/>
          </a:xfrm>
        </p:grpSpPr>
        <p:pic>
          <p:nvPicPr>
            <p:cNvPr id="310" name="Google Shape;310;p20" title="Cheapify-2-2.png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1208129">
              <a:off x="5732001" y="1523453"/>
              <a:ext cx="1254324" cy="1254324"/>
            </a:xfrm>
            <a:prstGeom prst="rect">
              <a:avLst/>
            </a:prstGeom>
            <a:noFill/>
            <a:ln>
              <a:noFill/>
            </a:ln>
            <a:effectLst>
              <a:outerShdw blurRad="44228" rotWithShape="0" algn="bl" dir="5400000" dist="14743">
                <a:srgbClr val="000000">
                  <a:alpha val="50000"/>
                </a:srgbClr>
              </a:outerShdw>
            </a:effectLst>
          </p:spPr>
        </p:pic>
        <p:pic>
          <p:nvPicPr>
            <p:cNvPr id="311" name="Google Shape;311;p20" title="Cheapify-2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rot="-1497015">
              <a:off x="4957889" y="1523452"/>
              <a:ext cx="1254320" cy="1254320"/>
            </a:xfrm>
            <a:prstGeom prst="rect">
              <a:avLst/>
            </a:prstGeom>
            <a:noFill/>
            <a:ln>
              <a:noFill/>
            </a:ln>
            <a:effectLst>
              <a:outerShdw blurRad="44228" rotWithShape="0" algn="bl" dir="5400000" dist="14743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